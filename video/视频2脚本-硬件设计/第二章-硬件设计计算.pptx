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65" r:id="rId4"/>
    <p:sldId id="282" r:id="rId5"/>
    <p:sldId id="258" r:id="rId6"/>
    <p:sldId id="259" r:id="rId7"/>
    <p:sldId id="266" r:id="rId8"/>
    <p:sldId id="267" r:id="rId9"/>
    <p:sldId id="268" r:id="rId10"/>
    <p:sldId id="270" r:id="rId11"/>
    <p:sldId id="271" r:id="rId12"/>
    <p:sldId id="272" r:id="rId13"/>
    <p:sldId id="260" r:id="rId14"/>
    <p:sldId id="261" r:id="rId15"/>
    <p:sldId id="262" r:id="rId16"/>
    <p:sldId id="279"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C17FB6-8DBC-C8E7-EA6A-CEBDE8B2FED1}" name="Leofwine (Huiwen) Yang" initials="LY" userId="S::Leofwine.Yang@monolithicpower.com::0932449c-f7f0-431c-862c-019f5987d925" providerId="AD"/>
  <p188:author id="{DBF8D1DB-DC70-CD51-A32D-A25DA2D31ED3}" name="Jessie (Yijun) Guo" initials="JG" userId="S::Jessie.Guo@monolithicpower.com::182e48c2-b88f-4d5b-8f7a-720db196549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109" autoAdjust="0"/>
  </p:normalViewPr>
  <p:slideViewPr>
    <p:cSldViewPr snapToGrid="0">
      <p:cViewPr varScale="1">
        <p:scale>
          <a:sx n="85" d="100"/>
          <a:sy n="85" d="100"/>
        </p:scale>
        <p:origin x="284" y="5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b="1" dirty="0"/>
              <a:t>先来几秒钟快闪</a:t>
            </a:r>
            <a:endParaRPr sz="1800"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A033-CB31-999A-7FD0-80F074796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F1318-F7B0-C534-924F-9381A22E3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485DB-7BEC-07F9-C239-A63B99694CAD}"/>
              </a:ext>
            </a:extLst>
          </p:cNvPr>
          <p:cNvSpPr>
            <a:spLocks noGrp="1"/>
          </p:cNvSpPr>
          <p:nvPr>
            <p:ph type="body" idx="1"/>
          </p:nvPr>
        </p:nvSpPr>
        <p:spPr/>
        <p:txBody>
          <a:bodyPr/>
          <a:lstStyle/>
          <a:p>
            <a:pPr algn="l">
              <a:lnSpc>
                <a:spcPts val="1650"/>
              </a:lnSpc>
              <a:buNone/>
            </a:pPr>
            <a:r>
              <a:rPr lang="zh-CN" altLang="en-US" sz="2800" b="0" i="0" dirty="0">
                <a:solidFill>
                  <a:srgbClr val="1A1C1F"/>
                </a:solidFill>
                <a:effectLst/>
                <a:latin typeface="-apple-system"/>
              </a:rPr>
              <a:t>好的，大家好！本期视频我们将进入器件选型与硬件设计篇。</a:t>
            </a:r>
          </a:p>
          <a:p>
            <a:pPr algn="l">
              <a:lnSpc>
                <a:spcPts val="1650"/>
              </a:lnSpc>
              <a:buNone/>
            </a:pPr>
            <a:r>
              <a:rPr lang="zh-CN" altLang="en-US" sz="2800" b="0" i="0" dirty="0">
                <a:solidFill>
                  <a:srgbClr val="1A1C1F"/>
                </a:solidFill>
                <a:effectLst/>
                <a:latin typeface="-apple-system"/>
              </a:rPr>
              <a:t>在这一章节我们会结合关节电机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的实际指标，分析系统需求和关键参数，用实际数据说明这套 </a:t>
            </a:r>
            <a:r>
              <a:rPr lang="en-US" altLang="zh-CN" sz="2800" b="0" i="0" dirty="0">
                <a:solidFill>
                  <a:srgbClr val="1A1C1F"/>
                </a:solidFill>
                <a:effectLst/>
                <a:latin typeface="-apple-system"/>
              </a:rPr>
              <a:t>MPS </a:t>
            </a:r>
            <a:r>
              <a:rPr lang="zh-CN" altLang="en-US" sz="2800" b="0" i="0" dirty="0">
                <a:solidFill>
                  <a:srgbClr val="1A1C1F"/>
                </a:solidFill>
                <a:effectLst/>
                <a:latin typeface="-apple-system"/>
              </a:rPr>
              <a:t>方案的选型依据。随后，我们会结合器件手册和应用场景，讲解原理图设计与 </a:t>
            </a:r>
            <a:r>
              <a:rPr lang="en-US" altLang="zh-CN" sz="2800" b="0" i="0" dirty="0">
                <a:solidFill>
                  <a:srgbClr val="1A1C1F"/>
                </a:solidFill>
                <a:effectLst/>
                <a:latin typeface="-apple-system"/>
              </a:rPr>
              <a:t>PCB Layout </a:t>
            </a:r>
            <a:r>
              <a:rPr lang="zh-CN" altLang="en-US" sz="2800" b="0" i="0" dirty="0">
                <a:solidFill>
                  <a:srgbClr val="1A1C1F"/>
                </a:solidFill>
                <a:effectLst/>
                <a:latin typeface="-apple-system"/>
              </a:rPr>
              <a:t>的关键思路，将整块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控制板像剥洋葱一样逐层拆开。</a:t>
            </a:r>
          </a:p>
          <a:p>
            <a:pPr algn="l">
              <a:lnSpc>
                <a:spcPts val="1650"/>
              </a:lnSpc>
            </a:pPr>
            <a:r>
              <a:rPr lang="zh-CN" altLang="en-US" sz="2800" b="0" i="0" dirty="0">
                <a:solidFill>
                  <a:srgbClr val="1A1C1F"/>
                </a:solidFill>
                <a:effectLst/>
                <a:latin typeface="-apple-system"/>
              </a:rPr>
              <a:t>话不多说，我们先进入指标分析</a:t>
            </a:r>
            <a:r>
              <a:rPr lang="en-US" altLang="zh-CN" sz="2800" b="0" i="0" dirty="0">
                <a:solidFill>
                  <a:srgbClr val="1A1C1F"/>
                </a:solidFill>
                <a:effectLst/>
                <a:latin typeface="-apple-system"/>
              </a:rPr>
              <a:t>part</a:t>
            </a:r>
            <a:r>
              <a:rPr lang="zh-CN" altLang="en-US" sz="2800" b="0" i="0" dirty="0">
                <a:solidFill>
                  <a:srgbClr val="1A1C1F"/>
                </a:solidFill>
                <a:effectLst/>
                <a:latin typeface="-apple-system"/>
              </a:rPr>
              <a:t>。</a:t>
            </a:r>
          </a:p>
          <a:p>
            <a:pPr marL="0" indent="0" algn="l">
              <a:lnSpc>
                <a:spcPts val="2000"/>
              </a:lnSpc>
              <a:buFont typeface="Arial" panose="020B0604020202020204" pitchFamily="34" charset="0"/>
              <a:buNone/>
            </a:pPr>
            <a:endParaRPr lang="en-US" altLang="zh-CN" sz="1800" dirty="0"/>
          </a:p>
        </p:txBody>
      </p:sp>
      <p:sp>
        <p:nvSpPr>
          <p:cNvPr id="4" name="Slide Number Placeholder 3">
            <a:extLst>
              <a:ext uri="{FF2B5EF4-FFF2-40B4-BE49-F238E27FC236}">
                <a16:creationId xmlns:a16="http://schemas.microsoft.com/office/drawing/2014/main" id="{38883A63-AB65-BA54-1D04-54CFA33D04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969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dirty="0"/>
          </a:p>
          <a:p>
            <a:endParaRPr lang="en-US" altLang="zh-CN" b="0" dirty="0"/>
          </a:p>
          <a:p>
            <a:r>
              <a:rPr lang="zh-CN" altLang="en-US" b="0" dirty="0"/>
              <a:t>首先 简单介绍下</a:t>
            </a:r>
            <a:r>
              <a:rPr lang="en-US" altLang="zh-CN" b="0" dirty="0"/>
              <a:t>FOC</a:t>
            </a:r>
            <a:r>
              <a:rPr lang="zh-CN" altLang="en-US" b="0" dirty="0"/>
              <a:t>基本原理。我们通过在定子中通入三相相差</a:t>
            </a:r>
            <a:r>
              <a:rPr lang="en-US" altLang="zh-CN" b="0" dirty="0"/>
              <a:t>120°</a:t>
            </a:r>
            <a:r>
              <a:rPr lang="zh-CN" altLang="en-US" b="0" dirty="0"/>
              <a:t>的交变电流，即可合成一矢量，该矢量会带动转子使电机重新定向。我们产生一个旋转的矢量，使其始终领先</a:t>
            </a:r>
            <a:r>
              <a:rPr lang="zh-CN" altLang="en-US" sz="1200" b="0" dirty="0">
                <a:solidFill>
                  <a:srgbClr val="1C2228"/>
                </a:solidFill>
                <a:latin typeface="Microsoft YaHei" panose="020B0503020204020204" pitchFamily="34" charset="-122"/>
                <a:ea typeface="Microsoft YaHei" panose="020B0503020204020204" pitchFamily="34" charset="-122"/>
              </a:rPr>
              <a:t>转子磁链一个转矩角，即可产生产生切向力矩带动电机不停旋转。然而根据内模原理，用普通的</a:t>
            </a:r>
            <a:r>
              <a:rPr lang="en-US" altLang="zh-CN" sz="1200" b="0" dirty="0">
                <a:solidFill>
                  <a:srgbClr val="1C2228"/>
                </a:solidFill>
                <a:latin typeface="Microsoft YaHei" panose="020B0503020204020204" pitchFamily="34" charset="-122"/>
                <a:ea typeface="Microsoft YaHei" panose="020B0503020204020204" pitchFamily="34" charset="-122"/>
              </a:rPr>
              <a:t>PI</a:t>
            </a:r>
            <a:r>
              <a:rPr lang="zh-CN" altLang="en-US" sz="1200" b="0" dirty="0">
                <a:solidFill>
                  <a:srgbClr val="1C2228"/>
                </a:solidFill>
                <a:latin typeface="Microsoft YaHei" panose="020B0503020204020204" pitchFamily="34" charset="-122"/>
                <a:ea typeface="Microsoft YaHei" panose="020B0503020204020204" pitchFamily="34" charset="-122"/>
              </a:rPr>
              <a:t>控制器无法跟踪正弦信号。所以这里引用</a:t>
            </a:r>
            <a:r>
              <a:rPr lang="en-US" altLang="zh-CN" b="0" dirty="0"/>
              <a:t>Clarke </a:t>
            </a:r>
            <a:r>
              <a:rPr lang="zh-CN" altLang="en-US" b="0" dirty="0"/>
              <a:t>变换把它们合成为静止 </a:t>
            </a:r>
            <a:r>
              <a:rPr lang="en-US" altLang="zh-CN" b="0" dirty="0"/>
              <a:t>αβ </a:t>
            </a:r>
            <a:r>
              <a:rPr lang="zh-CN" altLang="en-US" b="0" dirty="0"/>
              <a:t>平面中的一个电流矢量。</a:t>
            </a:r>
            <a:r>
              <a:rPr lang="en-US" altLang="zh-CN" b="0" dirty="0"/>
              <a:t>Park </a:t>
            </a:r>
            <a:r>
              <a:rPr lang="zh-CN" altLang="en-US" b="0" dirty="0"/>
              <a:t>变换再利用编码器给出的转子电角度，让 </a:t>
            </a:r>
            <a:r>
              <a:rPr lang="en-US" altLang="zh-CN" b="0" dirty="0"/>
              <a:t>d</a:t>
            </a:r>
            <a:r>
              <a:rPr lang="zh-CN" altLang="en-US" b="0" dirty="0"/>
              <a:t>、</a:t>
            </a:r>
            <a:r>
              <a:rPr lang="en-US" altLang="zh-CN" b="0" dirty="0"/>
              <a:t>q </a:t>
            </a:r>
            <a:r>
              <a:rPr lang="zh-CN" altLang="en-US" b="0" dirty="0"/>
              <a:t>坐标轴跟着转子一起旋转，于是原来不断变化的交流量变成近似不变的 </a:t>
            </a:r>
            <a:r>
              <a:rPr lang="en-US" altLang="zh-CN" b="0" dirty="0"/>
              <a:t>Id </a:t>
            </a:r>
            <a:r>
              <a:rPr lang="zh-CN" altLang="en-US" b="0" dirty="0"/>
              <a:t>和 </a:t>
            </a:r>
            <a:r>
              <a:rPr lang="en-US" altLang="zh-CN" b="0" dirty="0" err="1"/>
              <a:t>Iq</a:t>
            </a:r>
            <a:r>
              <a:rPr lang="zh-CN" altLang="en-US" b="0" dirty="0"/>
              <a:t>。</a:t>
            </a:r>
            <a:r>
              <a:rPr lang="en-US" altLang="zh-CN" b="0" dirty="0"/>
              <a:t>Id </a:t>
            </a:r>
            <a:r>
              <a:rPr lang="zh-CN" altLang="en-US" b="0" dirty="0"/>
              <a:t>对应磁链，</a:t>
            </a:r>
            <a:r>
              <a:rPr lang="en-US" altLang="zh-CN" b="0" dirty="0" err="1"/>
              <a:t>Iq</a:t>
            </a:r>
            <a:r>
              <a:rPr lang="en-US" altLang="zh-CN" b="0" dirty="0"/>
              <a:t> </a:t>
            </a:r>
            <a:r>
              <a:rPr lang="zh-CN" altLang="en-US" b="0" dirty="0"/>
              <a:t>对应转矩；控制器调节这两个分量，再通过逆 </a:t>
            </a:r>
            <a:r>
              <a:rPr lang="en-US" altLang="zh-CN" b="0" dirty="0"/>
              <a:t>Park </a:t>
            </a:r>
            <a:r>
              <a:rPr lang="zh-CN" altLang="en-US" b="0" dirty="0"/>
              <a:t>和 </a:t>
            </a:r>
            <a:r>
              <a:rPr lang="en-US" altLang="zh-CN" b="0" dirty="0"/>
              <a:t>SVPWM </a:t>
            </a:r>
            <a:r>
              <a:rPr lang="zh-CN" altLang="en-US" b="0" dirty="0"/>
              <a:t>控制三相桥，在定子里产生持续旋转的磁场。</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179745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中间这张表是几款主流关节电机的横向对比，基本落在 </a:t>
            </a:r>
            <a:r>
              <a:rPr lang="en-US" altLang="zh-CN" dirty="0"/>
              <a:t>48V </a:t>
            </a:r>
            <a:r>
              <a:rPr lang="zh-CN" altLang="en-US" dirty="0"/>
              <a:t>母线、</a:t>
            </a:r>
            <a:r>
              <a:rPr lang="en-US" altLang="zh-CN" dirty="0"/>
              <a:t>100 </a:t>
            </a:r>
            <a:r>
              <a:rPr lang="zh-CN" altLang="en-US" dirty="0"/>
              <a:t>到 </a:t>
            </a:r>
            <a:r>
              <a:rPr lang="en-US" altLang="zh-CN" dirty="0"/>
              <a:t>200W </a:t>
            </a:r>
            <a:r>
              <a:rPr lang="zh-CN" altLang="en-US" dirty="0"/>
              <a:t>这个区间。本项目对齐这个定位</a:t>
            </a:r>
            <a:r>
              <a:rPr lang="en-US" altLang="zh-CN" dirty="0"/>
              <a:t>——</a:t>
            </a:r>
            <a:r>
              <a:rPr lang="zh-CN" altLang="en-US" dirty="0"/>
              <a:t>根据</a:t>
            </a:r>
            <a:r>
              <a:rPr lang="en-US" altLang="zh-CN" dirty="0"/>
              <a:t>MPS-FOC</a:t>
            </a:r>
            <a:r>
              <a:rPr lang="zh-CN" altLang="en-US" dirty="0"/>
              <a:t>的关节电机设计测试项和市面上常见的产品定义，推出我们的设计目标，使用</a:t>
            </a:r>
            <a:r>
              <a:rPr lang="en-US" altLang="zh-CN" dirty="0"/>
              <a:t>CAN</a:t>
            </a:r>
            <a:r>
              <a:rPr lang="zh-CN" altLang="en-US" dirty="0"/>
              <a:t>通信协议以适配主流标准</a:t>
            </a:r>
            <a:r>
              <a:rPr lang="en-US" altLang="zh-CN" dirty="0"/>
              <a:t>.</a:t>
            </a:r>
            <a:r>
              <a:rPr lang="zh-CN" altLang="en-US" dirty="0"/>
              <a:t>使用</a:t>
            </a:r>
            <a:r>
              <a:rPr lang="en-US" altLang="zh-CN" dirty="0"/>
              <a:t>MPS</a:t>
            </a:r>
            <a:r>
              <a:rPr lang="zh-CN" altLang="en-US" dirty="0"/>
              <a:t>方案，在满足市面上常见需求的情况下，达到更高功率密度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从机器人的关节电机需求、主流（</a:t>
            </a:r>
            <a:r>
              <a:rPr lang="en-US" altLang="zh-CN" dirty="0"/>
              <a:t>200W 48V</a:t>
            </a:r>
            <a:r>
              <a:rPr lang="zh-CN" altLang="en-US" dirty="0"/>
              <a:t>） </a:t>
            </a:r>
            <a:r>
              <a:rPr lang="en-US" altLang="zh-CN" dirty="0">
                <a:sym typeface="Wingdings" panose="05000000000000000000" pitchFamily="2" charset="2"/>
              </a:rPr>
              <a:t> </a:t>
            </a:r>
            <a:r>
              <a:rPr lang="zh-CN" altLang="en-US" dirty="0">
                <a:sym typeface="Wingdings" panose="05000000000000000000" pitchFamily="2" charset="2"/>
              </a:rPr>
              <a:t>确定设计目标 </a:t>
            </a:r>
            <a:r>
              <a:rPr lang="en-US" altLang="zh-CN" dirty="0">
                <a:sym typeface="Wingdings" panose="05000000000000000000" pitchFamily="2" charset="2"/>
              </a:rPr>
              <a:t> </a:t>
            </a:r>
            <a:r>
              <a:rPr lang="zh-CN" altLang="en-US" dirty="0">
                <a:sym typeface="Wingdings" panose="05000000000000000000" pitchFamily="2" charset="2"/>
              </a:rPr>
              <a:t>设计驱动板</a:t>
            </a:r>
            <a:endParaRPr lang="en-US"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lang="zh-CN" altLang="en-US" dirty="0"/>
              <a:t>备注：这个图高亮一下这两个芯片 还没做呢</a:t>
            </a:r>
            <a:endParaRPr lang="en-US" altLang="zh-CN" dirty="0"/>
          </a:p>
          <a:p>
            <a:pPr marL="0" indent="0" algn="l">
              <a:lnSpc>
                <a:spcPct val="100000"/>
              </a:lnSpc>
              <a:spcBef>
                <a:spcPts val="0"/>
              </a:spcBef>
              <a:spcAft>
                <a:spcPts val="0"/>
              </a:spcAft>
              <a:buNone/>
            </a:pPr>
            <a:endParaRPr lang="en-US" dirty="0"/>
          </a:p>
          <a:p>
            <a:pPr marL="0" indent="0" algn="l">
              <a:lnSpc>
                <a:spcPct val="100000"/>
              </a:lnSpc>
              <a:spcBef>
                <a:spcPts val="0"/>
              </a:spcBef>
              <a:spcAft>
                <a:spcPts val="0"/>
              </a:spcAft>
              <a:buNone/>
            </a:pPr>
            <a:r>
              <a:rPr lang="zh-CN" altLang="en-US" dirty="0"/>
              <a:t>来看辅助电源选型：采用如图的三级降压的方案。除了</a:t>
            </a:r>
            <a:r>
              <a:rPr lang="en-US" altLang="zh-CN" dirty="0"/>
              <a:t>MPS</a:t>
            </a:r>
            <a:r>
              <a:rPr lang="zh-CN" altLang="en-US" dirty="0"/>
              <a:t>一惯的极致集成度外。还值得注意的是，</a:t>
            </a:r>
            <a:r>
              <a:rPr lang="en-US" altLang="zh-CN" dirty="0"/>
              <a:t>MP4583</a:t>
            </a:r>
            <a:r>
              <a:rPr lang="zh-CN" altLang="en-US" dirty="0"/>
              <a:t>拥有</a:t>
            </a:r>
            <a:r>
              <a:rPr lang="en-US" altLang="zh-CN" dirty="0"/>
              <a:t>4.5V </a:t>
            </a:r>
            <a:r>
              <a:rPr lang="zh-CN" altLang="en-US" dirty="0"/>
              <a:t>到 </a:t>
            </a:r>
            <a:r>
              <a:rPr lang="en-US" altLang="zh-CN" dirty="0"/>
              <a:t>100V </a:t>
            </a:r>
            <a:r>
              <a:rPr lang="zh-CN" altLang="en-US" dirty="0"/>
              <a:t>的超宽压输入，高达</a:t>
            </a:r>
            <a:r>
              <a:rPr lang="en-US" altLang="zh-CN" dirty="0"/>
              <a:t>3A</a:t>
            </a:r>
            <a:r>
              <a:rPr lang="zh-CN" altLang="en-US" dirty="0"/>
              <a:t>的带载能力，作为第一级辅助电源部分兼栅极驱动 </a:t>
            </a:r>
            <a:r>
              <a:rPr lang="en-US" altLang="zh-CN" dirty="0"/>
              <a:t>MP6839</a:t>
            </a:r>
            <a:r>
              <a:rPr lang="zh-CN" altLang="en-US" dirty="0"/>
              <a:t>供电，其集成的多种保护功能可以有效提高整体可靠性。</a:t>
            </a:r>
            <a:endParaRPr lang="en-US" altLang="zh-CN" dirty="0"/>
          </a:p>
          <a:p>
            <a:pPr marL="0" indent="0" algn="l">
              <a:lnSpc>
                <a:spcPct val="100000"/>
              </a:lnSpc>
              <a:spcBef>
                <a:spcPts val="0"/>
              </a:spcBef>
              <a:spcAft>
                <a:spcPts val="0"/>
              </a:spcAft>
              <a:buNone/>
            </a:pPr>
            <a:r>
              <a:rPr lang="zh-CN" altLang="en-US" dirty="0"/>
              <a:t>第二级</a:t>
            </a:r>
            <a:r>
              <a:rPr lang="en-US" altLang="zh-CN" dirty="0"/>
              <a:t>MP3632S</a:t>
            </a:r>
            <a:r>
              <a:rPr lang="zh-CN" altLang="en-US" dirty="0"/>
              <a:t>，最大的优势就是集成了电感和电容，整个模块只有 </a:t>
            </a:r>
            <a:r>
              <a:rPr lang="en-US" altLang="zh-CN" dirty="0"/>
              <a:t>3×3mm</a:t>
            </a:r>
            <a:r>
              <a:rPr lang="zh-CN" alt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F096-8857-FF18-6972-FDA073D84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5EDAB-6B05-6D5A-2CB4-52B47F39C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96151-F911-BB4F-1A1A-0BEFC6EEDD3B}"/>
              </a:ext>
            </a:extLst>
          </p:cNvPr>
          <p:cNvSpPr>
            <a:spLocks noGrp="1"/>
          </p:cNvSpPr>
          <p:nvPr>
            <p:ph type="body" idx="1"/>
          </p:nvPr>
        </p:nvSpPr>
        <p:spPr/>
        <p:txBody>
          <a:bodyPr/>
          <a:lstStyle/>
          <a:p>
            <a:pPr marL="0" indent="0" algn="l">
              <a:lnSpc>
                <a:spcPct val="100000"/>
              </a:lnSpc>
              <a:spcBef>
                <a:spcPts val="0"/>
              </a:spcBef>
              <a:spcAft>
                <a:spcPts val="0"/>
              </a:spcAft>
              <a:buNone/>
            </a:pPr>
            <a:r>
              <a:rPr lang="en-US" altLang="zh-CN" b="0" i="0" dirty="0">
                <a:solidFill>
                  <a:srgbClr val="1A1C1F"/>
                </a:solidFill>
                <a:effectLst/>
                <a:latin typeface="-apple-system"/>
              </a:rPr>
              <a:t>5V </a:t>
            </a:r>
            <a:r>
              <a:rPr lang="zh-CN" altLang="en-US" b="0" i="0" dirty="0">
                <a:solidFill>
                  <a:srgbClr val="1A1C1F"/>
                </a:solidFill>
                <a:effectLst/>
                <a:latin typeface="-apple-system"/>
              </a:rPr>
              <a:t>电源出来以后，一路通过 </a:t>
            </a:r>
            <a:r>
              <a:rPr lang="en-US" altLang="zh-CN" b="0" i="0" dirty="0">
                <a:solidFill>
                  <a:srgbClr val="1A1C1F"/>
                </a:solidFill>
                <a:effectLst/>
                <a:latin typeface="-apple-system"/>
              </a:rPr>
              <a:t>MP20051DQ </a:t>
            </a:r>
            <a:r>
              <a:rPr lang="zh-CN" altLang="en-US" b="0" i="0" dirty="0">
                <a:solidFill>
                  <a:srgbClr val="1A1C1F"/>
                </a:solidFill>
                <a:effectLst/>
                <a:latin typeface="-apple-system"/>
              </a:rPr>
              <a:t>生成 </a:t>
            </a:r>
            <a:r>
              <a:rPr lang="en-US" altLang="zh-CN" b="0" i="0" dirty="0">
                <a:solidFill>
                  <a:srgbClr val="1A1C1F"/>
                </a:solidFill>
                <a:effectLst/>
                <a:latin typeface="-apple-system"/>
              </a:rPr>
              <a:t>3.3V VCC</a:t>
            </a:r>
            <a:r>
              <a:rPr lang="zh-CN" altLang="en-US" b="0" i="0" dirty="0">
                <a:solidFill>
                  <a:srgbClr val="1A1C1F"/>
                </a:solidFill>
                <a:effectLst/>
                <a:latin typeface="-apple-system"/>
              </a:rPr>
              <a:t>，它在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负载下压差只有 </a:t>
            </a:r>
            <a:r>
              <a:rPr lang="en-US" altLang="zh-CN" b="0" i="0" dirty="0">
                <a:solidFill>
                  <a:srgbClr val="1A1C1F"/>
                </a:solidFill>
                <a:effectLst/>
                <a:latin typeface="-apple-system"/>
              </a:rPr>
              <a:t>140mV</a:t>
            </a:r>
            <a:r>
              <a:rPr lang="zh-CN" altLang="en-US" b="0" i="0" dirty="0">
                <a:solidFill>
                  <a:srgbClr val="1A1C1F"/>
                </a:solidFill>
                <a:effectLst/>
                <a:latin typeface="-apple-system"/>
              </a:rPr>
              <a:t>，典型输出噪声 </a:t>
            </a:r>
            <a:r>
              <a:rPr lang="en-US" altLang="zh-CN" b="0" i="0" dirty="0">
                <a:solidFill>
                  <a:srgbClr val="1A1C1F"/>
                </a:solidFill>
                <a:effectLst/>
                <a:latin typeface="-apple-system"/>
              </a:rPr>
              <a:t>13μVRMS</a:t>
            </a:r>
            <a:r>
              <a:rPr lang="zh-CN" altLang="en-US" b="0" i="0" dirty="0">
                <a:solidFill>
                  <a:srgbClr val="1A1C1F"/>
                </a:solidFill>
                <a:effectLst/>
                <a:latin typeface="-apple-system"/>
              </a:rPr>
              <a:t>，可以最大限度排除因为电源纹波问题导致的电流采样和角度采样误差问题。另一路通过 </a:t>
            </a:r>
            <a:r>
              <a:rPr lang="en-US" altLang="zh-CN" b="0" i="0" dirty="0">
                <a:solidFill>
                  <a:srgbClr val="1A1C1F"/>
                </a:solidFill>
                <a:effectLst/>
                <a:latin typeface="-apple-system"/>
              </a:rPr>
              <a:t>MIE1W0505 </a:t>
            </a:r>
            <a:r>
              <a:rPr lang="zh-CN" altLang="en-US" b="0" i="0" dirty="0">
                <a:solidFill>
                  <a:srgbClr val="1A1C1F"/>
                </a:solidFill>
                <a:effectLst/>
                <a:latin typeface="-apple-system"/>
              </a:rPr>
              <a:t>生成隔离 </a:t>
            </a:r>
            <a:r>
              <a:rPr lang="en-US" altLang="zh-CN" b="0" i="0" dirty="0">
                <a:solidFill>
                  <a:srgbClr val="1A1C1F"/>
                </a:solidFill>
                <a:effectLst/>
                <a:latin typeface="-apple-system"/>
              </a:rPr>
              <a:t>5V</a:t>
            </a:r>
            <a:r>
              <a:rPr lang="zh-CN" altLang="en-US" b="0" i="0" dirty="0">
                <a:solidFill>
                  <a:srgbClr val="1A1C1F"/>
                </a:solidFill>
                <a:effectLst/>
                <a:latin typeface="-apple-system"/>
              </a:rPr>
              <a:t>，提供 </a:t>
            </a:r>
            <a:r>
              <a:rPr lang="en-US" altLang="zh-CN" b="0" i="0" dirty="0">
                <a:solidFill>
                  <a:srgbClr val="1A1C1F"/>
                </a:solidFill>
                <a:effectLst/>
                <a:latin typeface="-apple-system"/>
              </a:rPr>
              <a:t>200mA </a:t>
            </a:r>
            <a:r>
              <a:rPr lang="zh-CN" altLang="en-US" b="0" i="0" dirty="0">
                <a:solidFill>
                  <a:srgbClr val="1A1C1F"/>
                </a:solidFill>
                <a:effectLst/>
                <a:latin typeface="-apple-system"/>
              </a:rPr>
              <a:t>以上负载电流，保证</a:t>
            </a:r>
            <a:r>
              <a:rPr lang="en-US" altLang="zh-CN" b="0" i="0" dirty="0">
                <a:solidFill>
                  <a:srgbClr val="1A1C1F"/>
                </a:solidFill>
                <a:effectLst/>
                <a:latin typeface="-apple-system"/>
              </a:rPr>
              <a:t>CAN</a:t>
            </a:r>
            <a:r>
              <a:rPr lang="zh-CN" altLang="en-US" b="0" i="0" dirty="0">
                <a:solidFill>
                  <a:srgbClr val="1A1C1F"/>
                </a:solidFill>
                <a:effectLst/>
                <a:latin typeface="-apple-system"/>
              </a:rPr>
              <a:t>通信稳定提高调试和联机运行时的可靠性。</a:t>
            </a:r>
            <a:endParaRPr dirty="0"/>
          </a:p>
        </p:txBody>
      </p:sp>
      <p:sp>
        <p:nvSpPr>
          <p:cNvPr id="4" name="Slide Number Placeholder 3">
            <a:extLst>
              <a:ext uri="{FF2B5EF4-FFF2-40B4-BE49-F238E27FC236}">
                <a16:creationId xmlns:a16="http://schemas.microsoft.com/office/drawing/2014/main" id="{E67F815A-0C4C-6A8E-1C24-5128830800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12553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58CD-D45A-DBE2-ECB1-6ECA604BA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96FE0-EDF7-0E4D-69A0-CC112A519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48679-E6CF-A28B-4B7E-434E617B3781}"/>
              </a:ext>
            </a:extLst>
          </p:cNvPr>
          <p:cNvSpPr>
            <a:spLocks noGrp="1"/>
          </p:cNvSpPr>
          <p:nvPr>
            <p:ph type="body" idx="1"/>
          </p:nvPr>
        </p:nvSpPr>
        <p:spPr/>
        <p:txBody>
          <a:bodyPr/>
          <a:lstStyle/>
          <a:p>
            <a:pPr marL="0" indent="0" algn="l">
              <a:lnSpc>
                <a:spcPct val="100000"/>
              </a:lnSpc>
              <a:spcBef>
                <a:spcPts val="0"/>
              </a:spcBef>
              <a:spcAft>
                <a:spcPts val="0"/>
              </a:spcAft>
              <a:buNone/>
            </a:pPr>
            <a:r>
              <a:rPr lang="zh-CN" altLang="en-US" b="0" i="0" dirty="0">
                <a:solidFill>
                  <a:srgbClr val="1A1C1F"/>
                </a:solidFill>
                <a:effectLst/>
                <a:latin typeface="-apple-system"/>
              </a:rPr>
              <a:t>驱动电路使用是 </a:t>
            </a:r>
            <a:r>
              <a:rPr lang="en-US" altLang="zh-CN" b="0" i="0" dirty="0">
                <a:solidFill>
                  <a:srgbClr val="1A1C1F"/>
                </a:solidFill>
                <a:effectLst/>
                <a:latin typeface="-apple-system"/>
              </a:rPr>
              <a:t>MP6539B </a:t>
            </a:r>
            <a:r>
              <a:rPr lang="zh-CN" altLang="en-US" b="0" i="0" dirty="0">
                <a:solidFill>
                  <a:srgbClr val="1A1C1F"/>
                </a:solidFill>
                <a:effectLst/>
                <a:latin typeface="-apple-system"/>
              </a:rPr>
              <a:t>三相 </a:t>
            </a:r>
            <a:r>
              <a:rPr lang="en-US" altLang="zh-CN" b="0" i="0" dirty="0">
                <a:solidFill>
                  <a:srgbClr val="1A1C1F"/>
                </a:solidFill>
                <a:effectLst/>
                <a:latin typeface="-apple-system"/>
              </a:rPr>
              <a:t>PMSM </a:t>
            </a:r>
            <a:r>
              <a:rPr lang="zh-CN" altLang="en-US" b="0" i="0" dirty="0">
                <a:solidFill>
                  <a:srgbClr val="1A1C1F"/>
                </a:solidFill>
                <a:effectLst/>
                <a:latin typeface="-apple-system"/>
              </a:rPr>
              <a:t>预驱芯片。芯片支持 </a:t>
            </a:r>
            <a:r>
              <a:rPr lang="en-US" altLang="zh-CN" b="0" i="0" dirty="0">
                <a:solidFill>
                  <a:srgbClr val="1A1C1F"/>
                </a:solidFill>
                <a:effectLst/>
                <a:latin typeface="-apple-system"/>
              </a:rPr>
              <a:t>100V </a:t>
            </a:r>
            <a:r>
              <a:rPr lang="zh-CN" altLang="en-US" b="0" i="0" dirty="0">
                <a:solidFill>
                  <a:srgbClr val="1A1C1F"/>
                </a:solidFill>
                <a:effectLst/>
                <a:latin typeface="-apple-system"/>
              </a:rPr>
              <a:t>母线应用与</a:t>
            </a:r>
            <a:r>
              <a:rPr lang="en-US" altLang="zh-CN" b="0" i="0" dirty="0">
                <a:solidFill>
                  <a:srgbClr val="1A1C1F"/>
                </a:solidFill>
                <a:effectLst/>
                <a:latin typeface="-apple-system"/>
              </a:rPr>
              <a:t>MP4583</a:t>
            </a:r>
            <a:r>
              <a:rPr lang="zh-CN" altLang="en-US" b="0" i="0" dirty="0">
                <a:solidFill>
                  <a:srgbClr val="1A1C1F"/>
                </a:solidFill>
                <a:effectLst/>
                <a:latin typeface="-apple-system"/>
              </a:rPr>
              <a:t>范围适配。其</a:t>
            </a:r>
            <a:r>
              <a:rPr lang="en-US" altLang="zh-CN" b="0" i="0" dirty="0" err="1">
                <a:solidFill>
                  <a:srgbClr val="1A1C1F"/>
                </a:solidFill>
                <a:effectLst/>
                <a:latin typeface="-apple-system"/>
              </a:rPr>
              <a:t>nSLEEP</a:t>
            </a:r>
            <a:r>
              <a:rPr lang="zh-CN" altLang="en-US" b="0" i="0" dirty="0">
                <a:solidFill>
                  <a:srgbClr val="1A1C1F"/>
                </a:solidFill>
                <a:effectLst/>
                <a:latin typeface="-apple-system"/>
              </a:rPr>
              <a:t>模式下仅</a:t>
            </a:r>
            <a:r>
              <a:rPr lang="en-US" altLang="zh-CN" b="0" i="0" dirty="0">
                <a:solidFill>
                  <a:srgbClr val="1A1C1F"/>
                </a:solidFill>
                <a:effectLst/>
                <a:latin typeface="-apple-system"/>
              </a:rPr>
              <a:t>2uA</a:t>
            </a:r>
            <a:r>
              <a:rPr lang="zh-CN" altLang="en-US" b="0" i="0" dirty="0">
                <a:solidFill>
                  <a:srgbClr val="1A1C1F"/>
                </a:solidFill>
                <a:effectLst/>
                <a:latin typeface="-apple-system"/>
              </a:rPr>
              <a:t>的静态电流可用作低功耗设计，内部</a:t>
            </a:r>
            <a:r>
              <a:rPr lang="en-US" altLang="zh-CN" b="0" i="0" dirty="0">
                <a:solidFill>
                  <a:srgbClr val="1A1C1F"/>
                </a:solidFill>
                <a:effectLst/>
                <a:latin typeface="-apple-system"/>
              </a:rPr>
              <a:t>Charge Pump </a:t>
            </a:r>
            <a:r>
              <a:rPr lang="zh-CN" altLang="en-US" b="0" i="0" dirty="0">
                <a:solidFill>
                  <a:srgbClr val="1A1C1F"/>
                </a:solidFill>
                <a:effectLst/>
                <a:latin typeface="-apple-system"/>
              </a:rPr>
              <a:t>加 </a:t>
            </a:r>
            <a:r>
              <a:rPr lang="en-US" altLang="zh-CN" b="0" i="0" dirty="0">
                <a:solidFill>
                  <a:srgbClr val="1A1C1F"/>
                </a:solidFill>
                <a:effectLst/>
                <a:latin typeface="-apple-system"/>
              </a:rPr>
              <a:t>Bootstrap </a:t>
            </a:r>
            <a:r>
              <a:rPr lang="zh-CN" altLang="en-US" b="0" i="0" dirty="0">
                <a:solidFill>
                  <a:srgbClr val="1A1C1F"/>
                </a:solidFill>
                <a:effectLst/>
                <a:latin typeface="-apple-system"/>
              </a:rPr>
              <a:t>结构，使得高边驱动可以长时间维持，栅极驱动能力优异，满足大部分场景需求。且内置运放与保护电路，节省成本提高可靠性。</a:t>
            </a:r>
            <a:endParaRPr lang="en-US" dirty="0"/>
          </a:p>
        </p:txBody>
      </p:sp>
      <p:sp>
        <p:nvSpPr>
          <p:cNvPr id="4" name="Slide Number Placeholder 3">
            <a:extLst>
              <a:ext uri="{FF2B5EF4-FFF2-40B4-BE49-F238E27FC236}">
                <a16:creationId xmlns:a16="http://schemas.microsoft.com/office/drawing/2014/main" id="{EE831CA8-5AB7-608D-2293-F7CBAA122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51550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E1D3-892B-EDF7-CAA0-7B5DD95D9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84B0C-8937-B4B3-D91E-AE1BF959F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3182D-070A-796C-5545-4A529BF78043}"/>
              </a:ext>
            </a:extLst>
          </p:cNvPr>
          <p:cNvSpPr>
            <a:spLocks noGrp="1"/>
          </p:cNvSpPr>
          <p:nvPr>
            <p:ph type="body" idx="1"/>
          </p:nvPr>
        </p:nvSpPr>
        <p:spPr/>
        <p:txBody>
          <a:bodyPr/>
          <a:lstStyle/>
          <a:p>
            <a:pPr marL="0" indent="0" algn="l">
              <a:lnSpc>
                <a:spcPct val="100000"/>
              </a:lnSpc>
              <a:spcBef>
                <a:spcPts val="0"/>
              </a:spcBef>
              <a:spcAft>
                <a:spcPts val="0"/>
              </a:spcAft>
              <a:buNone/>
            </a:pPr>
            <a:r>
              <a:rPr lang="zh-CN" altLang="en-US" b="0" i="0" dirty="0">
                <a:solidFill>
                  <a:srgbClr val="1A1C1F"/>
                </a:solidFill>
                <a:effectLst/>
                <a:latin typeface="-apple-system"/>
              </a:rPr>
              <a:t>相较于市面上其他的常用磁编码器，</a:t>
            </a:r>
            <a:r>
              <a:rPr lang="en-US" altLang="zh-CN" b="0" i="0" dirty="0">
                <a:solidFill>
                  <a:srgbClr val="1A1C1F"/>
                </a:solidFill>
                <a:effectLst/>
                <a:latin typeface="-apple-system"/>
              </a:rPr>
              <a:t>MA600A </a:t>
            </a:r>
            <a:r>
              <a:rPr lang="zh-CN" altLang="en-US" b="0" i="0" dirty="0">
                <a:solidFill>
                  <a:srgbClr val="1A1C1F"/>
                </a:solidFill>
                <a:effectLst/>
                <a:latin typeface="-apple-system"/>
              </a:rPr>
              <a:t>在动态控制场景里更突出。它默认 </a:t>
            </a:r>
            <a:r>
              <a:rPr lang="en-US" altLang="zh-CN" b="0" i="0" dirty="0">
                <a:solidFill>
                  <a:srgbClr val="1A1C1F"/>
                </a:solidFill>
                <a:effectLst/>
                <a:latin typeface="-apple-system"/>
              </a:rPr>
              <a:t>12.5bit </a:t>
            </a:r>
            <a:r>
              <a:rPr lang="zh-CN" altLang="en-US" b="0" i="0" dirty="0">
                <a:solidFill>
                  <a:srgbClr val="1A1C1F"/>
                </a:solidFill>
                <a:effectLst/>
                <a:latin typeface="-apple-system"/>
              </a:rPr>
              <a:t>配置下带宽有 </a:t>
            </a:r>
            <a:r>
              <a:rPr lang="en-US" altLang="zh-CN" b="0" i="0" dirty="0">
                <a:solidFill>
                  <a:srgbClr val="1A1C1F"/>
                </a:solidFill>
                <a:effectLst/>
                <a:latin typeface="-apple-system"/>
              </a:rPr>
              <a:t>12kHz</a:t>
            </a:r>
            <a:r>
              <a:rPr lang="zh-CN" altLang="en-US" b="0" i="0" dirty="0">
                <a:solidFill>
                  <a:srgbClr val="1A1C1F"/>
                </a:solidFill>
                <a:effectLst/>
                <a:latin typeface="-apple-system"/>
              </a:rPr>
              <a:t>，自带延迟补偿，补偿后延迟到达了夸张的</a:t>
            </a:r>
            <a:r>
              <a:rPr lang="en-US" altLang="zh-CN" b="0" i="0" dirty="0">
                <a:solidFill>
                  <a:srgbClr val="1A1C1F"/>
                </a:solidFill>
                <a:effectLst/>
                <a:latin typeface="-apple-system"/>
              </a:rPr>
              <a:t>1us</a:t>
            </a:r>
            <a:r>
              <a:rPr lang="zh-CN" altLang="en-US" b="0" i="0" dirty="0">
                <a:solidFill>
                  <a:srgbClr val="1A1C1F"/>
                </a:solidFill>
                <a:effectLst/>
                <a:latin typeface="-apple-system"/>
              </a:rPr>
              <a:t>内，按 </a:t>
            </a:r>
            <a:r>
              <a:rPr lang="en-US" altLang="zh-CN" b="0" i="0" dirty="0">
                <a:solidFill>
                  <a:srgbClr val="1A1C1F"/>
                </a:solidFill>
                <a:effectLst/>
                <a:latin typeface="-apple-system"/>
              </a:rPr>
              <a:t>3000rpm</a:t>
            </a:r>
            <a:r>
              <a:rPr lang="zh-CN" altLang="en-US" b="0" i="0" dirty="0">
                <a:solidFill>
                  <a:srgbClr val="1A1C1F"/>
                </a:solidFill>
                <a:effectLst/>
                <a:latin typeface="-apple-system"/>
              </a:rPr>
              <a:t>、</a:t>
            </a:r>
            <a:r>
              <a:rPr lang="en-US" altLang="zh-CN" b="0" i="0" dirty="0">
                <a:solidFill>
                  <a:srgbClr val="1A1C1F"/>
                </a:solidFill>
                <a:effectLst/>
                <a:latin typeface="-apple-system"/>
              </a:rPr>
              <a:t>7 </a:t>
            </a:r>
            <a:r>
              <a:rPr lang="zh-CN" altLang="en-US" b="0" i="0" dirty="0">
                <a:solidFill>
                  <a:srgbClr val="1A1C1F"/>
                </a:solidFill>
                <a:effectLst/>
                <a:latin typeface="-apple-system"/>
              </a:rPr>
              <a:t>对极电机粗算，</a:t>
            </a:r>
            <a:r>
              <a:rPr lang="en-US" altLang="zh-CN" b="0" i="0" dirty="0">
                <a:solidFill>
                  <a:srgbClr val="1A1C1F"/>
                </a:solidFill>
                <a:effectLst/>
                <a:latin typeface="-apple-system"/>
              </a:rPr>
              <a:t>MA600A</a:t>
            </a:r>
            <a:r>
              <a:rPr lang="zh-CN" altLang="en-US" b="0" i="0" dirty="0">
                <a:solidFill>
                  <a:srgbClr val="1A1C1F"/>
                </a:solidFill>
                <a:effectLst/>
                <a:latin typeface="-apple-system"/>
              </a:rPr>
              <a:t>的</a:t>
            </a:r>
            <a:r>
              <a:rPr lang="en-US" altLang="zh-CN" b="0" i="0" dirty="0">
                <a:solidFill>
                  <a:srgbClr val="1A1C1F"/>
                </a:solidFill>
                <a:effectLst/>
                <a:latin typeface="-apple-system"/>
              </a:rPr>
              <a:t>1us </a:t>
            </a:r>
            <a:r>
              <a:rPr lang="zh-CN" altLang="en-US" b="0" i="0" dirty="0">
                <a:solidFill>
                  <a:srgbClr val="1A1C1F"/>
                </a:solidFill>
                <a:effectLst/>
                <a:latin typeface="-apple-system"/>
              </a:rPr>
              <a:t>级延迟对应的电角度滞后只有 </a:t>
            </a:r>
            <a:r>
              <a:rPr lang="en-US" altLang="zh-CN" b="0" i="0" dirty="0">
                <a:solidFill>
                  <a:srgbClr val="1A1C1F"/>
                </a:solidFill>
                <a:effectLst/>
                <a:latin typeface="-apple-system"/>
              </a:rPr>
              <a:t>0.1°</a:t>
            </a:r>
            <a:r>
              <a:rPr lang="zh-CN" altLang="en-US" b="0" i="0" dirty="0">
                <a:solidFill>
                  <a:srgbClr val="1A1C1F"/>
                </a:solidFill>
                <a:effectLst/>
                <a:latin typeface="-apple-system"/>
              </a:rPr>
              <a:t>量级；而同类产品 </a:t>
            </a:r>
            <a:r>
              <a:rPr lang="en-US" altLang="zh-CN" b="0" i="0" dirty="0">
                <a:solidFill>
                  <a:srgbClr val="1A1C1F"/>
                </a:solidFill>
                <a:effectLst/>
                <a:latin typeface="-apple-system"/>
              </a:rPr>
              <a:t>100us </a:t>
            </a:r>
            <a:r>
              <a:rPr lang="zh-CN" altLang="en-US" b="0" i="0" dirty="0">
                <a:solidFill>
                  <a:srgbClr val="1A1C1F"/>
                </a:solidFill>
                <a:effectLst/>
                <a:latin typeface="-apple-system"/>
              </a:rPr>
              <a:t>级延迟会放大到十几度电角度。</a:t>
            </a:r>
            <a:endParaRPr lang="en-US" altLang="zh-CN" b="0" i="0" dirty="0">
              <a:solidFill>
                <a:srgbClr val="1A1C1F"/>
              </a:solidFill>
              <a:effectLst/>
              <a:latin typeface="-apple-system"/>
            </a:endParaRPr>
          </a:p>
          <a:p>
            <a:pPr marL="0" indent="0" algn="l">
              <a:lnSpc>
                <a:spcPct val="100000"/>
              </a:lnSpc>
              <a:spcBef>
                <a:spcPts val="0"/>
              </a:spcBef>
              <a:spcAft>
                <a:spcPts val="0"/>
              </a:spcAft>
              <a:buNone/>
            </a:pPr>
            <a:endParaRPr lang="en-US" altLang="zh-CN" b="0" dirty="0"/>
          </a:p>
          <a:p>
            <a:pPr marL="0" indent="0" algn="l">
              <a:lnSpc>
                <a:spcPct val="100000"/>
              </a:lnSpc>
              <a:spcBef>
                <a:spcPts val="0"/>
              </a:spcBef>
              <a:spcAft>
                <a:spcPts val="0"/>
              </a:spcAft>
              <a:buNone/>
            </a:pPr>
            <a:r>
              <a:rPr lang="zh-CN" altLang="en-US" b="0" dirty="0"/>
              <a:t>此外 </a:t>
            </a:r>
            <a:r>
              <a:rPr lang="en-US" altLang="zh-CN" b="0" dirty="0"/>
              <a:t>MA600A </a:t>
            </a:r>
            <a:r>
              <a:rPr lang="zh-CN" altLang="en-US" b="0" dirty="0"/>
              <a:t>支持端轴和旁轴两种安装方式，结构设计上灵活度更高。</a:t>
            </a:r>
            <a:endParaRPr lang="en-US" b="0" dirty="0"/>
          </a:p>
        </p:txBody>
      </p:sp>
      <p:sp>
        <p:nvSpPr>
          <p:cNvPr id="4" name="Slide Number Placeholder 3">
            <a:extLst>
              <a:ext uri="{FF2B5EF4-FFF2-40B4-BE49-F238E27FC236}">
                <a16:creationId xmlns:a16="http://schemas.microsoft.com/office/drawing/2014/main" id="{0845A39F-5C95-9D70-ECEA-E93633A3DC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4829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完成器件选型和硬件计算后，接下来进入 PCB Layout。整板需要在约 49 × 43 毫米的空间内放下 48 V、180 W 功率驱动、三相电流采样、磁编码器和隔离 CAN 通信，因此布局重点是控制功率环路、噪声耦合和散热路径。</a:t>
            </a:r>
          </a:p>
          <a:p>
            <a:r>
              <a:rPr lang="zh-CN" dirty="0"/>
              <a:t>本项目采用四层板，成品厚度约 1.6 毫米，外层铜厚约 1 盎司</a:t>
            </a:r>
            <a:r>
              <a:rPr lang="zh-CN" altLang="en-US" dirty="0"/>
              <a:t>，有条件的嘉人可以依照工业标准加厚到</a:t>
            </a:r>
            <a:r>
              <a:rPr lang="en-US" altLang="zh-CN" dirty="0"/>
              <a:t>2</a:t>
            </a:r>
            <a:r>
              <a:rPr lang="zh-CN" altLang="zh-CN" dirty="0"/>
              <a:t>盎司</a:t>
            </a:r>
            <a:r>
              <a:rPr lang="zh-CN" dirty="0"/>
              <a:t>。</a:t>
            </a:r>
            <a:endParaRPr lang="en-US" altLang="zh-CN" dirty="0"/>
          </a:p>
          <a:p>
            <a:r>
              <a:rPr lang="zh-CN" dirty="0"/>
              <a:t>顶层承担器件、功率铜皮和关键走线，第二层保持连续地平面，第三层用于电源分配，底层布置控制器件和低速信号，这样可以在紧凑板框内获得稳定的回流路径。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整板以 MA600A 和电机轴心为中心，</a:t>
            </a:r>
            <a:r>
              <a:rPr lang="zh-CN" altLang="en-US" dirty="0"/>
              <a:t>板上可见明确圆圈丝印隔离高功率器件。</a:t>
            </a:r>
            <a:r>
              <a:rPr lang="zh-CN" dirty="0"/>
              <a:t>六颗 MOSFET 沿外围展开，缩短三相功率输出和散热路径。MP6539B、STM32G431 和三相 INA240 位于控制与采样区域，辅助电源和隔离 CAN 靠近板边，方便连接输入电源和外部总线。</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驱动回路的布局尤为重要，</a:t>
            </a:r>
            <a:r>
              <a:rPr lang="zh-CN" dirty="0"/>
              <a:t>MPS 的</a:t>
            </a:r>
            <a:r>
              <a:rPr lang="zh-CN" altLang="en-US" dirty="0"/>
              <a:t>布局参考</a:t>
            </a:r>
            <a:r>
              <a:rPr lang="zh-CN" dirty="0"/>
              <a:t>重点体现上下管连接短、大电流路径宽铜皮、驱动去耦靠近芯片；</a:t>
            </a:r>
            <a:r>
              <a:rPr lang="zh-CN" altLang="en-US" dirty="0"/>
              <a:t>同样的</a:t>
            </a:r>
            <a:r>
              <a:rPr lang="zh-CN" dirty="0"/>
              <a:t>的 Bootstrap 布局示例强调 CBOOT 和 VDD 去耦要贴近驱动器，尽量缩小高峰值充电路径。</a:t>
            </a:r>
            <a:r>
              <a:rPr lang="en-US" altLang="zh-CN" dirty="0"/>
              <a:t>MOSFET</a:t>
            </a:r>
            <a:r>
              <a:rPr lang="zh-CN" altLang="en-US" dirty="0"/>
              <a:t>的</a:t>
            </a:r>
            <a:r>
              <a:rPr lang="en-US" altLang="zh-CN" dirty="0"/>
              <a:t>Gate </a:t>
            </a:r>
            <a:r>
              <a:rPr lang="zh-CN" altLang="en-US" dirty="0"/>
              <a:t>与 </a:t>
            </a:r>
            <a:r>
              <a:rPr lang="en-US" altLang="zh-CN" dirty="0"/>
              <a:t>Source </a:t>
            </a:r>
            <a:r>
              <a:rPr lang="zh-CN" altLang="en-US"/>
              <a:t>回流并行。</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三相电流均通过 10 毫欧分流电阻和 INA240A1 采集，整体比例为 0.2 伏每安培。分流电阻两端采用 Kelvin 取样，差分线成对引到 INA240，并避开相位开关节点和栅极走线，输出</a:t>
            </a:r>
            <a:r>
              <a:rPr lang="zh-CN" altLang="en-US" dirty="0"/>
              <a:t>经</a:t>
            </a:r>
            <a:r>
              <a:rPr lang="en-US" altLang="zh-CN" dirty="0"/>
              <a:t>ADC</a:t>
            </a:r>
            <a:r>
              <a:rPr lang="zh-CN" altLang="en-US" dirty="0"/>
              <a:t>处理后，进一步使用数字滤波处理</a:t>
            </a:r>
            <a:r>
              <a:rPr lang="zh-CN" dirty="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MA600A 位于电机轴心附近，高电流铜皮和开关节点需要远离传感器区域，周围电容与芯片中心保持至少 5 毫米距离。隔离通信部分由 MIE1W0505 和 ISO1042 构成，控制侧与总线侧保持清晰净空，CANH 和 CANL 靠近接口成对布线。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功率器件沿板边布置，通过大面积铜皮和并联过孔把热量扩散到上下层，并为后续与外壳导热预留条件。</a:t>
            </a:r>
            <a:r>
              <a:rPr lang="zh-CN" altLang="en-US" dirty="0"/>
              <a:t>接下来做一个简单回顾，</a:t>
            </a:r>
            <a:r>
              <a:rPr lang="zh-CN" dirty="0"/>
              <a:t>逐项检查功率路径、回流路径、散热路径、敏感信号和隔离边界，再通过温升、母线尖峰和电流采样波形完成实板验证。</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5C100-F946-DA30-9488-3573BC96A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7453A-2BDE-5C40-2215-3B5C4DB03F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47052-C30A-CC4B-706D-FF20CBE0BC17}"/>
              </a:ext>
            </a:extLst>
          </p:cNvPr>
          <p:cNvSpPr>
            <a:spLocks noGrp="1"/>
          </p:cNvSpPr>
          <p:nvPr>
            <p:ph type="body" idx="1"/>
          </p:nvPr>
        </p:nvSpPr>
        <p:spPr/>
        <p:txBody>
          <a:bodyPr/>
          <a:lstStyle/>
          <a:p>
            <a:pPr algn="l">
              <a:lnSpc>
                <a:spcPts val="1650"/>
              </a:lnSpc>
              <a:buNone/>
            </a:pPr>
            <a:r>
              <a:rPr lang="zh-CN" altLang="en-US" sz="2800" b="0" i="0" dirty="0">
                <a:solidFill>
                  <a:srgbClr val="1A1C1F"/>
                </a:solidFill>
                <a:effectLst/>
                <a:latin typeface="-apple-system"/>
              </a:rPr>
              <a:t>经过上述设计，我们已经得到了一块儿可供使用，基础功能测试完成的板子，下一期视频我们将进入代码讲解以及功能测试，让我们一步步得到一块儿最终可以完整跑起来的</a:t>
            </a:r>
            <a:r>
              <a:rPr lang="en-US" altLang="zh-CN" sz="2800" b="0" i="0" dirty="0">
                <a:solidFill>
                  <a:srgbClr val="1A1C1F"/>
                </a:solidFill>
                <a:effectLst/>
                <a:latin typeface="-apple-system"/>
              </a:rPr>
              <a:t>FOC</a:t>
            </a:r>
            <a:endParaRPr lang="en-US" altLang="zh-CN" sz="1800" dirty="0"/>
          </a:p>
        </p:txBody>
      </p:sp>
      <p:sp>
        <p:nvSpPr>
          <p:cNvPr id="4" name="Slide Number Placeholder 3">
            <a:extLst>
              <a:ext uri="{FF2B5EF4-FFF2-40B4-BE49-F238E27FC236}">
                <a16:creationId xmlns:a16="http://schemas.microsoft.com/office/drawing/2014/main" id="{058BFB11-256D-7886-16E8-B53B912CE41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64581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05752F-A94C-4D47-A51F-610CD25A3432}"/>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6E9A1F76-2D00-455C-ACB9-35E106A78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E180289B-D436-482E-AC94-9D23C37057B9}"/>
              </a:ext>
            </a:extLst>
          </p:cNvPr>
          <p:cNvSpPr>
            <a:spLocks noGrp="1"/>
          </p:cNvSpPr>
          <p:nvPr>
            <p:ph type="dt" idx="10"/>
          </p:nvPr>
        </p:nvSpPr>
        <p:spPr/>
        <p:txBody>
          <a:bodyPr/>
          <a:lstStyle/>
          <a:p>
            <a:fld id="{0F7DC6A6-BF1E-4CE5-B3E6-718B8EA0B82A}" type="datetime1">
              <a:t>2026/8/8</a:t>
            </a:fld>
            <a:endParaRPr/>
          </a:p>
        </p:txBody>
      </p:sp>
      <p:sp>
        <p:nvSpPr>
          <p:cNvPr id="5" name="页脚占位符 4">
            <a:extLst>
              <a:ext uri="{FF2B5EF4-FFF2-40B4-BE49-F238E27FC236}">
                <a16:creationId xmlns:a16="http://schemas.microsoft.com/office/drawing/2014/main" id="{81389B5A-DF29-468F-9B0B-BD486995F569}"/>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099FEB5D-F169-492E-899A-79E026BAE902}"/>
              </a:ext>
            </a:extLst>
          </p:cNvPr>
          <p:cNvSpPr>
            <a:spLocks noGrp="1"/>
          </p:cNvSpPr>
          <p:nvPr>
            <p:ph type="sldNum" idx="12"/>
          </p:nvPr>
        </p:nvSpPr>
        <p:spPr/>
        <p:txBody>
          <a:bodyPr/>
          <a:lstStyle/>
          <a:p>
            <a:fld id="{8FC705DF-EB6A-4429-A9CF-8086C29D54D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0" name="标题 1">
            <a:extLst>
              <a:ext uri="{FF2B5EF4-FFF2-40B4-BE49-F238E27FC236}">
                <a16:creationId xmlns:a16="http://schemas.microsoft.com/office/drawing/2014/main" id="{BD73703F-1021-4BA0-A512-F64CFA814BE5}"/>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21" name="文本占位符 2">
            <a:extLst>
              <a:ext uri="{FF2B5EF4-FFF2-40B4-BE49-F238E27FC236}">
                <a16:creationId xmlns:a16="http://schemas.microsoft.com/office/drawing/2014/main" id="{9D8C644C-2870-4ACE-8AF0-71DA544373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22" name="日期占位符 3">
            <a:extLst>
              <a:ext uri="{FF2B5EF4-FFF2-40B4-BE49-F238E27FC236}">
                <a16:creationId xmlns:a16="http://schemas.microsoft.com/office/drawing/2014/main" id="{951213E9-A379-4A62-80A0-1F74D0DA6230}"/>
              </a:ext>
            </a:extLst>
          </p:cNvPr>
          <p:cNvSpPr>
            <a:spLocks noGrp="1"/>
          </p:cNvSpPr>
          <p:nvPr>
            <p:ph type="dt" idx="10"/>
          </p:nvPr>
        </p:nvSpPr>
        <p:spPr/>
        <p:txBody>
          <a:bodyPr/>
          <a:lstStyle/>
          <a:p>
            <a:fld id="{8D5B006A-3E28-4231-AF04-14767498E664}" type="datetime1">
              <a:t>2026/8/8</a:t>
            </a:fld>
            <a:endParaRPr/>
          </a:p>
        </p:txBody>
      </p:sp>
      <p:sp>
        <p:nvSpPr>
          <p:cNvPr id="23" name="页脚占位符 4">
            <a:extLst>
              <a:ext uri="{FF2B5EF4-FFF2-40B4-BE49-F238E27FC236}">
                <a16:creationId xmlns:a16="http://schemas.microsoft.com/office/drawing/2014/main" id="{DAF5303B-F930-443C-B7C4-7A2800927225}"/>
              </a:ext>
            </a:extLst>
          </p:cNvPr>
          <p:cNvSpPr>
            <a:spLocks noGrp="1"/>
          </p:cNvSpPr>
          <p:nvPr>
            <p:ph type="ftr" idx="11"/>
          </p:nvPr>
        </p:nvSpPr>
        <p:spPr/>
        <p:txBody>
          <a:bodyPr/>
          <a:lstStyle/>
          <a:p>
            <a:endParaRPr/>
          </a:p>
        </p:txBody>
      </p:sp>
      <p:sp>
        <p:nvSpPr>
          <p:cNvPr id="24" name="灯片编号占位符 5">
            <a:extLst>
              <a:ext uri="{FF2B5EF4-FFF2-40B4-BE49-F238E27FC236}">
                <a16:creationId xmlns:a16="http://schemas.microsoft.com/office/drawing/2014/main" id="{2E2C6D17-EE1C-41F0-A800-9208DDAD4F81}"/>
              </a:ext>
            </a:extLst>
          </p:cNvPr>
          <p:cNvSpPr>
            <a:spLocks noGrp="1"/>
          </p:cNvSpPr>
          <p:nvPr>
            <p:ph type="sldNum" idx="12"/>
          </p:nvPr>
        </p:nvSpPr>
        <p:spPr/>
        <p:txBody>
          <a:bodyPr/>
          <a:lstStyle/>
          <a:p>
            <a:fld id="{C8B94FA0-F740-4CDC-A935-5AEA919A98D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6" name="标题 1">
            <a:extLst>
              <a:ext uri="{FF2B5EF4-FFF2-40B4-BE49-F238E27FC236}">
                <a16:creationId xmlns:a16="http://schemas.microsoft.com/office/drawing/2014/main" id="{C5CCC62B-E18D-4A97-8100-1739F62D16F7}"/>
              </a:ext>
            </a:extLst>
          </p:cNvPr>
          <p:cNvSpPr>
            <a:spLocks noGrp="1"/>
          </p:cNvSpPr>
          <p:nvPr>
            <p:ph type="title"/>
          </p:nvPr>
        </p:nvSpPr>
        <p:spPr/>
        <p:txBody>
          <a:bodyPr/>
          <a:lstStyle/>
          <a:p>
            <a:r>
              <a:t>单击此处编辑母版标题样式</a:t>
            </a:r>
          </a:p>
        </p:txBody>
      </p:sp>
      <p:sp>
        <p:nvSpPr>
          <p:cNvPr id="27" name="内容占位符 2">
            <a:extLst>
              <a:ext uri="{FF2B5EF4-FFF2-40B4-BE49-F238E27FC236}">
                <a16:creationId xmlns:a16="http://schemas.microsoft.com/office/drawing/2014/main" id="{B3A46243-34C0-4FF1-9FF3-10854A9705C6}"/>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8" name="内容占位符 3">
            <a:extLst>
              <a:ext uri="{FF2B5EF4-FFF2-40B4-BE49-F238E27FC236}">
                <a16:creationId xmlns:a16="http://schemas.microsoft.com/office/drawing/2014/main" id="{01B91AEC-A7A2-4A6A-84D3-7C8F85D151EB}"/>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9" name="日期占位符 4">
            <a:extLst>
              <a:ext uri="{FF2B5EF4-FFF2-40B4-BE49-F238E27FC236}">
                <a16:creationId xmlns:a16="http://schemas.microsoft.com/office/drawing/2014/main" id="{B3AFA0E3-D000-4A0C-8036-92B4377FB546}"/>
              </a:ext>
            </a:extLst>
          </p:cNvPr>
          <p:cNvSpPr>
            <a:spLocks noGrp="1"/>
          </p:cNvSpPr>
          <p:nvPr>
            <p:ph type="dt" idx="10"/>
          </p:nvPr>
        </p:nvSpPr>
        <p:spPr/>
        <p:txBody>
          <a:bodyPr/>
          <a:lstStyle/>
          <a:p>
            <a:fld id="{A1F3BCCF-927F-4C14-9052-F5177C3C439D}" type="datetime1">
              <a:t>2026/8/8</a:t>
            </a:fld>
            <a:endParaRPr/>
          </a:p>
        </p:txBody>
      </p:sp>
      <p:sp>
        <p:nvSpPr>
          <p:cNvPr id="30" name="页脚占位符 5">
            <a:extLst>
              <a:ext uri="{FF2B5EF4-FFF2-40B4-BE49-F238E27FC236}">
                <a16:creationId xmlns:a16="http://schemas.microsoft.com/office/drawing/2014/main" id="{141E3939-A435-48B3-B11F-45A2C831E687}"/>
              </a:ext>
            </a:extLst>
          </p:cNvPr>
          <p:cNvSpPr>
            <a:spLocks noGrp="1"/>
          </p:cNvSpPr>
          <p:nvPr>
            <p:ph type="ftr" idx="11"/>
          </p:nvPr>
        </p:nvSpPr>
        <p:spPr/>
        <p:txBody>
          <a:bodyPr/>
          <a:lstStyle/>
          <a:p>
            <a:endParaRPr/>
          </a:p>
        </p:txBody>
      </p:sp>
      <p:sp>
        <p:nvSpPr>
          <p:cNvPr id="31" name="灯片编号占位符 6">
            <a:extLst>
              <a:ext uri="{FF2B5EF4-FFF2-40B4-BE49-F238E27FC236}">
                <a16:creationId xmlns:a16="http://schemas.microsoft.com/office/drawing/2014/main" id="{19B01B05-0D86-4716-8640-577CC9D24DC3}"/>
              </a:ext>
            </a:extLst>
          </p:cNvPr>
          <p:cNvSpPr>
            <a:spLocks noGrp="1"/>
          </p:cNvSpPr>
          <p:nvPr>
            <p:ph type="sldNum" idx="12"/>
          </p:nvPr>
        </p:nvSpPr>
        <p:spPr/>
        <p:txBody>
          <a:bodyPr/>
          <a:lstStyle/>
          <a:p>
            <a:fld id="{408259AF-2A25-452C-AA5F-7B080E8C5A7E}"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33" name="标题 1">
            <a:extLst>
              <a:ext uri="{FF2B5EF4-FFF2-40B4-BE49-F238E27FC236}">
                <a16:creationId xmlns:a16="http://schemas.microsoft.com/office/drawing/2014/main" id="{5968CDCC-4BE8-42F9-9391-E97420D51846}"/>
              </a:ext>
            </a:extLst>
          </p:cNvPr>
          <p:cNvSpPr>
            <a:spLocks noGrp="1"/>
          </p:cNvSpPr>
          <p:nvPr>
            <p:ph type="title"/>
          </p:nvPr>
        </p:nvSpPr>
        <p:spPr>
          <a:xfrm>
            <a:off x="839788" y="365125"/>
            <a:ext cx="10515600" cy="1325563"/>
          </a:xfrm>
        </p:spPr>
        <p:txBody>
          <a:bodyPr/>
          <a:lstStyle/>
          <a:p>
            <a:r>
              <a:t>单击此处编辑母版标题样式</a:t>
            </a:r>
          </a:p>
        </p:txBody>
      </p:sp>
      <p:sp>
        <p:nvSpPr>
          <p:cNvPr id="34" name="文本占位符 2">
            <a:extLst>
              <a:ext uri="{FF2B5EF4-FFF2-40B4-BE49-F238E27FC236}">
                <a16:creationId xmlns:a16="http://schemas.microsoft.com/office/drawing/2014/main" id="{519788B3-861F-4EF6-9036-11DC12163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5" name="内容占位符 3">
            <a:extLst>
              <a:ext uri="{FF2B5EF4-FFF2-40B4-BE49-F238E27FC236}">
                <a16:creationId xmlns:a16="http://schemas.microsoft.com/office/drawing/2014/main" id="{EE82DBF0-6B6D-40B0-A193-D2714ACC6FBA}"/>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6" name="文本占位符 4">
            <a:extLst>
              <a:ext uri="{FF2B5EF4-FFF2-40B4-BE49-F238E27FC236}">
                <a16:creationId xmlns:a16="http://schemas.microsoft.com/office/drawing/2014/main" id="{81A53F8E-72E1-4A0A-B2C8-267E3399F91A}"/>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7" name="内容占位符 5">
            <a:extLst>
              <a:ext uri="{FF2B5EF4-FFF2-40B4-BE49-F238E27FC236}">
                <a16:creationId xmlns:a16="http://schemas.microsoft.com/office/drawing/2014/main" id="{585EEC3A-B65B-470D-9AA4-4B46F66E3BAF}"/>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8" name="日期占位符 6">
            <a:extLst>
              <a:ext uri="{FF2B5EF4-FFF2-40B4-BE49-F238E27FC236}">
                <a16:creationId xmlns:a16="http://schemas.microsoft.com/office/drawing/2014/main" id="{820E9D36-4F00-45ED-8795-AD7B64DF6CB2}"/>
              </a:ext>
            </a:extLst>
          </p:cNvPr>
          <p:cNvSpPr>
            <a:spLocks noGrp="1"/>
          </p:cNvSpPr>
          <p:nvPr>
            <p:ph type="dt" idx="10"/>
          </p:nvPr>
        </p:nvSpPr>
        <p:spPr/>
        <p:txBody>
          <a:bodyPr/>
          <a:lstStyle/>
          <a:p>
            <a:fld id="{E19FF268-CF0C-4595-A6A8-A0B1FC2FEB42}" type="datetime1">
              <a:t>2026/8/8</a:t>
            </a:fld>
            <a:endParaRPr/>
          </a:p>
        </p:txBody>
      </p:sp>
      <p:sp>
        <p:nvSpPr>
          <p:cNvPr id="39" name="页脚占位符 7">
            <a:extLst>
              <a:ext uri="{FF2B5EF4-FFF2-40B4-BE49-F238E27FC236}">
                <a16:creationId xmlns:a16="http://schemas.microsoft.com/office/drawing/2014/main" id="{905516BC-7B07-407B-9AFE-3DFB6A243980}"/>
              </a:ext>
            </a:extLst>
          </p:cNvPr>
          <p:cNvSpPr>
            <a:spLocks noGrp="1"/>
          </p:cNvSpPr>
          <p:nvPr>
            <p:ph type="ftr" idx="11"/>
          </p:nvPr>
        </p:nvSpPr>
        <p:spPr/>
        <p:txBody>
          <a:bodyPr/>
          <a:lstStyle/>
          <a:p>
            <a:endParaRPr/>
          </a:p>
        </p:txBody>
      </p:sp>
      <p:sp>
        <p:nvSpPr>
          <p:cNvPr id="40" name="灯片编号占位符 8">
            <a:extLst>
              <a:ext uri="{FF2B5EF4-FFF2-40B4-BE49-F238E27FC236}">
                <a16:creationId xmlns:a16="http://schemas.microsoft.com/office/drawing/2014/main" id="{6B05C7CF-0D20-43D0-822D-1708E90CE2BF}"/>
              </a:ext>
            </a:extLst>
          </p:cNvPr>
          <p:cNvSpPr>
            <a:spLocks noGrp="1"/>
          </p:cNvSpPr>
          <p:nvPr>
            <p:ph type="sldNum" idx="12"/>
          </p:nvPr>
        </p:nvSpPr>
        <p:spPr/>
        <p:txBody>
          <a:bodyPr/>
          <a:lstStyle/>
          <a:p>
            <a:fld id="{63A90A56-B7DA-460C-8F46-95BFAF0AF95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42" name="标题 1">
            <a:extLst>
              <a:ext uri="{FF2B5EF4-FFF2-40B4-BE49-F238E27FC236}">
                <a16:creationId xmlns:a16="http://schemas.microsoft.com/office/drawing/2014/main" id="{684BB998-DAE0-4ACD-86C1-3152824E29D3}"/>
              </a:ext>
            </a:extLst>
          </p:cNvPr>
          <p:cNvSpPr>
            <a:spLocks noGrp="1"/>
          </p:cNvSpPr>
          <p:nvPr>
            <p:ph type="title"/>
          </p:nvPr>
        </p:nvSpPr>
        <p:spPr/>
        <p:txBody>
          <a:bodyPr/>
          <a:lstStyle/>
          <a:p>
            <a:r>
              <a:t>单击此处编辑母版标题样式</a:t>
            </a:r>
          </a:p>
        </p:txBody>
      </p:sp>
      <p:sp>
        <p:nvSpPr>
          <p:cNvPr id="43" name="日期占位符 2">
            <a:extLst>
              <a:ext uri="{FF2B5EF4-FFF2-40B4-BE49-F238E27FC236}">
                <a16:creationId xmlns:a16="http://schemas.microsoft.com/office/drawing/2014/main" id="{A4F13546-3F79-4B24-B0D1-94E048EEBD2E}"/>
              </a:ext>
            </a:extLst>
          </p:cNvPr>
          <p:cNvSpPr>
            <a:spLocks noGrp="1"/>
          </p:cNvSpPr>
          <p:nvPr>
            <p:ph type="dt" idx="10"/>
          </p:nvPr>
        </p:nvSpPr>
        <p:spPr/>
        <p:txBody>
          <a:bodyPr/>
          <a:lstStyle/>
          <a:p>
            <a:fld id="{E05E0E50-3259-4429-AAEB-7BA10F2285FC}" type="datetime1">
              <a:t>2026/8/8</a:t>
            </a:fld>
            <a:endParaRPr/>
          </a:p>
        </p:txBody>
      </p:sp>
      <p:sp>
        <p:nvSpPr>
          <p:cNvPr id="44" name="页脚占位符 3">
            <a:extLst>
              <a:ext uri="{FF2B5EF4-FFF2-40B4-BE49-F238E27FC236}">
                <a16:creationId xmlns:a16="http://schemas.microsoft.com/office/drawing/2014/main" id="{D7DD0B55-C159-4B6A-B987-1739A5A3C1DF}"/>
              </a:ext>
            </a:extLst>
          </p:cNvPr>
          <p:cNvSpPr>
            <a:spLocks noGrp="1"/>
          </p:cNvSpPr>
          <p:nvPr>
            <p:ph type="ftr" idx="11"/>
          </p:nvPr>
        </p:nvSpPr>
        <p:spPr/>
        <p:txBody>
          <a:bodyPr/>
          <a:lstStyle/>
          <a:p>
            <a:endParaRPr/>
          </a:p>
        </p:txBody>
      </p:sp>
      <p:sp>
        <p:nvSpPr>
          <p:cNvPr id="45" name="灯片编号占位符 4">
            <a:extLst>
              <a:ext uri="{FF2B5EF4-FFF2-40B4-BE49-F238E27FC236}">
                <a16:creationId xmlns:a16="http://schemas.microsoft.com/office/drawing/2014/main" id="{0F6A32AA-E2E5-4FD4-8ED9-8BD276E3CE4B}"/>
              </a:ext>
            </a:extLst>
          </p:cNvPr>
          <p:cNvSpPr>
            <a:spLocks noGrp="1"/>
          </p:cNvSpPr>
          <p:nvPr>
            <p:ph type="sldNum" idx="12"/>
          </p:nvPr>
        </p:nvSpPr>
        <p:spPr/>
        <p:txBody>
          <a:bodyPr/>
          <a:lstStyle/>
          <a:p>
            <a:fld id="{C2178EC5-58A4-4F44-B83C-34BE3E218ABE}"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47" name="日期占位符 1">
            <a:extLst>
              <a:ext uri="{FF2B5EF4-FFF2-40B4-BE49-F238E27FC236}">
                <a16:creationId xmlns:a16="http://schemas.microsoft.com/office/drawing/2014/main" id="{E8F12930-4852-4D9E-93EC-D013F8E06441}"/>
              </a:ext>
            </a:extLst>
          </p:cNvPr>
          <p:cNvSpPr>
            <a:spLocks noGrp="1"/>
          </p:cNvSpPr>
          <p:nvPr>
            <p:ph type="dt" idx="10"/>
          </p:nvPr>
        </p:nvSpPr>
        <p:spPr/>
        <p:txBody>
          <a:bodyPr/>
          <a:lstStyle/>
          <a:p>
            <a:fld id="{03EF5456-EA9D-47AD-816E-BBFCE6D3FB5C}" type="datetime1">
              <a:t>2026/8/8</a:t>
            </a:fld>
            <a:endParaRPr/>
          </a:p>
        </p:txBody>
      </p:sp>
      <p:sp>
        <p:nvSpPr>
          <p:cNvPr id="48" name="页脚占位符 2">
            <a:extLst>
              <a:ext uri="{FF2B5EF4-FFF2-40B4-BE49-F238E27FC236}">
                <a16:creationId xmlns:a16="http://schemas.microsoft.com/office/drawing/2014/main" id="{7E2D8288-E2AA-4492-A489-36AD439D5D6E}"/>
              </a:ext>
            </a:extLst>
          </p:cNvPr>
          <p:cNvSpPr>
            <a:spLocks noGrp="1"/>
          </p:cNvSpPr>
          <p:nvPr>
            <p:ph type="ftr" idx="11"/>
          </p:nvPr>
        </p:nvSpPr>
        <p:spPr/>
        <p:txBody>
          <a:bodyPr/>
          <a:lstStyle/>
          <a:p>
            <a:endParaRPr/>
          </a:p>
        </p:txBody>
      </p:sp>
      <p:sp>
        <p:nvSpPr>
          <p:cNvPr id="49" name="灯片编号占位符 3">
            <a:extLst>
              <a:ext uri="{FF2B5EF4-FFF2-40B4-BE49-F238E27FC236}">
                <a16:creationId xmlns:a16="http://schemas.microsoft.com/office/drawing/2014/main" id="{3A3C4ED8-8262-47DB-A4EA-CDE00798A800}"/>
              </a:ext>
            </a:extLst>
          </p:cNvPr>
          <p:cNvSpPr>
            <a:spLocks noGrp="1"/>
          </p:cNvSpPr>
          <p:nvPr>
            <p:ph type="sldNum" idx="12"/>
          </p:nvPr>
        </p:nvSpPr>
        <p:spPr/>
        <p:txBody>
          <a:bodyPr/>
          <a:lstStyle/>
          <a:p>
            <a:fld id="{E3199BA4-F8C4-48F6-BF3D-6D4BD834E81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51" name="标题 1">
            <a:extLst>
              <a:ext uri="{FF2B5EF4-FFF2-40B4-BE49-F238E27FC236}">
                <a16:creationId xmlns:a16="http://schemas.microsoft.com/office/drawing/2014/main" id="{67A08238-819F-498D-B263-D954AB3403E4}"/>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2" name="内容占位符 2">
            <a:extLst>
              <a:ext uri="{FF2B5EF4-FFF2-40B4-BE49-F238E27FC236}">
                <a16:creationId xmlns:a16="http://schemas.microsoft.com/office/drawing/2014/main" id="{AF8AA228-5B99-46A9-8B78-2600AA70FD2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3" name="文本占位符 3">
            <a:extLst>
              <a:ext uri="{FF2B5EF4-FFF2-40B4-BE49-F238E27FC236}">
                <a16:creationId xmlns:a16="http://schemas.microsoft.com/office/drawing/2014/main" id="{99984A6E-E270-4746-8541-C895451D14C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4" name="日期占位符 4">
            <a:extLst>
              <a:ext uri="{FF2B5EF4-FFF2-40B4-BE49-F238E27FC236}">
                <a16:creationId xmlns:a16="http://schemas.microsoft.com/office/drawing/2014/main" id="{42CC39A3-DFB3-4780-9A36-B9F75C3C6B98}"/>
              </a:ext>
            </a:extLst>
          </p:cNvPr>
          <p:cNvSpPr>
            <a:spLocks noGrp="1"/>
          </p:cNvSpPr>
          <p:nvPr>
            <p:ph type="dt" idx="10"/>
          </p:nvPr>
        </p:nvSpPr>
        <p:spPr/>
        <p:txBody>
          <a:bodyPr/>
          <a:lstStyle/>
          <a:p>
            <a:fld id="{BDD0B665-21F2-4210-A0AB-1FF516ABB0EC}" type="datetime1">
              <a:t>2026/8/8</a:t>
            </a:fld>
            <a:endParaRPr/>
          </a:p>
        </p:txBody>
      </p:sp>
      <p:sp>
        <p:nvSpPr>
          <p:cNvPr id="55" name="页脚占位符 5">
            <a:extLst>
              <a:ext uri="{FF2B5EF4-FFF2-40B4-BE49-F238E27FC236}">
                <a16:creationId xmlns:a16="http://schemas.microsoft.com/office/drawing/2014/main" id="{B1FE1C3E-67CE-4C50-9CB8-58C7F0CFB69B}"/>
              </a:ext>
            </a:extLst>
          </p:cNvPr>
          <p:cNvSpPr>
            <a:spLocks noGrp="1"/>
          </p:cNvSpPr>
          <p:nvPr>
            <p:ph type="ftr" idx="11"/>
          </p:nvPr>
        </p:nvSpPr>
        <p:spPr/>
        <p:txBody>
          <a:bodyPr/>
          <a:lstStyle/>
          <a:p>
            <a:endParaRPr/>
          </a:p>
        </p:txBody>
      </p:sp>
      <p:sp>
        <p:nvSpPr>
          <p:cNvPr id="56" name="灯片编号占位符 6">
            <a:extLst>
              <a:ext uri="{FF2B5EF4-FFF2-40B4-BE49-F238E27FC236}">
                <a16:creationId xmlns:a16="http://schemas.microsoft.com/office/drawing/2014/main" id="{CD7B1B76-2387-44CB-9ABC-EB5410611922}"/>
              </a:ext>
            </a:extLst>
          </p:cNvPr>
          <p:cNvSpPr>
            <a:spLocks noGrp="1"/>
          </p:cNvSpPr>
          <p:nvPr>
            <p:ph type="sldNum" idx="12"/>
          </p:nvPr>
        </p:nvSpPr>
        <p:spPr/>
        <p:txBody>
          <a:bodyPr/>
          <a:lstStyle/>
          <a:p>
            <a:fld id="{D3120986-D9F8-450A-8E8A-7B53A97B66E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58" name="标题 1">
            <a:extLst>
              <a:ext uri="{FF2B5EF4-FFF2-40B4-BE49-F238E27FC236}">
                <a16:creationId xmlns:a16="http://schemas.microsoft.com/office/drawing/2014/main" id="{9A720774-7948-43C5-A88D-6F2BDC2F84AD}"/>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9" name="图片占位符 2">
            <a:extLst>
              <a:ext uri="{FF2B5EF4-FFF2-40B4-BE49-F238E27FC236}">
                <a16:creationId xmlns:a16="http://schemas.microsoft.com/office/drawing/2014/main" id="{70F083E2-CE4A-4EF6-8EDA-F0FD113FA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60" name="文本占位符 3">
            <a:extLst>
              <a:ext uri="{FF2B5EF4-FFF2-40B4-BE49-F238E27FC236}">
                <a16:creationId xmlns:a16="http://schemas.microsoft.com/office/drawing/2014/main" id="{0A3C4BF1-61A2-4299-AF91-EEACBFAC8E4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61" name="日期占位符 4">
            <a:extLst>
              <a:ext uri="{FF2B5EF4-FFF2-40B4-BE49-F238E27FC236}">
                <a16:creationId xmlns:a16="http://schemas.microsoft.com/office/drawing/2014/main" id="{A42DC9B9-49B1-47AF-B84A-BF5424FE074B}"/>
              </a:ext>
            </a:extLst>
          </p:cNvPr>
          <p:cNvSpPr>
            <a:spLocks noGrp="1"/>
          </p:cNvSpPr>
          <p:nvPr>
            <p:ph type="dt" idx="10"/>
          </p:nvPr>
        </p:nvSpPr>
        <p:spPr/>
        <p:txBody>
          <a:bodyPr/>
          <a:lstStyle/>
          <a:p>
            <a:fld id="{4E233BD8-DB7E-4E6E-9456-6D1E77C88269}" type="datetime1">
              <a:t>2026/8/8</a:t>
            </a:fld>
            <a:endParaRPr/>
          </a:p>
        </p:txBody>
      </p:sp>
      <p:sp>
        <p:nvSpPr>
          <p:cNvPr id="62" name="页脚占位符 5">
            <a:extLst>
              <a:ext uri="{FF2B5EF4-FFF2-40B4-BE49-F238E27FC236}">
                <a16:creationId xmlns:a16="http://schemas.microsoft.com/office/drawing/2014/main" id="{1CACCAB4-19D0-4933-BADF-1C219AF2D682}"/>
              </a:ext>
            </a:extLst>
          </p:cNvPr>
          <p:cNvSpPr>
            <a:spLocks noGrp="1"/>
          </p:cNvSpPr>
          <p:nvPr>
            <p:ph type="ftr" idx="11"/>
          </p:nvPr>
        </p:nvSpPr>
        <p:spPr/>
        <p:txBody>
          <a:bodyPr/>
          <a:lstStyle/>
          <a:p>
            <a:endParaRPr/>
          </a:p>
        </p:txBody>
      </p:sp>
      <p:sp>
        <p:nvSpPr>
          <p:cNvPr id="63" name="灯片编号占位符 6">
            <a:extLst>
              <a:ext uri="{FF2B5EF4-FFF2-40B4-BE49-F238E27FC236}">
                <a16:creationId xmlns:a16="http://schemas.microsoft.com/office/drawing/2014/main" id="{0618521D-6631-463C-9257-F1EFC8CA3FC8}"/>
              </a:ext>
            </a:extLst>
          </p:cNvPr>
          <p:cNvSpPr>
            <a:spLocks noGrp="1"/>
          </p:cNvSpPr>
          <p:nvPr>
            <p:ph type="sldNum" idx="12"/>
          </p:nvPr>
        </p:nvSpPr>
        <p:spPr/>
        <p:txBody>
          <a:bodyPr/>
          <a:lstStyle/>
          <a:p>
            <a:fld id="{747CCC7F-E1A2-469B-A337-764C3DF0731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65" name="标题 1">
            <a:extLst>
              <a:ext uri="{FF2B5EF4-FFF2-40B4-BE49-F238E27FC236}">
                <a16:creationId xmlns:a16="http://schemas.microsoft.com/office/drawing/2014/main" id="{17927255-5200-4B6D-A609-B249AFA38D8A}"/>
              </a:ext>
            </a:extLst>
          </p:cNvPr>
          <p:cNvSpPr>
            <a:spLocks noGrp="1"/>
          </p:cNvSpPr>
          <p:nvPr>
            <p:ph type="title"/>
          </p:nvPr>
        </p:nvSpPr>
        <p:spPr/>
        <p:txBody>
          <a:bodyPr/>
          <a:lstStyle/>
          <a:p>
            <a:r>
              <a:t>单击此处编辑母版标题样式</a:t>
            </a:r>
          </a:p>
        </p:txBody>
      </p:sp>
      <p:sp>
        <p:nvSpPr>
          <p:cNvPr id="66" name="竖排文字占位符 2">
            <a:extLst>
              <a:ext uri="{FF2B5EF4-FFF2-40B4-BE49-F238E27FC236}">
                <a16:creationId xmlns:a16="http://schemas.microsoft.com/office/drawing/2014/main" id="{7F566ADF-4654-4758-81CF-8E8CCD419A47}"/>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67" name="日期占位符 3">
            <a:extLst>
              <a:ext uri="{FF2B5EF4-FFF2-40B4-BE49-F238E27FC236}">
                <a16:creationId xmlns:a16="http://schemas.microsoft.com/office/drawing/2014/main" id="{8B85D177-341F-4936-B23F-517D3EEF0896}"/>
              </a:ext>
            </a:extLst>
          </p:cNvPr>
          <p:cNvSpPr>
            <a:spLocks noGrp="1"/>
          </p:cNvSpPr>
          <p:nvPr>
            <p:ph type="dt" idx="10"/>
          </p:nvPr>
        </p:nvSpPr>
        <p:spPr/>
        <p:txBody>
          <a:bodyPr/>
          <a:lstStyle/>
          <a:p>
            <a:fld id="{9772B07E-4E44-4E95-89AF-F1EF6F4CC7EC}" type="datetime1">
              <a:t>2026/8/8</a:t>
            </a:fld>
            <a:endParaRPr/>
          </a:p>
        </p:txBody>
      </p:sp>
      <p:sp>
        <p:nvSpPr>
          <p:cNvPr id="68" name="页脚占位符 4">
            <a:extLst>
              <a:ext uri="{FF2B5EF4-FFF2-40B4-BE49-F238E27FC236}">
                <a16:creationId xmlns:a16="http://schemas.microsoft.com/office/drawing/2014/main" id="{1DE68863-2042-48C5-9079-213A94D740C2}"/>
              </a:ext>
            </a:extLst>
          </p:cNvPr>
          <p:cNvSpPr>
            <a:spLocks noGrp="1"/>
          </p:cNvSpPr>
          <p:nvPr>
            <p:ph type="ftr" idx="11"/>
          </p:nvPr>
        </p:nvSpPr>
        <p:spPr/>
        <p:txBody>
          <a:bodyPr/>
          <a:lstStyle/>
          <a:p>
            <a:endParaRPr/>
          </a:p>
        </p:txBody>
      </p:sp>
      <p:sp>
        <p:nvSpPr>
          <p:cNvPr id="69" name="灯片编号占位符 5">
            <a:extLst>
              <a:ext uri="{FF2B5EF4-FFF2-40B4-BE49-F238E27FC236}">
                <a16:creationId xmlns:a16="http://schemas.microsoft.com/office/drawing/2014/main" id="{E8806AB6-52B2-4800-906E-1ACACECC6A7E}"/>
              </a:ext>
            </a:extLst>
          </p:cNvPr>
          <p:cNvSpPr>
            <a:spLocks noGrp="1"/>
          </p:cNvSpPr>
          <p:nvPr>
            <p:ph type="sldNum" idx="12"/>
          </p:nvPr>
        </p:nvSpPr>
        <p:spPr/>
        <p:txBody>
          <a:bodyPr/>
          <a:lstStyle/>
          <a:p>
            <a:fld id="{10D47AF7-089F-4725-8B45-DEA8A59F6C6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14" name="竖排标题 1">
            <a:extLst>
              <a:ext uri="{FF2B5EF4-FFF2-40B4-BE49-F238E27FC236}">
                <a16:creationId xmlns:a16="http://schemas.microsoft.com/office/drawing/2014/main" id="{62E3E628-D729-4A42-87E9-6A13C5F120A8}"/>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15" name="竖排文字占位符 2">
            <a:extLst>
              <a:ext uri="{FF2B5EF4-FFF2-40B4-BE49-F238E27FC236}">
                <a16:creationId xmlns:a16="http://schemas.microsoft.com/office/drawing/2014/main" id="{FDE587EA-8235-46EE-8FF4-A0FDC3962B77}"/>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6" name="日期占位符 3">
            <a:extLst>
              <a:ext uri="{FF2B5EF4-FFF2-40B4-BE49-F238E27FC236}">
                <a16:creationId xmlns:a16="http://schemas.microsoft.com/office/drawing/2014/main" id="{A9891120-669F-4FF5-8A55-D6844A0589BD}"/>
              </a:ext>
            </a:extLst>
          </p:cNvPr>
          <p:cNvSpPr>
            <a:spLocks noGrp="1"/>
          </p:cNvSpPr>
          <p:nvPr>
            <p:ph type="dt" idx="10"/>
          </p:nvPr>
        </p:nvSpPr>
        <p:spPr/>
        <p:txBody>
          <a:bodyPr/>
          <a:lstStyle/>
          <a:p>
            <a:fld id="{17AA1729-FFEC-4670-BE57-9BB1B6CF1583}" type="datetime1">
              <a:t>2026/8/8</a:t>
            </a:fld>
            <a:endParaRPr/>
          </a:p>
        </p:txBody>
      </p:sp>
      <p:sp>
        <p:nvSpPr>
          <p:cNvPr id="17" name="页脚占位符 4">
            <a:extLst>
              <a:ext uri="{FF2B5EF4-FFF2-40B4-BE49-F238E27FC236}">
                <a16:creationId xmlns:a16="http://schemas.microsoft.com/office/drawing/2014/main" id="{8A661A29-DC77-45CD-843C-06FB59737312}"/>
              </a:ext>
            </a:extLst>
          </p:cNvPr>
          <p:cNvSpPr>
            <a:spLocks noGrp="1"/>
          </p:cNvSpPr>
          <p:nvPr>
            <p:ph type="ftr" idx="11"/>
          </p:nvPr>
        </p:nvSpPr>
        <p:spPr/>
        <p:txBody>
          <a:bodyPr/>
          <a:lstStyle/>
          <a:p>
            <a:endParaRPr/>
          </a:p>
        </p:txBody>
      </p:sp>
      <p:sp>
        <p:nvSpPr>
          <p:cNvPr id="18" name="灯片编号占位符 5">
            <a:extLst>
              <a:ext uri="{FF2B5EF4-FFF2-40B4-BE49-F238E27FC236}">
                <a16:creationId xmlns:a16="http://schemas.microsoft.com/office/drawing/2014/main" id="{F13B4EB9-E145-46DA-A868-ED33485CF342}"/>
              </a:ext>
            </a:extLst>
          </p:cNvPr>
          <p:cNvSpPr>
            <a:spLocks noGrp="1"/>
          </p:cNvSpPr>
          <p:nvPr>
            <p:ph type="sldNum" idx="12"/>
          </p:nvPr>
        </p:nvSpPr>
        <p:spPr/>
        <p:txBody>
          <a:bodyPr/>
          <a:lstStyle/>
          <a:p>
            <a:fld id="{A7AACFD0-6D64-47CD-A483-D6FD4530736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6936DB4E-841A-4379-B51B-14AD73705C41}"/>
              </a:ext>
            </a:extLst>
          </p:cNvPr>
          <p:cNvSpPr>
            <a:spLocks noGrp="1"/>
          </p:cNvSpPr>
          <p:nvPr>
            <p:ph type="title"/>
          </p:nvPr>
        </p:nvSpPr>
        <p:spPr/>
        <p:txBody>
          <a:bodyPr/>
          <a:lstStyle/>
          <a:p>
            <a:r>
              <a:t>单击此处编辑母版标题样式</a:t>
            </a:r>
          </a:p>
        </p:txBody>
      </p:sp>
      <p:sp>
        <p:nvSpPr>
          <p:cNvPr id="9" name="内容占位符 2">
            <a:extLst>
              <a:ext uri="{FF2B5EF4-FFF2-40B4-BE49-F238E27FC236}">
                <a16:creationId xmlns:a16="http://schemas.microsoft.com/office/drawing/2014/main" id="{D859996F-A421-494B-AA01-FF66DA425A27}"/>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日期占位符 3">
            <a:extLst>
              <a:ext uri="{FF2B5EF4-FFF2-40B4-BE49-F238E27FC236}">
                <a16:creationId xmlns:a16="http://schemas.microsoft.com/office/drawing/2014/main" id="{1FCF9A93-114B-46D2-BCA1-620C3B54B4A1}"/>
              </a:ext>
            </a:extLst>
          </p:cNvPr>
          <p:cNvSpPr>
            <a:spLocks noGrp="1"/>
          </p:cNvSpPr>
          <p:nvPr>
            <p:ph type="dt" idx="10"/>
          </p:nvPr>
        </p:nvSpPr>
        <p:spPr/>
        <p:txBody>
          <a:bodyPr/>
          <a:lstStyle/>
          <a:p>
            <a:fld id="{7B03108F-6D01-401F-BB83-A4EE273EE035}" type="datetime1">
              <a:t>2026/8/8</a:t>
            </a:fld>
            <a:endParaRPr/>
          </a:p>
        </p:txBody>
      </p:sp>
      <p:sp>
        <p:nvSpPr>
          <p:cNvPr id="11" name="页脚占位符 4">
            <a:extLst>
              <a:ext uri="{FF2B5EF4-FFF2-40B4-BE49-F238E27FC236}">
                <a16:creationId xmlns:a16="http://schemas.microsoft.com/office/drawing/2014/main" id="{CEEB537A-3B55-461F-883A-B648C7964EC6}"/>
              </a:ext>
            </a:extLst>
          </p:cNvPr>
          <p:cNvSpPr>
            <a:spLocks noGrp="1"/>
          </p:cNvSpPr>
          <p:nvPr>
            <p:ph type="ftr" idx="11"/>
          </p:nvPr>
        </p:nvSpPr>
        <p:spPr/>
        <p:txBody>
          <a:bodyPr/>
          <a:lstStyle/>
          <a:p>
            <a:endParaRPr/>
          </a:p>
        </p:txBody>
      </p:sp>
      <p:sp>
        <p:nvSpPr>
          <p:cNvPr id="12" name="灯片编号占位符 5">
            <a:extLst>
              <a:ext uri="{FF2B5EF4-FFF2-40B4-BE49-F238E27FC236}">
                <a16:creationId xmlns:a16="http://schemas.microsoft.com/office/drawing/2014/main" id="{36558B55-3DD8-45C4-89BA-6464D3F575DB}"/>
              </a:ext>
            </a:extLst>
          </p:cNvPr>
          <p:cNvSpPr>
            <a:spLocks noGrp="1"/>
          </p:cNvSpPr>
          <p:nvPr>
            <p:ph type="sldNum" idx="12"/>
          </p:nvPr>
        </p:nvSpPr>
        <p:spPr/>
        <p:txBody>
          <a:bodyPr/>
          <a:lstStyle/>
          <a:p>
            <a:fld id="{2A18DFAB-279D-45FB-8988-01B47F34F95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2BDD6-9E4E-4457-9222-ABE3859CF563}"/>
              </a:ext>
            </a:extLst>
          </p:cNvPr>
          <p:cNvSpPr>
            <a:spLocks noGrp="1"/>
          </p:cNvSpPr>
          <p:nvPr>
            <p:ph idx="1"/>
          </p:nvPr>
        </p:nvSpPr>
        <p:spPr>
          <a:xfrm>
            <a:off x="848989" y="1178262"/>
            <a:ext cx="10515600" cy="4351338"/>
          </a:xfrm>
          <a:prstGeom prst="rect">
            <a:avLst/>
          </a:prstGeom>
        </p:spPr>
        <p:txBody>
          <a:bodyPr/>
          <a:lstStyle>
            <a:lvl1pPr>
              <a:buNone/>
              <a:defRPr sz="2000">
                <a:latin typeface="Arial"/>
                <a:ea typeface="Arial"/>
                <a:cs typeface="Arial"/>
              </a:defRPr>
            </a:lvl1pPr>
            <a:lvl2pPr marL="685800" indent="-228600">
              <a:buChar char="o"/>
              <a:defRPr sz="1800">
                <a:latin typeface="Arial"/>
                <a:ea typeface="Arial"/>
                <a:cs typeface="Arial"/>
              </a:defRPr>
            </a:lvl2pPr>
            <a:lvl3pPr marL="1143000" indent="-228600">
              <a:buChar char="•"/>
              <a:defRPr sz="1600">
                <a:latin typeface="Arial"/>
                <a:ea typeface="Arial"/>
                <a:cs typeface="Arial"/>
              </a:defRPr>
            </a:lvl3pPr>
            <a:lvl4pPr marL="1600200" indent="-228600">
              <a:buChar char="•"/>
              <a:defRPr sz="1400">
                <a:latin typeface="Arial"/>
                <a:ea typeface="Arial"/>
                <a:cs typeface="Arial"/>
              </a:defRPr>
            </a:lvl4pPr>
            <a:lvl5pPr marL="2057400" indent="-228600">
              <a:buChar char="•"/>
              <a:defRPr sz="1400">
                <a:latin typeface="Arial"/>
                <a:ea typeface="Arial"/>
                <a:cs typeface="Arial"/>
              </a:defRPr>
            </a:lvl5p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10" name="Title 1">
            <a:extLst>
              <a:ext uri="{FF2B5EF4-FFF2-40B4-BE49-F238E27FC236}">
                <a16:creationId xmlns:a16="http://schemas.microsoft.com/office/drawing/2014/main" id="{BF77787B-9799-44F9-AFF4-755097C6B47C}"/>
              </a:ext>
            </a:extLst>
          </p:cNvPr>
          <p:cNvSpPr>
            <a:spLocks noGrp="1"/>
          </p:cNvSpPr>
          <p:nvPr>
            <p:ph type="title" hasCustomPrompt="1"/>
          </p:nvPr>
        </p:nvSpPr>
        <p:spPr>
          <a:xfrm>
            <a:off x="217808" y="203284"/>
            <a:ext cx="6096000" cy="521208"/>
          </a:xfrm>
          <a:prstGeom prst="rect">
            <a:avLst/>
          </a:prstGeom>
          <a:solidFill>
            <a:schemeClr val="accent1"/>
          </a:solidFill>
        </p:spPr>
        <p:txBody>
          <a:bodyPr anchor="ctr"/>
          <a:lstStyle>
            <a:lvl1pPr>
              <a:buNone/>
              <a:defRPr sz="2800" b="1">
                <a:solidFill>
                  <a:schemeClr val="bg1"/>
                </a:solidFill>
                <a:latin typeface="Arial"/>
                <a:ea typeface="Arial"/>
                <a:cs typeface="Arial"/>
              </a:defRPr>
            </a:lvl1pPr>
          </a:lstStyle>
          <a:p>
            <a:r>
              <a:t>Slide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29"/>
              </a:lnSpc>
              <a:spcBef>
                <a:spcPts val="0"/>
              </a:spcBef>
              <a:buNone/>
              <a:defRPr sz="3199">
                <a:solidFill>
                  <a:schemeClr val="tx1"/>
                </a:solidFill>
                <a:latin typeface="Microsoft YaHei"/>
                <a:ea typeface="Microsoft YaHei"/>
                <a:cs typeface="Microsoft YaHei"/>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t>单击此处添加标题</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621" y="1501989"/>
            <a:ext cx="10729365" cy="4690459"/>
          </a:xfrm>
          <a:prstGeom prst="rect">
            <a:avLst/>
          </a:prstGeom>
        </p:spPr>
        <p:txBody>
          <a:bodyPr lIns="0" tIns="0" rIns="0" bIns="0"/>
          <a:lstStyle>
            <a:lvl1pPr marL="12368" indent="0">
              <a:lnSpc>
                <a:spcPct val="100000"/>
              </a:lnSpc>
              <a:spcBef>
                <a:spcPts val="0"/>
              </a:spcBef>
              <a:buNone/>
              <a:defRPr sz="1799">
                <a:solidFill>
                  <a:schemeClr val="tx1"/>
                </a:solidFill>
                <a:latin typeface="Microsoft YaHei"/>
                <a:ea typeface="Microsoft YaHei"/>
                <a:cs typeface="Microsoft YaHei"/>
              </a:defRPr>
            </a:lvl1pPr>
            <a:lvl2pPr marL="525640" indent="-171091">
              <a:buChar char="•"/>
              <a:defRPr sz="1298"/>
            </a:lvl2pPr>
            <a:lvl3pPr marL="525640" indent="-171091">
              <a:buChar char="•"/>
              <a:defRPr sz="1298"/>
            </a:lvl3pPr>
            <a:lvl4pPr marL="525640" indent="-171091">
              <a:buChar char="•"/>
              <a:defRPr sz="1298"/>
            </a:lvl4pPr>
            <a:lvl5pPr marL="525640" indent="-171091">
              <a:buChar char="•"/>
              <a:defRPr sz="1298"/>
            </a:lvl5pPr>
          </a:lstStyle>
          <a:p>
            <a:pPr>
              <a:buNone/>
            </a:pPr>
            <a:r>
              <a:t>单击此处添加文本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6826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E85BCB-7C3A-7CD4-A955-811D18E22912}"/>
              </a:ext>
            </a:extLst>
          </p:cNvPr>
          <p:cNvSpPr>
            <a:spLocks noGrp="1"/>
          </p:cNvSpPr>
          <p:nvPr>
            <p:ph type="dt" idx="10"/>
          </p:nvPr>
        </p:nvSpPr>
        <p:spPr/>
        <p:txBody>
          <a:bodyPr/>
          <a:lstStyle/>
          <a:p>
            <a:fld id="{C14ADBE2-30DF-480B-A5CC-C216012A8DE2}" type="datetime1">
              <a:rPr lang="en-US" altLang="zh-CN" smtClean="0"/>
              <a:t>8/8/2026</a:t>
            </a:fld>
            <a:endParaRPr lang="zh-CN" altLang="en-US"/>
          </a:p>
        </p:txBody>
      </p:sp>
      <p:sp>
        <p:nvSpPr>
          <p:cNvPr id="3" name="页脚占位符 2">
            <a:extLst>
              <a:ext uri="{FF2B5EF4-FFF2-40B4-BE49-F238E27FC236}">
                <a16:creationId xmlns:a16="http://schemas.microsoft.com/office/drawing/2014/main" id="{41724FA6-7003-376F-91E6-0EE3EEF94327}"/>
              </a:ext>
            </a:extLst>
          </p:cNvPr>
          <p:cNvSpPr>
            <a:spLocks noGrp="1"/>
          </p:cNvSpPr>
          <p:nvPr>
            <p:ph type="ftr" idx="11"/>
          </p:nvPr>
        </p:nvSpPr>
        <p:spPr/>
        <p:txBody>
          <a:bodyPr/>
          <a:lstStyle/>
          <a:p>
            <a:endParaRPr lang="zh-CN" altLang="en-US"/>
          </a:p>
        </p:txBody>
      </p:sp>
      <p:sp>
        <p:nvSpPr>
          <p:cNvPr id="4" name="灯片编号占位符 3">
            <a:extLst>
              <a:ext uri="{FF2B5EF4-FFF2-40B4-BE49-F238E27FC236}">
                <a16:creationId xmlns:a16="http://schemas.microsoft.com/office/drawing/2014/main" id="{4AEEF62D-C600-C9EA-49D1-BE396191F783}"/>
              </a:ext>
            </a:extLst>
          </p:cNvPr>
          <p:cNvSpPr>
            <a:spLocks noGrp="1"/>
          </p:cNvSpPr>
          <p:nvPr>
            <p:ph type="sldNum" idx="12"/>
          </p:nvPr>
        </p:nvSpPr>
        <p:spPr/>
        <p:txBody>
          <a:bodyPr/>
          <a:lstStyle/>
          <a:p>
            <a:fld id="{DD09DED9-3562-4003-9ED4-F9F7C2DA97F0}" type="slidenum">
              <a:rPr lang="en-US" altLang="zh-CN" smtClean="0"/>
              <a:t>‹#›</a:t>
            </a:fld>
            <a:endParaRPr lang="zh-CN" altLang="en-US"/>
          </a:p>
        </p:txBody>
      </p:sp>
    </p:spTree>
    <p:extLst>
      <p:ext uri="{BB962C8B-B14F-4D97-AF65-F5344CB8AC3E}">
        <p14:creationId xmlns:p14="http://schemas.microsoft.com/office/powerpoint/2010/main" val="1210113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1F7FE5-011F-4F78-BB4D-A8FE098905CB}"/>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4038569C-5E1D-42C9-A982-1FCA564F57C6}"/>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F5760A08-5F28-430B-BBA1-0F44387ECF1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14ADBE2-30DF-480B-A5CC-C216012A8DE2}" type="datetime1">
              <a:t>2026/8/8</a:t>
            </a:fld>
            <a:endParaRPr/>
          </a:p>
        </p:txBody>
      </p:sp>
      <p:sp>
        <p:nvSpPr>
          <p:cNvPr id="5" name="页脚占位符 4">
            <a:extLst>
              <a:ext uri="{FF2B5EF4-FFF2-40B4-BE49-F238E27FC236}">
                <a16:creationId xmlns:a16="http://schemas.microsoft.com/office/drawing/2014/main" id="{47B178B1-2438-420A-A962-B9E3A272DE32}"/>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AB96250C-9417-4EDD-8AC3-89EB383DAB9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D09DED9-3562-4003-9ED4-F9F7C2DA97F0}"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a:lnSpc>
          <a:spcPct val="130000"/>
        </a:lnSpc>
        <a:spcBef>
          <a:spcPts val="0"/>
        </a:spcBef>
        <a:buNone/>
        <a:defRPr sz="4400">
          <a:solidFill>
            <a:schemeClr val="tx1"/>
          </a:solidFill>
          <a:latin typeface="Arial"/>
          <a:ea typeface="Arial"/>
          <a:cs typeface="Arial"/>
        </a:defRPr>
      </a:lvl1pPr>
    </p:titleStyle>
    <p:bodyStyle>
      <a:lvl1pPr marL="228600" indent="-228600" algn="l">
        <a:lnSpc>
          <a:spcPct val="130000"/>
        </a:lnSpc>
        <a:spcBef>
          <a:spcPts val="1000"/>
        </a:spcBef>
        <a:buChar char="•"/>
        <a:defRPr sz="2800">
          <a:solidFill>
            <a:schemeClr val="tx1"/>
          </a:solidFill>
          <a:latin typeface="Arial"/>
          <a:ea typeface="Arial"/>
          <a:cs typeface="Arial"/>
        </a:defRPr>
      </a:lvl1pPr>
      <a:lvl2pPr marL="685800" indent="-228600" algn="l">
        <a:lnSpc>
          <a:spcPct val="130000"/>
        </a:lnSpc>
        <a:spcBef>
          <a:spcPts val="500"/>
        </a:spcBef>
        <a:buChar char="•"/>
        <a:defRPr sz="2400">
          <a:solidFill>
            <a:schemeClr val="tx1"/>
          </a:solidFill>
          <a:latin typeface="Arial"/>
          <a:ea typeface="Arial"/>
          <a:cs typeface="Arial"/>
        </a:defRPr>
      </a:lvl2pPr>
      <a:lvl3pPr marL="1143000" indent="-228600" algn="l">
        <a:lnSpc>
          <a:spcPct val="130000"/>
        </a:lnSpc>
        <a:spcBef>
          <a:spcPts val="500"/>
        </a:spcBef>
        <a:buChar char="•"/>
        <a:defRPr sz="2000">
          <a:solidFill>
            <a:schemeClr val="tx1"/>
          </a:solidFill>
          <a:latin typeface="Arial"/>
          <a:ea typeface="Arial"/>
          <a:cs typeface="Arial"/>
        </a:defRPr>
      </a:lvl3pPr>
      <a:lvl4pPr marL="1600200" indent="-228600" algn="l">
        <a:lnSpc>
          <a:spcPct val="130000"/>
        </a:lnSpc>
        <a:spcBef>
          <a:spcPts val="500"/>
        </a:spcBef>
        <a:buChar char="•"/>
        <a:defRPr sz="1800">
          <a:solidFill>
            <a:schemeClr val="tx1"/>
          </a:solidFill>
          <a:latin typeface="Arial"/>
          <a:ea typeface="Arial"/>
          <a:cs typeface="Arial"/>
        </a:defRPr>
      </a:lvl4pPr>
      <a:lvl5pPr marL="2057400" indent="-228600" algn="l">
        <a:lnSpc>
          <a:spcPct val="130000"/>
        </a:lnSpc>
        <a:spcBef>
          <a:spcPts val="500"/>
        </a:spcBef>
        <a:buChar char="•"/>
        <a:defRPr sz="1800">
          <a:solidFill>
            <a:schemeClr val="tx1"/>
          </a:solidFill>
          <a:latin typeface="Arial"/>
          <a:ea typeface="Arial"/>
          <a:cs typeface="Arial"/>
        </a:defRPr>
      </a:lvl5pPr>
      <a:lvl6pPr marL="2514600" indent="-228600" algn="l">
        <a:lnSpc>
          <a:spcPct val="130000"/>
        </a:lnSpc>
        <a:spcBef>
          <a:spcPts val="500"/>
        </a:spcBef>
        <a:buChar char="•"/>
        <a:defRPr sz="1800">
          <a:solidFill>
            <a:schemeClr val="tx1"/>
          </a:solidFill>
          <a:latin typeface="Arial"/>
          <a:ea typeface="Arial"/>
          <a:cs typeface="Arial"/>
        </a:defRPr>
      </a:lvl6pPr>
      <a:lvl7pPr marL="2971800" indent="-228600" algn="l">
        <a:lnSpc>
          <a:spcPct val="130000"/>
        </a:lnSpc>
        <a:spcBef>
          <a:spcPts val="500"/>
        </a:spcBef>
        <a:buChar char="•"/>
        <a:defRPr sz="1800">
          <a:solidFill>
            <a:schemeClr val="tx1"/>
          </a:solidFill>
          <a:latin typeface="Arial"/>
          <a:ea typeface="Arial"/>
          <a:cs typeface="Arial"/>
        </a:defRPr>
      </a:lvl7pPr>
      <a:lvl8pPr marL="3429000" indent="-228600" algn="l">
        <a:lnSpc>
          <a:spcPct val="130000"/>
        </a:lnSpc>
        <a:spcBef>
          <a:spcPts val="500"/>
        </a:spcBef>
        <a:buChar char="•"/>
        <a:defRPr sz="1800">
          <a:solidFill>
            <a:schemeClr val="tx1"/>
          </a:solidFill>
          <a:latin typeface="Arial"/>
          <a:ea typeface="Arial"/>
          <a:cs typeface="Arial"/>
        </a:defRPr>
      </a:lvl8pPr>
      <a:lvl9pPr marL="3886200" indent="-228600" algn="l">
        <a:lnSpc>
          <a:spcPct val="130000"/>
        </a:lnSpc>
        <a:spcBef>
          <a:spcPts val="500"/>
        </a:spcBef>
        <a:buChar char="•"/>
        <a:defRPr sz="1800">
          <a:solidFill>
            <a:schemeClr val="tx1"/>
          </a:solidFill>
          <a:latin typeface="Arial"/>
          <a:ea typeface="Arial"/>
          <a:cs typeface="Arial"/>
        </a:defRPr>
      </a:lvl9pPr>
    </p:bodyStyle>
    <p:otherStyle>
      <a:lvl1pPr marL="0" algn="l">
        <a:lnSpc>
          <a:spcPct val="130000"/>
        </a:lnSpc>
        <a:buNone/>
        <a:defRPr sz="1800">
          <a:solidFill>
            <a:schemeClr val="tx1"/>
          </a:solidFill>
          <a:latin typeface="Arial"/>
          <a:ea typeface="Arial"/>
          <a:cs typeface="Arial"/>
        </a:defRPr>
      </a:lvl1pPr>
      <a:lvl2pPr marL="457200" algn="l">
        <a:lnSpc>
          <a:spcPct val="130000"/>
        </a:lnSpc>
        <a:buNone/>
        <a:defRPr sz="1800">
          <a:solidFill>
            <a:schemeClr val="tx1"/>
          </a:solidFill>
          <a:latin typeface="Arial"/>
          <a:ea typeface="Arial"/>
          <a:cs typeface="Arial"/>
        </a:defRPr>
      </a:lvl2pPr>
      <a:lvl3pPr marL="914400" algn="l">
        <a:lnSpc>
          <a:spcPct val="130000"/>
        </a:lnSpc>
        <a:buNone/>
        <a:defRPr sz="1800">
          <a:solidFill>
            <a:schemeClr val="tx1"/>
          </a:solidFill>
          <a:latin typeface="Arial"/>
          <a:ea typeface="Arial"/>
          <a:cs typeface="Arial"/>
        </a:defRPr>
      </a:lvl3pPr>
      <a:lvl4pPr marL="1371600" algn="l">
        <a:lnSpc>
          <a:spcPct val="130000"/>
        </a:lnSpc>
        <a:buNone/>
        <a:defRPr sz="1800">
          <a:solidFill>
            <a:schemeClr val="tx1"/>
          </a:solidFill>
          <a:latin typeface="Arial"/>
          <a:ea typeface="Arial"/>
          <a:cs typeface="Arial"/>
        </a:defRPr>
      </a:lvl4pPr>
      <a:lvl5pPr marL="1828800" algn="l">
        <a:lnSpc>
          <a:spcPct val="130000"/>
        </a:lnSpc>
        <a:buNone/>
        <a:defRPr sz="1800">
          <a:solidFill>
            <a:schemeClr val="tx1"/>
          </a:solidFill>
          <a:latin typeface="Arial"/>
          <a:ea typeface="Arial"/>
          <a:cs typeface="Arial"/>
        </a:defRPr>
      </a:lvl5pPr>
      <a:lvl6pPr marL="2286000" algn="l">
        <a:lnSpc>
          <a:spcPct val="130000"/>
        </a:lnSpc>
        <a:buNone/>
        <a:defRPr sz="1800">
          <a:solidFill>
            <a:schemeClr val="tx1"/>
          </a:solidFill>
          <a:latin typeface="Arial"/>
          <a:ea typeface="Arial"/>
          <a:cs typeface="Arial"/>
        </a:defRPr>
      </a:lvl6pPr>
      <a:lvl7pPr marL="2743200" algn="l">
        <a:lnSpc>
          <a:spcPct val="130000"/>
        </a:lnSpc>
        <a:buNone/>
        <a:defRPr sz="1800">
          <a:solidFill>
            <a:schemeClr val="tx1"/>
          </a:solidFill>
          <a:latin typeface="Arial"/>
          <a:ea typeface="Arial"/>
          <a:cs typeface="Arial"/>
        </a:defRPr>
      </a:lvl7pPr>
      <a:lvl8pPr marL="3200400" algn="l">
        <a:lnSpc>
          <a:spcPct val="130000"/>
        </a:lnSpc>
        <a:buNone/>
        <a:defRPr sz="1800">
          <a:solidFill>
            <a:schemeClr val="tx1"/>
          </a:solidFill>
          <a:latin typeface="Arial"/>
          <a:ea typeface="Arial"/>
          <a:cs typeface="Arial"/>
        </a:defRPr>
      </a:lvl8pPr>
      <a:lvl9pPr marL="3657600" algn="l">
        <a:lnSpc>
          <a:spcPct val="130000"/>
        </a:lnSpc>
        <a:buNone/>
        <a:defRPr sz="18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4.webp"/><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EB23C-872E-47B2-B759-D37544DB24E2}"/>
              </a:ext>
            </a:extLst>
          </p:cNvPr>
          <p:cNvSpPr>
            <a:spLocks noGrp="1"/>
          </p:cNvSpPr>
          <p:nvPr>
            <p:ph type="ctrTitle"/>
          </p:nvPr>
        </p:nvSpPr>
        <p:spPr>
          <a:xfrm>
            <a:off x="1524000" y="2829791"/>
            <a:ext cx="9144000" cy="1198418"/>
          </a:xfrm>
        </p:spPr>
        <p:txBody>
          <a:bodyPr>
            <a:normAutofit fontScale="93124"/>
          </a:bodyPr>
          <a:lstStyle/>
          <a:p>
            <a:pPr>
              <a:buNone/>
            </a:pPr>
            <a:r>
              <a:t>第二章：硬件设计计算</a:t>
            </a:r>
          </a:p>
        </p:txBody>
      </p:sp>
      <p:sp>
        <p:nvSpPr>
          <p:cNvPr id="4" name="文本框 3">
            <a:extLst>
              <a:ext uri="{FF2B5EF4-FFF2-40B4-BE49-F238E27FC236}">
                <a16:creationId xmlns:a16="http://schemas.microsoft.com/office/drawing/2014/main" id="{F296609D-2C54-3ECB-38A6-789FBBFD08B2}"/>
              </a:ext>
            </a:extLst>
          </p:cNvPr>
          <p:cNvSpPr>
            <a:spLocks noGrp="1"/>
          </p:cNvSpPr>
          <p:nvPr/>
        </p:nvSpPr>
        <p:spPr>
          <a:xfrm>
            <a:off x="3048000" y="4687079"/>
            <a:ext cx="6096000" cy="777008"/>
          </a:xfrm>
          <a:prstGeom prst="rect">
            <a:avLst/>
          </a:prstGeom>
          <a:noFill/>
        </p:spPr>
        <p:txBody>
          <a:bodyPr wrap="square">
            <a:spAutoFit/>
          </a:bodyPr>
          <a:lstStyle/>
          <a:p>
            <a:r>
              <a:rPr b="1"/>
              <a:t>需求分析 → 芯片选型 → 原理图设计 → PCB Layout → 测试验证。</a:t>
            </a:r>
          </a:p>
        </p:txBody>
      </p:sp>
    </p:spTree>
    <p:extLst>
      <p:ext uri="{BB962C8B-B14F-4D97-AF65-F5344CB8AC3E}">
        <p14:creationId xmlns:p14="http://schemas.microsoft.com/office/powerpoint/2010/main" val="123360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8C9B12-92BE-4008-54D0-660E06892BEE}"/>
              </a:ext>
            </a:extLst>
          </p:cNvPr>
          <p:cNvSpPr>
            <a:spLocks noGrp="1"/>
          </p:cNvSpPr>
          <p:nvPr/>
        </p:nvSpPr>
        <p:spPr>
          <a:xfrm>
            <a:off x="338203" y="194153"/>
            <a:ext cx="6942926" cy="646331"/>
          </a:xfrm>
          <a:prstGeom prst="rect">
            <a:avLst/>
          </a:prstGeom>
          <a:noFill/>
        </p:spPr>
        <p:txBody>
          <a:bodyPr wrap="none">
            <a:spAutoFit/>
          </a:bodyPr>
          <a:lstStyle/>
          <a:p>
            <a:r>
              <a:rPr dirty="0"/>
              <a:t>0-</a:t>
            </a:r>
            <a:r>
              <a:rPr lang="en-US" dirty="0"/>
              <a:t>5</a:t>
            </a:r>
            <a:r>
              <a:rPr dirty="0"/>
              <a:t>s</a:t>
            </a:r>
            <a:endParaRPr lang="en-US" dirty="0"/>
          </a:p>
          <a:p>
            <a:r>
              <a:rPr lang="zh-CN" altLang="en-US" dirty="0"/>
              <a:t>同样先来几秒钟快闪 大概是板子焊接，然后聚焦于板子的运镜视频</a:t>
            </a:r>
            <a:endParaRPr dirty="0"/>
          </a:p>
        </p:txBody>
      </p:sp>
    </p:spTree>
    <p:extLst>
      <p:ext uri="{BB962C8B-B14F-4D97-AF65-F5344CB8AC3E}">
        <p14:creationId xmlns:p14="http://schemas.microsoft.com/office/powerpoint/2010/main" val="1070159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2FAD-1650-A999-118D-FADCB1BD3B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88C5147-B793-83FB-2E9A-5A3816DD4BDB}"/>
              </a:ext>
            </a:extLst>
          </p:cNvPr>
          <p:cNvSpPr>
            <a:spLocks noGrp="1"/>
          </p:cNvSpPr>
          <p:nvPr/>
        </p:nvSpPr>
        <p:spPr>
          <a:xfrm>
            <a:off x="2298809" y="3332769"/>
            <a:ext cx="1569660" cy="369332"/>
          </a:xfrm>
          <a:prstGeom prst="rect">
            <a:avLst/>
          </a:prstGeom>
          <a:noFill/>
        </p:spPr>
        <p:txBody>
          <a:bodyPr wrap="none">
            <a:spAutoFit/>
          </a:bodyPr>
          <a:lstStyle/>
          <a:p>
            <a:r>
              <a:rPr lang="zh-CN" altLang="en-US" dirty="0"/>
              <a:t>同样这个场景</a:t>
            </a:r>
            <a:endParaRPr lang="en-US" dirty="0"/>
          </a:p>
        </p:txBody>
      </p:sp>
      <p:pic>
        <p:nvPicPr>
          <p:cNvPr id="3" name="图片 2">
            <a:extLst>
              <a:ext uri="{FF2B5EF4-FFF2-40B4-BE49-F238E27FC236}">
                <a16:creationId xmlns:a16="http://schemas.microsoft.com/office/drawing/2014/main" id="{D047532B-60EF-776C-99AB-76DD58A8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908" y="2316967"/>
            <a:ext cx="4074390" cy="3055793"/>
          </a:xfrm>
          <a:prstGeom prst="rect">
            <a:avLst/>
          </a:prstGeom>
        </p:spPr>
      </p:pic>
    </p:spTree>
    <p:extLst>
      <p:ext uri="{BB962C8B-B14F-4D97-AF65-F5344CB8AC3E}">
        <p14:creationId xmlns:p14="http://schemas.microsoft.com/office/powerpoint/2010/main" val="147681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矩形 215">
            <a:extLst>
              <a:ext uri="{FF2B5EF4-FFF2-40B4-BE49-F238E27FC236}">
                <a16:creationId xmlns:a16="http://schemas.microsoft.com/office/drawing/2014/main" id="{4C64FACD-650A-D1EF-1746-265E3E06629A}"/>
              </a:ext>
            </a:extLst>
          </p:cNvPr>
          <p:cNvSpPr/>
          <p:nvPr/>
        </p:nvSpPr>
        <p:spPr>
          <a:xfrm>
            <a:off x="609600" y="1369446"/>
            <a:ext cx="10972800" cy="5221854"/>
          </a:xfrm>
          <a:prstGeom prst="rect">
            <a:avLst/>
          </a:prstGeom>
          <a:solidFill>
            <a:srgbClr val="F9FAFB"/>
          </a:solidFill>
          <a:ln w="1016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994FF00-0589-E79B-3EB1-FE675BFD1F28}"/>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731A1DC-C1D8-06A5-DE78-19A1421760AF}"/>
              </a:ext>
            </a:extLst>
          </p:cNvPr>
          <p:cNvSpPr txBox="1"/>
          <p:nvPr/>
        </p:nvSpPr>
        <p:spPr>
          <a:xfrm>
            <a:off x="622300" y="273651"/>
            <a:ext cx="10693400" cy="441146"/>
          </a:xfrm>
          <a:prstGeom prst="rect">
            <a:avLst/>
          </a:prstGeom>
          <a:noFill/>
        </p:spPr>
        <p:txBody>
          <a:bodyPr vert="horz" wrap="square" lIns="50800" tIns="12700" rIns="50800" bIns="12700" rtlCol="0" anchor="ctr">
            <a:spAutoFit/>
          </a:bodyPr>
          <a:lstStyle/>
          <a:p>
            <a:r>
              <a:rPr lang="en-US" altLang="zh-CN" sz="2700">
                <a:solidFill>
                  <a:srgbClr val="FFFFFF"/>
                </a:solidFill>
                <a:latin typeface="Microsoft YaHei" panose="020B0503020204020204" pitchFamily="34" charset="-122"/>
                <a:ea typeface="Microsoft YaHei" panose="020B0503020204020204" pitchFamily="34" charset="-122"/>
              </a:rPr>
              <a:t>FOC </a:t>
            </a:r>
            <a:r>
              <a:rPr lang="zh-CN" altLang="en-US" sz="2700">
                <a:solidFill>
                  <a:srgbClr val="FFFFFF"/>
                </a:solidFill>
                <a:latin typeface="Microsoft YaHei" panose="020B0503020204020204" pitchFamily="34" charset="-122"/>
                <a:ea typeface="Microsoft YaHei" panose="020B0503020204020204" pitchFamily="34" charset="-122"/>
              </a:rPr>
              <a:t>基本原理</a:t>
            </a:r>
            <a:r>
              <a:rPr lang="en-US" altLang="zh-CN" sz="2700">
                <a:solidFill>
                  <a:srgbClr val="FFFFFF"/>
                </a:solidFill>
                <a:latin typeface="Microsoft YaHei" panose="020B0503020204020204" pitchFamily="34" charset="-122"/>
                <a:ea typeface="Microsoft YaHei" panose="020B0503020204020204" pitchFamily="34" charset="-122"/>
              </a:rPr>
              <a:t>——</a:t>
            </a:r>
            <a:r>
              <a:rPr lang="zh-CN" altLang="en-US" sz="2700">
                <a:solidFill>
                  <a:srgbClr val="FFFFFF"/>
                </a:solidFill>
                <a:latin typeface="Microsoft YaHei" panose="020B0503020204020204" pitchFamily="34" charset="-122"/>
                <a:ea typeface="Microsoft YaHei" panose="020B0503020204020204" pitchFamily="34" charset="-122"/>
              </a:rPr>
              <a:t>坐标变换如何让电机转起来</a:t>
            </a:r>
          </a:p>
        </p:txBody>
      </p:sp>
      <p:sp>
        <p:nvSpPr>
          <p:cNvPr id="4" name="文本框 3">
            <a:extLst>
              <a:ext uri="{FF2B5EF4-FFF2-40B4-BE49-F238E27FC236}">
                <a16:creationId xmlns:a16="http://schemas.microsoft.com/office/drawing/2014/main" id="{3263DC39-4C5F-EFFC-6B7E-5BE0A373312B}"/>
              </a:ext>
            </a:extLst>
          </p:cNvPr>
          <p:cNvSpPr txBox="1"/>
          <p:nvPr/>
        </p:nvSpPr>
        <p:spPr>
          <a:xfrm>
            <a:off x="685800" y="988283"/>
            <a:ext cx="10820400" cy="256480"/>
          </a:xfrm>
          <a:prstGeom prst="rect">
            <a:avLst/>
          </a:prstGeom>
          <a:noFill/>
        </p:spPr>
        <p:txBody>
          <a:bodyPr vert="horz" wrap="square" lIns="50800" tIns="12700" rIns="50800" bIns="12700" rtlCol="0" anchor="ctr">
            <a:spAutoFit/>
          </a:bodyPr>
          <a:lstStyle/>
          <a:p>
            <a:pPr algn="ctr"/>
            <a:r>
              <a:rPr lang="zh-CN" altLang="en-US" sz="1500" b="1" dirty="0">
                <a:solidFill>
                  <a:srgbClr val="004F8A"/>
                </a:solidFill>
                <a:latin typeface="Microsoft YaHei" panose="020B0503020204020204" pitchFamily="34" charset="-122"/>
                <a:ea typeface="Microsoft YaHei" panose="020B0503020204020204" pitchFamily="34" charset="-122"/>
              </a:rPr>
              <a:t>跟着转子建立 </a:t>
            </a:r>
            <a:r>
              <a:rPr lang="en-US" altLang="zh-CN" sz="1500" b="1" dirty="0">
                <a:solidFill>
                  <a:srgbClr val="004F8A"/>
                </a:solidFill>
                <a:latin typeface="Microsoft YaHei" panose="020B0503020204020204" pitchFamily="34" charset="-122"/>
                <a:ea typeface="Microsoft YaHei" panose="020B0503020204020204" pitchFamily="34" charset="-122"/>
              </a:rPr>
              <a:t>d/q </a:t>
            </a:r>
            <a:r>
              <a:rPr lang="zh-CN" altLang="en-US" sz="1500" b="1" dirty="0">
                <a:solidFill>
                  <a:srgbClr val="004F8A"/>
                </a:solidFill>
                <a:latin typeface="Microsoft YaHei" panose="020B0503020204020204" pitchFamily="34" charset="-122"/>
                <a:ea typeface="Microsoft YaHei" panose="020B0503020204020204" pitchFamily="34" charset="-122"/>
              </a:rPr>
              <a:t>坐标系，把交流电流变成可独立调节的磁链与转矩。</a:t>
            </a:r>
          </a:p>
        </p:txBody>
      </p:sp>
      <p:sp>
        <p:nvSpPr>
          <p:cNvPr id="6" name="文本框 5">
            <a:extLst>
              <a:ext uri="{FF2B5EF4-FFF2-40B4-BE49-F238E27FC236}">
                <a16:creationId xmlns:a16="http://schemas.microsoft.com/office/drawing/2014/main" id="{A56D0235-A8D6-697B-C032-AB6B4CBFD4AC}"/>
              </a:ext>
            </a:extLst>
          </p:cNvPr>
          <p:cNvSpPr txBox="1"/>
          <p:nvPr/>
        </p:nvSpPr>
        <p:spPr>
          <a:xfrm>
            <a:off x="774700" y="3714672"/>
            <a:ext cx="2667000" cy="271869"/>
          </a:xfrm>
          <a:prstGeom prst="rect">
            <a:avLst/>
          </a:prstGeom>
          <a:noFill/>
        </p:spPr>
        <p:txBody>
          <a:bodyPr vert="horz" wrap="square" lIns="50800" tIns="12700" rIns="50800" bIns="12700" rtlCol="0" anchor="ctr">
            <a:spAutoFit/>
          </a:bodyPr>
          <a:lstStyle/>
          <a:p>
            <a:r>
              <a:rPr lang="en-US" altLang="zh-CN" sz="1600" b="1">
                <a:solidFill>
                  <a:srgbClr val="004F8A"/>
                </a:solidFill>
                <a:latin typeface="Microsoft YaHei" panose="020B0503020204020204" pitchFamily="34" charset="-122"/>
                <a:ea typeface="Microsoft YaHei" panose="020B0503020204020204" pitchFamily="34" charset="-122"/>
              </a:rPr>
              <a:t>1  </a:t>
            </a:r>
            <a:r>
              <a:rPr lang="zh-CN" altLang="en-US" sz="1600" b="1">
                <a:solidFill>
                  <a:srgbClr val="004F8A"/>
                </a:solidFill>
                <a:latin typeface="Microsoft YaHei" panose="020B0503020204020204" pitchFamily="34" charset="-122"/>
                <a:ea typeface="Microsoft YaHei" panose="020B0503020204020204" pitchFamily="34" charset="-122"/>
              </a:rPr>
              <a:t>三相电流采样</a:t>
            </a:r>
          </a:p>
        </p:txBody>
      </p:sp>
      <p:sp>
        <p:nvSpPr>
          <p:cNvPr id="7" name="文本框 6">
            <a:extLst>
              <a:ext uri="{FF2B5EF4-FFF2-40B4-BE49-F238E27FC236}">
                <a16:creationId xmlns:a16="http://schemas.microsoft.com/office/drawing/2014/main" id="{31CFB29E-2871-E24E-B44E-17EF65B8B8B4}"/>
              </a:ext>
            </a:extLst>
          </p:cNvPr>
          <p:cNvSpPr txBox="1"/>
          <p:nvPr/>
        </p:nvSpPr>
        <p:spPr>
          <a:xfrm>
            <a:off x="774700" y="4129510"/>
            <a:ext cx="2667000" cy="379591"/>
          </a:xfrm>
          <a:prstGeom prst="rect">
            <a:avLst/>
          </a:prstGeom>
          <a:noFill/>
        </p:spPr>
        <p:txBody>
          <a:bodyPr vert="horz" wrap="square" lIns="50800" tIns="12700" rIns="50800" bIns="12700" rtlCol="0" anchor="ctr">
            <a:spAutoFit/>
          </a:bodyPr>
          <a:lstStyle/>
          <a:p>
            <a:r>
              <a:rPr lang="zh-CN" altLang="en-US" sz="1150">
                <a:solidFill>
                  <a:srgbClr val="66717C"/>
                </a:solidFill>
                <a:latin typeface="Microsoft YaHei" panose="020B0503020204020204" pitchFamily="34" charset="-122"/>
                <a:ea typeface="Microsoft YaHei" panose="020B0503020204020204" pitchFamily="34" charset="-122"/>
              </a:rPr>
              <a:t>定子中的 </a:t>
            </a:r>
            <a:r>
              <a:rPr lang="en-US" altLang="zh-CN" sz="1150">
                <a:solidFill>
                  <a:srgbClr val="66717C"/>
                </a:solidFill>
                <a:latin typeface="Microsoft YaHei" panose="020B0503020204020204" pitchFamily="34" charset="-122"/>
                <a:ea typeface="Microsoft YaHei" panose="020B0503020204020204" pitchFamily="34" charset="-122"/>
              </a:rPr>
              <a:t>ia</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ib</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ic </a:t>
            </a:r>
            <a:r>
              <a:rPr lang="zh-CN" altLang="en-US" sz="1150">
                <a:solidFill>
                  <a:srgbClr val="66717C"/>
                </a:solidFill>
                <a:latin typeface="Microsoft YaHei" panose="020B0503020204020204" pitchFamily="34" charset="-122"/>
                <a:ea typeface="Microsoft YaHei" panose="020B0503020204020204" pitchFamily="34" charset="-122"/>
              </a:rPr>
              <a:t>是相差 </a:t>
            </a:r>
            <a:r>
              <a:rPr lang="en-US" altLang="zh-CN" sz="1150">
                <a:solidFill>
                  <a:srgbClr val="66717C"/>
                </a:solidFill>
                <a:latin typeface="Microsoft YaHei" panose="020B0503020204020204" pitchFamily="34" charset="-122"/>
                <a:ea typeface="Microsoft YaHei" panose="020B0503020204020204" pitchFamily="34" charset="-122"/>
              </a:rPr>
              <a:t>120° </a:t>
            </a:r>
            <a:r>
              <a:rPr lang="zh-CN" altLang="en-US" sz="1150">
                <a:solidFill>
                  <a:srgbClr val="66717C"/>
                </a:solidFill>
                <a:latin typeface="Microsoft YaHei" panose="020B0503020204020204" pitchFamily="34" charset="-122"/>
                <a:ea typeface="Microsoft YaHei" panose="020B0503020204020204" pitchFamily="34" charset="-122"/>
              </a:rPr>
              <a:t>的正弦量</a:t>
            </a:r>
          </a:p>
        </p:txBody>
      </p:sp>
      <p:cxnSp>
        <p:nvCxnSpPr>
          <p:cNvPr id="8" name="直接连接符 7">
            <a:extLst>
              <a:ext uri="{FF2B5EF4-FFF2-40B4-BE49-F238E27FC236}">
                <a16:creationId xmlns:a16="http://schemas.microsoft.com/office/drawing/2014/main" id="{BC0991BB-C806-4C1D-CF4B-95D1E1BC3AE6}"/>
              </a:ext>
            </a:extLst>
          </p:cNvPr>
          <p:cNvCxnSpPr/>
          <p:nvPr/>
        </p:nvCxnSpPr>
        <p:spPr>
          <a:xfrm>
            <a:off x="88900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4588074-19F5-6DEE-4CFF-FC0748EEB081}"/>
              </a:ext>
            </a:extLst>
          </p:cNvPr>
          <p:cNvCxnSpPr/>
          <p:nvPr/>
        </p:nvCxnSpPr>
        <p:spPr>
          <a:xfrm>
            <a:off x="149225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FB7269D-2B84-2C1C-9010-3C1A944E72E0}"/>
              </a:ext>
            </a:extLst>
          </p:cNvPr>
          <p:cNvCxnSpPr/>
          <p:nvPr/>
        </p:nvCxnSpPr>
        <p:spPr>
          <a:xfrm>
            <a:off x="209550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03D34C5-0A51-9AD8-7533-9916E7E1B9F1}"/>
              </a:ext>
            </a:extLst>
          </p:cNvPr>
          <p:cNvCxnSpPr/>
          <p:nvPr/>
        </p:nvCxnSpPr>
        <p:spPr>
          <a:xfrm>
            <a:off x="269875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8A2E138-6458-CDE6-4037-D6218A66BE73}"/>
              </a:ext>
            </a:extLst>
          </p:cNvPr>
          <p:cNvCxnSpPr/>
          <p:nvPr/>
        </p:nvCxnSpPr>
        <p:spPr>
          <a:xfrm>
            <a:off x="330200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BBC7C81-0FC2-1D38-0B58-87C5DA53E538}"/>
              </a:ext>
            </a:extLst>
          </p:cNvPr>
          <p:cNvCxnSpPr/>
          <p:nvPr/>
        </p:nvCxnSpPr>
        <p:spPr>
          <a:xfrm>
            <a:off x="889000" y="45882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F45CC5F-82B3-6A81-0B09-BA1818796836}"/>
              </a:ext>
            </a:extLst>
          </p:cNvPr>
          <p:cNvCxnSpPr/>
          <p:nvPr/>
        </p:nvCxnSpPr>
        <p:spPr>
          <a:xfrm>
            <a:off x="889000" y="49819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3DB7F9A-C17D-99FC-7E67-5705F5861ACC}"/>
              </a:ext>
            </a:extLst>
          </p:cNvPr>
          <p:cNvCxnSpPr/>
          <p:nvPr/>
        </p:nvCxnSpPr>
        <p:spPr>
          <a:xfrm>
            <a:off x="889000" y="53756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8BD5915-77DD-E1CF-2258-2B26C08AD823}"/>
              </a:ext>
            </a:extLst>
          </p:cNvPr>
          <p:cNvCxnSpPr/>
          <p:nvPr/>
        </p:nvCxnSpPr>
        <p:spPr>
          <a:xfrm>
            <a:off x="889000" y="57693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4847322-0050-A8D9-F726-8DBAA63A0ED4}"/>
              </a:ext>
            </a:extLst>
          </p:cNvPr>
          <p:cNvCxnSpPr/>
          <p:nvPr/>
        </p:nvCxnSpPr>
        <p:spPr>
          <a:xfrm>
            <a:off x="889000" y="61630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697E983-E9C1-E5E2-B943-A8B60198EB85}"/>
              </a:ext>
            </a:extLst>
          </p:cNvPr>
          <p:cNvCxnSpPr/>
          <p:nvPr/>
        </p:nvCxnSpPr>
        <p:spPr>
          <a:xfrm>
            <a:off x="889000" y="5375683"/>
            <a:ext cx="2501900" cy="0"/>
          </a:xfrm>
          <a:prstGeom prst="line">
            <a:avLst/>
          </a:prstGeom>
          <a:ln w="1270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04FF22D5-4AC1-3306-D441-D10E14447386}"/>
              </a:ext>
            </a:extLst>
          </p:cNvPr>
          <p:cNvCxnSpPr/>
          <p:nvPr/>
        </p:nvCxnSpPr>
        <p:spPr>
          <a:xfrm flipV="1">
            <a:off x="889000" y="4499383"/>
            <a:ext cx="0" cy="1739900"/>
          </a:xfrm>
          <a:prstGeom prst="line">
            <a:avLst/>
          </a:prstGeom>
          <a:ln w="1270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9584D2E-B5EF-0BEC-F800-9580CD33476A}"/>
              </a:ext>
            </a:extLst>
          </p:cNvPr>
          <p:cNvCxnSpPr/>
          <p:nvPr/>
        </p:nvCxnSpPr>
        <p:spPr>
          <a:xfrm flipV="1">
            <a:off x="889000" y="5306796"/>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9CF7190-793A-53EA-28B4-BF591E193BA0}"/>
              </a:ext>
            </a:extLst>
          </p:cNvPr>
          <p:cNvCxnSpPr/>
          <p:nvPr/>
        </p:nvCxnSpPr>
        <p:spPr>
          <a:xfrm flipV="1">
            <a:off x="935404" y="5238914"/>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D1B9D41-BC90-9333-653E-8CFC8ADAB706}"/>
              </a:ext>
            </a:extLst>
          </p:cNvPr>
          <p:cNvCxnSpPr/>
          <p:nvPr/>
        </p:nvCxnSpPr>
        <p:spPr>
          <a:xfrm flipV="1">
            <a:off x="981808" y="5173026"/>
            <a:ext cx="46404"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1672D106-DAD5-12AF-6F78-0595B3281DEB}"/>
              </a:ext>
            </a:extLst>
          </p:cNvPr>
          <p:cNvCxnSpPr/>
          <p:nvPr/>
        </p:nvCxnSpPr>
        <p:spPr>
          <a:xfrm flipV="1">
            <a:off x="1028212" y="5110094"/>
            <a:ext cx="46403"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E400F03-6D0F-AADA-A00C-76ED351B4E1A}"/>
              </a:ext>
            </a:extLst>
          </p:cNvPr>
          <p:cNvCxnSpPr/>
          <p:nvPr/>
        </p:nvCxnSpPr>
        <p:spPr>
          <a:xfrm flipV="1">
            <a:off x="1074615" y="5051034"/>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6061CEA-E688-7129-7B0B-AAB7AADB217A}"/>
              </a:ext>
            </a:extLst>
          </p:cNvPr>
          <p:cNvCxnSpPr/>
          <p:nvPr/>
        </p:nvCxnSpPr>
        <p:spPr>
          <a:xfrm flipV="1">
            <a:off x="1121019" y="4996708"/>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DDBE8A7-3460-C68E-9FD9-CD6C5E414E21}"/>
              </a:ext>
            </a:extLst>
          </p:cNvPr>
          <p:cNvCxnSpPr/>
          <p:nvPr/>
        </p:nvCxnSpPr>
        <p:spPr>
          <a:xfrm flipV="1">
            <a:off x="1167423" y="4947909"/>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BB84374-9B37-F824-D9A2-9657BA29D269}"/>
              </a:ext>
            </a:extLst>
          </p:cNvPr>
          <p:cNvCxnSpPr/>
          <p:nvPr/>
        </p:nvCxnSpPr>
        <p:spPr>
          <a:xfrm flipV="1">
            <a:off x="1213827" y="4905348"/>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A335F6E-A33F-CFE5-DF3E-0D2546B291C8}"/>
              </a:ext>
            </a:extLst>
          </p:cNvPr>
          <p:cNvCxnSpPr/>
          <p:nvPr/>
        </p:nvCxnSpPr>
        <p:spPr>
          <a:xfrm flipV="1">
            <a:off x="1260231" y="4869645"/>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DF9BCAA-8612-48BB-0336-359C9676E52B}"/>
              </a:ext>
            </a:extLst>
          </p:cNvPr>
          <p:cNvCxnSpPr/>
          <p:nvPr/>
        </p:nvCxnSpPr>
        <p:spPr>
          <a:xfrm flipV="1">
            <a:off x="1306635" y="4841321"/>
            <a:ext cx="46403"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B73EBA6-2066-39F8-77C9-56E3A24F888D}"/>
              </a:ext>
            </a:extLst>
          </p:cNvPr>
          <p:cNvCxnSpPr/>
          <p:nvPr/>
        </p:nvCxnSpPr>
        <p:spPr>
          <a:xfrm flipV="1">
            <a:off x="1353038" y="4820790"/>
            <a:ext cx="46404"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15F4328-F62E-00DD-7643-DD13E326C6CB}"/>
              </a:ext>
            </a:extLst>
          </p:cNvPr>
          <p:cNvCxnSpPr/>
          <p:nvPr/>
        </p:nvCxnSpPr>
        <p:spPr>
          <a:xfrm flipV="1">
            <a:off x="1399442" y="4808350"/>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FB83777-B3D5-71B6-465D-D33F3B533ACE}"/>
              </a:ext>
            </a:extLst>
          </p:cNvPr>
          <p:cNvCxnSpPr/>
          <p:nvPr/>
        </p:nvCxnSpPr>
        <p:spPr>
          <a:xfrm flipV="1">
            <a:off x="1445846" y="4804183"/>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62D777A-CB26-E033-887F-0CCEFFE86D43}"/>
              </a:ext>
            </a:extLst>
          </p:cNvPr>
          <p:cNvCxnSpPr/>
          <p:nvPr/>
        </p:nvCxnSpPr>
        <p:spPr>
          <a:xfrm>
            <a:off x="1492250" y="4804183"/>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AF7013E-A0E6-B8F8-1583-18BD0F48153C}"/>
              </a:ext>
            </a:extLst>
          </p:cNvPr>
          <p:cNvCxnSpPr/>
          <p:nvPr/>
        </p:nvCxnSpPr>
        <p:spPr>
          <a:xfrm>
            <a:off x="1538654" y="4808350"/>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8390C9D-2BD0-41FA-66B3-4F76589A92B8}"/>
              </a:ext>
            </a:extLst>
          </p:cNvPr>
          <p:cNvCxnSpPr/>
          <p:nvPr/>
        </p:nvCxnSpPr>
        <p:spPr>
          <a:xfrm>
            <a:off x="1585058" y="4820790"/>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F70D4C7-C1BF-3436-923E-154DD0F80F3D}"/>
              </a:ext>
            </a:extLst>
          </p:cNvPr>
          <p:cNvCxnSpPr/>
          <p:nvPr/>
        </p:nvCxnSpPr>
        <p:spPr>
          <a:xfrm>
            <a:off x="1631461" y="4841321"/>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7D64117-453D-A9B1-CF28-6F105BC9DF2F}"/>
              </a:ext>
            </a:extLst>
          </p:cNvPr>
          <p:cNvCxnSpPr/>
          <p:nvPr/>
        </p:nvCxnSpPr>
        <p:spPr>
          <a:xfrm>
            <a:off x="1677865" y="4869645"/>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1A81CEE-222E-A08B-0323-BEC49A93606A}"/>
              </a:ext>
            </a:extLst>
          </p:cNvPr>
          <p:cNvCxnSpPr/>
          <p:nvPr/>
        </p:nvCxnSpPr>
        <p:spPr>
          <a:xfrm>
            <a:off x="1724269" y="4905348"/>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724E841-3906-FD83-BE44-37AB71CC4541}"/>
              </a:ext>
            </a:extLst>
          </p:cNvPr>
          <p:cNvCxnSpPr/>
          <p:nvPr/>
        </p:nvCxnSpPr>
        <p:spPr>
          <a:xfrm>
            <a:off x="1770673" y="4947909"/>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D9CE0D0-7908-E290-074E-3CCFB23074B0}"/>
              </a:ext>
            </a:extLst>
          </p:cNvPr>
          <p:cNvCxnSpPr/>
          <p:nvPr/>
        </p:nvCxnSpPr>
        <p:spPr>
          <a:xfrm>
            <a:off x="1817077" y="4996708"/>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D4610B9-8EBA-1DFD-0B54-0DAA5B53C6EB}"/>
              </a:ext>
            </a:extLst>
          </p:cNvPr>
          <p:cNvCxnSpPr/>
          <p:nvPr/>
        </p:nvCxnSpPr>
        <p:spPr>
          <a:xfrm>
            <a:off x="1863481" y="5051034"/>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2416222-E55F-7CD1-EB1C-F39DB1CE06C2}"/>
              </a:ext>
            </a:extLst>
          </p:cNvPr>
          <p:cNvCxnSpPr/>
          <p:nvPr/>
        </p:nvCxnSpPr>
        <p:spPr>
          <a:xfrm>
            <a:off x="1909885" y="5110094"/>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13BF7DBA-B6F5-CC8F-6075-AD5ECB2B0650}"/>
              </a:ext>
            </a:extLst>
          </p:cNvPr>
          <p:cNvCxnSpPr/>
          <p:nvPr/>
        </p:nvCxnSpPr>
        <p:spPr>
          <a:xfrm>
            <a:off x="1956289" y="5173026"/>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785340B-682A-17CE-03B2-9318CC9CF5EE}"/>
              </a:ext>
            </a:extLst>
          </p:cNvPr>
          <p:cNvCxnSpPr/>
          <p:nvPr/>
        </p:nvCxnSpPr>
        <p:spPr>
          <a:xfrm>
            <a:off x="2002692" y="5238914"/>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B2BBC70-DA27-1DDC-8ABB-D13E484480EF}"/>
              </a:ext>
            </a:extLst>
          </p:cNvPr>
          <p:cNvCxnSpPr/>
          <p:nvPr/>
        </p:nvCxnSpPr>
        <p:spPr>
          <a:xfrm>
            <a:off x="2049096" y="5306796"/>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1207D98-D494-DB4C-D0C4-52D3E6CB63A9}"/>
              </a:ext>
            </a:extLst>
          </p:cNvPr>
          <p:cNvCxnSpPr/>
          <p:nvPr/>
        </p:nvCxnSpPr>
        <p:spPr>
          <a:xfrm>
            <a:off x="2095500" y="5375683"/>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BD1B2D1-39A3-AB59-83E8-D4CD4A62A748}"/>
              </a:ext>
            </a:extLst>
          </p:cNvPr>
          <p:cNvCxnSpPr/>
          <p:nvPr/>
        </p:nvCxnSpPr>
        <p:spPr>
          <a:xfrm>
            <a:off x="2141904" y="5444570"/>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2055600-48D7-B571-C12F-77CFD88501E6}"/>
              </a:ext>
            </a:extLst>
          </p:cNvPr>
          <p:cNvCxnSpPr/>
          <p:nvPr/>
        </p:nvCxnSpPr>
        <p:spPr>
          <a:xfrm>
            <a:off x="2188308" y="5512452"/>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D80D5B0E-8FEB-CBD8-D3F2-AFAE1C508941}"/>
              </a:ext>
            </a:extLst>
          </p:cNvPr>
          <p:cNvCxnSpPr/>
          <p:nvPr/>
        </p:nvCxnSpPr>
        <p:spPr>
          <a:xfrm>
            <a:off x="2234711" y="5578340"/>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3F102AB-C240-0C7B-9570-A54E09D2298B}"/>
              </a:ext>
            </a:extLst>
          </p:cNvPr>
          <p:cNvCxnSpPr/>
          <p:nvPr/>
        </p:nvCxnSpPr>
        <p:spPr>
          <a:xfrm>
            <a:off x="2281115" y="5641272"/>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88A41B2E-8906-C92D-3C3F-FA97798F584D}"/>
              </a:ext>
            </a:extLst>
          </p:cNvPr>
          <p:cNvCxnSpPr/>
          <p:nvPr/>
        </p:nvCxnSpPr>
        <p:spPr>
          <a:xfrm>
            <a:off x="2327519" y="5700332"/>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A744DB9-44E9-B4BD-87F8-3F470F834EF8}"/>
              </a:ext>
            </a:extLst>
          </p:cNvPr>
          <p:cNvCxnSpPr/>
          <p:nvPr/>
        </p:nvCxnSpPr>
        <p:spPr>
          <a:xfrm>
            <a:off x="2373923" y="5754658"/>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3BD6CCC-BFA3-EC9C-3E42-ABF819460459}"/>
              </a:ext>
            </a:extLst>
          </p:cNvPr>
          <p:cNvCxnSpPr/>
          <p:nvPr/>
        </p:nvCxnSpPr>
        <p:spPr>
          <a:xfrm>
            <a:off x="2420327" y="5803457"/>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9FECCC1-12B8-85E2-79E6-D3C4B4980953}"/>
              </a:ext>
            </a:extLst>
          </p:cNvPr>
          <p:cNvCxnSpPr/>
          <p:nvPr/>
        </p:nvCxnSpPr>
        <p:spPr>
          <a:xfrm>
            <a:off x="2466731" y="5846018"/>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52DD4BD-3088-1DC8-BC6E-F8A8B6AAD9E3}"/>
              </a:ext>
            </a:extLst>
          </p:cNvPr>
          <p:cNvCxnSpPr/>
          <p:nvPr/>
        </p:nvCxnSpPr>
        <p:spPr>
          <a:xfrm>
            <a:off x="2513135" y="5881721"/>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1D127BF-7CE1-5169-3254-5AD73DDD7466}"/>
              </a:ext>
            </a:extLst>
          </p:cNvPr>
          <p:cNvCxnSpPr/>
          <p:nvPr/>
        </p:nvCxnSpPr>
        <p:spPr>
          <a:xfrm>
            <a:off x="2559539" y="5910045"/>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B942A58-D041-0BBA-4D31-8AE78636F716}"/>
              </a:ext>
            </a:extLst>
          </p:cNvPr>
          <p:cNvCxnSpPr/>
          <p:nvPr/>
        </p:nvCxnSpPr>
        <p:spPr>
          <a:xfrm>
            <a:off x="2605942" y="5930576"/>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36D4793-8E49-7EA5-A5CC-50A3904BC2CD}"/>
              </a:ext>
            </a:extLst>
          </p:cNvPr>
          <p:cNvCxnSpPr/>
          <p:nvPr/>
        </p:nvCxnSpPr>
        <p:spPr>
          <a:xfrm>
            <a:off x="2652346" y="5943016"/>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76FF15C-A749-0781-CC0D-98B00F2B3DB0}"/>
              </a:ext>
            </a:extLst>
          </p:cNvPr>
          <p:cNvCxnSpPr/>
          <p:nvPr/>
        </p:nvCxnSpPr>
        <p:spPr>
          <a:xfrm flipV="1">
            <a:off x="2698750" y="5943016"/>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BE50985-446C-3985-EE0F-BEE3B93966F2}"/>
              </a:ext>
            </a:extLst>
          </p:cNvPr>
          <p:cNvCxnSpPr/>
          <p:nvPr/>
        </p:nvCxnSpPr>
        <p:spPr>
          <a:xfrm flipV="1">
            <a:off x="2745154" y="5930576"/>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12372F5-087B-1DEB-BCAE-48DCCE4F8B9C}"/>
              </a:ext>
            </a:extLst>
          </p:cNvPr>
          <p:cNvCxnSpPr/>
          <p:nvPr/>
        </p:nvCxnSpPr>
        <p:spPr>
          <a:xfrm flipV="1">
            <a:off x="2791558" y="5910045"/>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894ED9B-AA2E-49D8-11B9-050F41F47123}"/>
              </a:ext>
            </a:extLst>
          </p:cNvPr>
          <p:cNvCxnSpPr/>
          <p:nvPr/>
        </p:nvCxnSpPr>
        <p:spPr>
          <a:xfrm flipV="1">
            <a:off x="2837961" y="5881721"/>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070DBBF-91C9-947D-93CA-9A323C685721}"/>
              </a:ext>
            </a:extLst>
          </p:cNvPr>
          <p:cNvCxnSpPr/>
          <p:nvPr/>
        </p:nvCxnSpPr>
        <p:spPr>
          <a:xfrm flipV="1">
            <a:off x="2884365" y="5846018"/>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99E34B6-1681-7CDD-BAF9-A2F4A3A2F4F3}"/>
              </a:ext>
            </a:extLst>
          </p:cNvPr>
          <p:cNvCxnSpPr/>
          <p:nvPr/>
        </p:nvCxnSpPr>
        <p:spPr>
          <a:xfrm flipV="1">
            <a:off x="2930769" y="5803457"/>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A7E6E8E-99FC-634C-F504-A4E4CB4894DC}"/>
              </a:ext>
            </a:extLst>
          </p:cNvPr>
          <p:cNvCxnSpPr/>
          <p:nvPr/>
        </p:nvCxnSpPr>
        <p:spPr>
          <a:xfrm flipV="1">
            <a:off x="2977173" y="5754658"/>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1C1FDDFB-1431-071F-0A16-278E97BA6033}"/>
              </a:ext>
            </a:extLst>
          </p:cNvPr>
          <p:cNvCxnSpPr/>
          <p:nvPr/>
        </p:nvCxnSpPr>
        <p:spPr>
          <a:xfrm flipV="1">
            <a:off x="3023577" y="5700332"/>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BF1E300-4913-B1B6-8345-70DD6E232BB3}"/>
              </a:ext>
            </a:extLst>
          </p:cNvPr>
          <p:cNvCxnSpPr/>
          <p:nvPr/>
        </p:nvCxnSpPr>
        <p:spPr>
          <a:xfrm flipV="1">
            <a:off x="3069981" y="5641272"/>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84E8CC2-68BF-68BD-1790-C8B72A409515}"/>
              </a:ext>
            </a:extLst>
          </p:cNvPr>
          <p:cNvCxnSpPr/>
          <p:nvPr/>
        </p:nvCxnSpPr>
        <p:spPr>
          <a:xfrm flipV="1">
            <a:off x="3116385" y="5578340"/>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3209A530-A965-1559-440C-C1C7B9968489}"/>
              </a:ext>
            </a:extLst>
          </p:cNvPr>
          <p:cNvCxnSpPr/>
          <p:nvPr/>
        </p:nvCxnSpPr>
        <p:spPr>
          <a:xfrm flipV="1">
            <a:off x="3162789" y="5512452"/>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7380166-B7B2-8DE1-5322-058B7BDFE9B1}"/>
              </a:ext>
            </a:extLst>
          </p:cNvPr>
          <p:cNvCxnSpPr/>
          <p:nvPr/>
        </p:nvCxnSpPr>
        <p:spPr>
          <a:xfrm flipV="1">
            <a:off x="3209192" y="5444570"/>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01119991-9C1A-186D-CD71-ECDBF6842CBE}"/>
              </a:ext>
            </a:extLst>
          </p:cNvPr>
          <p:cNvCxnSpPr/>
          <p:nvPr/>
        </p:nvCxnSpPr>
        <p:spPr>
          <a:xfrm flipV="1">
            <a:off x="3255596" y="5375683"/>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F10D1765-90C0-1A48-A101-E00DCCC65B88}"/>
              </a:ext>
            </a:extLst>
          </p:cNvPr>
          <p:cNvCxnSpPr/>
          <p:nvPr/>
        </p:nvCxnSpPr>
        <p:spPr>
          <a:xfrm>
            <a:off x="889000" y="5870616"/>
            <a:ext cx="46404" cy="3083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FDFCAFE7-3673-E893-D1AC-A6D1AF3B495C}"/>
              </a:ext>
            </a:extLst>
          </p:cNvPr>
          <p:cNvCxnSpPr/>
          <p:nvPr/>
        </p:nvCxnSpPr>
        <p:spPr>
          <a:xfrm>
            <a:off x="935404" y="5901451"/>
            <a:ext cx="46404" cy="231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F529F5A-4E88-74E0-D68A-1300CE275D22}"/>
              </a:ext>
            </a:extLst>
          </p:cNvPr>
          <p:cNvCxnSpPr/>
          <p:nvPr/>
        </p:nvCxnSpPr>
        <p:spPr>
          <a:xfrm>
            <a:off x="981808" y="5924619"/>
            <a:ext cx="46404" cy="151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329203F8-0D90-DEB2-9F65-380C28799ED9}"/>
              </a:ext>
            </a:extLst>
          </p:cNvPr>
          <p:cNvCxnSpPr/>
          <p:nvPr/>
        </p:nvCxnSpPr>
        <p:spPr>
          <a:xfrm>
            <a:off x="1028212" y="5939782"/>
            <a:ext cx="46403" cy="693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1D9178D9-41B9-7CB8-5223-AC4C012409C2}"/>
              </a:ext>
            </a:extLst>
          </p:cNvPr>
          <p:cNvCxnSpPr/>
          <p:nvPr/>
        </p:nvCxnSpPr>
        <p:spPr>
          <a:xfrm flipV="1">
            <a:off x="1074615" y="5945330"/>
            <a:ext cx="46404" cy="138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9A548B2-5A8F-DF44-B715-C031F716BBD3}"/>
              </a:ext>
            </a:extLst>
          </p:cNvPr>
          <p:cNvCxnSpPr/>
          <p:nvPr/>
        </p:nvCxnSpPr>
        <p:spPr>
          <a:xfrm flipV="1">
            <a:off x="1121019" y="5935633"/>
            <a:ext cx="46404" cy="969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B97AAE7-5565-A0BA-3794-9C56F5CD3B9B}"/>
              </a:ext>
            </a:extLst>
          </p:cNvPr>
          <p:cNvCxnSpPr/>
          <p:nvPr/>
        </p:nvCxnSpPr>
        <p:spPr>
          <a:xfrm flipV="1">
            <a:off x="1167423" y="5917772"/>
            <a:ext cx="46404" cy="178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0107A8C0-DF94-262F-1A5E-20C81357630F}"/>
              </a:ext>
            </a:extLst>
          </p:cNvPr>
          <p:cNvCxnSpPr/>
          <p:nvPr/>
        </p:nvCxnSpPr>
        <p:spPr>
          <a:xfrm flipV="1">
            <a:off x="1213827" y="5892005"/>
            <a:ext cx="46404" cy="2576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3F25B07-1BFE-9B98-3309-E4C50D8BDE56}"/>
              </a:ext>
            </a:extLst>
          </p:cNvPr>
          <p:cNvCxnSpPr/>
          <p:nvPr/>
        </p:nvCxnSpPr>
        <p:spPr>
          <a:xfrm flipV="1">
            <a:off x="1260231" y="5858709"/>
            <a:ext cx="46404" cy="332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97598CC-EDA0-7DD2-8659-50EF075D3A9D}"/>
              </a:ext>
            </a:extLst>
          </p:cNvPr>
          <p:cNvCxnSpPr/>
          <p:nvPr/>
        </p:nvCxnSpPr>
        <p:spPr>
          <a:xfrm flipV="1">
            <a:off x="1306635" y="5818370"/>
            <a:ext cx="46403" cy="4033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7DD65DE-FBD4-C981-B936-C088DACED41C}"/>
              </a:ext>
            </a:extLst>
          </p:cNvPr>
          <p:cNvCxnSpPr/>
          <p:nvPr/>
        </p:nvCxnSpPr>
        <p:spPr>
          <a:xfrm flipV="1">
            <a:off x="1353038" y="5771575"/>
            <a:ext cx="46404" cy="467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9EB689-46C6-1199-C125-8F10224E649F}"/>
              </a:ext>
            </a:extLst>
          </p:cNvPr>
          <p:cNvCxnSpPr/>
          <p:nvPr/>
        </p:nvCxnSpPr>
        <p:spPr>
          <a:xfrm flipV="1">
            <a:off x="1399442" y="5719007"/>
            <a:ext cx="46404" cy="525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1969BB1-9711-4C69-FAB8-7399F04E6C90}"/>
              </a:ext>
            </a:extLst>
          </p:cNvPr>
          <p:cNvCxnSpPr/>
          <p:nvPr/>
        </p:nvCxnSpPr>
        <p:spPr>
          <a:xfrm flipV="1">
            <a:off x="1445846" y="5661433"/>
            <a:ext cx="46404" cy="5757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A691068-1233-69E1-BD42-D30B13D13D91}"/>
              </a:ext>
            </a:extLst>
          </p:cNvPr>
          <p:cNvCxnSpPr/>
          <p:nvPr/>
        </p:nvCxnSpPr>
        <p:spPr>
          <a:xfrm flipV="1">
            <a:off x="1492250" y="5599692"/>
            <a:ext cx="46404" cy="6174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4813F1F-25BC-CDF5-276D-44B4A25363C8}"/>
              </a:ext>
            </a:extLst>
          </p:cNvPr>
          <p:cNvCxnSpPr/>
          <p:nvPr/>
        </p:nvCxnSpPr>
        <p:spPr>
          <a:xfrm flipV="1">
            <a:off x="1538654" y="5534684"/>
            <a:ext cx="46404" cy="6500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83098BB-4522-D613-4B77-E34483E898BA}"/>
              </a:ext>
            </a:extLst>
          </p:cNvPr>
          <p:cNvCxnSpPr/>
          <p:nvPr/>
        </p:nvCxnSpPr>
        <p:spPr>
          <a:xfrm flipV="1">
            <a:off x="1585058" y="5467358"/>
            <a:ext cx="46403" cy="6732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8864286-389A-F01A-15F1-9AF0A9666111}"/>
              </a:ext>
            </a:extLst>
          </p:cNvPr>
          <p:cNvCxnSpPr/>
          <p:nvPr/>
        </p:nvCxnSpPr>
        <p:spPr>
          <a:xfrm flipV="1">
            <a:off x="1631461" y="5398695"/>
            <a:ext cx="46404" cy="686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FFCA92C5-A7C4-FEDA-8F89-7F42D072C246}"/>
              </a:ext>
            </a:extLst>
          </p:cNvPr>
          <p:cNvCxnSpPr/>
          <p:nvPr/>
        </p:nvCxnSpPr>
        <p:spPr>
          <a:xfrm flipV="1">
            <a:off x="1677865" y="5329696"/>
            <a:ext cx="46404" cy="6899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D5F721FD-9097-7765-158D-5B97A95FB050}"/>
              </a:ext>
            </a:extLst>
          </p:cNvPr>
          <p:cNvCxnSpPr/>
          <p:nvPr/>
        </p:nvCxnSpPr>
        <p:spPr>
          <a:xfrm flipV="1">
            <a:off x="1724269" y="5261368"/>
            <a:ext cx="46404" cy="6832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C13E828-010E-14A9-F0CC-DFA000018BB3}"/>
              </a:ext>
            </a:extLst>
          </p:cNvPr>
          <p:cNvCxnSpPr/>
          <p:nvPr/>
        </p:nvCxnSpPr>
        <p:spPr>
          <a:xfrm flipV="1">
            <a:off x="1770673" y="5194707"/>
            <a:ext cx="46404" cy="666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82B3B7A0-162F-8F58-E433-BA6CDE64F3CF}"/>
              </a:ext>
            </a:extLst>
          </p:cNvPr>
          <p:cNvCxnSpPr/>
          <p:nvPr/>
        </p:nvCxnSpPr>
        <p:spPr>
          <a:xfrm flipV="1">
            <a:off x="1817077" y="5130685"/>
            <a:ext cx="46404" cy="6402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EC2A5C0A-BD07-3077-D3D9-7D5598D4D690}"/>
              </a:ext>
            </a:extLst>
          </p:cNvPr>
          <p:cNvCxnSpPr/>
          <p:nvPr/>
        </p:nvCxnSpPr>
        <p:spPr>
          <a:xfrm flipV="1">
            <a:off x="1863481" y="5070236"/>
            <a:ext cx="46404" cy="6044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693C364-0FA6-6EFA-C322-11D94B0F4DF2}"/>
              </a:ext>
            </a:extLst>
          </p:cNvPr>
          <p:cNvCxnSpPr/>
          <p:nvPr/>
        </p:nvCxnSpPr>
        <p:spPr>
          <a:xfrm flipV="1">
            <a:off x="1909885" y="5014241"/>
            <a:ext cx="46404" cy="559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398EA34E-B732-1E9E-5456-FB4D237D5F71}"/>
              </a:ext>
            </a:extLst>
          </p:cNvPr>
          <p:cNvCxnSpPr/>
          <p:nvPr/>
        </p:nvCxnSpPr>
        <p:spPr>
          <a:xfrm flipV="1">
            <a:off x="1956289" y="4963516"/>
            <a:ext cx="46403" cy="5072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96DFD57-5502-D893-2458-41FF474BDF15}"/>
              </a:ext>
            </a:extLst>
          </p:cNvPr>
          <p:cNvCxnSpPr/>
          <p:nvPr/>
        </p:nvCxnSpPr>
        <p:spPr>
          <a:xfrm flipV="1">
            <a:off x="2002692" y="4918801"/>
            <a:ext cx="46404" cy="4471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C8F4D4A2-EAF3-469D-A57C-6A7D6A890849}"/>
              </a:ext>
            </a:extLst>
          </p:cNvPr>
          <p:cNvCxnSpPr/>
          <p:nvPr/>
        </p:nvCxnSpPr>
        <p:spPr>
          <a:xfrm flipV="1">
            <a:off x="2049096" y="4880749"/>
            <a:ext cx="46404" cy="3805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3DAEB86-D88F-5587-4554-BB8EF02E6394}"/>
              </a:ext>
            </a:extLst>
          </p:cNvPr>
          <p:cNvCxnSpPr/>
          <p:nvPr/>
        </p:nvCxnSpPr>
        <p:spPr>
          <a:xfrm flipV="1">
            <a:off x="2095500" y="4849915"/>
            <a:ext cx="46404" cy="3083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C0443B4B-C23A-AC17-CE9F-459266D58023}"/>
              </a:ext>
            </a:extLst>
          </p:cNvPr>
          <p:cNvCxnSpPr/>
          <p:nvPr/>
        </p:nvCxnSpPr>
        <p:spPr>
          <a:xfrm flipV="1">
            <a:off x="2141904" y="4826747"/>
            <a:ext cx="46404" cy="231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F15478D0-5A98-65AE-FE24-E5CF7FB17CAC}"/>
              </a:ext>
            </a:extLst>
          </p:cNvPr>
          <p:cNvCxnSpPr/>
          <p:nvPr/>
        </p:nvCxnSpPr>
        <p:spPr>
          <a:xfrm flipV="1">
            <a:off x="2188308" y="4811584"/>
            <a:ext cx="46403" cy="151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98FD152-BCED-B2DC-2CB5-503EE93762A7}"/>
              </a:ext>
            </a:extLst>
          </p:cNvPr>
          <p:cNvCxnSpPr/>
          <p:nvPr/>
        </p:nvCxnSpPr>
        <p:spPr>
          <a:xfrm flipV="1">
            <a:off x="2234711" y="4804647"/>
            <a:ext cx="46404" cy="693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082E88D-9A62-980D-268A-4A230795B024}"/>
              </a:ext>
            </a:extLst>
          </p:cNvPr>
          <p:cNvCxnSpPr/>
          <p:nvPr/>
        </p:nvCxnSpPr>
        <p:spPr>
          <a:xfrm>
            <a:off x="2281115" y="4804647"/>
            <a:ext cx="46404" cy="138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AAB7A4A-4D33-EBBF-A673-F5A56F77C5FF}"/>
              </a:ext>
            </a:extLst>
          </p:cNvPr>
          <p:cNvCxnSpPr/>
          <p:nvPr/>
        </p:nvCxnSpPr>
        <p:spPr>
          <a:xfrm>
            <a:off x="2327519" y="4806036"/>
            <a:ext cx="46404" cy="969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E9D339F6-FA3B-9B6A-97D1-5BB3C1613457}"/>
              </a:ext>
            </a:extLst>
          </p:cNvPr>
          <p:cNvCxnSpPr/>
          <p:nvPr/>
        </p:nvCxnSpPr>
        <p:spPr>
          <a:xfrm>
            <a:off x="2373923" y="4815733"/>
            <a:ext cx="46404" cy="178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F66DC5E5-BE64-578E-4757-F8B128E08F92}"/>
              </a:ext>
            </a:extLst>
          </p:cNvPr>
          <p:cNvCxnSpPr/>
          <p:nvPr/>
        </p:nvCxnSpPr>
        <p:spPr>
          <a:xfrm>
            <a:off x="2420327" y="4833594"/>
            <a:ext cx="46404" cy="2576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391EF2B0-A42F-71E7-E29E-5E1E1FA8484E}"/>
              </a:ext>
            </a:extLst>
          </p:cNvPr>
          <p:cNvCxnSpPr/>
          <p:nvPr/>
        </p:nvCxnSpPr>
        <p:spPr>
          <a:xfrm>
            <a:off x="2466731" y="4859361"/>
            <a:ext cx="46404" cy="332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8B2DA49B-5BBA-B52E-CD5B-32A40DE97C7B}"/>
              </a:ext>
            </a:extLst>
          </p:cNvPr>
          <p:cNvCxnSpPr/>
          <p:nvPr/>
        </p:nvCxnSpPr>
        <p:spPr>
          <a:xfrm>
            <a:off x="2513135" y="4892657"/>
            <a:ext cx="46404" cy="4033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284C7CF-5D6C-F65E-2885-C0D512D1C860}"/>
              </a:ext>
            </a:extLst>
          </p:cNvPr>
          <p:cNvCxnSpPr/>
          <p:nvPr/>
        </p:nvCxnSpPr>
        <p:spPr>
          <a:xfrm>
            <a:off x="2559539" y="4932996"/>
            <a:ext cx="46403" cy="467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CB7FE089-E1A5-C5BC-8B6F-50F2F7F81C4D}"/>
              </a:ext>
            </a:extLst>
          </p:cNvPr>
          <p:cNvCxnSpPr/>
          <p:nvPr/>
        </p:nvCxnSpPr>
        <p:spPr>
          <a:xfrm>
            <a:off x="2605942" y="4979791"/>
            <a:ext cx="46404" cy="525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3198B871-A665-4CB6-B52E-0A951C28BE65}"/>
              </a:ext>
            </a:extLst>
          </p:cNvPr>
          <p:cNvCxnSpPr/>
          <p:nvPr/>
        </p:nvCxnSpPr>
        <p:spPr>
          <a:xfrm>
            <a:off x="2652346" y="5032359"/>
            <a:ext cx="46404" cy="5757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335D1F3B-38F7-2E3C-B103-0DE3E2ED8F56}"/>
              </a:ext>
            </a:extLst>
          </p:cNvPr>
          <p:cNvCxnSpPr/>
          <p:nvPr/>
        </p:nvCxnSpPr>
        <p:spPr>
          <a:xfrm>
            <a:off x="2698750" y="5089933"/>
            <a:ext cx="46404" cy="6174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536697BF-59F2-9FFF-F8D3-BC162EC00CED}"/>
              </a:ext>
            </a:extLst>
          </p:cNvPr>
          <p:cNvCxnSpPr/>
          <p:nvPr/>
        </p:nvCxnSpPr>
        <p:spPr>
          <a:xfrm>
            <a:off x="2745154" y="5151674"/>
            <a:ext cx="46404" cy="6500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6BBBB8B-C24E-165E-6C38-0F27A8DF0EC8}"/>
              </a:ext>
            </a:extLst>
          </p:cNvPr>
          <p:cNvCxnSpPr/>
          <p:nvPr/>
        </p:nvCxnSpPr>
        <p:spPr>
          <a:xfrm>
            <a:off x="2791558" y="5216682"/>
            <a:ext cx="46403" cy="6732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625EF8EF-F824-804C-0E01-0306BBEA2D7E}"/>
              </a:ext>
            </a:extLst>
          </p:cNvPr>
          <p:cNvCxnSpPr/>
          <p:nvPr/>
        </p:nvCxnSpPr>
        <p:spPr>
          <a:xfrm>
            <a:off x="2837961" y="5284008"/>
            <a:ext cx="46404" cy="686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E667B36C-B874-D80B-8CB7-39077BA2B06B}"/>
              </a:ext>
            </a:extLst>
          </p:cNvPr>
          <p:cNvCxnSpPr/>
          <p:nvPr/>
        </p:nvCxnSpPr>
        <p:spPr>
          <a:xfrm>
            <a:off x="2884365" y="5352671"/>
            <a:ext cx="46404" cy="6899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5BE2206-2188-799C-EDB8-7988166F0DEB}"/>
              </a:ext>
            </a:extLst>
          </p:cNvPr>
          <p:cNvCxnSpPr/>
          <p:nvPr/>
        </p:nvCxnSpPr>
        <p:spPr>
          <a:xfrm>
            <a:off x="2930769" y="5421670"/>
            <a:ext cx="46404" cy="6832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E8E93EAC-A633-92B8-AF62-63D471D07378}"/>
              </a:ext>
            </a:extLst>
          </p:cNvPr>
          <p:cNvCxnSpPr/>
          <p:nvPr/>
        </p:nvCxnSpPr>
        <p:spPr>
          <a:xfrm>
            <a:off x="2977173" y="5489998"/>
            <a:ext cx="46404" cy="666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462B1E86-D746-A6D3-D02F-7312DE999355}"/>
              </a:ext>
            </a:extLst>
          </p:cNvPr>
          <p:cNvCxnSpPr/>
          <p:nvPr/>
        </p:nvCxnSpPr>
        <p:spPr>
          <a:xfrm>
            <a:off x="3023577" y="5556659"/>
            <a:ext cx="46404" cy="6402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56E00E2-3A46-C41A-D1CD-326B98C79F0A}"/>
              </a:ext>
            </a:extLst>
          </p:cNvPr>
          <p:cNvCxnSpPr/>
          <p:nvPr/>
        </p:nvCxnSpPr>
        <p:spPr>
          <a:xfrm>
            <a:off x="3069981" y="5620681"/>
            <a:ext cx="46404" cy="6044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6F601942-984A-BF4A-E386-C1C60BC8A0B1}"/>
              </a:ext>
            </a:extLst>
          </p:cNvPr>
          <p:cNvCxnSpPr/>
          <p:nvPr/>
        </p:nvCxnSpPr>
        <p:spPr>
          <a:xfrm>
            <a:off x="3116385" y="5681130"/>
            <a:ext cx="46404" cy="559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1D59B08A-3E58-518E-E5E8-43342FF52339}"/>
              </a:ext>
            </a:extLst>
          </p:cNvPr>
          <p:cNvCxnSpPr/>
          <p:nvPr/>
        </p:nvCxnSpPr>
        <p:spPr>
          <a:xfrm>
            <a:off x="3162789" y="5737126"/>
            <a:ext cx="46403" cy="5072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1015F6CF-8387-FC6C-F988-3754EA24E071}"/>
              </a:ext>
            </a:extLst>
          </p:cNvPr>
          <p:cNvCxnSpPr/>
          <p:nvPr/>
        </p:nvCxnSpPr>
        <p:spPr>
          <a:xfrm>
            <a:off x="3209192" y="5787850"/>
            <a:ext cx="46404" cy="4471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EAA39F80-6229-5EE1-001C-0937AF02CC21}"/>
              </a:ext>
            </a:extLst>
          </p:cNvPr>
          <p:cNvCxnSpPr/>
          <p:nvPr/>
        </p:nvCxnSpPr>
        <p:spPr>
          <a:xfrm>
            <a:off x="3255596" y="5832564"/>
            <a:ext cx="46404" cy="3805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C0480586-FEBE-CF03-5019-698451BFA003}"/>
              </a:ext>
            </a:extLst>
          </p:cNvPr>
          <p:cNvCxnSpPr/>
          <p:nvPr/>
        </p:nvCxnSpPr>
        <p:spPr>
          <a:xfrm>
            <a:off x="889000" y="4880749"/>
            <a:ext cx="46404" cy="3805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2D418D7C-30F1-BBCC-A1D4-EF800D72A8B2}"/>
              </a:ext>
            </a:extLst>
          </p:cNvPr>
          <p:cNvCxnSpPr/>
          <p:nvPr/>
        </p:nvCxnSpPr>
        <p:spPr>
          <a:xfrm>
            <a:off x="935404" y="4918801"/>
            <a:ext cx="46404" cy="4471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4D28792B-A70E-1177-0A32-1CBB69DFC77E}"/>
              </a:ext>
            </a:extLst>
          </p:cNvPr>
          <p:cNvCxnSpPr/>
          <p:nvPr/>
        </p:nvCxnSpPr>
        <p:spPr>
          <a:xfrm>
            <a:off x="981808" y="4963516"/>
            <a:ext cx="46404" cy="5072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07703CB-C373-D4AA-319C-E00AC799773A}"/>
              </a:ext>
            </a:extLst>
          </p:cNvPr>
          <p:cNvCxnSpPr/>
          <p:nvPr/>
        </p:nvCxnSpPr>
        <p:spPr>
          <a:xfrm>
            <a:off x="1028212" y="5014241"/>
            <a:ext cx="46403" cy="559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0594E1AB-3D47-DC2B-8CBD-A0940E4B2464}"/>
              </a:ext>
            </a:extLst>
          </p:cNvPr>
          <p:cNvCxnSpPr/>
          <p:nvPr/>
        </p:nvCxnSpPr>
        <p:spPr>
          <a:xfrm>
            <a:off x="1074615" y="5070236"/>
            <a:ext cx="46404" cy="6044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6F4364E9-EE5A-F890-0344-D1B9E7D78951}"/>
              </a:ext>
            </a:extLst>
          </p:cNvPr>
          <p:cNvCxnSpPr/>
          <p:nvPr/>
        </p:nvCxnSpPr>
        <p:spPr>
          <a:xfrm>
            <a:off x="1121019" y="5130685"/>
            <a:ext cx="46404" cy="6402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32F2F2FD-85D1-D2B8-7417-BBE481BF36D1}"/>
              </a:ext>
            </a:extLst>
          </p:cNvPr>
          <p:cNvCxnSpPr/>
          <p:nvPr/>
        </p:nvCxnSpPr>
        <p:spPr>
          <a:xfrm>
            <a:off x="1167423" y="5194707"/>
            <a:ext cx="46404" cy="666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24846193-5CEF-3402-89C5-4CFE392C9E8E}"/>
              </a:ext>
            </a:extLst>
          </p:cNvPr>
          <p:cNvCxnSpPr/>
          <p:nvPr/>
        </p:nvCxnSpPr>
        <p:spPr>
          <a:xfrm>
            <a:off x="1213827" y="5261368"/>
            <a:ext cx="46404" cy="6832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A43BAE87-9192-C956-341B-6871163DA1A7}"/>
              </a:ext>
            </a:extLst>
          </p:cNvPr>
          <p:cNvCxnSpPr/>
          <p:nvPr/>
        </p:nvCxnSpPr>
        <p:spPr>
          <a:xfrm>
            <a:off x="1260231" y="5329696"/>
            <a:ext cx="46404" cy="6899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E501E433-8B68-7160-6A0B-30EA788389F0}"/>
              </a:ext>
            </a:extLst>
          </p:cNvPr>
          <p:cNvCxnSpPr/>
          <p:nvPr/>
        </p:nvCxnSpPr>
        <p:spPr>
          <a:xfrm>
            <a:off x="1306635" y="5398695"/>
            <a:ext cx="46403" cy="686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916605AB-A581-B068-E53A-C78CE69A683A}"/>
              </a:ext>
            </a:extLst>
          </p:cNvPr>
          <p:cNvCxnSpPr/>
          <p:nvPr/>
        </p:nvCxnSpPr>
        <p:spPr>
          <a:xfrm>
            <a:off x="1353038" y="5467358"/>
            <a:ext cx="46404" cy="6732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4A82D65E-DFCB-550A-2E02-330198769555}"/>
              </a:ext>
            </a:extLst>
          </p:cNvPr>
          <p:cNvCxnSpPr/>
          <p:nvPr/>
        </p:nvCxnSpPr>
        <p:spPr>
          <a:xfrm>
            <a:off x="1399442" y="5534684"/>
            <a:ext cx="46404" cy="6500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2C430A17-F598-E3D8-2270-B8B4A2E87E58}"/>
              </a:ext>
            </a:extLst>
          </p:cNvPr>
          <p:cNvCxnSpPr/>
          <p:nvPr/>
        </p:nvCxnSpPr>
        <p:spPr>
          <a:xfrm>
            <a:off x="1445846" y="5599692"/>
            <a:ext cx="46404" cy="6174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0A5AC6F2-1494-CF74-7783-C07927A80DA7}"/>
              </a:ext>
            </a:extLst>
          </p:cNvPr>
          <p:cNvCxnSpPr/>
          <p:nvPr/>
        </p:nvCxnSpPr>
        <p:spPr>
          <a:xfrm>
            <a:off x="1492250" y="5661433"/>
            <a:ext cx="46404" cy="5757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942A758-37F1-6DB5-AD1E-594F1FAC66D2}"/>
              </a:ext>
            </a:extLst>
          </p:cNvPr>
          <p:cNvCxnSpPr/>
          <p:nvPr/>
        </p:nvCxnSpPr>
        <p:spPr>
          <a:xfrm>
            <a:off x="1538654" y="5719007"/>
            <a:ext cx="46404" cy="525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C80ADE9D-2E18-D1B2-6944-ABF8B2863706}"/>
              </a:ext>
            </a:extLst>
          </p:cNvPr>
          <p:cNvCxnSpPr/>
          <p:nvPr/>
        </p:nvCxnSpPr>
        <p:spPr>
          <a:xfrm>
            <a:off x="1585058" y="5771575"/>
            <a:ext cx="46403" cy="467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CD02DDA1-E2EA-6F25-13C6-A3C924822911}"/>
              </a:ext>
            </a:extLst>
          </p:cNvPr>
          <p:cNvCxnSpPr/>
          <p:nvPr/>
        </p:nvCxnSpPr>
        <p:spPr>
          <a:xfrm>
            <a:off x="1631461" y="5818370"/>
            <a:ext cx="46404" cy="4033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4D63CB31-8C79-34FE-5732-132F6358BA08}"/>
              </a:ext>
            </a:extLst>
          </p:cNvPr>
          <p:cNvCxnSpPr/>
          <p:nvPr/>
        </p:nvCxnSpPr>
        <p:spPr>
          <a:xfrm>
            <a:off x="1677865" y="5858709"/>
            <a:ext cx="46404" cy="332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68F36DEB-A450-5C93-8EA0-A3EE36A1D252}"/>
              </a:ext>
            </a:extLst>
          </p:cNvPr>
          <p:cNvCxnSpPr/>
          <p:nvPr/>
        </p:nvCxnSpPr>
        <p:spPr>
          <a:xfrm>
            <a:off x="1724269" y="5892005"/>
            <a:ext cx="46404" cy="2576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14B21DA5-D22E-0C8D-F7CC-F597C79B9F2A}"/>
              </a:ext>
            </a:extLst>
          </p:cNvPr>
          <p:cNvCxnSpPr/>
          <p:nvPr/>
        </p:nvCxnSpPr>
        <p:spPr>
          <a:xfrm>
            <a:off x="1770673" y="5917772"/>
            <a:ext cx="46404" cy="178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6F15E08-8050-C188-37FC-EED9014082E8}"/>
              </a:ext>
            </a:extLst>
          </p:cNvPr>
          <p:cNvCxnSpPr/>
          <p:nvPr/>
        </p:nvCxnSpPr>
        <p:spPr>
          <a:xfrm>
            <a:off x="1817077" y="5935633"/>
            <a:ext cx="46404" cy="969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923CF4CC-8AF9-17BB-289E-E26B84712992}"/>
              </a:ext>
            </a:extLst>
          </p:cNvPr>
          <p:cNvCxnSpPr/>
          <p:nvPr/>
        </p:nvCxnSpPr>
        <p:spPr>
          <a:xfrm>
            <a:off x="1863481" y="5945330"/>
            <a:ext cx="46404" cy="138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D97477D5-5AA7-07BC-541C-39A238C63F20}"/>
              </a:ext>
            </a:extLst>
          </p:cNvPr>
          <p:cNvCxnSpPr/>
          <p:nvPr/>
        </p:nvCxnSpPr>
        <p:spPr>
          <a:xfrm flipV="1">
            <a:off x="1909885" y="5939782"/>
            <a:ext cx="46404" cy="693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F049193B-EEF4-5425-C468-2512B2A21942}"/>
              </a:ext>
            </a:extLst>
          </p:cNvPr>
          <p:cNvCxnSpPr/>
          <p:nvPr/>
        </p:nvCxnSpPr>
        <p:spPr>
          <a:xfrm flipV="1">
            <a:off x="1956289" y="5924619"/>
            <a:ext cx="46403" cy="151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AA3F4A4A-1121-38CF-916C-891ED2B1DEF9}"/>
              </a:ext>
            </a:extLst>
          </p:cNvPr>
          <p:cNvCxnSpPr/>
          <p:nvPr/>
        </p:nvCxnSpPr>
        <p:spPr>
          <a:xfrm flipV="1">
            <a:off x="2002692" y="5901451"/>
            <a:ext cx="46404" cy="231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40CCA074-B0D9-CDDA-16D2-549CD71D5055}"/>
              </a:ext>
            </a:extLst>
          </p:cNvPr>
          <p:cNvCxnSpPr/>
          <p:nvPr/>
        </p:nvCxnSpPr>
        <p:spPr>
          <a:xfrm flipV="1">
            <a:off x="2049096" y="5870616"/>
            <a:ext cx="46404" cy="3083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861AABD7-A5EC-A629-8402-5D25C3EEB539}"/>
              </a:ext>
            </a:extLst>
          </p:cNvPr>
          <p:cNvCxnSpPr/>
          <p:nvPr/>
        </p:nvCxnSpPr>
        <p:spPr>
          <a:xfrm flipV="1">
            <a:off x="2095500" y="5832564"/>
            <a:ext cx="46404" cy="3805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F38D4908-6D6B-0AFD-D5E7-57F1BA386B39}"/>
              </a:ext>
            </a:extLst>
          </p:cNvPr>
          <p:cNvCxnSpPr/>
          <p:nvPr/>
        </p:nvCxnSpPr>
        <p:spPr>
          <a:xfrm flipV="1">
            <a:off x="2141904" y="5787850"/>
            <a:ext cx="46404" cy="4471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3502D768-DD0D-B343-7C7B-6391D32B39AF}"/>
              </a:ext>
            </a:extLst>
          </p:cNvPr>
          <p:cNvCxnSpPr/>
          <p:nvPr/>
        </p:nvCxnSpPr>
        <p:spPr>
          <a:xfrm flipV="1">
            <a:off x="2188308" y="5737126"/>
            <a:ext cx="46403" cy="5072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F3C594AF-613F-57C9-781A-4282EEEFF21B}"/>
              </a:ext>
            </a:extLst>
          </p:cNvPr>
          <p:cNvCxnSpPr/>
          <p:nvPr/>
        </p:nvCxnSpPr>
        <p:spPr>
          <a:xfrm flipV="1">
            <a:off x="2234711" y="5681130"/>
            <a:ext cx="46404" cy="559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416FD500-0B6F-972E-595A-12D0F69B722C}"/>
              </a:ext>
            </a:extLst>
          </p:cNvPr>
          <p:cNvCxnSpPr/>
          <p:nvPr/>
        </p:nvCxnSpPr>
        <p:spPr>
          <a:xfrm flipV="1">
            <a:off x="2281115" y="5620681"/>
            <a:ext cx="46404" cy="6044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47B3547C-0731-F3B4-A785-DB4D73E065D7}"/>
              </a:ext>
            </a:extLst>
          </p:cNvPr>
          <p:cNvCxnSpPr/>
          <p:nvPr/>
        </p:nvCxnSpPr>
        <p:spPr>
          <a:xfrm flipV="1">
            <a:off x="2327519" y="5556659"/>
            <a:ext cx="46404" cy="6402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2D7030E1-ABE5-989A-D340-8391E8651C0F}"/>
              </a:ext>
            </a:extLst>
          </p:cNvPr>
          <p:cNvCxnSpPr/>
          <p:nvPr/>
        </p:nvCxnSpPr>
        <p:spPr>
          <a:xfrm flipV="1">
            <a:off x="2373923" y="5489998"/>
            <a:ext cx="46404" cy="666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F66BFEEE-CAF9-8B88-2386-D4B74F67C0FA}"/>
              </a:ext>
            </a:extLst>
          </p:cNvPr>
          <p:cNvCxnSpPr/>
          <p:nvPr/>
        </p:nvCxnSpPr>
        <p:spPr>
          <a:xfrm flipV="1">
            <a:off x="2420327" y="5421670"/>
            <a:ext cx="46404" cy="6832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D77EEF65-4695-1BAF-FE12-48336DCCF46D}"/>
              </a:ext>
            </a:extLst>
          </p:cNvPr>
          <p:cNvCxnSpPr/>
          <p:nvPr/>
        </p:nvCxnSpPr>
        <p:spPr>
          <a:xfrm flipV="1">
            <a:off x="2466731" y="5352671"/>
            <a:ext cx="46404" cy="6899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12404EAB-5628-BCFC-5833-B986D7849404}"/>
              </a:ext>
            </a:extLst>
          </p:cNvPr>
          <p:cNvCxnSpPr/>
          <p:nvPr/>
        </p:nvCxnSpPr>
        <p:spPr>
          <a:xfrm flipV="1">
            <a:off x="2513135" y="5284008"/>
            <a:ext cx="46404" cy="686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1651AB96-FDE2-88D0-84B2-5C3B00923DEB}"/>
              </a:ext>
            </a:extLst>
          </p:cNvPr>
          <p:cNvCxnSpPr/>
          <p:nvPr/>
        </p:nvCxnSpPr>
        <p:spPr>
          <a:xfrm flipV="1">
            <a:off x="2559539" y="5216682"/>
            <a:ext cx="46403" cy="6732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A7AEEFF5-69E3-8CF4-7AC1-339603368D0C}"/>
              </a:ext>
            </a:extLst>
          </p:cNvPr>
          <p:cNvCxnSpPr/>
          <p:nvPr/>
        </p:nvCxnSpPr>
        <p:spPr>
          <a:xfrm flipV="1">
            <a:off x="2605942" y="5151674"/>
            <a:ext cx="46404" cy="6500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E12E65CE-6928-5751-B637-AE0F804C2DD9}"/>
              </a:ext>
            </a:extLst>
          </p:cNvPr>
          <p:cNvCxnSpPr/>
          <p:nvPr/>
        </p:nvCxnSpPr>
        <p:spPr>
          <a:xfrm flipV="1">
            <a:off x="2652346" y="5089933"/>
            <a:ext cx="46404" cy="6174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A84A9352-5595-22BA-0635-6157A5E6B1D7}"/>
              </a:ext>
            </a:extLst>
          </p:cNvPr>
          <p:cNvCxnSpPr/>
          <p:nvPr/>
        </p:nvCxnSpPr>
        <p:spPr>
          <a:xfrm flipV="1">
            <a:off x="2698750" y="5032359"/>
            <a:ext cx="46404" cy="5757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4EC10D38-7089-6049-AAA1-2F006ADD7F7D}"/>
              </a:ext>
            </a:extLst>
          </p:cNvPr>
          <p:cNvCxnSpPr/>
          <p:nvPr/>
        </p:nvCxnSpPr>
        <p:spPr>
          <a:xfrm flipV="1">
            <a:off x="2745154" y="4979791"/>
            <a:ext cx="46404" cy="525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4C0B1A4F-8A46-8D9C-D2AE-4E76740C72D3}"/>
              </a:ext>
            </a:extLst>
          </p:cNvPr>
          <p:cNvCxnSpPr/>
          <p:nvPr/>
        </p:nvCxnSpPr>
        <p:spPr>
          <a:xfrm flipV="1">
            <a:off x="2791558" y="4932996"/>
            <a:ext cx="46403" cy="467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50C2FAA4-02D5-9AEE-F4F0-13E986AD5DEC}"/>
              </a:ext>
            </a:extLst>
          </p:cNvPr>
          <p:cNvCxnSpPr/>
          <p:nvPr/>
        </p:nvCxnSpPr>
        <p:spPr>
          <a:xfrm flipV="1">
            <a:off x="2837961" y="4892657"/>
            <a:ext cx="46404" cy="4033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22113883-EA93-99F8-545C-50DC4531C0A1}"/>
              </a:ext>
            </a:extLst>
          </p:cNvPr>
          <p:cNvCxnSpPr/>
          <p:nvPr/>
        </p:nvCxnSpPr>
        <p:spPr>
          <a:xfrm flipV="1">
            <a:off x="2884365" y="4859361"/>
            <a:ext cx="46404" cy="332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DD6E4B9F-0990-BC48-D3A4-58FC9BFDFA8F}"/>
              </a:ext>
            </a:extLst>
          </p:cNvPr>
          <p:cNvCxnSpPr/>
          <p:nvPr/>
        </p:nvCxnSpPr>
        <p:spPr>
          <a:xfrm flipV="1">
            <a:off x="2930769" y="4833594"/>
            <a:ext cx="46404" cy="2576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6D01105F-200E-7E0A-0F8F-0A007F586BC2}"/>
              </a:ext>
            </a:extLst>
          </p:cNvPr>
          <p:cNvCxnSpPr/>
          <p:nvPr/>
        </p:nvCxnSpPr>
        <p:spPr>
          <a:xfrm flipV="1">
            <a:off x="2977173" y="4815733"/>
            <a:ext cx="46404" cy="178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5516A47F-8FA7-C831-265A-9FEF6E3715BC}"/>
              </a:ext>
            </a:extLst>
          </p:cNvPr>
          <p:cNvCxnSpPr/>
          <p:nvPr/>
        </p:nvCxnSpPr>
        <p:spPr>
          <a:xfrm flipV="1">
            <a:off x="3023577" y="4806036"/>
            <a:ext cx="46404" cy="969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0C1FCB9F-532A-4BD3-3506-1686CAC07EA6}"/>
              </a:ext>
            </a:extLst>
          </p:cNvPr>
          <p:cNvCxnSpPr/>
          <p:nvPr/>
        </p:nvCxnSpPr>
        <p:spPr>
          <a:xfrm flipV="1">
            <a:off x="3069981" y="4804647"/>
            <a:ext cx="46404" cy="138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6AFC75C4-EE4C-6155-05DD-D304434F50DE}"/>
              </a:ext>
            </a:extLst>
          </p:cNvPr>
          <p:cNvCxnSpPr/>
          <p:nvPr/>
        </p:nvCxnSpPr>
        <p:spPr>
          <a:xfrm>
            <a:off x="3116385" y="4804647"/>
            <a:ext cx="46404" cy="693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C4CFFB9-7215-8BAA-150E-2C18FE06B001}"/>
              </a:ext>
            </a:extLst>
          </p:cNvPr>
          <p:cNvCxnSpPr/>
          <p:nvPr/>
        </p:nvCxnSpPr>
        <p:spPr>
          <a:xfrm>
            <a:off x="3162789" y="4811584"/>
            <a:ext cx="46403" cy="151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110AAF82-4658-AF8B-51AB-32EA8560A719}"/>
              </a:ext>
            </a:extLst>
          </p:cNvPr>
          <p:cNvCxnSpPr/>
          <p:nvPr/>
        </p:nvCxnSpPr>
        <p:spPr>
          <a:xfrm>
            <a:off x="3209192" y="4826747"/>
            <a:ext cx="46404" cy="231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D8350D22-C95E-D2F5-ED18-C670B211257D}"/>
              </a:ext>
            </a:extLst>
          </p:cNvPr>
          <p:cNvCxnSpPr/>
          <p:nvPr/>
        </p:nvCxnSpPr>
        <p:spPr>
          <a:xfrm>
            <a:off x="3255596" y="4849915"/>
            <a:ext cx="46404" cy="3083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sp>
        <p:nvSpPr>
          <p:cNvPr id="176" name="文本框 175">
            <a:extLst>
              <a:ext uri="{FF2B5EF4-FFF2-40B4-BE49-F238E27FC236}">
                <a16:creationId xmlns:a16="http://schemas.microsoft.com/office/drawing/2014/main" id="{7AA5B51E-5FCE-226B-9D08-31074060F356}"/>
              </a:ext>
            </a:extLst>
          </p:cNvPr>
          <p:cNvSpPr txBox="1"/>
          <p:nvPr/>
        </p:nvSpPr>
        <p:spPr>
          <a:xfrm>
            <a:off x="965200" y="6305844"/>
            <a:ext cx="381000" cy="194925"/>
          </a:xfrm>
          <a:prstGeom prst="rect">
            <a:avLst/>
          </a:prstGeom>
          <a:noFill/>
        </p:spPr>
        <p:txBody>
          <a:bodyPr vert="horz" wrap="square" lIns="50800" tIns="12700" rIns="50800" bIns="12700" rtlCol="0" anchor="ctr">
            <a:spAutoFit/>
          </a:bodyPr>
          <a:lstStyle/>
          <a:p>
            <a:r>
              <a:rPr lang="en-US" altLang="zh-CN" sz="1100" b="1">
                <a:solidFill>
                  <a:srgbClr val="004F8A"/>
                </a:solidFill>
                <a:latin typeface="Microsoft YaHei" panose="020B0503020204020204" pitchFamily="34" charset="-122"/>
                <a:ea typeface="Microsoft YaHei" panose="020B0503020204020204" pitchFamily="34" charset="-122"/>
              </a:rPr>
              <a:t>ia</a:t>
            </a:r>
            <a:endParaRPr lang="zh-CN" altLang="en-US" sz="1100" b="1">
              <a:solidFill>
                <a:srgbClr val="004F8A"/>
              </a:solidFill>
              <a:latin typeface="Microsoft YaHei" panose="020B0503020204020204" pitchFamily="34" charset="-122"/>
              <a:ea typeface="Microsoft YaHei" panose="020B0503020204020204" pitchFamily="34" charset="-122"/>
            </a:endParaRPr>
          </a:p>
        </p:txBody>
      </p:sp>
      <p:sp>
        <p:nvSpPr>
          <p:cNvPr id="177" name="文本框 176">
            <a:extLst>
              <a:ext uri="{FF2B5EF4-FFF2-40B4-BE49-F238E27FC236}">
                <a16:creationId xmlns:a16="http://schemas.microsoft.com/office/drawing/2014/main" id="{D1248776-D4A2-F07A-7409-CFCF0C336D48}"/>
              </a:ext>
            </a:extLst>
          </p:cNvPr>
          <p:cNvSpPr txBox="1"/>
          <p:nvPr/>
        </p:nvSpPr>
        <p:spPr>
          <a:xfrm>
            <a:off x="1409700" y="6305844"/>
            <a:ext cx="3810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ib</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sp>
        <p:nvSpPr>
          <p:cNvPr id="178" name="文本框 177">
            <a:extLst>
              <a:ext uri="{FF2B5EF4-FFF2-40B4-BE49-F238E27FC236}">
                <a16:creationId xmlns:a16="http://schemas.microsoft.com/office/drawing/2014/main" id="{17B2DA4A-FCEC-C3C4-5ADE-7503A82027ED}"/>
              </a:ext>
            </a:extLst>
          </p:cNvPr>
          <p:cNvSpPr txBox="1"/>
          <p:nvPr/>
        </p:nvSpPr>
        <p:spPr>
          <a:xfrm>
            <a:off x="1854200" y="6305844"/>
            <a:ext cx="381000" cy="194925"/>
          </a:xfrm>
          <a:prstGeom prst="rect">
            <a:avLst/>
          </a:prstGeom>
          <a:noFill/>
        </p:spPr>
        <p:txBody>
          <a:bodyPr vert="horz" wrap="square" lIns="50800" tIns="12700" rIns="50800" bIns="12700" rtlCol="0" anchor="ctr">
            <a:spAutoFit/>
          </a:bodyPr>
          <a:lstStyle/>
          <a:p>
            <a:r>
              <a:rPr lang="en-US" altLang="zh-CN" sz="1100" b="1" dirty="0" err="1">
                <a:solidFill>
                  <a:srgbClr val="66717C"/>
                </a:solidFill>
                <a:latin typeface="Microsoft YaHei" panose="020B0503020204020204" pitchFamily="34" charset="-122"/>
                <a:ea typeface="Microsoft YaHei" panose="020B0503020204020204" pitchFamily="34" charset="-122"/>
              </a:rPr>
              <a:t>ic</a:t>
            </a:r>
            <a:endParaRPr lang="zh-CN" altLang="en-US" sz="1100" b="1" dirty="0">
              <a:solidFill>
                <a:srgbClr val="66717C"/>
              </a:solidFill>
              <a:latin typeface="Microsoft YaHei" panose="020B0503020204020204" pitchFamily="34" charset="-122"/>
              <a:ea typeface="Microsoft YaHei" panose="020B0503020204020204" pitchFamily="34" charset="-122"/>
            </a:endParaRPr>
          </a:p>
        </p:txBody>
      </p:sp>
      <p:sp>
        <p:nvSpPr>
          <p:cNvPr id="182" name="文本框 181">
            <a:extLst>
              <a:ext uri="{FF2B5EF4-FFF2-40B4-BE49-F238E27FC236}">
                <a16:creationId xmlns:a16="http://schemas.microsoft.com/office/drawing/2014/main" id="{989D681B-EE14-79AD-219A-46338B1705DC}"/>
              </a:ext>
            </a:extLst>
          </p:cNvPr>
          <p:cNvSpPr txBox="1"/>
          <p:nvPr/>
        </p:nvSpPr>
        <p:spPr>
          <a:xfrm>
            <a:off x="4559300" y="3714672"/>
            <a:ext cx="2794000" cy="271869"/>
          </a:xfrm>
          <a:prstGeom prst="rect">
            <a:avLst/>
          </a:prstGeom>
          <a:noFill/>
        </p:spPr>
        <p:txBody>
          <a:bodyPr vert="horz" wrap="square" lIns="50800" tIns="12700" rIns="50800" bIns="12700" rtlCol="0" anchor="ctr">
            <a:spAutoFit/>
          </a:bodyPr>
          <a:lstStyle/>
          <a:p>
            <a:r>
              <a:rPr lang="el-GR" altLang="zh-CN" sz="1600" b="1">
                <a:solidFill>
                  <a:srgbClr val="004F8A"/>
                </a:solidFill>
                <a:latin typeface="Microsoft YaHei" panose="020B0503020204020204" pitchFamily="34" charset="-122"/>
                <a:ea typeface="Microsoft YaHei" panose="020B0503020204020204" pitchFamily="34" charset="-122"/>
              </a:rPr>
              <a:t>2  αβ </a:t>
            </a:r>
            <a:r>
              <a:rPr lang="zh-CN" altLang="en-US" sz="1600" b="1">
                <a:solidFill>
                  <a:srgbClr val="004F8A"/>
                </a:solidFill>
                <a:latin typeface="Microsoft YaHei" panose="020B0503020204020204" pitchFamily="34" charset="-122"/>
                <a:ea typeface="Microsoft YaHei" panose="020B0503020204020204" pitchFamily="34" charset="-122"/>
              </a:rPr>
              <a:t>静止坐标系</a:t>
            </a:r>
          </a:p>
        </p:txBody>
      </p:sp>
      <p:sp>
        <p:nvSpPr>
          <p:cNvPr id="183" name="文本框 182">
            <a:extLst>
              <a:ext uri="{FF2B5EF4-FFF2-40B4-BE49-F238E27FC236}">
                <a16:creationId xmlns:a16="http://schemas.microsoft.com/office/drawing/2014/main" id="{06FF6775-1F10-F3A9-9114-92B07F89803D}"/>
              </a:ext>
            </a:extLst>
          </p:cNvPr>
          <p:cNvSpPr txBox="1"/>
          <p:nvPr/>
        </p:nvSpPr>
        <p:spPr>
          <a:xfrm>
            <a:off x="4559300" y="4268010"/>
            <a:ext cx="2794000" cy="379591"/>
          </a:xfrm>
          <a:prstGeom prst="rect">
            <a:avLst/>
          </a:prstGeom>
          <a:noFill/>
        </p:spPr>
        <p:txBody>
          <a:bodyPr vert="horz" wrap="square" lIns="50800" tIns="12700" rIns="50800" bIns="12700" rtlCol="0" anchor="ctr">
            <a:spAutoFit/>
          </a:bodyPr>
          <a:lstStyle/>
          <a:p>
            <a:r>
              <a:rPr lang="en-US" altLang="zh-CN" sz="1150" dirty="0">
                <a:solidFill>
                  <a:srgbClr val="66717C"/>
                </a:solidFill>
                <a:latin typeface="Microsoft YaHei" panose="020B0503020204020204" pitchFamily="34" charset="-122"/>
                <a:ea typeface="Microsoft YaHei" panose="020B0503020204020204" pitchFamily="34" charset="-122"/>
              </a:rPr>
              <a:t>Clarke</a:t>
            </a:r>
            <a:r>
              <a:rPr lang="zh-CN" altLang="en-US" sz="1150" dirty="0">
                <a:solidFill>
                  <a:srgbClr val="66717C"/>
                </a:solidFill>
                <a:latin typeface="Microsoft YaHei" panose="020B0503020204020204" pitchFamily="34" charset="-122"/>
                <a:ea typeface="Microsoft YaHei" panose="020B0503020204020204" pitchFamily="34" charset="-122"/>
              </a:rPr>
              <a:t>：</a:t>
            </a:r>
            <a:r>
              <a:rPr lang="en-US" altLang="zh-CN" sz="1150" dirty="0" err="1">
                <a:solidFill>
                  <a:srgbClr val="66717C"/>
                </a:solidFill>
                <a:latin typeface="Microsoft YaHei" panose="020B0503020204020204" pitchFamily="34" charset="-122"/>
                <a:ea typeface="Microsoft YaHei" panose="020B0503020204020204" pitchFamily="34" charset="-122"/>
              </a:rPr>
              <a:t>abc</a:t>
            </a:r>
            <a:r>
              <a:rPr lang="en-US" altLang="zh-CN" sz="1150" dirty="0">
                <a:solidFill>
                  <a:srgbClr val="66717C"/>
                </a:solidFill>
                <a:latin typeface="Microsoft YaHei" panose="020B0503020204020204" pitchFamily="34" charset="-122"/>
                <a:ea typeface="Microsoft YaHei" panose="020B0503020204020204" pitchFamily="34" charset="-122"/>
              </a:rPr>
              <a:t> → </a:t>
            </a:r>
            <a:r>
              <a:rPr lang="el-GR" altLang="zh-CN" sz="1150" dirty="0">
                <a:solidFill>
                  <a:srgbClr val="66717C"/>
                </a:solidFill>
                <a:latin typeface="Microsoft YaHei" panose="020B0503020204020204" pitchFamily="34" charset="-122"/>
                <a:ea typeface="Microsoft YaHei" panose="020B0503020204020204" pitchFamily="34" charset="-122"/>
              </a:rPr>
              <a:t>αβ</a:t>
            </a:r>
            <a:r>
              <a:rPr lang="zh-CN" altLang="el-GR" sz="1150" dirty="0">
                <a:solidFill>
                  <a:srgbClr val="66717C"/>
                </a:solidFill>
                <a:latin typeface="Microsoft YaHei" panose="020B0503020204020204" pitchFamily="34" charset="-122"/>
                <a:ea typeface="Microsoft YaHei" panose="020B0503020204020204" pitchFamily="34" charset="-122"/>
              </a:rPr>
              <a:t>，</a:t>
            </a:r>
            <a:r>
              <a:rPr lang="zh-CN" altLang="en-US" sz="1150" dirty="0">
                <a:solidFill>
                  <a:srgbClr val="66717C"/>
                </a:solidFill>
                <a:latin typeface="Microsoft YaHei" panose="020B0503020204020204" pitchFamily="34" charset="-122"/>
                <a:ea typeface="Microsoft YaHei" panose="020B0503020204020204" pitchFamily="34" charset="-122"/>
              </a:rPr>
              <a:t>把三相压缩成一个平面电流矢量 </a:t>
            </a:r>
            <a:r>
              <a:rPr lang="en-US" altLang="zh-CN" sz="1150" dirty="0">
                <a:solidFill>
                  <a:srgbClr val="66717C"/>
                </a:solidFill>
                <a:latin typeface="Microsoft YaHei" panose="020B0503020204020204" pitchFamily="34" charset="-122"/>
                <a:ea typeface="Microsoft YaHei" panose="020B0503020204020204" pitchFamily="34" charset="-122"/>
              </a:rPr>
              <a:t>is</a:t>
            </a:r>
            <a:endParaRPr lang="zh-CN" altLang="en-US" sz="1150" dirty="0">
              <a:solidFill>
                <a:srgbClr val="66717C"/>
              </a:solidFill>
              <a:latin typeface="Microsoft YaHei" panose="020B0503020204020204" pitchFamily="34" charset="-122"/>
              <a:ea typeface="Microsoft YaHei" panose="020B0503020204020204" pitchFamily="34" charset="-122"/>
            </a:endParaRPr>
          </a:p>
        </p:txBody>
      </p:sp>
      <p:cxnSp>
        <p:nvCxnSpPr>
          <p:cNvPr id="184" name="直接连接符 183">
            <a:extLst>
              <a:ext uri="{FF2B5EF4-FFF2-40B4-BE49-F238E27FC236}">
                <a16:creationId xmlns:a16="http://schemas.microsoft.com/office/drawing/2014/main" id="{EE808A08-CAC4-9DDA-17B2-DC92D0E64A90}"/>
              </a:ext>
            </a:extLst>
          </p:cNvPr>
          <p:cNvCxnSpPr/>
          <p:nvPr/>
        </p:nvCxnSpPr>
        <p:spPr>
          <a:xfrm>
            <a:off x="5969000" y="5680483"/>
            <a:ext cx="990600" cy="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D018F9B6-D4D0-C4C7-EC64-BD7F52C776A8}"/>
              </a:ext>
            </a:extLst>
          </p:cNvPr>
          <p:cNvCxnSpPr/>
          <p:nvPr/>
        </p:nvCxnSpPr>
        <p:spPr>
          <a:xfrm flipV="1">
            <a:off x="5969000" y="4689883"/>
            <a:ext cx="0" cy="99060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sp>
        <p:nvSpPr>
          <p:cNvPr id="186" name="文本框 185">
            <a:extLst>
              <a:ext uri="{FF2B5EF4-FFF2-40B4-BE49-F238E27FC236}">
                <a16:creationId xmlns:a16="http://schemas.microsoft.com/office/drawing/2014/main" id="{536ACE37-3485-5438-1DFA-FE3596CAC581}"/>
              </a:ext>
            </a:extLst>
          </p:cNvPr>
          <p:cNvSpPr txBox="1"/>
          <p:nvPr/>
        </p:nvSpPr>
        <p:spPr>
          <a:xfrm>
            <a:off x="6858000" y="5536149"/>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66717C"/>
                </a:solidFill>
                <a:latin typeface="Microsoft YaHei" panose="020B0503020204020204" pitchFamily="34" charset="-122"/>
                <a:ea typeface="Microsoft YaHei" panose="020B0503020204020204" pitchFamily="34" charset="-122"/>
              </a:rPr>
              <a:t>α</a:t>
            </a:r>
            <a:endParaRPr lang="zh-CN" altLang="en-US" sz="1200" b="1">
              <a:solidFill>
                <a:srgbClr val="66717C"/>
              </a:solidFill>
              <a:latin typeface="Microsoft YaHei" panose="020B0503020204020204" pitchFamily="34" charset="-122"/>
              <a:ea typeface="Microsoft YaHei" panose="020B0503020204020204" pitchFamily="34" charset="-122"/>
            </a:endParaRPr>
          </a:p>
        </p:txBody>
      </p:sp>
      <p:sp>
        <p:nvSpPr>
          <p:cNvPr id="187" name="文本框 186">
            <a:extLst>
              <a:ext uri="{FF2B5EF4-FFF2-40B4-BE49-F238E27FC236}">
                <a16:creationId xmlns:a16="http://schemas.microsoft.com/office/drawing/2014/main" id="{49032D66-991B-2469-48C7-944B699981A8}"/>
              </a:ext>
            </a:extLst>
          </p:cNvPr>
          <p:cNvSpPr txBox="1"/>
          <p:nvPr/>
        </p:nvSpPr>
        <p:spPr>
          <a:xfrm>
            <a:off x="5867400" y="4545549"/>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66717C"/>
                </a:solidFill>
                <a:latin typeface="Microsoft YaHei" panose="020B0503020204020204" pitchFamily="34" charset="-122"/>
                <a:ea typeface="Microsoft YaHei" panose="020B0503020204020204" pitchFamily="34" charset="-122"/>
              </a:rPr>
              <a:t>β</a:t>
            </a:r>
            <a:endParaRPr lang="zh-CN" altLang="en-US" sz="1200" b="1">
              <a:solidFill>
                <a:srgbClr val="66717C"/>
              </a:solidFill>
              <a:latin typeface="Microsoft YaHei" panose="020B0503020204020204" pitchFamily="34" charset="-122"/>
              <a:ea typeface="Microsoft YaHei" panose="020B0503020204020204" pitchFamily="34" charset="-122"/>
            </a:endParaRPr>
          </a:p>
        </p:txBody>
      </p:sp>
      <p:cxnSp>
        <p:nvCxnSpPr>
          <p:cNvPr id="188" name="直接连接符 187">
            <a:extLst>
              <a:ext uri="{FF2B5EF4-FFF2-40B4-BE49-F238E27FC236}">
                <a16:creationId xmlns:a16="http://schemas.microsoft.com/office/drawing/2014/main" id="{352931E2-1DC8-5DAA-F524-2C6DEF8522AA}"/>
              </a:ext>
            </a:extLst>
          </p:cNvPr>
          <p:cNvCxnSpPr/>
          <p:nvPr/>
        </p:nvCxnSpPr>
        <p:spPr>
          <a:xfrm flipV="1">
            <a:off x="5969000" y="5133160"/>
            <a:ext cx="700542" cy="547323"/>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189" name="文本框 188">
            <a:extLst>
              <a:ext uri="{FF2B5EF4-FFF2-40B4-BE49-F238E27FC236}">
                <a16:creationId xmlns:a16="http://schemas.microsoft.com/office/drawing/2014/main" id="{648CF07F-67A8-30AB-E9A8-6E4CBBF1A731}"/>
              </a:ext>
            </a:extLst>
          </p:cNvPr>
          <p:cNvSpPr txBox="1"/>
          <p:nvPr/>
        </p:nvSpPr>
        <p:spPr>
          <a:xfrm>
            <a:off x="6517142" y="4907621"/>
            <a:ext cx="6096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is</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cxnSp>
        <p:nvCxnSpPr>
          <p:cNvPr id="190" name="直接连接符 189">
            <a:extLst>
              <a:ext uri="{FF2B5EF4-FFF2-40B4-BE49-F238E27FC236}">
                <a16:creationId xmlns:a16="http://schemas.microsoft.com/office/drawing/2014/main" id="{386D1F0A-3553-1E70-C4DF-79F815DF3844}"/>
              </a:ext>
            </a:extLst>
          </p:cNvPr>
          <p:cNvCxnSpPr/>
          <p:nvPr/>
        </p:nvCxnSpPr>
        <p:spPr>
          <a:xfrm>
            <a:off x="6669542" y="5133160"/>
            <a:ext cx="0" cy="547323"/>
          </a:xfrm>
          <a:prstGeom prst="line">
            <a:avLst/>
          </a:prstGeom>
          <a:ln w="12700">
            <a:solidFill>
              <a:srgbClr val="B0B9C1"/>
            </a:solidFill>
            <a:prstDash val="dash"/>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B57EF9D0-7DCA-97D0-B07B-D393B6C4E9D4}"/>
              </a:ext>
            </a:extLst>
          </p:cNvPr>
          <p:cNvCxnSpPr/>
          <p:nvPr/>
        </p:nvCxnSpPr>
        <p:spPr>
          <a:xfrm flipH="1">
            <a:off x="5969000" y="5133160"/>
            <a:ext cx="700542" cy="0"/>
          </a:xfrm>
          <a:prstGeom prst="line">
            <a:avLst/>
          </a:prstGeom>
          <a:ln w="12700">
            <a:solidFill>
              <a:srgbClr val="B0B9C1"/>
            </a:solidFill>
            <a:prstDash val="dash"/>
          </a:ln>
        </p:spPr>
        <p:style>
          <a:lnRef idx="1">
            <a:schemeClr val="accent1"/>
          </a:lnRef>
          <a:fillRef idx="0">
            <a:schemeClr val="accent1"/>
          </a:fillRef>
          <a:effectRef idx="0">
            <a:schemeClr val="accent1"/>
          </a:effectRef>
          <a:fontRef idx="minor">
            <a:schemeClr val="tx1"/>
          </a:fontRef>
        </p:style>
      </p:cxnSp>
      <p:sp>
        <p:nvSpPr>
          <p:cNvPr id="192" name="文本框 191">
            <a:extLst>
              <a:ext uri="{FF2B5EF4-FFF2-40B4-BE49-F238E27FC236}">
                <a16:creationId xmlns:a16="http://schemas.microsoft.com/office/drawing/2014/main" id="{1C0D1FC1-08E3-CB92-62FE-6055925C036F}"/>
              </a:ext>
            </a:extLst>
          </p:cNvPr>
          <p:cNvSpPr txBox="1"/>
          <p:nvPr/>
        </p:nvSpPr>
        <p:spPr>
          <a:xfrm>
            <a:off x="6567942" y="5776291"/>
            <a:ext cx="431800" cy="187231"/>
          </a:xfrm>
          <a:prstGeom prst="rect">
            <a:avLst/>
          </a:prstGeom>
          <a:noFill/>
        </p:spPr>
        <p:txBody>
          <a:bodyPr vert="horz" wrap="square" lIns="50800" tIns="12700" rIns="50800" bIns="12700" rtlCol="0" anchor="ctr">
            <a:spAutoFit/>
          </a:bodyPr>
          <a:lstStyle/>
          <a:p>
            <a:pPr algn="ctr"/>
            <a:r>
              <a:rPr lang="en-US" altLang="zh-CN" sz="1050">
                <a:solidFill>
                  <a:srgbClr val="66717C"/>
                </a:solidFill>
                <a:latin typeface="Microsoft YaHei" panose="020B0503020204020204" pitchFamily="34" charset="-122"/>
                <a:ea typeface="Microsoft YaHei" panose="020B0503020204020204" pitchFamily="34" charset="-122"/>
              </a:rPr>
              <a:t>i</a:t>
            </a:r>
            <a:r>
              <a:rPr lang="el-GR" altLang="zh-CN" sz="1050">
                <a:solidFill>
                  <a:srgbClr val="66717C"/>
                </a:solidFill>
                <a:latin typeface="Microsoft YaHei" panose="020B0503020204020204" pitchFamily="34" charset="-122"/>
                <a:ea typeface="Microsoft YaHei" panose="020B0503020204020204" pitchFamily="34" charset="-122"/>
              </a:rPr>
              <a:t>α</a:t>
            </a:r>
            <a:endParaRPr lang="zh-CN" altLang="en-US" sz="1050">
              <a:solidFill>
                <a:srgbClr val="66717C"/>
              </a:solidFill>
              <a:latin typeface="Microsoft YaHei" panose="020B0503020204020204" pitchFamily="34" charset="-122"/>
              <a:ea typeface="Microsoft YaHei" panose="020B0503020204020204" pitchFamily="34" charset="-122"/>
            </a:endParaRPr>
          </a:p>
        </p:txBody>
      </p:sp>
      <p:sp>
        <p:nvSpPr>
          <p:cNvPr id="193" name="文本框 192">
            <a:extLst>
              <a:ext uri="{FF2B5EF4-FFF2-40B4-BE49-F238E27FC236}">
                <a16:creationId xmlns:a16="http://schemas.microsoft.com/office/drawing/2014/main" id="{807EB249-26A1-1D9F-5E6D-12EC53452ECE}"/>
              </a:ext>
            </a:extLst>
          </p:cNvPr>
          <p:cNvSpPr txBox="1"/>
          <p:nvPr/>
        </p:nvSpPr>
        <p:spPr>
          <a:xfrm>
            <a:off x="5524500" y="5076568"/>
            <a:ext cx="431800" cy="187231"/>
          </a:xfrm>
          <a:prstGeom prst="rect">
            <a:avLst/>
          </a:prstGeom>
          <a:noFill/>
        </p:spPr>
        <p:txBody>
          <a:bodyPr vert="horz" wrap="square" lIns="50800" tIns="12700" rIns="50800" bIns="12700" rtlCol="0" anchor="ctr">
            <a:spAutoFit/>
          </a:bodyPr>
          <a:lstStyle/>
          <a:p>
            <a:pPr algn="ctr"/>
            <a:r>
              <a:rPr lang="en-US" altLang="zh-CN" sz="1050">
                <a:solidFill>
                  <a:srgbClr val="66717C"/>
                </a:solidFill>
                <a:latin typeface="Microsoft YaHei" panose="020B0503020204020204" pitchFamily="34" charset="-122"/>
                <a:ea typeface="Microsoft YaHei" panose="020B0503020204020204" pitchFamily="34" charset="-122"/>
              </a:rPr>
              <a:t>i</a:t>
            </a:r>
            <a:r>
              <a:rPr lang="el-GR" altLang="zh-CN" sz="1050">
                <a:solidFill>
                  <a:srgbClr val="66717C"/>
                </a:solidFill>
                <a:latin typeface="Microsoft YaHei" panose="020B0503020204020204" pitchFamily="34" charset="-122"/>
                <a:ea typeface="Microsoft YaHei" panose="020B0503020204020204" pitchFamily="34" charset="-122"/>
              </a:rPr>
              <a:t>β</a:t>
            </a:r>
            <a:endParaRPr lang="zh-CN" altLang="en-US" sz="1050">
              <a:solidFill>
                <a:srgbClr val="66717C"/>
              </a:solidFill>
              <a:latin typeface="Microsoft YaHei" panose="020B0503020204020204" pitchFamily="34" charset="-122"/>
              <a:ea typeface="Microsoft YaHei" panose="020B0503020204020204" pitchFamily="34" charset="-122"/>
            </a:endParaRPr>
          </a:p>
        </p:txBody>
      </p:sp>
      <p:sp>
        <p:nvSpPr>
          <p:cNvPr id="197" name="文本框 196">
            <a:extLst>
              <a:ext uri="{FF2B5EF4-FFF2-40B4-BE49-F238E27FC236}">
                <a16:creationId xmlns:a16="http://schemas.microsoft.com/office/drawing/2014/main" id="{C2933D4D-EC85-C34D-A263-B9933EF28D8F}"/>
              </a:ext>
            </a:extLst>
          </p:cNvPr>
          <p:cNvSpPr txBox="1"/>
          <p:nvPr/>
        </p:nvSpPr>
        <p:spPr>
          <a:xfrm>
            <a:off x="8458200" y="3714672"/>
            <a:ext cx="2921000" cy="271869"/>
          </a:xfrm>
          <a:prstGeom prst="rect">
            <a:avLst/>
          </a:prstGeom>
          <a:noFill/>
        </p:spPr>
        <p:txBody>
          <a:bodyPr vert="horz" wrap="square" lIns="50800" tIns="12700" rIns="50800" bIns="12700" rtlCol="0" anchor="ctr">
            <a:spAutoFit/>
          </a:bodyPr>
          <a:lstStyle/>
          <a:p>
            <a:r>
              <a:rPr lang="en-US" altLang="zh-CN" sz="1600" b="1">
                <a:solidFill>
                  <a:srgbClr val="004F8A"/>
                </a:solidFill>
                <a:latin typeface="Microsoft YaHei" panose="020B0503020204020204" pitchFamily="34" charset="-122"/>
                <a:ea typeface="Microsoft YaHei" panose="020B0503020204020204" pitchFamily="34" charset="-122"/>
              </a:rPr>
              <a:t>3  dq </a:t>
            </a:r>
            <a:r>
              <a:rPr lang="zh-CN" altLang="en-US" sz="1600" b="1">
                <a:solidFill>
                  <a:srgbClr val="004F8A"/>
                </a:solidFill>
                <a:latin typeface="Microsoft YaHei" panose="020B0503020204020204" pitchFamily="34" charset="-122"/>
                <a:ea typeface="Microsoft YaHei" panose="020B0503020204020204" pitchFamily="34" charset="-122"/>
              </a:rPr>
              <a:t>旋转坐标系</a:t>
            </a:r>
          </a:p>
        </p:txBody>
      </p:sp>
      <p:sp>
        <p:nvSpPr>
          <p:cNvPr id="198" name="文本框 197">
            <a:extLst>
              <a:ext uri="{FF2B5EF4-FFF2-40B4-BE49-F238E27FC236}">
                <a16:creationId xmlns:a16="http://schemas.microsoft.com/office/drawing/2014/main" id="{7B7C51F5-9C4A-6E44-C894-43BEE0FE6814}"/>
              </a:ext>
            </a:extLst>
          </p:cNvPr>
          <p:cNvSpPr txBox="1"/>
          <p:nvPr/>
        </p:nvSpPr>
        <p:spPr>
          <a:xfrm>
            <a:off x="8458200" y="4129510"/>
            <a:ext cx="2921000" cy="379591"/>
          </a:xfrm>
          <a:prstGeom prst="rect">
            <a:avLst/>
          </a:prstGeom>
          <a:noFill/>
        </p:spPr>
        <p:txBody>
          <a:bodyPr vert="horz" wrap="square" lIns="50800" tIns="12700" rIns="50800" bIns="12700" rtlCol="0" anchor="ctr">
            <a:spAutoFit/>
          </a:bodyPr>
          <a:lstStyle/>
          <a:p>
            <a:r>
              <a:rPr lang="en-US" altLang="zh-CN" sz="1150">
                <a:solidFill>
                  <a:srgbClr val="66717C"/>
                </a:solidFill>
                <a:latin typeface="Microsoft YaHei" panose="020B0503020204020204" pitchFamily="34" charset="-122"/>
                <a:ea typeface="Microsoft YaHei" panose="020B0503020204020204" pitchFamily="34" charset="-122"/>
              </a:rPr>
              <a:t>Park</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αβ → dq</a:t>
            </a:r>
            <a:r>
              <a:rPr lang="zh-CN" altLang="en-US" sz="1150">
                <a:solidFill>
                  <a:srgbClr val="66717C"/>
                </a:solidFill>
                <a:latin typeface="Microsoft YaHei" panose="020B0503020204020204" pitchFamily="34" charset="-122"/>
                <a:ea typeface="Microsoft YaHei" panose="020B0503020204020204" pitchFamily="34" charset="-122"/>
              </a:rPr>
              <a:t>，让坐标轴以转子电角度 </a:t>
            </a:r>
            <a:r>
              <a:rPr lang="en-US" altLang="zh-CN" sz="1150">
                <a:solidFill>
                  <a:srgbClr val="66717C"/>
                </a:solidFill>
                <a:latin typeface="Microsoft YaHei" panose="020B0503020204020204" pitchFamily="34" charset="-122"/>
                <a:ea typeface="Microsoft YaHei" panose="020B0503020204020204" pitchFamily="34" charset="-122"/>
              </a:rPr>
              <a:t>θe </a:t>
            </a:r>
            <a:r>
              <a:rPr lang="zh-CN" altLang="en-US" sz="1150">
                <a:solidFill>
                  <a:srgbClr val="66717C"/>
                </a:solidFill>
                <a:latin typeface="Microsoft YaHei" panose="020B0503020204020204" pitchFamily="34" charset="-122"/>
                <a:ea typeface="Microsoft YaHei" panose="020B0503020204020204" pitchFamily="34" charset="-122"/>
              </a:rPr>
              <a:t>同步旋转</a:t>
            </a:r>
          </a:p>
        </p:txBody>
      </p:sp>
      <p:cxnSp>
        <p:nvCxnSpPr>
          <p:cNvPr id="199" name="直接连接符 198">
            <a:extLst>
              <a:ext uri="{FF2B5EF4-FFF2-40B4-BE49-F238E27FC236}">
                <a16:creationId xmlns:a16="http://schemas.microsoft.com/office/drawing/2014/main" id="{45D84F0A-803A-566D-D1E0-D0249DD5B426}"/>
              </a:ext>
            </a:extLst>
          </p:cNvPr>
          <p:cNvCxnSpPr/>
          <p:nvPr/>
        </p:nvCxnSpPr>
        <p:spPr>
          <a:xfrm>
            <a:off x="9880600" y="5680483"/>
            <a:ext cx="965200" cy="0"/>
          </a:xfrm>
          <a:prstGeom prst="line">
            <a:avLst/>
          </a:prstGeom>
          <a:ln w="20320">
            <a:solidFill>
              <a:srgbClr val="B0B9C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122DB907-29B9-1F01-9652-27D8DC88310C}"/>
              </a:ext>
            </a:extLst>
          </p:cNvPr>
          <p:cNvCxnSpPr/>
          <p:nvPr/>
        </p:nvCxnSpPr>
        <p:spPr>
          <a:xfrm flipV="1">
            <a:off x="9880600" y="4715283"/>
            <a:ext cx="0" cy="965200"/>
          </a:xfrm>
          <a:prstGeom prst="line">
            <a:avLst/>
          </a:prstGeom>
          <a:ln w="20320">
            <a:solidFill>
              <a:srgbClr val="B0B9C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1" name="文本框 200">
            <a:extLst>
              <a:ext uri="{FF2B5EF4-FFF2-40B4-BE49-F238E27FC236}">
                <a16:creationId xmlns:a16="http://schemas.microsoft.com/office/drawing/2014/main" id="{21588506-30AE-E577-EE38-94C532DCE3E5}"/>
              </a:ext>
            </a:extLst>
          </p:cNvPr>
          <p:cNvSpPr txBox="1"/>
          <p:nvPr/>
        </p:nvSpPr>
        <p:spPr>
          <a:xfrm>
            <a:off x="10744200" y="5536149"/>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B0B9C1"/>
                </a:solidFill>
                <a:latin typeface="Microsoft YaHei" panose="020B0503020204020204" pitchFamily="34" charset="-122"/>
                <a:ea typeface="Microsoft YaHei" panose="020B0503020204020204" pitchFamily="34" charset="-122"/>
              </a:rPr>
              <a:t>α</a:t>
            </a:r>
            <a:endParaRPr lang="zh-CN" altLang="en-US" sz="1200" b="1">
              <a:solidFill>
                <a:srgbClr val="B0B9C1"/>
              </a:solidFill>
              <a:latin typeface="Microsoft YaHei" panose="020B0503020204020204" pitchFamily="34" charset="-122"/>
              <a:ea typeface="Microsoft YaHei" panose="020B0503020204020204" pitchFamily="34" charset="-122"/>
            </a:endParaRPr>
          </a:p>
        </p:txBody>
      </p:sp>
      <p:sp>
        <p:nvSpPr>
          <p:cNvPr id="202" name="文本框 201">
            <a:extLst>
              <a:ext uri="{FF2B5EF4-FFF2-40B4-BE49-F238E27FC236}">
                <a16:creationId xmlns:a16="http://schemas.microsoft.com/office/drawing/2014/main" id="{D3A7C602-8C86-C394-3158-C005ECED6B41}"/>
              </a:ext>
            </a:extLst>
          </p:cNvPr>
          <p:cNvSpPr txBox="1"/>
          <p:nvPr/>
        </p:nvSpPr>
        <p:spPr>
          <a:xfrm>
            <a:off x="9779000" y="4570949"/>
            <a:ext cx="406400" cy="210314"/>
          </a:xfrm>
          <a:prstGeom prst="rect">
            <a:avLst/>
          </a:prstGeom>
          <a:noFill/>
        </p:spPr>
        <p:txBody>
          <a:bodyPr vert="horz" wrap="square" lIns="50800" tIns="12700" rIns="50800" bIns="12700" rtlCol="0" anchor="ctr">
            <a:spAutoFit/>
          </a:bodyPr>
          <a:lstStyle/>
          <a:p>
            <a:pPr algn="ctr"/>
            <a:r>
              <a:rPr lang="el-GR" altLang="zh-CN" sz="1200" b="1" dirty="0">
                <a:solidFill>
                  <a:srgbClr val="B0B9C1"/>
                </a:solidFill>
                <a:latin typeface="Microsoft YaHei" panose="020B0503020204020204" pitchFamily="34" charset="-122"/>
                <a:ea typeface="Microsoft YaHei" panose="020B0503020204020204" pitchFamily="34" charset="-122"/>
              </a:rPr>
              <a:t>β</a:t>
            </a:r>
            <a:endParaRPr lang="zh-CN" altLang="en-US" sz="1200" b="1" dirty="0">
              <a:solidFill>
                <a:srgbClr val="B0B9C1"/>
              </a:solidFill>
              <a:latin typeface="Microsoft YaHei" panose="020B0503020204020204" pitchFamily="34" charset="-122"/>
              <a:ea typeface="Microsoft YaHei" panose="020B0503020204020204" pitchFamily="34" charset="-122"/>
            </a:endParaRPr>
          </a:p>
        </p:txBody>
      </p:sp>
      <p:cxnSp>
        <p:nvCxnSpPr>
          <p:cNvPr id="203" name="直接连接符 202">
            <a:extLst>
              <a:ext uri="{FF2B5EF4-FFF2-40B4-BE49-F238E27FC236}">
                <a16:creationId xmlns:a16="http://schemas.microsoft.com/office/drawing/2014/main" id="{CA6DF7E5-6E2D-0305-C20C-EB623D94F237}"/>
              </a:ext>
            </a:extLst>
          </p:cNvPr>
          <p:cNvCxnSpPr/>
          <p:nvPr/>
        </p:nvCxnSpPr>
        <p:spPr>
          <a:xfrm flipV="1">
            <a:off x="9880600" y="5086247"/>
            <a:ext cx="760588" cy="594236"/>
          </a:xfrm>
          <a:prstGeom prst="line">
            <a:avLst/>
          </a:prstGeom>
          <a:ln w="20320">
            <a:solidFill>
              <a:srgbClr val="004F8A"/>
            </a:solidFill>
            <a:tailEnd type="arrow"/>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6E9A74E4-FE0E-E6B0-708F-922CFA890341}"/>
              </a:ext>
            </a:extLst>
          </p:cNvPr>
          <p:cNvCxnSpPr/>
          <p:nvPr/>
        </p:nvCxnSpPr>
        <p:spPr>
          <a:xfrm flipH="1" flipV="1">
            <a:off x="9286363" y="4919895"/>
            <a:ext cx="594237" cy="760588"/>
          </a:xfrm>
          <a:prstGeom prst="line">
            <a:avLst/>
          </a:prstGeom>
          <a:ln w="20320">
            <a:solidFill>
              <a:srgbClr val="004F8A"/>
            </a:solidFill>
            <a:tailEnd type="arrow"/>
          </a:ln>
        </p:spPr>
        <p:style>
          <a:lnRef idx="1">
            <a:schemeClr val="accent1"/>
          </a:lnRef>
          <a:fillRef idx="0">
            <a:schemeClr val="accent1"/>
          </a:fillRef>
          <a:effectRef idx="0">
            <a:schemeClr val="accent1"/>
          </a:effectRef>
          <a:fontRef idx="minor">
            <a:schemeClr val="tx1"/>
          </a:fontRef>
        </p:style>
      </p:cxnSp>
      <p:sp>
        <p:nvSpPr>
          <p:cNvPr id="205" name="文本框 204">
            <a:extLst>
              <a:ext uri="{FF2B5EF4-FFF2-40B4-BE49-F238E27FC236}">
                <a16:creationId xmlns:a16="http://schemas.microsoft.com/office/drawing/2014/main" id="{8F7C1FAF-5D6C-C9F5-23F0-08F11CD00CE1}"/>
              </a:ext>
            </a:extLst>
          </p:cNvPr>
          <p:cNvSpPr txBox="1"/>
          <p:nvPr/>
        </p:nvSpPr>
        <p:spPr>
          <a:xfrm>
            <a:off x="10539588" y="4941913"/>
            <a:ext cx="406400" cy="210314"/>
          </a:xfrm>
          <a:prstGeom prst="rect">
            <a:avLst/>
          </a:prstGeom>
          <a:noFill/>
        </p:spPr>
        <p:txBody>
          <a:bodyPr vert="horz" wrap="square" lIns="50800" tIns="12700" rIns="50800" bIns="12700" rtlCol="0" anchor="ctr">
            <a:spAutoFit/>
          </a:bodyPr>
          <a:lstStyle/>
          <a:p>
            <a:pPr algn="ctr"/>
            <a:r>
              <a:rPr lang="en-US" altLang="zh-CN" sz="1200" b="1">
                <a:solidFill>
                  <a:srgbClr val="004F8A"/>
                </a:solidFill>
                <a:latin typeface="Microsoft YaHei" panose="020B0503020204020204" pitchFamily="34" charset="-122"/>
                <a:ea typeface="Microsoft YaHei" panose="020B0503020204020204" pitchFamily="34" charset="-122"/>
              </a:rPr>
              <a:t>d</a:t>
            </a:r>
            <a:endParaRPr lang="zh-CN" altLang="en-US" sz="1200" b="1">
              <a:solidFill>
                <a:srgbClr val="004F8A"/>
              </a:solidFill>
              <a:latin typeface="Microsoft YaHei" panose="020B0503020204020204" pitchFamily="34" charset="-122"/>
              <a:ea typeface="Microsoft YaHei" panose="020B0503020204020204" pitchFamily="34" charset="-122"/>
            </a:endParaRPr>
          </a:p>
        </p:txBody>
      </p:sp>
      <p:sp>
        <p:nvSpPr>
          <p:cNvPr id="206" name="文本框 205">
            <a:extLst>
              <a:ext uri="{FF2B5EF4-FFF2-40B4-BE49-F238E27FC236}">
                <a16:creationId xmlns:a16="http://schemas.microsoft.com/office/drawing/2014/main" id="{753F7A3E-0FDA-DB08-5C18-A5BC743BC088}"/>
              </a:ext>
            </a:extLst>
          </p:cNvPr>
          <p:cNvSpPr txBox="1"/>
          <p:nvPr/>
        </p:nvSpPr>
        <p:spPr>
          <a:xfrm>
            <a:off x="9184763" y="4775561"/>
            <a:ext cx="406400" cy="210314"/>
          </a:xfrm>
          <a:prstGeom prst="rect">
            <a:avLst/>
          </a:prstGeom>
          <a:noFill/>
        </p:spPr>
        <p:txBody>
          <a:bodyPr vert="horz" wrap="square" lIns="50800" tIns="12700" rIns="50800" bIns="12700" rtlCol="0" anchor="ctr">
            <a:spAutoFit/>
          </a:bodyPr>
          <a:lstStyle/>
          <a:p>
            <a:pPr algn="ctr"/>
            <a:r>
              <a:rPr lang="en-US" altLang="zh-CN" sz="1200" b="1">
                <a:solidFill>
                  <a:srgbClr val="004F8A"/>
                </a:solidFill>
                <a:latin typeface="Microsoft YaHei" panose="020B0503020204020204" pitchFamily="34" charset="-122"/>
                <a:ea typeface="Microsoft YaHei" panose="020B0503020204020204" pitchFamily="34" charset="-122"/>
              </a:rPr>
              <a:t>q</a:t>
            </a:r>
            <a:endParaRPr lang="zh-CN" altLang="en-US" sz="1200" b="1">
              <a:solidFill>
                <a:srgbClr val="004F8A"/>
              </a:solidFill>
              <a:latin typeface="Microsoft YaHei" panose="020B0503020204020204" pitchFamily="34" charset="-122"/>
              <a:ea typeface="Microsoft YaHei" panose="020B0503020204020204" pitchFamily="34" charset="-122"/>
            </a:endParaRPr>
          </a:p>
        </p:txBody>
      </p:sp>
      <p:cxnSp>
        <p:nvCxnSpPr>
          <p:cNvPr id="207" name="直接连接符 206">
            <a:extLst>
              <a:ext uri="{FF2B5EF4-FFF2-40B4-BE49-F238E27FC236}">
                <a16:creationId xmlns:a16="http://schemas.microsoft.com/office/drawing/2014/main" id="{0BA651D7-CA52-FF4C-4337-91014E9100FD}"/>
              </a:ext>
            </a:extLst>
          </p:cNvPr>
          <p:cNvCxnSpPr/>
          <p:nvPr/>
        </p:nvCxnSpPr>
        <p:spPr>
          <a:xfrm flipV="1">
            <a:off x="9880600" y="4885535"/>
            <a:ext cx="337435" cy="794948"/>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208" name="文本框 207">
            <a:extLst>
              <a:ext uri="{FF2B5EF4-FFF2-40B4-BE49-F238E27FC236}">
                <a16:creationId xmlns:a16="http://schemas.microsoft.com/office/drawing/2014/main" id="{A8E763EB-51FB-D821-F9AA-D337159B0B1E}"/>
              </a:ext>
            </a:extLst>
          </p:cNvPr>
          <p:cNvSpPr txBox="1"/>
          <p:nvPr/>
        </p:nvSpPr>
        <p:spPr>
          <a:xfrm>
            <a:off x="10065635" y="4659996"/>
            <a:ext cx="6096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is</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cxnSp>
        <p:nvCxnSpPr>
          <p:cNvPr id="209" name="直接连接符 208">
            <a:extLst>
              <a:ext uri="{FF2B5EF4-FFF2-40B4-BE49-F238E27FC236}">
                <a16:creationId xmlns:a16="http://schemas.microsoft.com/office/drawing/2014/main" id="{1F73076F-8307-0049-0368-A33D573C21C9}"/>
              </a:ext>
            </a:extLst>
          </p:cNvPr>
          <p:cNvCxnSpPr/>
          <p:nvPr/>
        </p:nvCxnSpPr>
        <p:spPr>
          <a:xfrm flipV="1">
            <a:off x="9880600" y="5215461"/>
            <a:ext cx="595202" cy="465022"/>
          </a:xfrm>
          <a:prstGeom prst="line">
            <a:avLst/>
          </a:prstGeom>
          <a:ln w="2540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1537FD4F-DD05-9F75-B94A-EEEE2251E9D1}"/>
              </a:ext>
            </a:extLst>
          </p:cNvPr>
          <p:cNvCxnSpPr/>
          <p:nvPr/>
        </p:nvCxnSpPr>
        <p:spPr>
          <a:xfrm flipH="1" flipV="1">
            <a:off x="10218035" y="4885535"/>
            <a:ext cx="257767" cy="329926"/>
          </a:xfrm>
          <a:prstGeom prst="line">
            <a:avLst/>
          </a:prstGeom>
          <a:ln w="25400">
            <a:solidFill>
              <a:srgbClr val="E17E20"/>
            </a:solidFill>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71D6B450-F22D-3CDB-A131-AC66135DC365}"/>
              </a:ext>
            </a:extLst>
          </p:cNvPr>
          <p:cNvSpPr txBox="1"/>
          <p:nvPr/>
        </p:nvSpPr>
        <p:spPr>
          <a:xfrm>
            <a:off x="10425002" y="5311269"/>
            <a:ext cx="381000" cy="187231"/>
          </a:xfrm>
          <a:prstGeom prst="rect">
            <a:avLst/>
          </a:prstGeom>
          <a:noFill/>
        </p:spPr>
        <p:txBody>
          <a:bodyPr vert="horz" wrap="square" lIns="50800" tIns="12700" rIns="50800" bIns="12700" rtlCol="0" anchor="ctr">
            <a:spAutoFit/>
          </a:bodyPr>
          <a:lstStyle/>
          <a:p>
            <a:r>
              <a:rPr lang="en-US" altLang="zh-CN" sz="1050" b="1">
                <a:solidFill>
                  <a:srgbClr val="004F8A"/>
                </a:solidFill>
                <a:latin typeface="Microsoft YaHei" panose="020B0503020204020204" pitchFamily="34" charset="-122"/>
                <a:ea typeface="Microsoft YaHei" panose="020B0503020204020204" pitchFamily="34" charset="-122"/>
              </a:rPr>
              <a:t>Id</a:t>
            </a:r>
            <a:endParaRPr lang="zh-CN" altLang="en-US" sz="1050" b="1">
              <a:solidFill>
                <a:srgbClr val="004F8A"/>
              </a:solidFill>
              <a:latin typeface="Microsoft YaHei" panose="020B0503020204020204" pitchFamily="34" charset="-122"/>
              <a:ea typeface="Microsoft YaHei" panose="020B0503020204020204" pitchFamily="34" charset="-122"/>
            </a:endParaRPr>
          </a:p>
        </p:txBody>
      </p:sp>
      <p:sp>
        <p:nvSpPr>
          <p:cNvPr id="212" name="文本框 211">
            <a:extLst>
              <a:ext uri="{FF2B5EF4-FFF2-40B4-BE49-F238E27FC236}">
                <a16:creationId xmlns:a16="http://schemas.microsoft.com/office/drawing/2014/main" id="{9E271B9B-E66B-EEB4-D6E8-8C094025F223}"/>
              </a:ext>
            </a:extLst>
          </p:cNvPr>
          <p:cNvSpPr txBox="1"/>
          <p:nvPr/>
        </p:nvSpPr>
        <p:spPr>
          <a:xfrm>
            <a:off x="10192635" y="4892443"/>
            <a:ext cx="381000" cy="187231"/>
          </a:xfrm>
          <a:prstGeom prst="rect">
            <a:avLst/>
          </a:prstGeom>
          <a:noFill/>
        </p:spPr>
        <p:txBody>
          <a:bodyPr vert="horz" wrap="square" lIns="50800" tIns="12700" rIns="50800" bIns="12700" rtlCol="0" anchor="ctr">
            <a:spAutoFit/>
          </a:bodyPr>
          <a:lstStyle/>
          <a:p>
            <a:r>
              <a:rPr lang="en-US" altLang="zh-CN" sz="1050" b="1">
                <a:solidFill>
                  <a:srgbClr val="E17E20"/>
                </a:solidFill>
                <a:latin typeface="Microsoft YaHei" panose="020B0503020204020204" pitchFamily="34" charset="-122"/>
                <a:ea typeface="Microsoft YaHei" panose="020B0503020204020204" pitchFamily="34" charset="-122"/>
              </a:rPr>
              <a:t>Iq</a:t>
            </a:r>
            <a:endParaRPr lang="zh-CN" altLang="en-US" sz="1050" b="1">
              <a:solidFill>
                <a:srgbClr val="E17E20"/>
              </a:solidFill>
              <a:latin typeface="Microsoft YaHei" panose="020B0503020204020204" pitchFamily="34" charset="-122"/>
              <a:ea typeface="Microsoft YaHei" panose="020B0503020204020204" pitchFamily="34" charset="-122"/>
            </a:endParaRPr>
          </a:p>
        </p:txBody>
      </p:sp>
      <p:sp>
        <p:nvSpPr>
          <p:cNvPr id="213" name="文本框 212">
            <a:extLst>
              <a:ext uri="{FF2B5EF4-FFF2-40B4-BE49-F238E27FC236}">
                <a16:creationId xmlns:a16="http://schemas.microsoft.com/office/drawing/2014/main" id="{DADF7A77-33E2-D091-AE69-837AD34469D9}"/>
              </a:ext>
            </a:extLst>
          </p:cNvPr>
          <p:cNvSpPr txBox="1"/>
          <p:nvPr/>
        </p:nvSpPr>
        <p:spPr>
          <a:xfrm>
            <a:off x="8483600" y="5816462"/>
            <a:ext cx="2895600" cy="202620"/>
          </a:xfrm>
          <a:prstGeom prst="rect">
            <a:avLst/>
          </a:prstGeom>
          <a:noFill/>
        </p:spPr>
        <p:txBody>
          <a:bodyPr vert="horz" wrap="square" lIns="50800" tIns="12700" rIns="50800" bIns="12700" rtlCol="0" anchor="ctr">
            <a:spAutoFit/>
          </a:bodyPr>
          <a:lstStyle/>
          <a:p>
            <a:pPr algn="ctr"/>
            <a:r>
              <a:rPr lang="zh-CN" altLang="en-US" sz="1150" dirty="0">
                <a:solidFill>
                  <a:srgbClr val="1C2228"/>
                </a:solidFill>
                <a:latin typeface="Microsoft YaHei" panose="020B0503020204020204" pitchFamily="34" charset="-122"/>
                <a:ea typeface="Microsoft YaHei" panose="020B0503020204020204" pitchFamily="34" charset="-122"/>
              </a:rPr>
              <a:t>在同步坐标中，</a:t>
            </a:r>
            <a:r>
              <a:rPr lang="en-US" altLang="zh-CN" sz="1150" dirty="0">
                <a:solidFill>
                  <a:srgbClr val="1C2228"/>
                </a:solidFill>
                <a:latin typeface="Microsoft YaHei" panose="020B0503020204020204" pitchFamily="34" charset="-122"/>
                <a:ea typeface="Microsoft YaHei" panose="020B0503020204020204" pitchFamily="34" charset="-122"/>
              </a:rPr>
              <a:t>Id / </a:t>
            </a:r>
            <a:r>
              <a:rPr lang="en-US" altLang="zh-CN" sz="1150" dirty="0" err="1">
                <a:solidFill>
                  <a:srgbClr val="1C2228"/>
                </a:solidFill>
                <a:latin typeface="Microsoft YaHei" panose="020B0503020204020204" pitchFamily="34" charset="-122"/>
                <a:ea typeface="Microsoft YaHei" panose="020B0503020204020204" pitchFamily="34" charset="-122"/>
              </a:rPr>
              <a:t>Iq</a:t>
            </a:r>
            <a:r>
              <a:rPr lang="en-US" altLang="zh-CN" sz="1150" dirty="0">
                <a:solidFill>
                  <a:srgbClr val="1C2228"/>
                </a:solidFill>
                <a:latin typeface="Microsoft YaHei" panose="020B0503020204020204" pitchFamily="34" charset="-122"/>
                <a:ea typeface="Microsoft YaHei" panose="020B0503020204020204" pitchFamily="34" charset="-122"/>
              </a:rPr>
              <a:t> </a:t>
            </a:r>
            <a:r>
              <a:rPr lang="zh-CN" altLang="en-US" sz="1150" dirty="0">
                <a:solidFill>
                  <a:srgbClr val="1C2228"/>
                </a:solidFill>
                <a:latin typeface="Microsoft YaHei" panose="020B0503020204020204" pitchFamily="34" charset="-122"/>
                <a:ea typeface="Microsoft YaHei" panose="020B0503020204020204" pitchFamily="34" charset="-122"/>
              </a:rPr>
              <a:t>变成近似直流量</a:t>
            </a:r>
          </a:p>
        </p:txBody>
      </p:sp>
      <p:sp>
        <p:nvSpPr>
          <p:cNvPr id="244" name="右箭头 13">
            <a:extLst>
              <a:ext uri="{FF2B5EF4-FFF2-40B4-BE49-F238E27FC236}">
                <a16:creationId xmlns:a16="http://schemas.microsoft.com/office/drawing/2014/main" id="{7D2B7B47-8831-8ACB-A071-F22B3D2C5E80}"/>
              </a:ext>
            </a:extLst>
          </p:cNvPr>
          <p:cNvSpPr/>
          <p:nvPr/>
        </p:nvSpPr>
        <p:spPr>
          <a:xfrm>
            <a:off x="3584309" y="4956743"/>
            <a:ext cx="819681"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Clarke</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45" name="右箭头 13">
            <a:extLst>
              <a:ext uri="{FF2B5EF4-FFF2-40B4-BE49-F238E27FC236}">
                <a16:creationId xmlns:a16="http://schemas.microsoft.com/office/drawing/2014/main" id="{67D292CB-93E2-D10A-7D4E-CBFCF78AF36F}"/>
              </a:ext>
            </a:extLst>
          </p:cNvPr>
          <p:cNvSpPr/>
          <p:nvPr/>
        </p:nvSpPr>
        <p:spPr>
          <a:xfrm>
            <a:off x="7570551" y="4943117"/>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Park</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pic>
        <p:nvPicPr>
          <p:cNvPr id="247" name="Picture 2">
            <a:extLst>
              <a:ext uri="{FF2B5EF4-FFF2-40B4-BE49-F238E27FC236}">
                <a16:creationId xmlns:a16="http://schemas.microsoft.com/office/drawing/2014/main" id="{9A77E2F6-0C6E-E691-CD90-D1EF11BF9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889" y="1641102"/>
            <a:ext cx="3772626" cy="1904278"/>
          </a:xfrm>
          <a:prstGeom prst="rect">
            <a:avLst/>
          </a:prstGeom>
          <a:noFill/>
          <a:extLst>
            <a:ext uri="{909E8E84-426E-40DD-AFC4-6F175D3DCCD1}">
              <a14:hiddenFill xmlns:a14="http://schemas.microsoft.com/office/drawing/2010/main">
                <a:solidFill>
                  <a:srgbClr val="FFFFFF"/>
                </a:solidFill>
              </a14:hiddenFill>
            </a:ext>
          </a:extLst>
        </p:spPr>
      </p:pic>
      <p:pic>
        <p:nvPicPr>
          <p:cNvPr id="248" name="图片 247">
            <a:extLst>
              <a:ext uri="{FF2B5EF4-FFF2-40B4-BE49-F238E27FC236}">
                <a16:creationId xmlns:a16="http://schemas.microsoft.com/office/drawing/2014/main" id="{6677C74E-85F9-B408-518D-A1BF43167DBC}"/>
              </a:ext>
            </a:extLst>
          </p:cNvPr>
          <p:cNvPicPr>
            <a:picLocks noChangeAspect="1"/>
          </p:cNvPicPr>
          <p:nvPr/>
        </p:nvPicPr>
        <p:blipFill>
          <a:blip r:embed="rId4"/>
          <a:stretch>
            <a:fillRect/>
          </a:stretch>
        </p:blipFill>
        <p:spPr>
          <a:xfrm>
            <a:off x="4441794" y="1570065"/>
            <a:ext cx="1993026" cy="1995890"/>
          </a:xfrm>
          <a:prstGeom prst="rect">
            <a:avLst/>
          </a:prstGeom>
        </p:spPr>
      </p:pic>
      <p:sp>
        <p:nvSpPr>
          <p:cNvPr id="249" name="文本框 248">
            <a:extLst>
              <a:ext uri="{FF2B5EF4-FFF2-40B4-BE49-F238E27FC236}">
                <a16:creationId xmlns:a16="http://schemas.microsoft.com/office/drawing/2014/main" id="{12FFCBC8-B6B6-F531-6157-A0838837B79D}"/>
              </a:ext>
            </a:extLst>
          </p:cNvPr>
          <p:cNvSpPr txBox="1"/>
          <p:nvPr/>
        </p:nvSpPr>
        <p:spPr>
          <a:xfrm>
            <a:off x="6841867" y="1929644"/>
            <a:ext cx="3378200" cy="218008"/>
          </a:xfrm>
          <a:prstGeom prst="rect">
            <a:avLst/>
          </a:prstGeom>
          <a:noFill/>
        </p:spPr>
        <p:txBody>
          <a:bodyPr vert="horz" wrap="square" lIns="50800" tIns="12700" rIns="50800" bIns="12700" rtlCol="0" anchor="ctr">
            <a:spAutoFit/>
          </a:bodyPr>
          <a:lstStyle/>
          <a:p>
            <a:r>
              <a:rPr lang="zh-CN" altLang="en-US" sz="1250" b="1" dirty="0">
                <a:solidFill>
                  <a:srgbClr val="1C2228"/>
                </a:solidFill>
                <a:latin typeface="Microsoft YaHei" panose="020B0503020204020204" pitchFamily="34" charset="-122"/>
                <a:ea typeface="Microsoft YaHei" panose="020B0503020204020204" pitchFamily="34" charset="-122"/>
              </a:rPr>
              <a:t>磁场领先转子磁链一个转矩角 → 产生切向力矩</a:t>
            </a:r>
          </a:p>
        </p:txBody>
      </p:sp>
      <p:sp>
        <p:nvSpPr>
          <p:cNvPr id="250" name="文本框 249">
            <a:extLst>
              <a:ext uri="{FF2B5EF4-FFF2-40B4-BE49-F238E27FC236}">
                <a16:creationId xmlns:a16="http://schemas.microsoft.com/office/drawing/2014/main" id="{6D270787-EABE-AC42-BC41-FEADBD72EB6D}"/>
              </a:ext>
            </a:extLst>
          </p:cNvPr>
          <p:cNvSpPr txBox="1"/>
          <p:nvPr/>
        </p:nvSpPr>
        <p:spPr>
          <a:xfrm>
            <a:off x="6870013" y="2178958"/>
            <a:ext cx="2794000" cy="941283"/>
          </a:xfrm>
          <a:prstGeom prst="rect">
            <a:avLst/>
          </a:prstGeom>
          <a:noFill/>
        </p:spPr>
        <p:txBody>
          <a:bodyPr vert="horz" wrap="square" lIns="50800" tIns="12700" rIns="50800" bIns="12700" rtlCol="0" anchor="ctr">
            <a:spAutoFit/>
          </a:bodyPr>
          <a:lstStyle/>
          <a:p>
            <a:r>
              <a:rPr lang="zh-CN" altLang="en-US" sz="1150" dirty="0">
                <a:solidFill>
                  <a:srgbClr val="66717C"/>
                </a:solidFill>
                <a:latin typeface="Microsoft YaHei" panose="020B0503020204020204" pitchFamily="34" charset="-122"/>
                <a:ea typeface="Microsoft YaHei" panose="020B0503020204020204" pitchFamily="34" charset="-122"/>
              </a:rPr>
              <a:t>三相交变电流通过组合，可以在定子中产生定向磁场，该磁场领先转子磁链一个转矩角，即可产生切向力矩，带动电机运动，产生一个不断旋转的矢量，即可让电机不停旋转。</a:t>
            </a:r>
          </a:p>
        </p:txBody>
      </p:sp>
    </p:spTree>
    <p:extLst>
      <p:ext uri="{BB962C8B-B14F-4D97-AF65-F5344CB8AC3E}">
        <p14:creationId xmlns:p14="http://schemas.microsoft.com/office/powerpoint/2010/main" val="403016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400033"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需求分析</a:t>
            </a:r>
            <a:r>
              <a:rPr dirty="0">
                <a:solidFill>
                  <a:schemeClr val="bg1"/>
                </a:solidFill>
              </a:rPr>
              <a:t>——</a:t>
            </a:r>
            <a:r>
              <a:rPr lang="zh-CN" altLang="en-US" dirty="0">
                <a:solidFill>
                  <a:schemeClr val="bg1"/>
                </a:solidFill>
              </a:rPr>
              <a:t>从机器人市场关节电机需求</a:t>
            </a:r>
            <a:endParaRPr dirty="0">
              <a:solidFill>
                <a:schemeClr val="bg1"/>
              </a:solidFill>
            </a:endParaRPr>
          </a:p>
        </p:txBody>
      </p:sp>
      <p:pic>
        <p:nvPicPr>
          <p:cNvPr id="4" name="图片 3">
            <a:extLst>
              <a:ext uri="{FF2B5EF4-FFF2-40B4-BE49-F238E27FC236}">
                <a16:creationId xmlns:a16="http://schemas.microsoft.com/office/drawing/2014/main" id="{643774D1-30E6-6AB3-2D8F-31C98681D6FB}"/>
              </a:ext>
            </a:extLst>
          </p:cNvPr>
          <p:cNvPicPr>
            <a:picLocks noChangeAspect="1"/>
          </p:cNvPicPr>
          <p:nvPr/>
        </p:nvPicPr>
        <p:blipFill>
          <a:blip r:embed="rId3"/>
          <a:stretch>
            <a:fillRect/>
          </a:stretch>
        </p:blipFill>
        <p:spPr>
          <a:xfrm>
            <a:off x="7884215" y="962744"/>
            <a:ext cx="4156589" cy="5378314"/>
          </a:xfrm>
          <a:prstGeom prst="rect">
            <a:avLst/>
          </a:prstGeom>
        </p:spPr>
      </p:pic>
      <p:graphicFrame>
        <p:nvGraphicFramePr>
          <p:cNvPr id="12" name="表格 11">
            <a:extLst>
              <a:ext uri="{FF2B5EF4-FFF2-40B4-BE49-F238E27FC236}">
                <a16:creationId xmlns:a16="http://schemas.microsoft.com/office/drawing/2014/main" id="{20A52201-4537-7CDE-5209-F3FFB150D69B}"/>
              </a:ext>
            </a:extLst>
          </p:cNvPr>
          <p:cNvGraphicFramePr>
            <a:graphicFrameLocks noGrp="1"/>
          </p:cNvGraphicFramePr>
          <p:nvPr>
            <p:extLst>
              <p:ext uri="{D42A27DB-BD31-4B8C-83A1-F6EECF244321}">
                <p14:modId xmlns:p14="http://schemas.microsoft.com/office/powerpoint/2010/main" val="3706524030"/>
              </p:ext>
            </p:extLst>
          </p:nvPr>
        </p:nvGraphicFramePr>
        <p:xfrm>
          <a:off x="3343645" y="979054"/>
          <a:ext cx="4417920" cy="2951084"/>
        </p:xfrm>
        <a:graphic>
          <a:graphicData uri="http://schemas.openxmlformats.org/drawingml/2006/table">
            <a:tbl>
              <a:tblPr/>
              <a:tblGrid>
                <a:gridCol w="883584">
                  <a:extLst>
                    <a:ext uri="{9D8B030D-6E8A-4147-A177-3AD203B41FA5}">
                      <a16:colId xmlns:a16="http://schemas.microsoft.com/office/drawing/2014/main" val="4139056977"/>
                    </a:ext>
                  </a:extLst>
                </a:gridCol>
                <a:gridCol w="883584">
                  <a:extLst>
                    <a:ext uri="{9D8B030D-6E8A-4147-A177-3AD203B41FA5}">
                      <a16:colId xmlns:a16="http://schemas.microsoft.com/office/drawing/2014/main" val="3243333064"/>
                    </a:ext>
                  </a:extLst>
                </a:gridCol>
                <a:gridCol w="883584">
                  <a:extLst>
                    <a:ext uri="{9D8B030D-6E8A-4147-A177-3AD203B41FA5}">
                      <a16:colId xmlns:a16="http://schemas.microsoft.com/office/drawing/2014/main" val="3357249920"/>
                    </a:ext>
                  </a:extLst>
                </a:gridCol>
                <a:gridCol w="883584">
                  <a:extLst>
                    <a:ext uri="{9D8B030D-6E8A-4147-A177-3AD203B41FA5}">
                      <a16:colId xmlns:a16="http://schemas.microsoft.com/office/drawing/2014/main" val="406458442"/>
                    </a:ext>
                  </a:extLst>
                </a:gridCol>
                <a:gridCol w="883584">
                  <a:extLst>
                    <a:ext uri="{9D8B030D-6E8A-4147-A177-3AD203B41FA5}">
                      <a16:colId xmlns:a16="http://schemas.microsoft.com/office/drawing/2014/main" val="3356366943"/>
                    </a:ext>
                  </a:extLst>
                </a:gridCol>
              </a:tblGrid>
              <a:tr h="373714">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代表型号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项目</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电压范围</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功率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电流</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控制与反馈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转速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控制</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70755276"/>
                  </a:ext>
                </a:extLst>
              </a:tr>
              <a:tr h="556552">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900" b="0" dirty="0">
                          <a:solidFill>
                            <a:srgbClr val="1F1F1F"/>
                          </a:solidFill>
                          <a:effectLst/>
                          <a:latin typeface="微软雅黑" panose="020B0503020204020204" pitchFamily="34" charset="-122"/>
                          <a:ea typeface="微软雅黑" panose="020B0503020204020204" pitchFamily="34" charset="-122"/>
                        </a:rPr>
                        <a:t>达妙</a:t>
                      </a:r>
                    </a:p>
                    <a:p>
                      <a:pPr rtl="0"/>
                      <a:r>
                        <a:rPr lang="en-US" sz="900" b="0" dirty="0">
                          <a:solidFill>
                            <a:srgbClr val="1F1F1F"/>
                          </a:solidFill>
                          <a:effectLst/>
                          <a:latin typeface="微软雅黑" panose="020B0503020204020204" pitchFamily="34" charset="-122"/>
                          <a:ea typeface="微软雅黑" panose="020B0503020204020204" pitchFamily="34" charset="-122"/>
                        </a:rPr>
                        <a:t>DM-J8009-2EC</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24-48V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额定功率约 </a:t>
                      </a:r>
                      <a:r>
                        <a:rPr lang="en-US" altLang="zh-CN" sz="900" b="0" dirty="0">
                          <a:solidFill>
                            <a:srgbClr val="1F1F1F"/>
                          </a:solidFill>
                          <a:effectLst/>
                          <a:latin typeface="微软雅黑" panose="020B0503020204020204" pitchFamily="34" charset="-122"/>
                          <a:ea typeface="微软雅黑" panose="020B0503020204020204" pitchFamily="34" charset="-122"/>
                        </a:rPr>
                        <a:t>209</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CAN/CANFD</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，磁编码器反馈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48V </a:t>
                      </a:r>
                      <a:r>
                        <a:rPr lang="zh-CN" altLang="en-US" sz="900" b="0" dirty="0">
                          <a:solidFill>
                            <a:srgbClr val="1F1F1F"/>
                          </a:solidFill>
                          <a:effectLst/>
                          <a:latin typeface="微软雅黑" panose="020B0503020204020204" pitchFamily="34" charset="-122"/>
                          <a:ea typeface="微软雅黑" panose="020B0503020204020204" pitchFamily="34" charset="-122"/>
                        </a:rPr>
                        <a:t>下额定 </a:t>
                      </a:r>
                      <a:r>
                        <a:rPr lang="en-US" altLang="zh-CN" sz="900" b="0" dirty="0">
                          <a:solidFill>
                            <a:srgbClr val="1F1F1F"/>
                          </a:solidFill>
                          <a:effectLst/>
                          <a:latin typeface="微软雅黑" panose="020B0503020204020204" pitchFamily="34" charset="-122"/>
                          <a:ea typeface="微软雅黑" panose="020B0503020204020204" pitchFamily="34" charset="-122"/>
                        </a:rPr>
                        <a:t>200rpm</a:t>
                      </a:r>
                      <a:r>
                        <a:rPr lang="zh-CN" altLang="en-US" sz="900" b="0" dirty="0">
                          <a:solidFill>
                            <a:srgbClr val="1F1F1F"/>
                          </a:solidFill>
                          <a:effectLst/>
                          <a:latin typeface="微软雅黑" panose="020B0503020204020204" pitchFamily="34" charset="-122"/>
                          <a:ea typeface="微软雅黑" panose="020B0503020204020204" pitchFamily="34" charset="-122"/>
                        </a:rPr>
                        <a:t>，空载约 </a:t>
                      </a:r>
                      <a:r>
                        <a:rPr lang="en-US" altLang="zh-CN" sz="900" b="0" dirty="0">
                          <a:solidFill>
                            <a:srgbClr val="1F1F1F"/>
                          </a:solidFill>
                          <a:effectLst/>
                          <a:latin typeface="微软雅黑" panose="020B0503020204020204" pitchFamily="34" charset="-122"/>
                          <a:ea typeface="微软雅黑" panose="020B0503020204020204" pitchFamily="34" charset="-122"/>
                        </a:rPr>
                        <a:t>335rpm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9346734"/>
                  </a:ext>
                </a:extLst>
              </a:tr>
              <a:tr h="708529">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零差云控</a:t>
                      </a:r>
                      <a:r>
                        <a:rPr lang="en-US" sz="900" b="0" dirty="0">
                          <a:solidFill>
                            <a:srgbClr val="1F1F1F"/>
                          </a:solidFill>
                          <a:effectLst/>
                          <a:latin typeface="微软雅黑" panose="020B0503020204020204" pitchFamily="34" charset="-122"/>
                          <a:ea typeface="微软雅黑" panose="020B0503020204020204" pitchFamily="34" charset="-122"/>
                        </a:rPr>
                        <a:t>eRob80I V6</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sz="900" b="0" dirty="0">
                          <a:solidFill>
                            <a:srgbClr val="1F1F1F"/>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电机功率约 </a:t>
                      </a:r>
                      <a:r>
                        <a:rPr lang="en-US" altLang="zh-CN" sz="900" b="0" dirty="0">
                          <a:solidFill>
                            <a:srgbClr val="1F1F1F"/>
                          </a:solidFill>
                          <a:effectLst/>
                          <a:latin typeface="微软雅黑" panose="020B0503020204020204" pitchFamily="34" charset="-122"/>
                          <a:ea typeface="微软雅黑" panose="020B0503020204020204" pitchFamily="34" charset="-122"/>
                        </a:rPr>
                        <a:t>126</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EtherCAT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a:t>
                      </a:r>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CANopen</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Modbus</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，编码器反馈</a:t>
                      </a:r>
                      <a:endParaRPr lang="en-US" altLang="zh-CN"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输出峰值 </a:t>
                      </a:r>
                      <a:r>
                        <a:rPr lang="en-US" altLang="zh-CN" sz="900" b="0" dirty="0">
                          <a:solidFill>
                            <a:srgbClr val="1F1F1F"/>
                          </a:solidFill>
                          <a:effectLst/>
                          <a:latin typeface="微软雅黑" panose="020B0503020204020204" pitchFamily="34" charset="-122"/>
                          <a:ea typeface="微软雅黑" panose="020B0503020204020204" pitchFamily="34" charset="-122"/>
                        </a:rPr>
                        <a:t>25-60</a:t>
                      </a:r>
                      <a:r>
                        <a:rPr lang="en-US" sz="900" b="0" dirty="0">
                          <a:solidFill>
                            <a:srgbClr val="1F1F1F"/>
                          </a:solidFill>
                          <a:effectLst/>
                          <a:latin typeface="微软雅黑" panose="020B0503020204020204" pitchFamily="34" charset="-122"/>
                          <a:ea typeface="微软雅黑" panose="020B0503020204020204" pitchFamily="34" charset="-122"/>
                        </a:rPr>
                        <a:t>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83875439"/>
                  </a:ext>
                </a:extLst>
              </a:tr>
              <a:tr h="541122">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Unitree</a:t>
                      </a:r>
                    </a:p>
                    <a:p>
                      <a:pPr rtl="0"/>
                      <a:r>
                        <a:rPr lang="en-US" altLang="zh-CN" sz="900" b="0" dirty="0">
                          <a:solidFill>
                            <a:srgbClr val="1F1F1F"/>
                          </a:solidFill>
                          <a:effectLst/>
                          <a:latin typeface="微软雅黑" panose="020B0503020204020204" pitchFamily="34" charset="-122"/>
                          <a:ea typeface="微软雅黑" panose="020B0503020204020204" pitchFamily="34" charset="-122"/>
                        </a:rPr>
                        <a:t>B1-16 </a:t>
                      </a:r>
                      <a:r>
                        <a:rPr lang="zh-CN" altLang="en-US" sz="900" b="0" dirty="0">
                          <a:solidFill>
                            <a:srgbClr val="1F1F1F"/>
                          </a:solidFill>
                          <a:effectLst/>
                          <a:latin typeface="微软雅黑" panose="020B0503020204020204" pitchFamily="34" charset="-122"/>
                          <a:ea typeface="微软雅黑" panose="020B0503020204020204" pitchFamily="34" charset="-122"/>
                        </a:rPr>
                        <a:t>防水关节电机</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36-64V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未标额定功率</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高速 </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485</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1kHz </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控制周期，编码器反馈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endParaRPr lang="zh-CN" alt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216393077"/>
                  </a:ext>
                </a:extLst>
              </a:tr>
              <a:tr h="645664">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MPS </a:t>
                      </a:r>
                      <a:r>
                        <a:rPr lang="zh-CN" altLang="en-US" sz="900" b="1" dirty="0">
                          <a:solidFill>
                            <a:srgbClr val="0070C0"/>
                          </a:solidFill>
                          <a:effectLst/>
                          <a:latin typeface="微软雅黑" panose="020B0503020204020204" pitchFamily="34" charset="-122"/>
                          <a:ea typeface="微软雅黑" panose="020B0503020204020204" pitchFamily="34" charset="-122"/>
                        </a:rPr>
                        <a:t>关节电机 </a:t>
                      </a:r>
                      <a:r>
                        <a:rPr lang="en-US" altLang="zh-CN" sz="900" b="1" dirty="0">
                          <a:solidFill>
                            <a:srgbClr val="0070C0"/>
                          </a:solidFill>
                          <a:effectLst/>
                          <a:latin typeface="微软雅黑" panose="020B0503020204020204" pitchFamily="34" charset="-122"/>
                          <a:ea typeface="微软雅黑" panose="020B0503020204020204" pitchFamily="34" charset="-122"/>
                        </a:rPr>
                        <a:t>FOC </a:t>
                      </a:r>
                      <a:r>
                        <a:rPr lang="zh-CN" altLang="en-US" sz="900" b="1" dirty="0">
                          <a:solidFill>
                            <a:srgbClr val="0070C0"/>
                          </a:solidFill>
                          <a:effectLst/>
                          <a:latin typeface="微软雅黑" panose="020B0503020204020204" pitchFamily="34" charset="-122"/>
                          <a:ea typeface="微软雅黑" panose="020B0503020204020204" pitchFamily="34" charset="-122"/>
                        </a:rPr>
                        <a:t>驱动板</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0070C0"/>
                          </a:solidFill>
                          <a:effectLst/>
                          <a:latin typeface="微软雅黑" panose="020B0503020204020204" pitchFamily="34" charset="-122"/>
                          <a:ea typeface="微软雅黑" panose="020B0503020204020204" pitchFamily="34" charset="-122"/>
                        </a:rPr>
                        <a:t>额定功率约</a:t>
                      </a:r>
                      <a:r>
                        <a:rPr lang="en-US" altLang="zh-CN" sz="900" b="1" dirty="0">
                          <a:solidFill>
                            <a:srgbClr val="0070C0"/>
                          </a:solidFill>
                          <a:effectLst/>
                          <a:latin typeface="微软雅黑" panose="020B0503020204020204" pitchFamily="34" charset="-122"/>
                          <a:ea typeface="微软雅黑" panose="020B0503020204020204" pitchFamily="34" charset="-122"/>
                        </a:rPr>
                        <a:t>180W</a:t>
                      </a:r>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CAN/CANFD</a:t>
                      </a:r>
                      <a:r>
                        <a:rPr lang="zh-CN" altLang="en-US" sz="900" b="1" dirty="0">
                          <a:solidFill>
                            <a:srgbClr val="0070C0"/>
                          </a:solidFill>
                          <a:effectLst/>
                          <a:latin typeface="微软雅黑" panose="020B0503020204020204" pitchFamily="34" charset="-122"/>
                          <a:ea typeface="微软雅黑" panose="020B0503020204020204" pitchFamily="34" charset="-122"/>
                        </a:rPr>
                        <a:t>，此编码器反馈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265rpm </a:t>
                      </a:r>
                      <a:r>
                        <a:rPr lang="zh-CN" altLang="en-US" sz="900" b="1" dirty="0">
                          <a:solidFill>
                            <a:srgbClr val="0070C0"/>
                          </a:solidFill>
                          <a:effectLst/>
                          <a:latin typeface="微软雅黑" panose="020B0503020204020204" pitchFamily="34" charset="-122"/>
                          <a:ea typeface="微软雅黑" panose="020B0503020204020204" pitchFamily="34" charset="-122"/>
                        </a:rPr>
                        <a:t>空载 </a:t>
                      </a:r>
                      <a:r>
                        <a:rPr lang="en-US" altLang="zh-CN" sz="900" b="1" dirty="0">
                          <a:solidFill>
                            <a:srgbClr val="0070C0"/>
                          </a:solidFill>
                          <a:effectLst/>
                          <a:latin typeface="微软雅黑" panose="020B0503020204020204" pitchFamily="34" charset="-122"/>
                          <a:ea typeface="微软雅黑" panose="020B0503020204020204" pitchFamily="34" charset="-122"/>
                        </a:rPr>
                        <a:t>/160rpm</a:t>
                      </a:r>
                      <a:r>
                        <a:rPr lang="zh-CN" altLang="en-US" sz="900" b="1" dirty="0">
                          <a:solidFill>
                            <a:srgbClr val="0070C0"/>
                          </a:solidFill>
                          <a:effectLst/>
                          <a:latin typeface="微软雅黑" panose="020B0503020204020204" pitchFamily="34" charset="-122"/>
                          <a:ea typeface="微软雅黑" panose="020B0503020204020204" pitchFamily="34" charset="-122"/>
                        </a:rPr>
                        <a:t>满载</a:t>
                      </a:r>
                      <a:endParaRPr lang="en-US" altLang="zh-CN" sz="900" b="1" dirty="0">
                        <a:solidFill>
                          <a:srgbClr val="0070C0"/>
                        </a:solidFill>
                        <a:effectLst/>
                        <a:latin typeface="微软雅黑" panose="020B0503020204020204" pitchFamily="34" charset="-122"/>
                        <a:ea typeface="微软雅黑" panose="020B0503020204020204" pitchFamily="34" charset="-122"/>
                      </a:endParaRPr>
                    </a:p>
                    <a:p>
                      <a:pPr rtl="0"/>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2216535"/>
                  </a:ext>
                </a:extLst>
              </a:tr>
            </a:tbl>
          </a:graphicData>
        </a:graphic>
      </p:graphicFrame>
      <p:grpSp>
        <p:nvGrpSpPr>
          <p:cNvPr id="18" name="组合 17">
            <a:extLst>
              <a:ext uri="{FF2B5EF4-FFF2-40B4-BE49-F238E27FC236}">
                <a16:creationId xmlns:a16="http://schemas.microsoft.com/office/drawing/2014/main" id="{001842A6-235B-A878-72AB-52512A568407}"/>
              </a:ext>
            </a:extLst>
          </p:cNvPr>
          <p:cNvGrpSpPr/>
          <p:nvPr/>
        </p:nvGrpSpPr>
        <p:grpSpPr>
          <a:xfrm>
            <a:off x="-209159" y="886455"/>
            <a:ext cx="3844147" cy="5454605"/>
            <a:chOff x="8514710" y="907934"/>
            <a:chExt cx="3844147" cy="5763392"/>
          </a:xfrm>
        </p:grpSpPr>
        <p:pic>
          <p:nvPicPr>
            <p:cNvPr id="14" name="图片 13">
              <a:extLst>
                <a:ext uri="{FF2B5EF4-FFF2-40B4-BE49-F238E27FC236}">
                  <a16:creationId xmlns:a16="http://schemas.microsoft.com/office/drawing/2014/main" id="{DA01E078-E6EB-8E2F-29BD-8E22B4BAB434}"/>
                </a:ext>
              </a:extLst>
            </p:cNvPr>
            <p:cNvPicPr>
              <a:picLocks noChangeAspect="1"/>
            </p:cNvPicPr>
            <p:nvPr/>
          </p:nvPicPr>
          <p:blipFill>
            <a:blip r:embed="rId4"/>
            <a:stretch>
              <a:fillRect/>
            </a:stretch>
          </p:blipFill>
          <p:spPr>
            <a:xfrm>
              <a:off x="9156391" y="1277690"/>
              <a:ext cx="2560781" cy="2669059"/>
            </a:xfrm>
            <a:prstGeom prst="rect">
              <a:avLst/>
            </a:prstGeom>
          </p:spPr>
        </p:pic>
        <p:pic>
          <p:nvPicPr>
            <p:cNvPr id="15" name="图片 14">
              <a:extLst>
                <a:ext uri="{FF2B5EF4-FFF2-40B4-BE49-F238E27FC236}">
                  <a16:creationId xmlns:a16="http://schemas.microsoft.com/office/drawing/2014/main" id="{0562EFB9-D7DB-8253-D4C1-0FD8EE3FBCB7}"/>
                </a:ext>
              </a:extLst>
            </p:cNvPr>
            <p:cNvPicPr>
              <a:picLocks noChangeAspect="1"/>
            </p:cNvPicPr>
            <p:nvPr/>
          </p:nvPicPr>
          <p:blipFill>
            <a:blip r:embed="rId5"/>
            <a:stretch>
              <a:fillRect/>
            </a:stretch>
          </p:blipFill>
          <p:spPr>
            <a:xfrm>
              <a:off x="8514710" y="3871784"/>
              <a:ext cx="3844147" cy="2799542"/>
            </a:xfrm>
            <a:prstGeom prst="rect">
              <a:avLst/>
            </a:prstGeom>
          </p:spPr>
        </p:pic>
        <p:sp>
          <p:nvSpPr>
            <p:cNvPr id="16" name="矩形: 圆角 15">
              <a:extLst>
                <a:ext uri="{FF2B5EF4-FFF2-40B4-BE49-F238E27FC236}">
                  <a16:creationId xmlns:a16="http://schemas.microsoft.com/office/drawing/2014/main" id="{DCB41DAB-3A8E-817F-2808-AFEB62AE048B}"/>
                </a:ext>
              </a:extLst>
            </p:cNvPr>
            <p:cNvSpPr/>
            <p:nvPr/>
          </p:nvSpPr>
          <p:spPr>
            <a:xfrm>
              <a:off x="8954530" y="1076728"/>
              <a:ext cx="2990334" cy="5577988"/>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7022BC82-5347-0FA3-65A0-8906D362B995}"/>
                </a:ext>
              </a:extLst>
            </p:cNvPr>
            <p:cNvSpPr/>
            <p:nvPr/>
          </p:nvSpPr>
          <p:spPr>
            <a:xfrm>
              <a:off x="9526829" y="907934"/>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关节电机</a:t>
              </a:r>
            </a:p>
          </p:txBody>
        </p:sp>
      </p:grpSp>
      <p:sp>
        <p:nvSpPr>
          <p:cNvPr id="24" name="矩形: 圆角 23">
            <a:extLst>
              <a:ext uri="{FF2B5EF4-FFF2-40B4-BE49-F238E27FC236}">
                <a16:creationId xmlns:a16="http://schemas.microsoft.com/office/drawing/2014/main" id="{D379CBA7-A084-305D-30F7-921405827321}"/>
              </a:ext>
            </a:extLst>
          </p:cNvPr>
          <p:cNvSpPr/>
          <p:nvPr/>
        </p:nvSpPr>
        <p:spPr>
          <a:xfrm>
            <a:off x="3372936" y="433310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13">
            <a:extLst>
              <a:ext uri="{FF2B5EF4-FFF2-40B4-BE49-F238E27FC236}">
                <a16:creationId xmlns:a16="http://schemas.microsoft.com/office/drawing/2014/main" id="{D2C98506-AFD3-9D38-19D7-A94168264A99}"/>
              </a:ext>
            </a:extLst>
          </p:cNvPr>
          <p:cNvSpPr/>
          <p:nvPr/>
        </p:nvSpPr>
        <p:spPr>
          <a:xfrm rot="5400000">
            <a:off x="3439903" y="411681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EAC32BD4-D3B1-4C28-714C-A99ABD007BBB}"/>
              </a:ext>
            </a:extLst>
          </p:cNvPr>
          <p:cNvSpPr/>
          <p:nvPr/>
        </p:nvSpPr>
        <p:spPr>
          <a:xfrm>
            <a:off x="4642653" y="4164309"/>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设计目标</a:t>
            </a:r>
          </a:p>
        </p:txBody>
      </p:sp>
      <p:sp>
        <p:nvSpPr>
          <p:cNvPr id="27" name="右箭头 13">
            <a:extLst>
              <a:ext uri="{FF2B5EF4-FFF2-40B4-BE49-F238E27FC236}">
                <a16:creationId xmlns:a16="http://schemas.microsoft.com/office/drawing/2014/main" id="{E0F89C5D-44DF-775C-3C46-033850F1A490}"/>
              </a:ext>
            </a:extLst>
          </p:cNvPr>
          <p:cNvSpPr/>
          <p:nvPr/>
        </p:nvSpPr>
        <p:spPr>
          <a:xfrm rot="10800000">
            <a:off x="7461219" y="5289430"/>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4A5C883B-06F4-4FE0-1ABC-7B2BD821BA03}"/>
              </a:ext>
            </a:extLst>
          </p:cNvPr>
          <p:cNvSpPr txBox="1"/>
          <p:nvPr/>
        </p:nvSpPr>
        <p:spPr>
          <a:xfrm>
            <a:off x="3372936" y="4598416"/>
            <a:ext cx="6198972" cy="2031325"/>
          </a:xfrm>
          <a:prstGeom prst="rect">
            <a:avLst/>
          </a:prstGeom>
          <a:noFill/>
        </p:spPr>
        <p:txBody>
          <a:bodyPr wrap="square">
            <a:spAutoFit/>
          </a:bodyPr>
          <a:lstStyle/>
          <a:p>
            <a:r>
              <a:rPr lang="zh-CN" altLang="en-US" dirty="0"/>
              <a:t>● 输入电压：</a:t>
            </a:r>
            <a:r>
              <a:rPr lang="en-US" altLang="zh-CN" dirty="0"/>
              <a:t>48V ±10%</a:t>
            </a:r>
            <a:r>
              <a:rPr lang="zh-CN" altLang="en-US" dirty="0"/>
              <a:t>（</a:t>
            </a:r>
            <a:r>
              <a:rPr lang="en-US" altLang="zh-CN" dirty="0"/>
              <a:t>41V</a:t>
            </a:r>
            <a:r>
              <a:rPr lang="zh-CN" altLang="en-US" dirty="0"/>
              <a:t>～</a:t>
            </a:r>
            <a:r>
              <a:rPr lang="en-US" altLang="zh-CN" dirty="0"/>
              <a:t>55V</a:t>
            </a:r>
            <a:r>
              <a:rPr lang="zh-CN" altLang="en-US" dirty="0"/>
              <a:t>） </a:t>
            </a:r>
            <a:endParaRPr lang="en-US" altLang="zh-CN" dirty="0"/>
          </a:p>
          <a:p>
            <a:r>
              <a:rPr lang="zh-CN" altLang="en-US" dirty="0"/>
              <a:t>● 额定功率：</a:t>
            </a:r>
            <a:r>
              <a:rPr lang="en-US" altLang="zh-CN" dirty="0"/>
              <a:t>180W</a:t>
            </a:r>
          </a:p>
          <a:p>
            <a:r>
              <a:rPr lang="zh-CN" altLang="en-US" dirty="0"/>
              <a:t>● 通信协议：</a:t>
            </a:r>
            <a:r>
              <a:rPr lang="en-US" altLang="zh-CN" dirty="0"/>
              <a:t>CAN / CANFD </a:t>
            </a:r>
          </a:p>
          <a:p>
            <a:r>
              <a:rPr lang="en-US" altLang="zh-CN" dirty="0"/>
              <a:t>● </a:t>
            </a:r>
            <a:r>
              <a:rPr lang="zh-CN" altLang="en-US" dirty="0"/>
              <a:t>相电流： ≥</a:t>
            </a:r>
            <a:r>
              <a:rPr lang="en-US" altLang="zh-CN" dirty="0"/>
              <a:t>3A RMS / ≥10A Peak</a:t>
            </a:r>
          </a:p>
          <a:p>
            <a:r>
              <a:rPr lang="zh-CN" altLang="en-US" dirty="0"/>
              <a:t>● 转速：空载 </a:t>
            </a:r>
            <a:r>
              <a:rPr lang="en-US" altLang="zh-CN" dirty="0"/>
              <a:t>265rpm / </a:t>
            </a:r>
            <a:r>
              <a:rPr lang="zh-CN" altLang="en-US" dirty="0"/>
              <a:t>满载 </a:t>
            </a:r>
            <a:r>
              <a:rPr lang="en-US" altLang="zh-CN" dirty="0"/>
              <a:t>160rpm</a:t>
            </a:r>
          </a:p>
          <a:p>
            <a:r>
              <a:rPr lang="zh-CN" altLang="en-US" dirty="0"/>
              <a:t>● 开关频率：</a:t>
            </a:r>
            <a:r>
              <a:rPr lang="en-US" altLang="zh-CN" dirty="0"/>
              <a:t>20 kHz</a:t>
            </a:r>
          </a:p>
          <a:p>
            <a:endParaRPr lang="zh-CN" altLang="en-US" dirty="0"/>
          </a:p>
        </p:txBody>
      </p:sp>
    </p:spTree>
    <p:extLst>
      <p:ext uri="{BB962C8B-B14F-4D97-AF65-F5344CB8AC3E}">
        <p14:creationId xmlns:p14="http://schemas.microsoft.com/office/powerpoint/2010/main" val="30280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ACDC15F-C9FB-132A-4CF9-CBC01E73F303}"/>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MP4583</a:t>
            </a:r>
            <a:r>
              <a:rPr lang="zh-CN" altLang="en-US" dirty="0">
                <a:solidFill>
                  <a:schemeClr val="bg1"/>
                </a:solidFill>
              </a:rPr>
              <a:t>、</a:t>
            </a:r>
            <a:r>
              <a:rPr lang="en-US" altLang="zh-CN" dirty="0">
                <a:solidFill>
                  <a:schemeClr val="bg1"/>
                </a:solidFill>
              </a:rPr>
              <a:t>MP3632S</a:t>
            </a:r>
            <a:endParaRPr dirty="0">
              <a:solidFill>
                <a:schemeClr val="bg1"/>
              </a:solidFill>
            </a:endParaRPr>
          </a:p>
        </p:txBody>
      </p:sp>
      <p:sp>
        <p:nvSpPr>
          <p:cNvPr id="2" name="右箭头 13">
            <a:extLst>
              <a:ext uri="{FF2B5EF4-FFF2-40B4-BE49-F238E27FC236}">
                <a16:creationId xmlns:a16="http://schemas.microsoft.com/office/drawing/2014/main" id="{62B0EADA-F408-C70C-8252-B225DA2E46D8}"/>
              </a:ext>
            </a:extLst>
          </p:cNvPr>
          <p:cNvSpPr/>
          <p:nvPr/>
        </p:nvSpPr>
        <p:spPr>
          <a:xfrm>
            <a:off x="1549767"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48V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pic>
        <p:nvPicPr>
          <p:cNvPr id="4" name="Picture 2" descr="MP4583">
            <a:extLst>
              <a:ext uri="{FF2B5EF4-FFF2-40B4-BE49-F238E27FC236}">
                <a16:creationId xmlns:a16="http://schemas.microsoft.com/office/drawing/2014/main" id="{45AFD319-C8BD-F77B-2F7A-579C37CE7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81" r="22239"/>
          <a:stretch/>
        </p:blipFill>
        <p:spPr bwMode="auto">
          <a:xfrm>
            <a:off x="2359712" y="1524059"/>
            <a:ext cx="1421541" cy="132432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552E2EE-81E7-64FF-3867-33E829B3D5B4}"/>
              </a:ext>
            </a:extLst>
          </p:cNvPr>
          <p:cNvSpPr txBox="1"/>
          <p:nvPr/>
        </p:nvSpPr>
        <p:spPr>
          <a:xfrm>
            <a:off x="1983490" y="2793868"/>
            <a:ext cx="2087975"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100V DC-DC MP4583</a:t>
            </a:r>
            <a:endParaRPr lang="zh-CN" altLang="en-US" sz="1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70FAB73-99BC-4EDA-EA51-5233D3B6C64E}"/>
              </a:ext>
            </a:extLst>
          </p:cNvPr>
          <p:cNvPicPr>
            <a:picLocks noChangeAspect="1"/>
          </p:cNvPicPr>
          <p:nvPr/>
        </p:nvPicPr>
        <p:blipFill>
          <a:blip r:embed="rId4"/>
          <a:stretch>
            <a:fillRect/>
          </a:stretch>
        </p:blipFill>
        <p:spPr>
          <a:xfrm>
            <a:off x="8233093" y="604121"/>
            <a:ext cx="1365817" cy="1365817"/>
          </a:xfrm>
          <a:prstGeom prst="rect">
            <a:avLst/>
          </a:prstGeom>
        </p:spPr>
      </p:pic>
      <p:pic>
        <p:nvPicPr>
          <p:cNvPr id="12" name="图片 11">
            <a:extLst>
              <a:ext uri="{FF2B5EF4-FFF2-40B4-BE49-F238E27FC236}">
                <a16:creationId xmlns:a16="http://schemas.microsoft.com/office/drawing/2014/main" id="{BA3E7E5C-D883-7686-2B34-59FC8C859301}"/>
              </a:ext>
            </a:extLst>
          </p:cNvPr>
          <p:cNvPicPr>
            <a:picLocks noChangeAspect="1"/>
          </p:cNvPicPr>
          <p:nvPr/>
        </p:nvPicPr>
        <p:blipFill>
          <a:blip r:embed="rId5"/>
          <a:stretch>
            <a:fillRect/>
          </a:stretch>
        </p:blipFill>
        <p:spPr>
          <a:xfrm>
            <a:off x="4668863" y="1335334"/>
            <a:ext cx="1725330" cy="1732401"/>
          </a:xfrm>
          <a:prstGeom prst="rect">
            <a:avLst/>
          </a:prstGeom>
        </p:spPr>
      </p:pic>
      <p:sp>
        <p:nvSpPr>
          <p:cNvPr id="13" name="文本框 12">
            <a:extLst>
              <a:ext uri="{FF2B5EF4-FFF2-40B4-BE49-F238E27FC236}">
                <a16:creationId xmlns:a16="http://schemas.microsoft.com/office/drawing/2014/main" id="{223CD115-2A87-EEDE-3840-C7179EE64FD6}"/>
              </a:ext>
            </a:extLst>
          </p:cNvPr>
          <p:cNvSpPr txBox="1"/>
          <p:nvPr/>
        </p:nvSpPr>
        <p:spPr>
          <a:xfrm>
            <a:off x="4392436" y="2816257"/>
            <a:ext cx="2278184"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12V DC-DC MPM3632S</a:t>
            </a:r>
            <a:endParaRPr lang="zh-CN" altLang="en-US" sz="14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9A522E3-096D-5C19-21F0-2471A70F3EA9}"/>
              </a:ext>
            </a:extLst>
          </p:cNvPr>
          <p:cNvSpPr txBox="1"/>
          <p:nvPr/>
        </p:nvSpPr>
        <p:spPr>
          <a:xfrm>
            <a:off x="7964230" y="1838840"/>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FB3FC742-FC2F-392D-305F-2B7B9F049E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507" r="23445"/>
          <a:stretch/>
        </p:blipFill>
        <p:spPr bwMode="auto">
          <a:xfrm>
            <a:off x="8354321" y="2303865"/>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9EE7C1E8-C66D-CD10-B401-472D7B82A756}"/>
              </a:ext>
            </a:extLst>
          </p:cNvPr>
          <p:cNvSpPr txBox="1"/>
          <p:nvPr/>
        </p:nvSpPr>
        <p:spPr>
          <a:xfrm>
            <a:off x="7993328" y="3202420"/>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17" name="右箭头 13">
            <a:extLst>
              <a:ext uri="{FF2B5EF4-FFF2-40B4-BE49-F238E27FC236}">
                <a16:creationId xmlns:a16="http://schemas.microsoft.com/office/drawing/2014/main" id="{7C9EC11C-06DC-E122-D3B5-3FEEA966666C}"/>
              </a:ext>
            </a:extLst>
          </p:cNvPr>
          <p:cNvSpPr/>
          <p:nvPr/>
        </p:nvSpPr>
        <p:spPr>
          <a:xfrm>
            <a:off x="3871219"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19" name="圆角矩形 61">
            <a:extLst>
              <a:ext uri="{FF2B5EF4-FFF2-40B4-BE49-F238E27FC236}">
                <a16:creationId xmlns:a16="http://schemas.microsoft.com/office/drawing/2014/main" id="{892160DF-DEB7-6579-015B-71A04574371A}"/>
              </a:ext>
            </a:extLst>
          </p:cNvPr>
          <p:cNvSpPr/>
          <p:nvPr/>
        </p:nvSpPr>
        <p:spPr>
          <a:xfrm>
            <a:off x="310274" y="1980564"/>
            <a:ext cx="1101280" cy="42194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48 </a:t>
            </a:r>
            <a:r>
              <a:rPr lang="en-US" altLang="zh-CN" sz="1599" b="1" dirty="0" err="1">
                <a:solidFill>
                  <a:schemeClr val="bg1"/>
                </a:solidFill>
                <a:latin typeface="微软雅黑" panose="020B0503020204020204" pitchFamily="34" charset="-122"/>
                <a:ea typeface="微软雅黑" panose="020B0503020204020204" pitchFamily="34" charset="-122"/>
                <a:sym typeface="+mn-ea"/>
              </a:rPr>
              <a:t>Vbat</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1" name="任意多边形: 形状 20">
            <a:extLst>
              <a:ext uri="{FF2B5EF4-FFF2-40B4-BE49-F238E27FC236}">
                <a16:creationId xmlns:a16="http://schemas.microsoft.com/office/drawing/2014/main" id="{4F67733B-132C-05F1-CF01-9B667D158539}"/>
              </a:ext>
            </a:extLst>
          </p:cNvPr>
          <p:cNvSpPr/>
          <p:nvPr/>
        </p:nvSpPr>
        <p:spPr>
          <a:xfrm>
            <a:off x="6497773" y="1169262"/>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2A83B114-5206-1F19-D73E-E30EB2AF53AA}"/>
              </a:ext>
            </a:extLst>
          </p:cNvPr>
          <p:cNvSpPr txBox="1"/>
          <p:nvPr/>
        </p:nvSpPr>
        <p:spPr>
          <a:xfrm>
            <a:off x="7033740" y="2832453"/>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5" name="文本框 24">
            <a:extLst>
              <a:ext uri="{FF2B5EF4-FFF2-40B4-BE49-F238E27FC236}">
                <a16:creationId xmlns:a16="http://schemas.microsoft.com/office/drawing/2014/main" id="{4E17F16D-6C6D-89C5-87DF-6F70DFAC2C43}"/>
              </a:ext>
            </a:extLst>
          </p:cNvPr>
          <p:cNvSpPr txBox="1"/>
          <p:nvPr/>
        </p:nvSpPr>
        <p:spPr>
          <a:xfrm>
            <a:off x="7093559" y="1331620"/>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6" name="右箭头 13">
            <a:extLst>
              <a:ext uri="{FF2B5EF4-FFF2-40B4-BE49-F238E27FC236}">
                <a16:creationId xmlns:a16="http://schemas.microsoft.com/office/drawing/2014/main" id="{AEF40B04-02DA-8B44-15AF-3A253DBDC270}"/>
              </a:ext>
            </a:extLst>
          </p:cNvPr>
          <p:cNvSpPr/>
          <p:nvPr/>
        </p:nvSpPr>
        <p:spPr>
          <a:xfrm>
            <a:off x="9689560" y="1249026"/>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7" name="圆角矩形 61">
            <a:extLst>
              <a:ext uri="{FF2B5EF4-FFF2-40B4-BE49-F238E27FC236}">
                <a16:creationId xmlns:a16="http://schemas.microsoft.com/office/drawing/2014/main" id="{36C2F67A-EFF2-8746-42E9-227562ACB758}"/>
              </a:ext>
            </a:extLst>
          </p:cNvPr>
          <p:cNvSpPr/>
          <p:nvPr/>
        </p:nvSpPr>
        <p:spPr>
          <a:xfrm>
            <a:off x="10610455" y="1305880"/>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VCC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8" name="圆角矩形 61">
            <a:extLst>
              <a:ext uri="{FF2B5EF4-FFF2-40B4-BE49-F238E27FC236}">
                <a16:creationId xmlns:a16="http://schemas.microsoft.com/office/drawing/2014/main" id="{C0244289-9974-3CF4-BFED-E1A326A7821A}"/>
              </a:ext>
            </a:extLst>
          </p:cNvPr>
          <p:cNvSpPr/>
          <p:nvPr/>
        </p:nvSpPr>
        <p:spPr>
          <a:xfrm>
            <a:off x="10610455" y="2736967"/>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ISO_5V</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3695EE12-7042-348E-25AF-A886914D7E6F}"/>
              </a:ext>
            </a:extLst>
          </p:cNvPr>
          <p:cNvSpPr/>
          <p:nvPr/>
        </p:nvSpPr>
        <p:spPr>
          <a:xfrm>
            <a:off x="9689560" y="269370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1D4222A5-C92D-2498-EFD1-8243008B58D5}"/>
              </a:ext>
            </a:extLst>
          </p:cNvPr>
          <p:cNvGrpSpPr/>
          <p:nvPr/>
        </p:nvGrpSpPr>
        <p:grpSpPr>
          <a:xfrm>
            <a:off x="226877" y="3883428"/>
            <a:ext cx="4028663" cy="2694844"/>
            <a:chOff x="226877" y="3996318"/>
            <a:chExt cx="4731203" cy="2581953"/>
          </a:xfrm>
        </p:grpSpPr>
        <p:sp>
          <p:nvSpPr>
            <p:cNvPr id="31" name="矩形 26">
              <a:extLst>
                <a:ext uri="{FF2B5EF4-FFF2-40B4-BE49-F238E27FC236}">
                  <a16:creationId xmlns:a16="http://schemas.microsoft.com/office/drawing/2014/main" id="{07F95FF8-0C78-3D8A-4A9E-90E91EF80BA9}"/>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A5ED415C-9AC7-34A0-9278-821BCBC471C2}"/>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MP4583</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8" name="文本框 47">
            <a:extLst>
              <a:ext uri="{FF2B5EF4-FFF2-40B4-BE49-F238E27FC236}">
                <a16:creationId xmlns:a16="http://schemas.microsoft.com/office/drawing/2014/main" id="{D61BF823-68A3-7E51-F8FE-3A739BEE18C7}"/>
              </a:ext>
            </a:extLst>
          </p:cNvPr>
          <p:cNvSpPr txBox="1"/>
          <p:nvPr/>
        </p:nvSpPr>
        <p:spPr>
          <a:xfrm>
            <a:off x="296202" y="4314404"/>
            <a:ext cx="4028663" cy="1754326"/>
          </a:xfrm>
          <a:prstGeom prst="rect">
            <a:avLst/>
          </a:prstGeom>
          <a:noFill/>
        </p:spPr>
        <p:txBody>
          <a:bodyPr wrap="square">
            <a:spAutoFit/>
          </a:bodyPr>
          <a:lstStyle/>
          <a:p>
            <a:r>
              <a:rPr lang="zh-CN" altLang="en-US" dirty="0"/>
              <a:t>● 宽压输入 </a:t>
            </a:r>
            <a:r>
              <a:rPr lang="en-US" altLang="zh-CN" dirty="0"/>
              <a:t>4.5V</a:t>
            </a:r>
            <a:r>
              <a:rPr lang="zh-CN" altLang="en-US" dirty="0"/>
              <a:t>～</a:t>
            </a:r>
            <a:r>
              <a:rPr lang="en-US" altLang="zh-CN" dirty="0"/>
              <a:t>100V</a:t>
            </a:r>
            <a:r>
              <a:rPr lang="zh-CN" altLang="en-US" dirty="0"/>
              <a:t>，输出 </a:t>
            </a:r>
            <a:r>
              <a:rPr lang="en-US" altLang="zh-CN" dirty="0"/>
              <a:t>3A</a:t>
            </a:r>
            <a:r>
              <a:rPr lang="zh-CN" altLang="en-US" dirty="0"/>
              <a:t>，</a:t>
            </a:r>
            <a:endParaRPr lang="en-US" altLang="zh-CN" dirty="0"/>
          </a:p>
          <a:p>
            <a:r>
              <a:rPr lang="zh-CN" altLang="en-US" dirty="0"/>
              <a:t>● 静态功耗 </a:t>
            </a:r>
            <a:r>
              <a:rPr lang="en-US" altLang="zh-CN" dirty="0"/>
              <a:t>8μA </a:t>
            </a:r>
          </a:p>
          <a:p>
            <a:r>
              <a:rPr lang="en-US" altLang="zh-CN" dirty="0"/>
              <a:t>● </a:t>
            </a:r>
            <a:r>
              <a:rPr lang="zh-CN" altLang="en-US" dirty="0"/>
              <a:t>集成 </a:t>
            </a:r>
            <a:r>
              <a:rPr lang="en-US" altLang="zh-CN" dirty="0"/>
              <a:t>MOSFET</a:t>
            </a:r>
            <a:r>
              <a:rPr lang="zh-CN" altLang="en-US" dirty="0"/>
              <a:t>，内置 </a:t>
            </a:r>
            <a:r>
              <a:rPr lang="en-US" altLang="zh-CN" dirty="0"/>
              <a:t>FCCM </a:t>
            </a:r>
            <a:r>
              <a:rPr lang="zh-CN" altLang="en-US" dirty="0"/>
              <a:t>模式</a:t>
            </a:r>
            <a:endParaRPr lang="en-US" altLang="zh-CN" dirty="0"/>
          </a:p>
          <a:p>
            <a:r>
              <a:rPr lang="zh-CN" altLang="en-US" dirty="0"/>
              <a:t>● 内置</a:t>
            </a:r>
            <a:r>
              <a:rPr lang="en-US" altLang="zh-CN" dirty="0"/>
              <a:t>OCP / SCP / OVP / OTP </a:t>
            </a:r>
            <a:r>
              <a:rPr lang="zh-CN" altLang="en-US" dirty="0"/>
              <a:t>四重保护 </a:t>
            </a:r>
            <a:endParaRPr lang="en-US" altLang="zh-CN" dirty="0"/>
          </a:p>
          <a:p>
            <a:r>
              <a:rPr lang="zh-CN" altLang="en-US" dirty="0"/>
              <a:t>● 内置环路补偿，外围精简</a:t>
            </a:r>
          </a:p>
        </p:txBody>
      </p:sp>
      <p:sp>
        <p:nvSpPr>
          <p:cNvPr id="49" name="AutoShape 2">
            <a:extLst>
              <a:ext uri="{FF2B5EF4-FFF2-40B4-BE49-F238E27FC236}">
                <a16:creationId xmlns:a16="http://schemas.microsoft.com/office/drawing/2014/main" id="{3524D454-F343-5C47-0624-936BE4B797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C3D2B80A-C5B0-EE5F-61F9-5D4C87E497EB}"/>
              </a:ext>
            </a:extLst>
          </p:cNvPr>
          <p:cNvGrpSpPr/>
          <p:nvPr/>
        </p:nvGrpSpPr>
        <p:grpSpPr>
          <a:xfrm>
            <a:off x="6931720" y="3883428"/>
            <a:ext cx="4964078" cy="2694844"/>
            <a:chOff x="226877" y="3996318"/>
            <a:chExt cx="4731203" cy="2581953"/>
          </a:xfrm>
        </p:grpSpPr>
        <p:sp>
          <p:nvSpPr>
            <p:cNvPr id="53" name="矩形 26">
              <a:extLst>
                <a:ext uri="{FF2B5EF4-FFF2-40B4-BE49-F238E27FC236}">
                  <a16:creationId xmlns:a16="http://schemas.microsoft.com/office/drawing/2014/main" id="{7AFACD28-C396-8058-28DD-7CDDEA1E0DDF}"/>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863E3E-699B-3A82-8DE6-27EE1630A8DE}"/>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MP3632S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56" name="文本框 55">
            <a:extLst>
              <a:ext uri="{FF2B5EF4-FFF2-40B4-BE49-F238E27FC236}">
                <a16:creationId xmlns:a16="http://schemas.microsoft.com/office/drawing/2014/main" id="{3E686FDF-D209-16D3-3FBB-1B052C3731D7}"/>
              </a:ext>
            </a:extLst>
          </p:cNvPr>
          <p:cNvSpPr txBox="1"/>
          <p:nvPr/>
        </p:nvSpPr>
        <p:spPr>
          <a:xfrm>
            <a:off x="6931720" y="4314404"/>
            <a:ext cx="4964078" cy="2031325"/>
          </a:xfrm>
          <a:prstGeom prst="rect">
            <a:avLst/>
          </a:prstGeom>
          <a:noFill/>
        </p:spPr>
        <p:txBody>
          <a:bodyPr wrap="square">
            <a:spAutoFit/>
          </a:bodyPr>
          <a:lstStyle/>
          <a:p>
            <a:r>
              <a:rPr lang="zh-CN" altLang="en-US" dirty="0"/>
              <a:t>● </a:t>
            </a:r>
            <a:r>
              <a:rPr lang="en-US" altLang="zh-CN" dirty="0"/>
              <a:t>EC LGA-10 </a:t>
            </a:r>
            <a:r>
              <a:rPr lang="zh-CN" altLang="en-US" dirty="0"/>
              <a:t>封装，仅 </a:t>
            </a:r>
            <a:r>
              <a:rPr lang="en-US" altLang="zh-CN" dirty="0"/>
              <a:t>3×3×1.45mm,</a:t>
            </a:r>
            <a:r>
              <a:rPr lang="zh-CN" altLang="en-US" dirty="0"/>
              <a:t>且集成了电感和部分电容</a:t>
            </a:r>
            <a:endParaRPr lang="en-US" altLang="zh-CN" dirty="0"/>
          </a:p>
          <a:p>
            <a:r>
              <a:rPr lang="zh-CN" altLang="en-US" dirty="0"/>
              <a:t>● </a:t>
            </a:r>
            <a:r>
              <a:rPr lang="en-US" altLang="zh-CN" dirty="0"/>
              <a:t>2.2MHz </a:t>
            </a:r>
            <a:r>
              <a:rPr lang="zh-CN" altLang="en-US" dirty="0"/>
              <a:t>高频 </a:t>
            </a:r>
            <a:r>
              <a:rPr lang="en-US" altLang="zh-CN" dirty="0"/>
              <a:t>COT </a:t>
            </a:r>
            <a:r>
              <a:rPr lang="zh-CN" altLang="en-US" dirty="0"/>
              <a:t>控制，快速负载瞬态响应</a:t>
            </a:r>
            <a:endParaRPr lang="en-US" altLang="zh-CN" dirty="0"/>
          </a:p>
          <a:p>
            <a:r>
              <a:rPr lang="zh-CN" altLang="en-US" dirty="0"/>
              <a:t>● 集成 </a:t>
            </a:r>
            <a:r>
              <a:rPr lang="en-US" altLang="zh-CN" dirty="0"/>
              <a:t>OCP</a:t>
            </a:r>
            <a:r>
              <a:rPr lang="zh-CN" altLang="en-US" dirty="0"/>
              <a:t>（打嗝模式）</a:t>
            </a:r>
            <a:r>
              <a:rPr lang="en-US" altLang="zh-CN" dirty="0"/>
              <a:t>/ OVP / 150°C </a:t>
            </a:r>
            <a:r>
              <a:rPr lang="zh-CN" altLang="en-US" dirty="0"/>
              <a:t>热关断三重保护</a:t>
            </a:r>
            <a:endParaRPr lang="en-US" altLang="zh-CN" dirty="0"/>
          </a:p>
          <a:p>
            <a:r>
              <a:rPr lang="zh-CN" altLang="en-US" dirty="0"/>
              <a:t>● 输出精度 </a:t>
            </a:r>
            <a:r>
              <a:rPr lang="en-US" altLang="zh-CN" dirty="0"/>
              <a:t>±0.5%</a:t>
            </a:r>
            <a:r>
              <a:rPr lang="zh-CN" altLang="en-US" dirty="0"/>
              <a:t>，负载</a:t>
            </a:r>
            <a:r>
              <a:rPr lang="en-US" altLang="zh-CN" dirty="0"/>
              <a:t>/</a:t>
            </a:r>
            <a:r>
              <a:rPr lang="zh-CN" altLang="en-US" dirty="0"/>
              <a:t>线性调整率均 </a:t>
            </a:r>
            <a:r>
              <a:rPr lang="en-US" altLang="zh-CN" dirty="0"/>
              <a:t>&lt;0.5%</a:t>
            </a:r>
          </a:p>
          <a:p>
            <a:r>
              <a:rPr lang="zh-CN" altLang="en-US" dirty="0"/>
              <a:t>●强制 </a:t>
            </a:r>
            <a:r>
              <a:rPr lang="en-US" altLang="zh-CN" dirty="0"/>
              <a:t>CCM </a:t>
            </a:r>
            <a:r>
              <a:rPr lang="zh-CN" altLang="en-US" dirty="0"/>
              <a:t>模式</a:t>
            </a:r>
          </a:p>
        </p:txBody>
      </p:sp>
      <p:grpSp>
        <p:nvGrpSpPr>
          <p:cNvPr id="10" name="组合 9">
            <a:extLst>
              <a:ext uri="{FF2B5EF4-FFF2-40B4-BE49-F238E27FC236}">
                <a16:creationId xmlns:a16="http://schemas.microsoft.com/office/drawing/2014/main" id="{3A46B227-D421-DAB1-C769-A82BF6A282A3}"/>
              </a:ext>
            </a:extLst>
          </p:cNvPr>
          <p:cNvGrpSpPr/>
          <p:nvPr/>
        </p:nvGrpSpPr>
        <p:grpSpPr>
          <a:xfrm>
            <a:off x="4071465" y="3901445"/>
            <a:ext cx="3237835" cy="2610235"/>
            <a:chOff x="4071465" y="3909632"/>
            <a:chExt cx="3186421" cy="2483112"/>
          </a:xfrm>
        </p:grpSpPr>
        <p:pic>
          <p:nvPicPr>
            <p:cNvPr id="3" name="图片 2">
              <a:extLst>
                <a:ext uri="{FF2B5EF4-FFF2-40B4-BE49-F238E27FC236}">
                  <a16:creationId xmlns:a16="http://schemas.microsoft.com/office/drawing/2014/main" id="{621101C2-60A1-ED8A-A52D-56FBA868F63D}"/>
                </a:ext>
              </a:extLst>
            </p:cNvPr>
            <p:cNvPicPr>
              <a:picLocks noChangeAspect="1"/>
            </p:cNvPicPr>
            <p:nvPr/>
          </p:nvPicPr>
          <p:blipFill>
            <a:blip r:embed="rId7"/>
            <a:stretch>
              <a:fillRect/>
            </a:stretch>
          </p:blipFill>
          <p:spPr>
            <a:xfrm>
              <a:off x="4071465" y="3909632"/>
              <a:ext cx="3186421" cy="2483112"/>
            </a:xfrm>
            <a:prstGeom prst="rect">
              <a:avLst/>
            </a:prstGeom>
          </p:spPr>
        </p:pic>
        <p:sp>
          <p:nvSpPr>
            <p:cNvPr id="6" name="矩形 5">
              <a:extLst>
                <a:ext uri="{FF2B5EF4-FFF2-40B4-BE49-F238E27FC236}">
                  <a16:creationId xmlns:a16="http://schemas.microsoft.com/office/drawing/2014/main" id="{7F19EC81-EAC7-D009-BEEA-FEA385250CD9}"/>
                </a:ext>
              </a:extLst>
            </p:cNvPr>
            <p:cNvSpPr/>
            <p:nvPr/>
          </p:nvSpPr>
          <p:spPr>
            <a:xfrm rot="2689454">
              <a:off x="5985734" y="5431140"/>
              <a:ext cx="404933" cy="2865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828FAB61-0DAE-FEB1-C4B7-51B6A7C98F39}"/>
                </a:ext>
              </a:extLst>
            </p:cNvPr>
            <p:cNvSpPr/>
            <p:nvPr/>
          </p:nvSpPr>
          <p:spPr>
            <a:xfrm rot="2689454">
              <a:off x="6007072" y="4791080"/>
              <a:ext cx="334791" cy="2865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2806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9064-ECF0-D655-517A-3188A7D40BFC}"/>
            </a:ext>
          </a:extLst>
        </p:cNvPr>
        <p:cNvGrpSpPr/>
        <p:nvPr/>
      </p:nvGrpSpPr>
      <p:grpSpPr>
        <a:xfrm>
          <a:off x="0" y="0"/>
          <a:ext cx="0" cy="0"/>
          <a:chOff x="0" y="0"/>
          <a:chExt cx="0" cy="0"/>
        </a:xfrm>
      </p:grpSpPr>
      <p:sp>
        <p:nvSpPr>
          <p:cNvPr id="30" name="矩形 29">
            <a:extLst>
              <a:ext uri="{FF2B5EF4-FFF2-40B4-BE49-F238E27FC236}">
                <a16:creationId xmlns:a16="http://schemas.microsoft.com/office/drawing/2014/main" id="{48F36709-4F2C-3590-4C24-48D9C9182D7E}"/>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7DCFA4BB-2104-C961-2E52-71AF7193E8DE}"/>
              </a:ext>
            </a:extLst>
          </p:cNvPr>
          <p:cNvSpPr/>
          <p:nvPr/>
        </p:nvSpPr>
        <p:spPr>
          <a:xfrm>
            <a:off x="7961607" y="800638"/>
            <a:ext cx="3919017" cy="292500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D9C1941-567C-1A88-7AAA-3ABCDA3871A1}"/>
              </a:ext>
            </a:extLst>
          </p:cNvPr>
          <p:cNvSpPr/>
          <p:nvPr/>
        </p:nvSpPr>
        <p:spPr>
          <a:xfrm>
            <a:off x="7960507" y="2370512"/>
            <a:ext cx="2000757" cy="13576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FDF3BDA6-3532-F529-55AF-BDD3A0D10FD5}"/>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MIE1W0505</a:t>
            </a:r>
            <a:r>
              <a:rPr lang="zh-CN" altLang="en-US" dirty="0">
                <a:solidFill>
                  <a:schemeClr val="bg1"/>
                </a:solidFill>
              </a:rPr>
              <a:t>、</a:t>
            </a:r>
            <a:r>
              <a:rPr lang="en-US" altLang="zh-CN" dirty="0">
                <a:solidFill>
                  <a:schemeClr val="bg1"/>
                </a:solidFill>
              </a:rPr>
              <a:t>MP20051DQ</a:t>
            </a:r>
            <a:endParaRPr dirty="0">
              <a:solidFill>
                <a:schemeClr val="bg1"/>
              </a:solidFill>
            </a:endParaRPr>
          </a:p>
        </p:txBody>
      </p:sp>
      <p:pic>
        <p:nvPicPr>
          <p:cNvPr id="8" name="图片 7">
            <a:extLst>
              <a:ext uri="{FF2B5EF4-FFF2-40B4-BE49-F238E27FC236}">
                <a16:creationId xmlns:a16="http://schemas.microsoft.com/office/drawing/2014/main" id="{7217F36B-252C-9E25-D2E7-E7EDC3FFF010}"/>
              </a:ext>
            </a:extLst>
          </p:cNvPr>
          <p:cNvPicPr>
            <a:picLocks noChangeAspect="1"/>
          </p:cNvPicPr>
          <p:nvPr/>
        </p:nvPicPr>
        <p:blipFill>
          <a:blip r:embed="rId3"/>
          <a:stretch>
            <a:fillRect/>
          </a:stretch>
        </p:blipFill>
        <p:spPr>
          <a:xfrm>
            <a:off x="5233335" y="656386"/>
            <a:ext cx="1365817" cy="1365817"/>
          </a:xfrm>
          <a:prstGeom prst="rect">
            <a:avLst/>
          </a:prstGeom>
        </p:spPr>
      </p:pic>
      <p:sp>
        <p:nvSpPr>
          <p:cNvPr id="14" name="文本框 13">
            <a:extLst>
              <a:ext uri="{FF2B5EF4-FFF2-40B4-BE49-F238E27FC236}">
                <a16:creationId xmlns:a16="http://schemas.microsoft.com/office/drawing/2014/main" id="{BDBCB212-BE44-3578-D817-6A7B66FC81E0}"/>
              </a:ext>
            </a:extLst>
          </p:cNvPr>
          <p:cNvSpPr txBox="1"/>
          <p:nvPr/>
        </p:nvSpPr>
        <p:spPr>
          <a:xfrm>
            <a:off x="4964472" y="1938708"/>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228410D6-AEC5-2B65-6C33-143558200F7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507" r="23445"/>
          <a:stretch/>
        </p:blipFill>
        <p:spPr bwMode="auto">
          <a:xfrm>
            <a:off x="5325465" y="2261748"/>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E65F38DC-E17A-1307-ED86-EDB5F33C01AE}"/>
              </a:ext>
            </a:extLst>
          </p:cNvPr>
          <p:cNvSpPr txBox="1"/>
          <p:nvPr/>
        </p:nvSpPr>
        <p:spPr>
          <a:xfrm>
            <a:off x="4964472" y="3160303"/>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26" name="右箭头 13">
            <a:extLst>
              <a:ext uri="{FF2B5EF4-FFF2-40B4-BE49-F238E27FC236}">
                <a16:creationId xmlns:a16="http://schemas.microsoft.com/office/drawing/2014/main" id="{324441A0-F055-B8C2-A7A8-39B3D67DB8EA}"/>
              </a:ext>
            </a:extLst>
          </p:cNvPr>
          <p:cNvSpPr/>
          <p:nvPr/>
        </p:nvSpPr>
        <p:spPr>
          <a:xfrm>
            <a:off x="6703709" y="1162277"/>
            <a:ext cx="1256797"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622B2CDE-237E-782B-92AB-F7D7ED209AB8}"/>
              </a:ext>
            </a:extLst>
          </p:cNvPr>
          <p:cNvSpPr/>
          <p:nvPr/>
        </p:nvSpPr>
        <p:spPr>
          <a:xfrm>
            <a:off x="6689802" y="2557857"/>
            <a:ext cx="1271255"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ISO_5V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043BE0BB-2CB2-4E33-BED1-E4266C26D421}"/>
              </a:ext>
            </a:extLst>
          </p:cNvPr>
          <p:cNvGrpSpPr/>
          <p:nvPr/>
        </p:nvGrpSpPr>
        <p:grpSpPr>
          <a:xfrm>
            <a:off x="4325658" y="3875741"/>
            <a:ext cx="4028663" cy="2694844"/>
            <a:chOff x="226877" y="3996318"/>
            <a:chExt cx="4731203" cy="2581953"/>
          </a:xfrm>
        </p:grpSpPr>
        <p:sp>
          <p:nvSpPr>
            <p:cNvPr id="31" name="矩形 26">
              <a:extLst>
                <a:ext uri="{FF2B5EF4-FFF2-40B4-BE49-F238E27FC236}">
                  <a16:creationId xmlns:a16="http://schemas.microsoft.com/office/drawing/2014/main" id="{BF323283-E718-F7C3-177B-CCEB4BE2D785}"/>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29458F3D-ADD9-7E03-65D9-ACB9101A2AB1}"/>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MIE1W0505</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9" name="AutoShape 2">
            <a:extLst>
              <a:ext uri="{FF2B5EF4-FFF2-40B4-BE49-F238E27FC236}">
                <a16:creationId xmlns:a16="http://schemas.microsoft.com/office/drawing/2014/main" id="{A07A1D26-CA3B-4F92-D9BF-C7FFBBC385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2312609A-763E-6E32-22F5-3056E38F37F8}"/>
              </a:ext>
            </a:extLst>
          </p:cNvPr>
          <p:cNvGrpSpPr/>
          <p:nvPr/>
        </p:nvGrpSpPr>
        <p:grpSpPr>
          <a:xfrm>
            <a:off x="8423056" y="3875741"/>
            <a:ext cx="3465965" cy="2694844"/>
            <a:chOff x="226877" y="3996318"/>
            <a:chExt cx="4731203" cy="2581953"/>
          </a:xfrm>
        </p:grpSpPr>
        <p:sp>
          <p:nvSpPr>
            <p:cNvPr id="53" name="矩形 26">
              <a:extLst>
                <a:ext uri="{FF2B5EF4-FFF2-40B4-BE49-F238E27FC236}">
                  <a16:creationId xmlns:a16="http://schemas.microsoft.com/office/drawing/2014/main" id="{5D3B8C59-352E-BC34-4DA1-4DD5E7CFE720}"/>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DDA77F-98EF-D93B-026C-AE5C5658DC0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MP20051DQ</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pic>
        <p:nvPicPr>
          <p:cNvPr id="6" name="图片 5">
            <a:extLst>
              <a:ext uri="{FF2B5EF4-FFF2-40B4-BE49-F238E27FC236}">
                <a16:creationId xmlns:a16="http://schemas.microsoft.com/office/drawing/2014/main" id="{151EBCB2-F378-30B2-3273-A89E672ED808}"/>
              </a:ext>
            </a:extLst>
          </p:cNvPr>
          <p:cNvPicPr>
            <a:picLocks noChangeAspect="1"/>
          </p:cNvPicPr>
          <p:nvPr/>
        </p:nvPicPr>
        <p:blipFill>
          <a:blip r:embed="rId5"/>
          <a:stretch>
            <a:fillRect/>
          </a:stretch>
        </p:blipFill>
        <p:spPr>
          <a:xfrm>
            <a:off x="308841" y="3725640"/>
            <a:ext cx="3744594" cy="2933613"/>
          </a:xfrm>
          <a:prstGeom prst="rect">
            <a:avLst/>
          </a:prstGeom>
        </p:spPr>
      </p:pic>
      <p:sp>
        <p:nvSpPr>
          <p:cNvPr id="11" name="文本框 10">
            <a:extLst>
              <a:ext uri="{FF2B5EF4-FFF2-40B4-BE49-F238E27FC236}">
                <a16:creationId xmlns:a16="http://schemas.microsoft.com/office/drawing/2014/main" id="{33D85573-2741-6D71-4363-3501F297C36A}"/>
              </a:ext>
            </a:extLst>
          </p:cNvPr>
          <p:cNvSpPr txBox="1"/>
          <p:nvPr/>
        </p:nvSpPr>
        <p:spPr>
          <a:xfrm>
            <a:off x="4359662" y="4260336"/>
            <a:ext cx="4028663" cy="2862322"/>
          </a:xfrm>
          <a:prstGeom prst="rect">
            <a:avLst/>
          </a:prstGeom>
          <a:noFill/>
        </p:spPr>
        <p:txBody>
          <a:bodyPr wrap="square">
            <a:spAutoFit/>
          </a:bodyPr>
          <a:lstStyle/>
          <a:p>
            <a:r>
              <a:rPr lang="zh-CN" altLang="en-US" dirty="0"/>
              <a:t>● </a:t>
            </a:r>
            <a:r>
              <a:rPr lang="en-US" altLang="zh-CN" dirty="0"/>
              <a:t>5V→5V </a:t>
            </a:r>
            <a:r>
              <a:rPr lang="zh-CN" altLang="en-US" dirty="0"/>
              <a:t>工况下可提供 ≥</a:t>
            </a:r>
            <a:r>
              <a:rPr lang="en-US" altLang="zh-CN" dirty="0"/>
              <a:t>200mA </a:t>
            </a:r>
            <a:r>
              <a:rPr lang="zh-CN" altLang="en-US" dirty="0"/>
              <a:t>负载电流</a:t>
            </a:r>
            <a:endParaRPr lang="en-US" altLang="zh-CN" dirty="0"/>
          </a:p>
          <a:p>
            <a:r>
              <a:rPr lang="zh-CN" altLang="en-US" dirty="0"/>
              <a:t>● 负载调整率 </a:t>
            </a:r>
            <a:r>
              <a:rPr lang="en-US" altLang="zh-CN" dirty="0"/>
              <a:t>0.5%</a:t>
            </a:r>
            <a:r>
              <a:rPr lang="zh-CN" altLang="en-US" dirty="0"/>
              <a:t>，线性调整率 </a:t>
            </a:r>
            <a:r>
              <a:rPr lang="en-US" altLang="zh-CN" dirty="0"/>
              <a:t>0.2%</a:t>
            </a:r>
          </a:p>
          <a:p>
            <a:r>
              <a:rPr lang="zh-CN" altLang="en-US" dirty="0"/>
              <a:t>● 内置连续短路保护 </a:t>
            </a:r>
            <a:r>
              <a:rPr lang="en-US" altLang="zh-CN" dirty="0"/>
              <a:t>SCP </a:t>
            </a:r>
            <a:r>
              <a:rPr lang="zh-CN" altLang="en-US" dirty="0"/>
              <a:t>和过温保护 </a:t>
            </a:r>
            <a:r>
              <a:rPr lang="en-US" altLang="zh-CN" dirty="0"/>
              <a:t>OTP</a:t>
            </a:r>
          </a:p>
          <a:p>
            <a:r>
              <a:rPr lang="zh-CN" altLang="en-US" dirty="0"/>
              <a:t>● 用于</a:t>
            </a:r>
            <a:r>
              <a:rPr lang="en-US" altLang="zh-CN" dirty="0"/>
              <a:t>CAN</a:t>
            </a:r>
            <a:r>
              <a:rPr lang="zh-CN" altLang="en-US" dirty="0"/>
              <a:t>通讯隔离，提高通讯质量与可靠性</a:t>
            </a:r>
          </a:p>
          <a:p>
            <a:endParaRPr lang="en-US" altLang="zh-CN" dirty="0"/>
          </a:p>
          <a:p>
            <a:endParaRPr lang="zh-CN" altLang="en-US" dirty="0"/>
          </a:p>
        </p:txBody>
      </p:sp>
      <p:sp>
        <p:nvSpPr>
          <p:cNvPr id="18" name="文本框 17">
            <a:extLst>
              <a:ext uri="{FF2B5EF4-FFF2-40B4-BE49-F238E27FC236}">
                <a16:creationId xmlns:a16="http://schemas.microsoft.com/office/drawing/2014/main" id="{D7229149-3E87-8301-5078-CF35F92E7311}"/>
              </a:ext>
            </a:extLst>
          </p:cNvPr>
          <p:cNvSpPr txBox="1"/>
          <p:nvPr/>
        </p:nvSpPr>
        <p:spPr>
          <a:xfrm>
            <a:off x="8422330" y="4245073"/>
            <a:ext cx="3466692" cy="3139321"/>
          </a:xfrm>
          <a:prstGeom prst="rect">
            <a:avLst/>
          </a:prstGeom>
          <a:noFill/>
        </p:spPr>
        <p:txBody>
          <a:bodyPr wrap="square">
            <a:spAutoFit/>
          </a:bodyPr>
          <a:lstStyle/>
          <a:p>
            <a:r>
              <a:rPr lang="zh-CN" altLang="en-US" dirty="0"/>
              <a:t>●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负载下压差仅 </a:t>
            </a:r>
            <a:r>
              <a:rPr lang="en-US" altLang="zh-CN" b="0" i="0" dirty="0">
                <a:solidFill>
                  <a:srgbClr val="1A1C1F"/>
                </a:solidFill>
                <a:effectLst/>
                <a:latin typeface="-apple-system"/>
              </a:rPr>
              <a:t>140mV</a:t>
            </a:r>
          </a:p>
          <a:p>
            <a:r>
              <a:rPr lang="zh-CN" altLang="en-US" dirty="0"/>
              <a:t>● </a:t>
            </a:r>
            <a:r>
              <a:rPr lang="zh-CN" altLang="en-US" b="0" i="0" dirty="0">
                <a:solidFill>
                  <a:srgbClr val="1A1C1F"/>
                </a:solidFill>
                <a:effectLst/>
                <a:latin typeface="-apple-system"/>
              </a:rPr>
              <a:t>典型静态电流 </a:t>
            </a:r>
            <a:r>
              <a:rPr lang="en-US" altLang="zh-CN" b="0" i="0" dirty="0">
                <a:solidFill>
                  <a:srgbClr val="1A1C1F"/>
                </a:solidFill>
                <a:effectLst/>
                <a:latin typeface="-apple-system"/>
              </a:rPr>
              <a:t>110μA</a:t>
            </a:r>
          </a:p>
          <a:p>
            <a:r>
              <a:rPr lang="zh-CN" altLang="en-US" dirty="0"/>
              <a:t>● </a:t>
            </a:r>
            <a:r>
              <a:rPr lang="zh-CN" altLang="en-US" b="0" i="0" dirty="0">
                <a:solidFill>
                  <a:srgbClr val="1A1C1F"/>
                </a:solidFill>
                <a:effectLst/>
                <a:latin typeface="-apple-system"/>
              </a:rPr>
              <a:t>低噪声输出：</a:t>
            </a:r>
            <a:r>
              <a:rPr lang="en-US" altLang="zh-CN" b="0" i="0" dirty="0">
                <a:solidFill>
                  <a:srgbClr val="1A1C1F"/>
                </a:solidFill>
                <a:effectLst/>
                <a:latin typeface="-apple-system"/>
              </a:rPr>
              <a:t>13μVRMS</a:t>
            </a:r>
          </a:p>
          <a:p>
            <a:r>
              <a:rPr lang="zh-CN" altLang="en-US" dirty="0"/>
              <a:t>● </a:t>
            </a:r>
            <a:r>
              <a:rPr lang="en-US" altLang="zh-CN" b="0" i="0" dirty="0">
                <a:solidFill>
                  <a:srgbClr val="1A1C1F"/>
                </a:solidFill>
                <a:effectLst/>
                <a:latin typeface="-apple-system"/>
              </a:rPr>
              <a:t>QFN-8 3×3mm </a:t>
            </a:r>
            <a:r>
              <a:rPr lang="zh-CN" altLang="en-US" b="0" i="0" dirty="0">
                <a:solidFill>
                  <a:srgbClr val="1A1C1F"/>
                </a:solidFill>
                <a:effectLst/>
                <a:latin typeface="-apple-system"/>
              </a:rPr>
              <a:t>封装，适合小尺寸控制板</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用于生成干净的 </a:t>
            </a:r>
            <a:r>
              <a:rPr lang="en-US" altLang="zh-CN" b="0" i="0" dirty="0">
                <a:solidFill>
                  <a:srgbClr val="1A1C1F"/>
                </a:solidFill>
                <a:effectLst/>
                <a:latin typeface="-apple-system"/>
              </a:rPr>
              <a:t>3.3V VCC</a:t>
            </a:r>
            <a:r>
              <a:rPr lang="zh-CN" altLang="en-US" b="0" i="0" dirty="0">
                <a:solidFill>
                  <a:srgbClr val="1A1C1F"/>
                </a:solidFill>
                <a:effectLst/>
                <a:latin typeface="-apple-system"/>
              </a:rPr>
              <a:t>，供 </a:t>
            </a:r>
            <a:r>
              <a:rPr lang="en-US" altLang="zh-CN" b="0" i="0" dirty="0">
                <a:solidFill>
                  <a:srgbClr val="1A1C1F"/>
                </a:solidFill>
                <a:effectLst/>
                <a:latin typeface="-apple-system"/>
              </a:rPr>
              <a:t>MCU</a:t>
            </a:r>
            <a:r>
              <a:rPr lang="zh-CN" altLang="en-US" b="0" i="0" dirty="0">
                <a:solidFill>
                  <a:srgbClr val="1A1C1F"/>
                </a:solidFill>
                <a:effectLst/>
                <a:latin typeface="-apple-system"/>
              </a:rPr>
              <a:t>、编码器和采样电路使用</a:t>
            </a:r>
          </a:p>
          <a:p>
            <a:endParaRPr lang="zh-CN" altLang="en-US" b="0" i="0" dirty="0">
              <a:solidFill>
                <a:srgbClr val="1A1C1F"/>
              </a:solidFill>
              <a:effectLst/>
              <a:latin typeface="-apple-system"/>
            </a:endParaRPr>
          </a:p>
          <a:p>
            <a:endParaRPr lang="zh-CN" altLang="en-US" dirty="0"/>
          </a:p>
          <a:p>
            <a:endParaRPr lang="en-US" altLang="zh-CN" dirty="0"/>
          </a:p>
          <a:p>
            <a:endParaRPr lang="zh-CN" altLang="en-US" dirty="0"/>
          </a:p>
        </p:txBody>
      </p:sp>
      <p:sp>
        <p:nvSpPr>
          <p:cNvPr id="20" name="文本框 19">
            <a:extLst>
              <a:ext uri="{FF2B5EF4-FFF2-40B4-BE49-F238E27FC236}">
                <a16:creationId xmlns:a16="http://schemas.microsoft.com/office/drawing/2014/main" id="{DEDB8709-B5FB-416B-338E-73E039373F1F}"/>
              </a:ext>
            </a:extLst>
          </p:cNvPr>
          <p:cNvSpPr txBox="1"/>
          <p:nvPr/>
        </p:nvSpPr>
        <p:spPr>
          <a:xfrm>
            <a:off x="8113074" y="3375746"/>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CAN</a:t>
            </a:r>
            <a:r>
              <a:rPr lang="zh-CN" altLang="en-US" sz="1400" dirty="0">
                <a:latin typeface="微软雅黑" panose="020B0503020204020204" pitchFamily="34" charset="-122"/>
                <a:ea typeface="微软雅黑" panose="020B0503020204020204" pitchFamily="34" charset="-122"/>
                <a:sym typeface="+mn-ea"/>
              </a:rPr>
              <a:t>收发器</a:t>
            </a:r>
            <a:endParaRPr lang="zh-CN" altLang="en-US" sz="1400"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FEC7392D-E0F3-55B8-F1A1-65DF7FF8FA09}"/>
              </a:ext>
            </a:extLst>
          </p:cNvPr>
          <p:cNvPicPr>
            <a:picLocks noChangeAspect="1"/>
          </p:cNvPicPr>
          <p:nvPr/>
        </p:nvPicPr>
        <p:blipFill>
          <a:blip r:embed="rId6"/>
          <a:stretch>
            <a:fillRect/>
          </a:stretch>
        </p:blipFill>
        <p:spPr>
          <a:xfrm>
            <a:off x="8447384" y="2408301"/>
            <a:ext cx="1055608" cy="1055608"/>
          </a:xfrm>
          <a:prstGeom prst="rect">
            <a:avLst/>
          </a:prstGeom>
        </p:spPr>
      </p:pic>
      <p:pic>
        <p:nvPicPr>
          <p:cNvPr id="24" name="图片 23">
            <a:extLst>
              <a:ext uri="{FF2B5EF4-FFF2-40B4-BE49-F238E27FC236}">
                <a16:creationId xmlns:a16="http://schemas.microsoft.com/office/drawing/2014/main" id="{A2428E48-2784-03E6-50BF-010CF7FFF0D9}"/>
              </a:ext>
            </a:extLst>
          </p:cNvPr>
          <p:cNvPicPr>
            <a:picLocks noChangeAspect="1"/>
          </p:cNvPicPr>
          <p:nvPr/>
        </p:nvPicPr>
        <p:blipFill>
          <a:blip r:embed="rId7"/>
          <a:stretch>
            <a:fillRect/>
          </a:stretch>
        </p:blipFill>
        <p:spPr>
          <a:xfrm>
            <a:off x="10054433" y="2316895"/>
            <a:ext cx="1416331" cy="1219807"/>
          </a:xfrm>
          <a:prstGeom prst="rect">
            <a:avLst/>
          </a:prstGeom>
        </p:spPr>
      </p:pic>
      <p:pic>
        <p:nvPicPr>
          <p:cNvPr id="33" name="Picture 2" descr="Microcontroller PNG transparent image download, size: 512x333px">
            <a:extLst>
              <a:ext uri="{FF2B5EF4-FFF2-40B4-BE49-F238E27FC236}">
                <a16:creationId xmlns:a16="http://schemas.microsoft.com/office/drawing/2014/main" id="{48426758-9691-8148-6CC9-EAF095658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2633" y="908617"/>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A600A | High-Accuracy,">
            <a:extLst>
              <a:ext uri="{FF2B5EF4-FFF2-40B4-BE49-F238E27FC236}">
                <a16:creationId xmlns:a16="http://schemas.microsoft.com/office/drawing/2014/main" id="{CA1AD40B-6490-CD0D-7B32-4669AEA794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97744" y="891723"/>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F84BD2D-2294-5529-1C86-70CB721405DC}"/>
              </a:ext>
            </a:extLst>
          </p:cNvPr>
          <p:cNvSpPr txBox="1"/>
          <p:nvPr/>
        </p:nvSpPr>
        <p:spPr>
          <a:xfrm>
            <a:off x="9899933" y="340971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电流传感器</a:t>
            </a:r>
            <a:endParaRPr lang="zh-CN" altLang="en-US" sz="14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0E08B0E1-D00D-5A23-649B-4D4F1F0674E0}"/>
              </a:ext>
            </a:extLst>
          </p:cNvPr>
          <p:cNvSpPr txBox="1"/>
          <p:nvPr/>
        </p:nvSpPr>
        <p:spPr>
          <a:xfrm>
            <a:off x="8112523" y="2039942"/>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C16196A1-CAA4-4C30-F682-F02B07B1280F}"/>
              </a:ext>
            </a:extLst>
          </p:cNvPr>
          <p:cNvSpPr txBox="1"/>
          <p:nvPr/>
        </p:nvSpPr>
        <p:spPr>
          <a:xfrm>
            <a:off x="9908484" y="2001529"/>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42" name="任意多边形: 形状 41">
            <a:extLst>
              <a:ext uri="{FF2B5EF4-FFF2-40B4-BE49-F238E27FC236}">
                <a16:creationId xmlns:a16="http://schemas.microsoft.com/office/drawing/2014/main" id="{092621FA-7DDD-0095-E118-85CD4050E695}"/>
              </a:ext>
            </a:extLst>
          </p:cNvPr>
          <p:cNvSpPr/>
          <p:nvPr/>
        </p:nvSpPr>
        <p:spPr>
          <a:xfrm>
            <a:off x="3477342" y="1155441"/>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E037505B-8DB1-7BA6-03C6-BC34C28CD21A}"/>
              </a:ext>
            </a:extLst>
          </p:cNvPr>
          <p:cNvSpPr txBox="1"/>
          <p:nvPr/>
        </p:nvSpPr>
        <p:spPr>
          <a:xfrm>
            <a:off x="4013309" y="2818632"/>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4" name="文本框 43">
            <a:extLst>
              <a:ext uri="{FF2B5EF4-FFF2-40B4-BE49-F238E27FC236}">
                <a16:creationId xmlns:a16="http://schemas.microsoft.com/office/drawing/2014/main" id="{D03FD4E6-D11B-0062-2D4A-E706FF1184B2}"/>
              </a:ext>
            </a:extLst>
          </p:cNvPr>
          <p:cNvSpPr txBox="1"/>
          <p:nvPr/>
        </p:nvSpPr>
        <p:spPr>
          <a:xfrm>
            <a:off x="4073128" y="1317799"/>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5" name="圆角矩形 61">
            <a:extLst>
              <a:ext uri="{FF2B5EF4-FFF2-40B4-BE49-F238E27FC236}">
                <a16:creationId xmlns:a16="http://schemas.microsoft.com/office/drawing/2014/main" id="{62991476-D21B-7051-4843-068DE05114B8}"/>
              </a:ext>
            </a:extLst>
          </p:cNvPr>
          <p:cNvSpPr/>
          <p:nvPr/>
        </p:nvSpPr>
        <p:spPr>
          <a:xfrm>
            <a:off x="2173316" y="2033323"/>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5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2327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6D8C-C01B-4796-2A99-030B8633B85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D2A6C77-FCEB-DBEF-5E6F-E11BEC63231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驱动电路 </a:t>
            </a:r>
            <a:r>
              <a:rPr lang="en-US" altLang="zh-CN" dirty="0">
                <a:solidFill>
                  <a:schemeClr val="bg1"/>
                </a:solidFill>
              </a:rPr>
              <a:t>MP6539B</a:t>
            </a:r>
            <a:endParaRPr dirty="0">
              <a:solidFill>
                <a:schemeClr val="bg1"/>
              </a:solidFill>
            </a:endParaRPr>
          </a:p>
        </p:txBody>
      </p:sp>
      <p:pic>
        <p:nvPicPr>
          <p:cNvPr id="27" name="图片 26">
            <a:extLst>
              <a:ext uri="{FF2B5EF4-FFF2-40B4-BE49-F238E27FC236}">
                <a16:creationId xmlns:a16="http://schemas.microsoft.com/office/drawing/2014/main" id="{3033A39D-E587-FC41-5364-22F824BE7EAE}"/>
              </a:ext>
            </a:extLst>
          </p:cNvPr>
          <p:cNvPicPr>
            <a:picLocks noChangeAspect="1"/>
          </p:cNvPicPr>
          <p:nvPr/>
        </p:nvPicPr>
        <p:blipFill>
          <a:blip r:embed="rId3"/>
          <a:stretch>
            <a:fillRect/>
          </a:stretch>
        </p:blipFill>
        <p:spPr>
          <a:xfrm>
            <a:off x="1375388" y="2048046"/>
            <a:ext cx="7981973" cy="3785767"/>
          </a:xfrm>
          <a:prstGeom prst="rect">
            <a:avLst/>
          </a:prstGeom>
        </p:spPr>
      </p:pic>
      <p:grpSp>
        <p:nvGrpSpPr>
          <p:cNvPr id="56" name="组合 55">
            <a:extLst>
              <a:ext uri="{FF2B5EF4-FFF2-40B4-BE49-F238E27FC236}">
                <a16:creationId xmlns:a16="http://schemas.microsoft.com/office/drawing/2014/main" id="{83D2891B-26C6-9E9C-C3C5-F02A17CBC2F3}"/>
              </a:ext>
            </a:extLst>
          </p:cNvPr>
          <p:cNvGrpSpPr/>
          <p:nvPr/>
        </p:nvGrpSpPr>
        <p:grpSpPr>
          <a:xfrm>
            <a:off x="8656921" y="4383511"/>
            <a:ext cx="3311877" cy="2176749"/>
            <a:chOff x="4826283" y="4123669"/>
            <a:chExt cx="4359338" cy="2176749"/>
          </a:xfrm>
        </p:grpSpPr>
        <p:sp>
          <p:nvSpPr>
            <p:cNvPr id="57" name="矩形: 圆角 56">
              <a:extLst>
                <a:ext uri="{FF2B5EF4-FFF2-40B4-BE49-F238E27FC236}">
                  <a16:creationId xmlns:a16="http://schemas.microsoft.com/office/drawing/2014/main" id="{9949015F-A6FF-7B6D-7521-DC23E0AEA1D2}"/>
                </a:ext>
              </a:extLst>
            </p:cNvPr>
            <p:cNvSpPr/>
            <p:nvPr/>
          </p:nvSpPr>
          <p:spPr>
            <a:xfrm>
              <a:off x="4826283" y="429246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1D2B24C3-AB0A-92D9-5BA9-C14BBA8A3619}"/>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内置保护与运放</a:t>
              </a:r>
            </a:p>
          </p:txBody>
        </p:sp>
        <p:sp>
          <p:nvSpPr>
            <p:cNvPr id="59" name="文本框 58">
              <a:extLst>
                <a:ext uri="{FF2B5EF4-FFF2-40B4-BE49-F238E27FC236}">
                  <a16:creationId xmlns:a16="http://schemas.microsoft.com/office/drawing/2014/main" id="{3339DCA1-F888-E432-C670-EB78CD981216}"/>
                </a:ext>
              </a:extLst>
            </p:cNvPr>
            <p:cNvSpPr txBox="1"/>
            <p:nvPr/>
          </p:nvSpPr>
          <p:spPr>
            <a:xfrm>
              <a:off x="4826283" y="4461257"/>
              <a:ext cx="4359338" cy="1754326"/>
            </a:xfrm>
            <a:prstGeom prst="rect">
              <a:avLst/>
            </a:prstGeom>
            <a:noFill/>
          </p:spPr>
          <p:txBody>
            <a:bodyPr wrap="square">
              <a:spAutoFit/>
            </a:bodyPr>
            <a:lstStyle/>
            <a:p>
              <a:r>
                <a:rPr lang="zh-CN" altLang="en-US" dirty="0"/>
                <a:t>● 内置</a:t>
              </a:r>
              <a:r>
                <a:rPr lang="en-US" altLang="zh-CN" dirty="0"/>
                <a:t>20 </a:t>
              </a:r>
              <a:r>
                <a:rPr lang="zh-CN" altLang="en-US" dirty="0"/>
                <a:t>倍电流采样放大器，通过</a:t>
              </a:r>
              <a:r>
                <a:rPr lang="en-US" altLang="zh-CN" dirty="0"/>
                <a:t>CSO</a:t>
              </a:r>
              <a:r>
                <a:rPr lang="zh-CN" altLang="en-US" dirty="0"/>
                <a:t>输出模拟电压</a:t>
              </a:r>
              <a:endParaRPr lang="en-US" altLang="zh-CN" dirty="0"/>
            </a:p>
            <a:p>
              <a:r>
                <a:rPr lang="zh-CN" altLang="en-US" dirty="0"/>
                <a:t>● 实际应用场景可以进一步节省空间和成本</a:t>
              </a:r>
              <a:endParaRPr lang="en-US" altLang="zh-CN" dirty="0"/>
            </a:p>
            <a:p>
              <a:r>
                <a:rPr lang="zh-CN" altLang="en-US" dirty="0"/>
                <a:t>● </a:t>
              </a:r>
              <a:r>
                <a:rPr lang="en-US" altLang="zh-CN" dirty="0"/>
                <a:t>VDD</a:t>
              </a:r>
              <a:r>
                <a:rPr lang="zh-CN" altLang="en-US" dirty="0"/>
                <a:t>欠压保护</a:t>
              </a:r>
              <a:r>
                <a:rPr lang="en-US" altLang="zh-CN" dirty="0"/>
                <a:t>UVLO</a:t>
              </a:r>
              <a:r>
                <a:rPr lang="zh-CN" altLang="en-US" dirty="0"/>
                <a:t>，过温保护</a:t>
              </a:r>
              <a:r>
                <a:rPr lang="en-US" altLang="zh-CN" dirty="0"/>
                <a:t>OTP</a:t>
              </a:r>
              <a:endParaRPr lang="zh-CN" altLang="en-US" dirty="0"/>
            </a:p>
          </p:txBody>
        </p:sp>
      </p:grpSp>
      <p:sp>
        <p:nvSpPr>
          <p:cNvPr id="60" name="矩形: 圆角 59">
            <a:extLst>
              <a:ext uri="{FF2B5EF4-FFF2-40B4-BE49-F238E27FC236}">
                <a16:creationId xmlns:a16="http://schemas.microsoft.com/office/drawing/2014/main" id="{56F0AFBD-7C1B-06C2-D287-09DF5CE33D36}"/>
              </a:ext>
            </a:extLst>
          </p:cNvPr>
          <p:cNvSpPr/>
          <p:nvPr/>
        </p:nvSpPr>
        <p:spPr>
          <a:xfrm>
            <a:off x="5549641" y="3797295"/>
            <a:ext cx="1257281" cy="1631189"/>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3B52E6FB-B57F-5836-09D4-4DC5BF11A282}"/>
              </a:ext>
            </a:extLst>
          </p:cNvPr>
          <p:cNvCxnSpPr>
            <a:cxnSpLocks/>
          </p:cNvCxnSpPr>
          <p:nvPr/>
        </p:nvCxnSpPr>
        <p:spPr>
          <a:xfrm>
            <a:off x="6634480" y="3797295"/>
            <a:ext cx="5334318" cy="75501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400EEC1-74B6-59E4-170B-C49C48BB1600}"/>
              </a:ext>
            </a:extLst>
          </p:cNvPr>
          <p:cNvCxnSpPr>
            <a:cxnSpLocks/>
          </p:cNvCxnSpPr>
          <p:nvPr/>
        </p:nvCxnSpPr>
        <p:spPr>
          <a:xfrm>
            <a:off x="6634480" y="5428484"/>
            <a:ext cx="2067766" cy="1131776"/>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5" name="矩形: 圆角 64">
            <a:extLst>
              <a:ext uri="{FF2B5EF4-FFF2-40B4-BE49-F238E27FC236}">
                <a16:creationId xmlns:a16="http://schemas.microsoft.com/office/drawing/2014/main" id="{EE8F3260-D1C7-93F3-6754-6BA7DFD87447}"/>
              </a:ext>
            </a:extLst>
          </p:cNvPr>
          <p:cNvSpPr/>
          <p:nvPr/>
        </p:nvSpPr>
        <p:spPr>
          <a:xfrm>
            <a:off x="1943119" y="2349388"/>
            <a:ext cx="1257281"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29E58C1C-9E63-0A73-0130-78A9F95AF916}"/>
              </a:ext>
            </a:extLst>
          </p:cNvPr>
          <p:cNvGrpSpPr/>
          <p:nvPr/>
        </p:nvGrpSpPr>
        <p:grpSpPr>
          <a:xfrm>
            <a:off x="8569848" y="934367"/>
            <a:ext cx="3311877" cy="2368913"/>
            <a:chOff x="4826283" y="4123669"/>
            <a:chExt cx="4359338" cy="2368913"/>
          </a:xfrm>
        </p:grpSpPr>
        <p:sp>
          <p:nvSpPr>
            <p:cNvPr id="67" name="矩形: 圆角 66">
              <a:extLst>
                <a:ext uri="{FF2B5EF4-FFF2-40B4-BE49-F238E27FC236}">
                  <a16:creationId xmlns:a16="http://schemas.microsoft.com/office/drawing/2014/main" id="{99185395-270D-A7EA-AF53-686C8110C077}"/>
                </a:ext>
              </a:extLst>
            </p:cNvPr>
            <p:cNvSpPr/>
            <p:nvPr/>
          </p:nvSpPr>
          <p:spPr>
            <a:xfrm>
              <a:off x="4826283" y="4292464"/>
              <a:ext cx="4359338" cy="1649162"/>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A7777D78-CDC3-6EEC-5299-3B132B5D3C72}"/>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驱动能力</a:t>
              </a:r>
            </a:p>
          </p:txBody>
        </p:sp>
        <p:sp>
          <p:nvSpPr>
            <p:cNvPr id="69" name="文本框 68">
              <a:extLst>
                <a:ext uri="{FF2B5EF4-FFF2-40B4-BE49-F238E27FC236}">
                  <a16:creationId xmlns:a16="http://schemas.microsoft.com/office/drawing/2014/main" id="{CABED3D9-B4F4-0FA6-19E0-496916EE8D8F}"/>
                </a:ext>
              </a:extLst>
            </p:cNvPr>
            <p:cNvSpPr txBox="1"/>
            <p:nvPr/>
          </p:nvSpPr>
          <p:spPr>
            <a:xfrm>
              <a:off x="4826283" y="4461257"/>
              <a:ext cx="4359338" cy="2031325"/>
            </a:xfrm>
            <a:prstGeom prst="rect">
              <a:avLst/>
            </a:prstGeom>
            <a:noFill/>
          </p:spPr>
          <p:txBody>
            <a:bodyPr wrap="square">
              <a:spAutoFit/>
            </a:bodyPr>
            <a:lstStyle/>
            <a:p>
              <a:r>
                <a:rPr lang="zh-CN" altLang="en-US" dirty="0"/>
                <a:t>● 集成三路半桥</a:t>
              </a:r>
              <a:r>
                <a:rPr lang="en-US" altLang="zh-CN" dirty="0"/>
                <a:t>NMOS</a:t>
              </a:r>
              <a:r>
                <a:rPr lang="zh-CN" altLang="en-US" dirty="0"/>
                <a:t>驱动</a:t>
              </a:r>
              <a:endParaRPr lang="en-US" altLang="zh-CN" dirty="0"/>
            </a:p>
            <a:p>
              <a:r>
                <a:rPr lang="zh-CN" altLang="en-US" b="0" i="0" dirty="0">
                  <a:solidFill>
                    <a:srgbClr val="1A1C1F"/>
                  </a:solidFill>
                  <a:effectLst/>
                  <a:latin typeface="-apple-system"/>
                </a:rPr>
                <a:t>内置 </a:t>
              </a:r>
              <a:r>
                <a:rPr lang="en-US" altLang="zh-CN" b="0" i="0" dirty="0">
                  <a:solidFill>
                    <a:srgbClr val="1A1C1F"/>
                  </a:solidFill>
                  <a:effectLst/>
                  <a:latin typeface="-apple-system"/>
                </a:rPr>
                <a:t>Charge Pump + Bootstrap</a:t>
              </a:r>
              <a:r>
                <a:rPr lang="zh-CN" altLang="en-US" b="0" i="0" dirty="0">
                  <a:solidFill>
                    <a:srgbClr val="1A1C1F"/>
                  </a:solidFill>
                  <a:effectLst/>
                  <a:latin typeface="-apple-system"/>
                </a:rPr>
                <a:t>，高边驱动可长时间维持</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栅极驱动能力：</a:t>
              </a:r>
              <a:r>
                <a:rPr lang="en-US" altLang="zh-CN" b="0" i="0" dirty="0">
                  <a:solidFill>
                    <a:srgbClr val="1A1C1F"/>
                  </a:solidFill>
                  <a:effectLst/>
                  <a:latin typeface="-apple-system"/>
                </a:rPr>
                <a:t>0.8A </a:t>
              </a:r>
              <a:r>
                <a:rPr lang="zh-CN" altLang="en-US" b="0" i="0" dirty="0">
                  <a:solidFill>
                    <a:srgbClr val="1A1C1F"/>
                  </a:solidFill>
                  <a:effectLst/>
                  <a:latin typeface="-apple-system"/>
                </a:rPr>
                <a:t>拉电流 </a:t>
              </a:r>
              <a:r>
                <a:rPr lang="en-US" altLang="zh-CN" b="0" i="0" dirty="0">
                  <a:solidFill>
                    <a:srgbClr val="1A1C1F"/>
                  </a:solidFill>
                  <a:effectLst/>
                  <a:latin typeface="-apple-system"/>
                </a:rPr>
                <a:t>/ 1A </a:t>
              </a:r>
              <a:r>
                <a:rPr lang="zh-CN" altLang="en-US" b="0" i="0" dirty="0">
                  <a:solidFill>
                    <a:srgbClr val="1A1C1F"/>
                  </a:solidFill>
                  <a:effectLst/>
                  <a:latin typeface="-apple-system"/>
                </a:rPr>
                <a:t>灌电流</a:t>
              </a:r>
            </a:p>
            <a:p>
              <a:endParaRPr lang="zh-CN" altLang="en-US" b="0" i="0" dirty="0">
                <a:solidFill>
                  <a:srgbClr val="1A1C1F"/>
                </a:solidFill>
                <a:effectLst/>
                <a:latin typeface="-apple-system"/>
              </a:endParaRPr>
            </a:p>
            <a:p>
              <a:endParaRPr lang="zh-CN" altLang="en-US" dirty="0"/>
            </a:p>
          </p:txBody>
        </p:sp>
      </p:grpSp>
      <p:sp>
        <p:nvSpPr>
          <p:cNvPr id="72" name="圆角矩形 61">
            <a:extLst>
              <a:ext uri="{FF2B5EF4-FFF2-40B4-BE49-F238E27FC236}">
                <a16:creationId xmlns:a16="http://schemas.microsoft.com/office/drawing/2014/main" id="{AF81B73F-C874-4906-F7CA-44BA4F65BA82}"/>
              </a:ext>
            </a:extLst>
          </p:cNvPr>
          <p:cNvSpPr/>
          <p:nvPr/>
        </p:nvSpPr>
        <p:spPr>
          <a:xfrm>
            <a:off x="108843" y="4412775"/>
            <a:ext cx="916325" cy="356904"/>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12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73" name="右箭头 13">
            <a:extLst>
              <a:ext uri="{FF2B5EF4-FFF2-40B4-BE49-F238E27FC236}">
                <a16:creationId xmlns:a16="http://schemas.microsoft.com/office/drawing/2014/main" id="{E6FBDE2F-DD3C-45E7-1AFA-4D5D2A7704E4}"/>
              </a:ext>
            </a:extLst>
          </p:cNvPr>
          <p:cNvSpPr/>
          <p:nvPr/>
        </p:nvSpPr>
        <p:spPr>
          <a:xfrm>
            <a:off x="1147088" y="4374944"/>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00DA75CA-DB7C-43F2-B4E9-F38A629413C8}"/>
              </a:ext>
            </a:extLst>
          </p:cNvPr>
          <p:cNvCxnSpPr>
            <a:cxnSpLocks/>
          </p:cNvCxnSpPr>
          <p:nvPr/>
        </p:nvCxnSpPr>
        <p:spPr>
          <a:xfrm flipH="1">
            <a:off x="6512560" y="1148003"/>
            <a:ext cx="2144361" cy="113552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777E34E3-C6C3-75D9-F84B-950B6574322C}"/>
              </a:ext>
            </a:extLst>
          </p:cNvPr>
          <p:cNvCxnSpPr>
            <a:cxnSpLocks/>
          </p:cNvCxnSpPr>
          <p:nvPr/>
        </p:nvCxnSpPr>
        <p:spPr>
          <a:xfrm flipV="1">
            <a:off x="6512560" y="2752324"/>
            <a:ext cx="5369165" cy="1044971"/>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A18EA8A7-53AA-9B9E-696E-7DF4D88DCB55}"/>
              </a:ext>
            </a:extLst>
          </p:cNvPr>
          <p:cNvGrpSpPr/>
          <p:nvPr/>
        </p:nvGrpSpPr>
        <p:grpSpPr>
          <a:xfrm>
            <a:off x="295203" y="863589"/>
            <a:ext cx="3311877" cy="1419936"/>
            <a:chOff x="4826283" y="4123669"/>
            <a:chExt cx="4359338" cy="1419936"/>
          </a:xfrm>
        </p:grpSpPr>
        <p:sp>
          <p:nvSpPr>
            <p:cNvPr id="83" name="矩形: 圆角 82">
              <a:extLst>
                <a:ext uri="{FF2B5EF4-FFF2-40B4-BE49-F238E27FC236}">
                  <a16:creationId xmlns:a16="http://schemas.microsoft.com/office/drawing/2014/main" id="{4B76DA9A-2680-B9D9-3B3C-DF90F5363C9D}"/>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a:extLst>
                <a:ext uri="{FF2B5EF4-FFF2-40B4-BE49-F238E27FC236}">
                  <a16:creationId xmlns:a16="http://schemas.microsoft.com/office/drawing/2014/main" id="{6038AE98-BE43-E21C-4F0D-1729D72BB0CF}"/>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低功耗设计</a:t>
              </a:r>
            </a:p>
          </p:txBody>
        </p:sp>
        <p:sp>
          <p:nvSpPr>
            <p:cNvPr id="85" name="文本框 84">
              <a:extLst>
                <a:ext uri="{FF2B5EF4-FFF2-40B4-BE49-F238E27FC236}">
                  <a16:creationId xmlns:a16="http://schemas.microsoft.com/office/drawing/2014/main" id="{9FF8E346-10CB-6FC7-6E72-004BA6F6F9DB}"/>
                </a:ext>
              </a:extLst>
            </p:cNvPr>
            <p:cNvSpPr txBox="1"/>
            <p:nvPr/>
          </p:nvSpPr>
          <p:spPr>
            <a:xfrm>
              <a:off x="4826283" y="4461257"/>
              <a:ext cx="4359338" cy="1082348"/>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 </a:t>
              </a:r>
              <a:r>
                <a:rPr lang="en-US" altLang="zh-CN" b="0" i="0" dirty="0" err="1">
                  <a:solidFill>
                    <a:srgbClr val="1A1C1F"/>
                  </a:solidFill>
                  <a:effectLst/>
                  <a:latin typeface="-apple-system"/>
                </a:rPr>
                <a:t>nSLEEP</a:t>
              </a:r>
              <a:r>
                <a:rPr lang="en-US" altLang="zh-CN" b="0" i="0" dirty="0">
                  <a:solidFill>
                    <a:srgbClr val="1A1C1F"/>
                  </a:solidFill>
                  <a:effectLst/>
                  <a:latin typeface="-apple-system"/>
                </a:rPr>
                <a:t> </a:t>
              </a:r>
              <a:r>
                <a:rPr lang="zh-CN" altLang="en-US" b="0" i="0" dirty="0">
                  <a:solidFill>
                    <a:srgbClr val="1A1C1F"/>
                  </a:solidFill>
                  <a:effectLst/>
                  <a:latin typeface="-apple-system"/>
                </a:rPr>
                <a:t>低功耗休眠，休眠电流典型 </a:t>
              </a:r>
              <a:r>
                <a:rPr lang="en-US" altLang="zh-CN" b="0" i="0" dirty="0">
                  <a:solidFill>
                    <a:srgbClr val="1A1C1F"/>
                  </a:solidFill>
                  <a:effectLst/>
                  <a:latin typeface="-apple-system"/>
                </a:rPr>
                <a:t>2uA</a:t>
              </a:r>
            </a:p>
            <a:p>
              <a:endParaRPr lang="zh-CN" altLang="en-US" b="0" i="0" dirty="0">
                <a:solidFill>
                  <a:srgbClr val="1A1C1F"/>
                </a:solidFill>
                <a:effectLst/>
                <a:latin typeface="-apple-system"/>
              </a:endParaRPr>
            </a:p>
            <a:p>
              <a:endParaRPr lang="zh-CN" altLang="en-US" dirty="0"/>
            </a:p>
          </p:txBody>
        </p:sp>
      </p:grpSp>
      <p:cxnSp>
        <p:nvCxnSpPr>
          <p:cNvPr id="86" name="直接连接符 85">
            <a:extLst>
              <a:ext uri="{FF2B5EF4-FFF2-40B4-BE49-F238E27FC236}">
                <a16:creationId xmlns:a16="http://schemas.microsoft.com/office/drawing/2014/main" id="{FA973C93-06F3-B4C3-8E1F-6D5689C05C04}"/>
              </a:ext>
            </a:extLst>
          </p:cNvPr>
          <p:cNvCxnSpPr>
            <a:cxnSpLocks/>
          </p:cNvCxnSpPr>
          <p:nvPr/>
        </p:nvCxnSpPr>
        <p:spPr>
          <a:xfrm flipH="1">
            <a:off x="3200400" y="1876144"/>
            <a:ext cx="406680" cy="52056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E0495AF-1779-4348-56D9-4DC23FA356C0}"/>
              </a:ext>
            </a:extLst>
          </p:cNvPr>
          <p:cNvCxnSpPr>
            <a:cxnSpLocks/>
          </p:cNvCxnSpPr>
          <p:nvPr/>
        </p:nvCxnSpPr>
        <p:spPr>
          <a:xfrm flipH="1" flipV="1">
            <a:off x="310275" y="1858171"/>
            <a:ext cx="1640866" cy="53420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94" name="组合 93">
            <a:extLst>
              <a:ext uri="{FF2B5EF4-FFF2-40B4-BE49-F238E27FC236}">
                <a16:creationId xmlns:a16="http://schemas.microsoft.com/office/drawing/2014/main" id="{D67AA09D-A4F9-DF20-8E9C-E379A3105D2F}"/>
              </a:ext>
            </a:extLst>
          </p:cNvPr>
          <p:cNvGrpSpPr/>
          <p:nvPr/>
        </p:nvGrpSpPr>
        <p:grpSpPr>
          <a:xfrm>
            <a:off x="91863" y="5737430"/>
            <a:ext cx="3311877" cy="1016011"/>
            <a:chOff x="4826283" y="4123669"/>
            <a:chExt cx="4359338" cy="1016011"/>
          </a:xfrm>
        </p:grpSpPr>
        <p:sp>
          <p:nvSpPr>
            <p:cNvPr id="95" name="矩形: 圆角 94">
              <a:extLst>
                <a:ext uri="{FF2B5EF4-FFF2-40B4-BE49-F238E27FC236}">
                  <a16:creationId xmlns:a16="http://schemas.microsoft.com/office/drawing/2014/main" id="{AD683807-4F68-07BE-4025-18A749C5445E}"/>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583EC173-6D8D-2201-9D76-F2932EC3ABB8}"/>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死区设置</a:t>
              </a:r>
            </a:p>
          </p:txBody>
        </p:sp>
        <p:sp>
          <p:nvSpPr>
            <p:cNvPr id="97" name="文本框 96">
              <a:extLst>
                <a:ext uri="{FF2B5EF4-FFF2-40B4-BE49-F238E27FC236}">
                  <a16:creationId xmlns:a16="http://schemas.microsoft.com/office/drawing/2014/main" id="{1A2B2B2E-B64B-9C16-6836-44E89E9AD118}"/>
                </a:ext>
              </a:extLst>
            </p:cNvPr>
            <p:cNvSpPr txBox="1"/>
            <p:nvPr/>
          </p:nvSpPr>
          <p:spPr>
            <a:xfrm>
              <a:off x="4826283" y="4461257"/>
              <a:ext cx="4359338" cy="533479"/>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支持可调死区：</a:t>
              </a:r>
              <a:r>
                <a:rPr lang="en-US" altLang="zh-CN" b="0" i="0" dirty="0" err="1">
                  <a:solidFill>
                    <a:srgbClr val="1A1C1F"/>
                  </a:solidFill>
                  <a:effectLst/>
                  <a:latin typeface="ui-monospace"/>
                </a:rPr>
                <a:t>tDEAD</a:t>
              </a:r>
              <a:r>
                <a:rPr lang="en-US" altLang="zh-CN" b="0" i="0" dirty="0">
                  <a:solidFill>
                    <a:srgbClr val="1A1C1F"/>
                  </a:solidFill>
                  <a:effectLst/>
                  <a:latin typeface="ui-monospace"/>
                </a:rPr>
                <a:t>(us)=0.044×RDT(k</a:t>
              </a:r>
              <a:r>
                <a:rPr lang="el-GR" altLang="zh-CN" b="0" i="0" dirty="0">
                  <a:solidFill>
                    <a:srgbClr val="1A1C1F"/>
                  </a:solidFill>
                  <a:effectLst/>
                  <a:latin typeface="ui-monospace"/>
                </a:rPr>
                <a:t>Ω)+0.1</a:t>
              </a:r>
              <a:endParaRPr lang="el-GR" altLang="zh-CN" b="0" i="0" dirty="0">
                <a:solidFill>
                  <a:srgbClr val="1A1C1F"/>
                </a:solidFill>
                <a:effectLst/>
                <a:latin typeface="-apple-system"/>
              </a:endParaRPr>
            </a:p>
          </p:txBody>
        </p:sp>
      </p:grpSp>
      <p:sp>
        <p:nvSpPr>
          <p:cNvPr id="98" name="矩形: 圆角 97">
            <a:extLst>
              <a:ext uri="{FF2B5EF4-FFF2-40B4-BE49-F238E27FC236}">
                <a16:creationId xmlns:a16="http://schemas.microsoft.com/office/drawing/2014/main" id="{78E75B02-8396-593D-C839-826BBD468920}"/>
              </a:ext>
            </a:extLst>
          </p:cNvPr>
          <p:cNvSpPr/>
          <p:nvPr/>
        </p:nvSpPr>
        <p:spPr>
          <a:xfrm>
            <a:off x="1850250" y="3617714"/>
            <a:ext cx="821654"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连接符 98">
            <a:extLst>
              <a:ext uri="{FF2B5EF4-FFF2-40B4-BE49-F238E27FC236}">
                <a16:creationId xmlns:a16="http://schemas.microsoft.com/office/drawing/2014/main" id="{E044BFD2-9698-F2FD-605B-65BCCE93CA4C}"/>
              </a:ext>
            </a:extLst>
          </p:cNvPr>
          <p:cNvCxnSpPr>
            <a:cxnSpLocks/>
          </p:cNvCxnSpPr>
          <p:nvPr/>
        </p:nvCxnSpPr>
        <p:spPr>
          <a:xfrm flipH="1">
            <a:off x="91863" y="4294392"/>
            <a:ext cx="175838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F39B1FDC-AACC-AA1A-DB46-F9CCFF9A6E70}"/>
              </a:ext>
            </a:extLst>
          </p:cNvPr>
          <p:cNvCxnSpPr>
            <a:cxnSpLocks/>
          </p:cNvCxnSpPr>
          <p:nvPr/>
        </p:nvCxnSpPr>
        <p:spPr>
          <a:xfrm flipH="1" flipV="1">
            <a:off x="2671903" y="4294392"/>
            <a:ext cx="73183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07" name="矩形: 圆角 106">
            <a:extLst>
              <a:ext uri="{FF2B5EF4-FFF2-40B4-BE49-F238E27FC236}">
                <a16:creationId xmlns:a16="http://schemas.microsoft.com/office/drawing/2014/main" id="{12A0D26E-968A-AC78-B4BB-67DC444F0C1C}"/>
              </a:ext>
            </a:extLst>
          </p:cNvPr>
          <p:cNvSpPr/>
          <p:nvPr/>
        </p:nvSpPr>
        <p:spPr>
          <a:xfrm>
            <a:off x="4763017" y="967513"/>
            <a:ext cx="1454904" cy="109663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8" name="图片 107">
            <a:extLst>
              <a:ext uri="{FF2B5EF4-FFF2-40B4-BE49-F238E27FC236}">
                <a16:creationId xmlns:a16="http://schemas.microsoft.com/office/drawing/2014/main" id="{BB081AF8-899D-AF77-9ED2-C6B14BE0C411}"/>
              </a:ext>
            </a:extLst>
          </p:cNvPr>
          <p:cNvPicPr>
            <a:picLocks noChangeAspect="1"/>
          </p:cNvPicPr>
          <p:nvPr/>
        </p:nvPicPr>
        <p:blipFill>
          <a:blip r:embed="rId4"/>
          <a:srcRect b="17428"/>
          <a:stretch/>
        </p:blipFill>
        <p:spPr>
          <a:xfrm>
            <a:off x="4763017" y="772020"/>
            <a:ext cx="1592539" cy="1314991"/>
          </a:xfrm>
          <a:prstGeom prst="rect">
            <a:avLst/>
          </a:prstGeom>
        </p:spPr>
      </p:pic>
    </p:spTree>
    <p:extLst>
      <p:ext uri="{BB962C8B-B14F-4D97-AF65-F5344CB8AC3E}">
        <p14:creationId xmlns:p14="http://schemas.microsoft.com/office/powerpoint/2010/main" val="2970387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8A0BE-ED60-43CB-9509-FBF77425C6A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0F99FF7-D122-C41C-063D-671C27892F7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位置传感器 </a:t>
            </a:r>
            <a:r>
              <a:rPr lang="en-US" altLang="zh-CN" dirty="0">
                <a:solidFill>
                  <a:schemeClr val="bg1"/>
                </a:solidFill>
              </a:rPr>
              <a:t>MA600A</a:t>
            </a:r>
            <a:endParaRPr dirty="0">
              <a:solidFill>
                <a:schemeClr val="bg1"/>
              </a:solidFill>
            </a:endParaRPr>
          </a:p>
        </p:txBody>
      </p:sp>
      <p:grpSp>
        <p:nvGrpSpPr>
          <p:cNvPr id="46" name="组合 45">
            <a:extLst>
              <a:ext uri="{FF2B5EF4-FFF2-40B4-BE49-F238E27FC236}">
                <a16:creationId xmlns:a16="http://schemas.microsoft.com/office/drawing/2014/main" id="{3F2731A7-590F-025C-0F27-4213645BCBF9}"/>
              </a:ext>
            </a:extLst>
          </p:cNvPr>
          <p:cNvGrpSpPr/>
          <p:nvPr/>
        </p:nvGrpSpPr>
        <p:grpSpPr>
          <a:xfrm>
            <a:off x="217807" y="3887675"/>
            <a:ext cx="4431123" cy="2802521"/>
            <a:chOff x="6176414" y="3572416"/>
            <a:chExt cx="4338655" cy="2361026"/>
          </a:xfrm>
        </p:grpSpPr>
        <p:pic>
          <p:nvPicPr>
            <p:cNvPr id="19" name="图片 18">
              <a:extLst>
                <a:ext uri="{FF2B5EF4-FFF2-40B4-BE49-F238E27FC236}">
                  <a16:creationId xmlns:a16="http://schemas.microsoft.com/office/drawing/2014/main" id="{7392E1D6-5834-3B4A-B4C1-55D0CE498D5B}"/>
                </a:ext>
              </a:extLst>
            </p:cNvPr>
            <p:cNvPicPr>
              <a:picLocks noChangeAspect="1"/>
            </p:cNvPicPr>
            <p:nvPr/>
          </p:nvPicPr>
          <p:blipFill>
            <a:blip r:embed="rId3"/>
            <a:stretch>
              <a:fillRect/>
            </a:stretch>
          </p:blipFill>
          <p:spPr>
            <a:xfrm>
              <a:off x="6362574" y="4426063"/>
              <a:ext cx="1680146" cy="1315266"/>
            </a:xfrm>
            <a:prstGeom prst="rect">
              <a:avLst/>
            </a:prstGeom>
          </p:spPr>
        </p:pic>
        <p:pic>
          <p:nvPicPr>
            <p:cNvPr id="21" name="图片 20">
              <a:extLst>
                <a:ext uri="{FF2B5EF4-FFF2-40B4-BE49-F238E27FC236}">
                  <a16:creationId xmlns:a16="http://schemas.microsoft.com/office/drawing/2014/main" id="{53E21848-CDC6-415E-7FBA-6075407C59C2}"/>
                </a:ext>
              </a:extLst>
            </p:cNvPr>
            <p:cNvPicPr>
              <a:picLocks noChangeAspect="1"/>
            </p:cNvPicPr>
            <p:nvPr/>
          </p:nvPicPr>
          <p:blipFill>
            <a:blip r:embed="rId4"/>
            <a:stretch>
              <a:fillRect/>
            </a:stretch>
          </p:blipFill>
          <p:spPr>
            <a:xfrm>
              <a:off x="8340675" y="4426064"/>
              <a:ext cx="2174394" cy="1315265"/>
            </a:xfrm>
            <a:prstGeom prst="rect">
              <a:avLst/>
            </a:prstGeom>
          </p:spPr>
        </p:pic>
        <p:cxnSp>
          <p:nvCxnSpPr>
            <p:cNvPr id="22" name="直接连接符 21">
              <a:extLst>
                <a:ext uri="{FF2B5EF4-FFF2-40B4-BE49-F238E27FC236}">
                  <a16:creationId xmlns:a16="http://schemas.microsoft.com/office/drawing/2014/main" id="{0C69AC37-2875-EC71-2F8B-3C9513DE5F38}"/>
                </a:ext>
              </a:extLst>
            </p:cNvPr>
            <p:cNvCxnSpPr>
              <a:cxnSpLocks/>
            </p:cNvCxnSpPr>
            <p:nvPr/>
          </p:nvCxnSpPr>
          <p:spPr>
            <a:xfrm flipV="1">
              <a:off x="8340357" y="4076988"/>
              <a:ext cx="0" cy="173736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AA403560-A1FD-49E1-804F-AC19FABF2144}"/>
                </a:ext>
              </a:extLst>
            </p:cNvPr>
            <p:cNvGrpSpPr/>
            <p:nvPr/>
          </p:nvGrpSpPr>
          <p:grpSpPr>
            <a:xfrm>
              <a:off x="6176414" y="3572416"/>
              <a:ext cx="4328520" cy="2361026"/>
              <a:chOff x="226877" y="3996318"/>
              <a:chExt cx="4731203" cy="2262118"/>
            </a:xfrm>
          </p:grpSpPr>
          <p:sp>
            <p:nvSpPr>
              <p:cNvPr id="31" name="矩形 26">
                <a:extLst>
                  <a:ext uri="{FF2B5EF4-FFF2-40B4-BE49-F238E27FC236}">
                    <a16:creationId xmlns:a16="http://schemas.microsoft.com/office/drawing/2014/main" id="{1A4FB234-1EE0-1E85-EF46-60FFDD03CED7}"/>
                  </a:ext>
                </a:extLst>
              </p:cNvPr>
              <p:cNvSpPr/>
              <p:nvPr/>
            </p:nvSpPr>
            <p:spPr>
              <a:xfrm>
                <a:off x="226877" y="4365651"/>
                <a:ext cx="4730510" cy="1892785"/>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480965D0-C6C6-FC91-F4DD-BE2BFBA37D4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端轴式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On-axis | </a:t>
                </a: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旁轴式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Off-axis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grpSp>
      <p:sp>
        <p:nvSpPr>
          <p:cNvPr id="58" name="矩形 57">
            <a:extLst>
              <a:ext uri="{FF2B5EF4-FFF2-40B4-BE49-F238E27FC236}">
                <a16:creationId xmlns:a16="http://schemas.microsoft.com/office/drawing/2014/main" id="{46568932-79A3-F6D5-4B2C-734203926506}"/>
              </a:ext>
            </a:extLst>
          </p:cNvPr>
          <p:cNvSpPr/>
          <p:nvPr/>
        </p:nvSpPr>
        <p:spPr>
          <a:xfrm>
            <a:off x="233679" y="843583"/>
            <a:ext cx="11648046"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a:extLst>
              <a:ext uri="{FF2B5EF4-FFF2-40B4-BE49-F238E27FC236}">
                <a16:creationId xmlns:a16="http://schemas.microsoft.com/office/drawing/2014/main" id="{8C2581B7-E4AA-74E8-4E8B-2515C3EC4536}"/>
              </a:ext>
            </a:extLst>
          </p:cNvPr>
          <p:cNvGrpSpPr/>
          <p:nvPr/>
        </p:nvGrpSpPr>
        <p:grpSpPr>
          <a:xfrm>
            <a:off x="2458798" y="1222323"/>
            <a:ext cx="9432996" cy="1943827"/>
            <a:chOff x="79960" y="1240585"/>
            <a:chExt cx="9432996" cy="1943827"/>
          </a:xfrm>
        </p:grpSpPr>
        <p:pic>
          <p:nvPicPr>
            <p:cNvPr id="12" name="Picture 4" descr="MA600A | High-Accuracy,">
              <a:extLst>
                <a:ext uri="{FF2B5EF4-FFF2-40B4-BE49-F238E27FC236}">
                  <a16:creationId xmlns:a16="http://schemas.microsoft.com/office/drawing/2014/main" id="{E95F864E-0F61-BB6E-2C91-39A7A9D4DD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6081" y="1404168"/>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EF2B7BEB-5827-B232-D2F6-7BCB8BDC0CC2}"/>
                </a:ext>
              </a:extLst>
            </p:cNvPr>
            <p:cNvSpPr txBox="1"/>
            <p:nvPr/>
          </p:nvSpPr>
          <p:spPr>
            <a:xfrm>
              <a:off x="3666420" y="2580704"/>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032B17EC-8E3B-6DDD-CDF1-D9ECA1639BDD}"/>
                </a:ext>
              </a:extLst>
            </p:cNvPr>
            <p:cNvSpPr txBox="1"/>
            <p:nvPr/>
          </p:nvSpPr>
          <p:spPr>
            <a:xfrm>
              <a:off x="7787626" y="275719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pic>
          <p:nvPicPr>
            <p:cNvPr id="18" name="Picture 2" descr="Microcontroller PNG transparent image download, size: 512x333px">
              <a:extLst>
                <a:ext uri="{FF2B5EF4-FFF2-40B4-BE49-F238E27FC236}">
                  <a16:creationId xmlns:a16="http://schemas.microsoft.com/office/drawing/2014/main" id="{0D6B8FDD-6B2F-D7E2-BAB7-22F4B8547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7392" y="1766195"/>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a:extLst>
                <a:ext uri="{FF2B5EF4-FFF2-40B4-BE49-F238E27FC236}">
                  <a16:creationId xmlns:a16="http://schemas.microsoft.com/office/drawing/2014/main" id="{19B6957C-1A6C-0FA0-71DF-870D9E59CE97}"/>
                </a:ext>
              </a:extLst>
            </p:cNvPr>
            <p:cNvPicPr>
              <a:picLocks noChangeAspect="1"/>
            </p:cNvPicPr>
            <p:nvPr/>
          </p:nvPicPr>
          <p:blipFill>
            <a:blip r:embed="rId7"/>
            <a:stretch>
              <a:fillRect/>
            </a:stretch>
          </p:blipFill>
          <p:spPr>
            <a:xfrm>
              <a:off x="79960" y="1240585"/>
              <a:ext cx="3134923" cy="1935595"/>
            </a:xfrm>
            <a:prstGeom prst="rect">
              <a:avLst/>
            </a:prstGeom>
          </p:spPr>
        </p:pic>
        <p:cxnSp>
          <p:nvCxnSpPr>
            <p:cNvPr id="50" name="直接连接符 49">
              <a:extLst>
                <a:ext uri="{FF2B5EF4-FFF2-40B4-BE49-F238E27FC236}">
                  <a16:creationId xmlns:a16="http://schemas.microsoft.com/office/drawing/2014/main" id="{0B02194F-D044-FAC8-9A73-D647A575C5CD}"/>
                </a:ext>
              </a:extLst>
            </p:cNvPr>
            <p:cNvCxnSpPr>
              <a:cxnSpLocks/>
            </p:cNvCxnSpPr>
            <p:nvPr/>
          </p:nvCxnSpPr>
          <p:spPr>
            <a:xfrm flipV="1">
              <a:off x="1807113" y="1353058"/>
              <a:ext cx="1784530" cy="556544"/>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48DCC540-885F-E8EA-6ABB-98AF25E8CD8F}"/>
                </a:ext>
              </a:extLst>
            </p:cNvPr>
            <p:cNvSpPr/>
            <p:nvPr/>
          </p:nvSpPr>
          <p:spPr>
            <a:xfrm>
              <a:off x="3591643" y="1306975"/>
              <a:ext cx="1800107" cy="186920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3809B6BC-C4F4-9587-F884-DCDFC42C56F7}"/>
                </a:ext>
              </a:extLst>
            </p:cNvPr>
            <p:cNvCxnSpPr>
              <a:cxnSpLocks/>
            </p:cNvCxnSpPr>
            <p:nvPr/>
          </p:nvCxnSpPr>
          <p:spPr>
            <a:xfrm>
              <a:off x="1807113" y="2361205"/>
              <a:ext cx="1792318" cy="81497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6" name="右箭头 13">
              <a:extLst>
                <a:ext uri="{FF2B5EF4-FFF2-40B4-BE49-F238E27FC236}">
                  <a16:creationId xmlns:a16="http://schemas.microsoft.com/office/drawing/2014/main" id="{E8C43DB5-3932-4DD7-6D36-43012B1D262C}"/>
                </a:ext>
              </a:extLst>
            </p:cNvPr>
            <p:cNvSpPr/>
            <p:nvPr/>
          </p:nvSpPr>
          <p:spPr>
            <a:xfrm>
              <a:off x="5391750" y="2073139"/>
              <a:ext cx="2461588"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57" name="矩形: 圆角 56">
              <a:extLst>
                <a:ext uri="{FF2B5EF4-FFF2-40B4-BE49-F238E27FC236}">
                  <a16:creationId xmlns:a16="http://schemas.microsoft.com/office/drawing/2014/main" id="{FF401E92-3C3E-32B1-58F4-A935FE9DF651}"/>
                </a:ext>
              </a:extLst>
            </p:cNvPr>
            <p:cNvSpPr/>
            <p:nvPr/>
          </p:nvSpPr>
          <p:spPr>
            <a:xfrm>
              <a:off x="6299504" y="1315207"/>
              <a:ext cx="1086474" cy="1869205"/>
            </a:xfrm>
            <a:prstGeom prst="roundRect">
              <a:avLst>
                <a:gd name="adj" fmla="val 3237"/>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0" dirty="0">
                  <a:solidFill>
                    <a:srgbClr val="0070C0"/>
                  </a:solidFill>
                  <a:effectLst/>
                  <a:latin typeface="-apple-system"/>
                </a:rPr>
                <a:t>SPI</a:t>
              </a:r>
            </a:p>
            <a:p>
              <a:pPr algn="ctr"/>
              <a:r>
                <a:rPr lang="en-US" altLang="zh-CN" sz="2400" b="1" i="0" dirty="0">
                  <a:solidFill>
                    <a:srgbClr val="0070C0"/>
                  </a:solidFill>
                  <a:effectLst/>
                  <a:latin typeface="-apple-system"/>
                </a:rPr>
                <a:t>SSI</a:t>
              </a:r>
            </a:p>
            <a:p>
              <a:pPr algn="ctr"/>
              <a:r>
                <a:rPr lang="en-US" altLang="zh-CN" sz="2400" b="1" i="0" dirty="0">
                  <a:solidFill>
                    <a:srgbClr val="0070C0"/>
                  </a:solidFill>
                  <a:effectLst/>
                  <a:latin typeface="-apple-system"/>
                </a:rPr>
                <a:t>ABZ</a:t>
              </a:r>
            </a:p>
            <a:p>
              <a:pPr algn="ctr"/>
              <a:r>
                <a:rPr lang="en-US" altLang="zh-CN" sz="2400" b="1" i="0" dirty="0">
                  <a:solidFill>
                    <a:srgbClr val="0070C0"/>
                  </a:solidFill>
                  <a:effectLst/>
                  <a:latin typeface="-apple-system"/>
                </a:rPr>
                <a:t>UVW</a:t>
              </a:r>
            </a:p>
            <a:p>
              <a:pPr algn="ctr"/>
              <a:r>
                <a:rPr lang="en-US" altLang="zh-CN" sz="2400" b="1" i="0" dirty="0">
                  <a:solidFill>
                    <a:srgbClr val="0070C0"/>
                  </a:solidFill>
                  <a:effectLst/>
                  <a:latin typeface="-apple-system"/>
                </a:rPr>
                <a:t>PWM</a:t>
              </a:r>
              <a:endParaRPr lang="zh-CN" altLang="en-US" sz="2400" b="1" dirty="0">
                <a:solidFill>
                  <a:srgbClr val="0070C0"/>
                </a:solidFill>
              </a:endParaRPr>
            </a:p>
          </p:txBody>
        </p:sp>
      </p:grpSp>
      <p:graphicFrame>
        <p:nvGraphicFramePr>
          <p:cNvPr id="64" name="表格 63">
            <a:extLst>
              <a:ext uri="{FF2B5EF4-FFF2-40B4-BE49-F238E27FC236}">
                <a16:creationId xmlns:a16="http://schemas.microsoft.com/office/drawing/2014/main" id="{A35B2440-6F59-9644-DC35-6471170DB4D5}"/>
              </a:ext>
            </a:extLst>
          </p:cNvPr>
          <p:cNvGraphicFramePr>
            <a:graphicFrameLocks noGrp="1"/>
          </p:cNvGraphicFramePr>
          <p:nvPr>
            <p:extLst>
              <p:ext uri="{D42A27DB-BD31-4B8C-83A1-F6EECF244321}">
                <p14:modId xmlns:p14="http://schemas.microsoft.com/office/powerpoint/2010/main" val="3271390671"/>
              </p:ext>
            </p:extLst>
          </p:nvPr>
        </p:nvGraphicFramePr>
        <p:xfrm>
          <a:off x="4843329" y="4016466"/>
          <a:ext cx="7038396" cy="2615352"/>
        </p:xfrm>
        <a:graphic>
          <a:graphicData uri="http://schemas.openxmlformats.org/drawingml/2006/table">
            <a:tbl>
              <a:tblPr/>
              <a:tblGrid>
                <a:gridCol w="846271">
                  <a:extLst>
                    <a:ext uri="{9D8B030D-6E8A-4147-A177-3AD203B41FA5}">
                      <a16:colId xmlns:a16="http://schemas.microsoft.com/office/drawing/2014/main" val="1653874726"/>
                    </a:ext>
                  </a:extLst>
                </a:gridCol>
                <a:gridCol w="2672927">
                  <a:extLst>
                    <a:ext uri="{9D8B030D-6E8A-4147-A177-3AD203B41FA5}">
                      <a16:colId xmlns:a16="http://schemas.microsoft.com/office/drawing/2014/main" val="1429078919"/>
                    </a:ext>
                  </a:extLst>
                </a:gridCol>
                <a:gridCol w="1759599">
                  <a:extLst>
                    <a:ext uri="{9D8B030D-6E8A-4147-A177-3AD203B41FA5}">
                      <a16:colId xmlns:a16="http://schemas.microsoft.com/office/drawing/2014/main" val="1172800075"/>
                    </a:ext>
                  </a:extLst>
                </a:gridCol>
                <a:gridCol w="1759599">
                  <a:extLst>
                    <a:ext uri="{9D8B030D-6E8A-4147-A177-3AD203B41FA5}">
                      <a16:colId xmlns:a16="http://schemas.microsoft.com/office/drawing/2014/main" val="1314427879"/>
                    </a:ext>
                  </a:extLst>
                </a:gridCol>
              </a:tblGrid>
              <a:tr h="207749">
                <a:tc>
                  <a:txBody>
                    <a:bodyPr/>
                    <a:lstStyle/>
                    <a:p>
                      <a:pPr rtl="0"/>
                      <a:r>
                        <a:rPr lang="zh-CN" altLang="en-US" sz="1300" b="1">
                          <a:solidFill>
                            <a:srgbClr val="1F1F1F"/>
                          </a:solidFill>
                          <a:effectLst/>
                          <a:latin typeface="Google Sans Text"/>
                        </a:rPr>
                        <a:t>型号</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角度更新 </a:t>
                      </a:r>
                      <a:r>
                        <a:rPr lang="en-US" altLang="zh-CN" sz="1300" b="1">
                          <a:solidFill>
                            <a:srgbClr val="1F1F1F"/>
                          </a:solidFill>
                          <a:effectLst/>
                          <a:latin typeface="Google Sans Text"/>
                        </a:rPr>
                        <a:t>/ </a:t>
                      </a:r>
                      <a:r>
                        <a:rPr lang="zh-CN" altLang="en-US" sz="1300" b="1">
                          <a:solidFill>
                            <a:srgbClr val="1F1F1F"/>
                          </a:solidFill>
                          <a:effectLst/>
                          <a:latin typeface="Google Sans Text"/>
                        </a:rPr>
                        <a:t>延迟</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带宽</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dirty="0">
                          <a:solidFill>
                            <a:srgbClr val="1F1F1F"/>
                          </a:solidFill>
                          <a:effectLst/>
                          <a:latin typeface="Google Sans Text"/>
                        </a:rPr>
                        <a:t>精度与校准</a:t>
                      </a:r>
                      <a:endParaRPr lang="zh-CN" altLang="en-US" sz="1300" dirty="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11418177"/>
                  </a:ext>
                </a:extLst>
              </a:tr>
              <a:tr h="538172">
                <a:tc>
                  <a:txBody>
                    <a:bodyPr/>
                    <a:lstStyle/>
                    <a:p>
                      <a:pPr rtl="0"/>
                      <a:r>
                        <a:rPr lang="en-US" sz="1300" b="1" dirty="0">
                          <a:solidFill>
                            <a:srgbClr val="0070C0"/>
                          </a:solidFill>
                          <a:effectLst/>
                          <a:latin typeface="Google Sans Text"/>
                        </a:rPr>
                        <a:t>MA600A</a:t>
                      </a:r>
                      <a:endParaRPr lang="en-US" sz="1300" dirty="0">
                        <a:solidFill>
                          <a:srgbClr val="0070C0"/>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刷新率 </a:t>
                      </a:r>
                      <a:r>
                        <a:rPr lang="en-US" altLang="zh-CN" sz="1300" dirty="0">
                          <a:solidFill>
                            <a:srgbClr val="0070C0"/>
                          </a:solidFill>
                          <a:effectLst/>
                          <a:latin typeface="Google Sans Text"/>
                        </a:rPr>
                        <a:t>800kHz</a:t>
                      </a:r>
                      <a:r>
                        <a:rPr lang="zh-CN" altLang="en-US" sz="1300" dirty="0">
                          <a:solidFill>
                            <a:srgbClr val="0070C0"/>
                          </a:solidFill>
                          <a:effectLst/>
                          <a:latin typeface="Google Sans Text"/>
                        </a:rPr>
                        <a:t>；默认滤波下延迟补偿后约 </a:t>
                      </a:r>
                      <a:r>
                        <a:rPr lang="en-US" altLang="zh-CN" sz="1300" dirty="0">
                          <a:solidFill>
                            <a:srgbClr val="0070C0"/>
                          </a:solidFill>
                          <a:effectLst/>
                          <a:latin typeface="Google Sans Text"/>
                        </a:rPr>
                        <a:t>±0.5us </a:t>
                      </a:r>
                      <a:r>
                        <a:rPr lang="zh-CN" altLang="en-US" sz="1300" dirty="0">
                          <a:solidFill>
                            <a:srgbClr val="0070C0"/>
                          </a:solidFill>
                          <a:effectLst/>
                          <a:latin typeface="Google Sans Text"/>
                        </a:rPr>
                        <a:t>量级</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默认 </a:t>
                      </a:r>
                      <a:r>
                        <a:rPr lang="en-US" altLang="zh-CN" sz="1300" dirty="0">
                          <a:solidFill>
                            <a:srgbClr val="0070C0"/>
                          </a:solidFill>
                          <a:effectLst/>
                          <a:latin typeface="Google Sans Text"/>
                        </a:rPr>
                        <a:t>12</a:t>
                      </a:r>
                      <a:r>
                        <a:rPr lang="en-US" sz="1300" dirty="0">
                          <a:solidFill>
                            <a:srgbClr val="0070C0"/>
                          </a:solidFill>
                          <a:effectLst/>
                          <a:latin typeface="Google Sans Text"/>
                        </a:rPr>
                        <a:t>kHz；</a:t>
                      </a:r>
                      <a:r>
                        <a:rPr lang="zh-CN" altLang="en-US" sz="1300" dirty="0">
                          <a:solidFill>
                            <a:srgbClr val="0070C0"/>
                          </a:solidFill>
                          <a:effectLst/>
                          <a:latin typeface="Google Sans Text"/>
                        </a:rPr>
                        <a:t>最高 </a:t>
                      </a:r>
                      <a:r>
                        <a:rPr lang="en-US" altLang="zh-CN" sz="1300" dirty="0">
                          <a:solidFill>
                            <a:srgbClr val="0070C0"/>
                          </a:solidFill>
                          <a:effectLst/>
                          <a:latin typeface="Google Sans Text"/>
                        </a:rPr>
                        <a:t>17</a:t>
                      </a:r>
                      <a:r>
                        <a:rPr lang="en-US" sz="1300" dirty="0">
                          <a:solidFill>
                            <a:srgbClr val="0070C0"/>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en-US" sz="1300" dirty="0">
                          <a:solidFill>
                            <a:srgbClr val="0070C0"/>
                          </a:solidFill>
                          <a:effectLst/>
                          <a:latin typeface="Google Sans Text"/>
                        </a:rPr>
                        <a:t>INL &lt;0.6°；32</a:t>
                      </a:r>
                      <a:r>
                        <a:rPr lang="zh-CN" altLang="en-US" sz="1300" dirty="0">
                          <a:solidFill>
                            <a:srgbClr val="0070C0"/>
                          </a:solidFill>
                          <a:effectLst/>
                          <a:latin typeface="Google Sans Text"/>
                        </a:rPr>
                        <a:t>点校准后 </a:t>
                      </a:r>
                      <a:r>
                        <a:rPr lang="en-US" altLang="zh-CN" sz="1300" dirty="0">
                          <a:solidFill>
                            <a:srgbClr val="0070C0"/>
                          </a:solidFill>
                          <a:effectLst/>
                          <a:latin typeface="Google Sans Text"/>
                        </a:rPr>
                        <a:t>&lt;0.1°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35722170"/>
                  </a:ext>
                </a:extLst>
              </a:tr>
              <a:tr h="538172">
                <a:tc>
                  <a:txBody>
                    <a:bodyPr/>
                    <a:lstStyle/>
                    <a:p>
                      <a:pPr rtl="0"/>
                      <a:r>
                        <a:rPr lang="en-US" sz="1300" b="1">
                          <a:solidFill>
                            <a:srgbClr val="1F1F1F"/>
                          </a:solidFill>
                          <a:effectLst/>
                          <a:latin typeface="Google Sans Text"/>
                        </a:rPr>
                        <a:t>AS5048A</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典型传播延迟约 </a:t>
                      </a:r>
                      <a:r>
                        <a:rPr lang="en-US" altLang="zh-CN" sz="1300" dirty="0">
                          <a:solidFill>
                            <a:srgbClr val="1F1F1F"/>
                          </a:solidFill>
                          <a:effectLst/>
                          <a:latin typeface="Google Sans Text"/>
                        </a:rPr>
                        <a:t>100</a:t>
                      </a:r>
                      <a:r>
                        <a:rPr lang="en-US" sz="1300" dirty="0">
                          <a:solidFill>
                            <a:srgbClr val="1F1F1F"/>
                          </a:solidFill>
                          <a:effectLst/>
                          <a:latin typeface="Google Sans Text"/>
                        </a:rPr>
                        <a:t>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采样约 </a:t>
                      </a:r>
                      <a:r>
                        <a:rPr lang="en-US" altLang="zh-CN" sz="1300">
                          <a:solidFill>
                            <a:srgbClr val="1F1F1F"/>
                          </a:solidFill>
                          <a:effectLst/>
                          <a:latin typeface="Google Sans Text"/>
                        </a:rPr>
                        <a:t>11.25</a:t>
                      </a:r>
                      <a:r>
                        <a:rPr lang="en-US" sz="1300">
                          <a:solidFill>
                            <a:srgbClr val="1F1F1F"/>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典型精度 </a:t>
                      </a:r>
                      <a:r>
                        <a:rPr lang="en-US" altLang="zh-CN" sz="1300" dirty="0">
                          <a:solidFill>
                            <a:srgbClr val="1F1F1F"/>
                          </a:solidFill>
                          <a:effectLst/>
                          <a:latin typeface="Google Sans Text"/>
                        </a:rPr>
                        <a:t>0.5°</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5877961"/>
                  </a:ext>
                </a:extLst>
              </a:tr>
              <a:tr h="538761">
                <a:tc>
                  <a:txBody>
                    <a:bodyPr/>
                    <a:lstStyle/>
                    <a:p>
                      <a:pPr rtl="0"/>
                      <a:r>
                        <a:rPr lang="en-US" sz="1300" b="1">
                          <a:solidFill>
                            <a:srgbClr val="1F1F1F"/>
                          </a:solidFill>
                          <a:effectLst/>
                          <a:latin typeface="Google Sans Text"/>
                        </a:rPr>
                        <a:t>TLE5012B</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更新 </a:t>
                      </a:r>
                      <a:r>
                        <a:rPr lang="en-US" altLang="zh-CN" sz="1300" dirty="0">
                          <a:solidFill>
                            <a:srgbClr val="1F1F1F"/>
                          </a:solidFill>
                          <a:effectLst/>
                          <a:latin typeface="Google Sans Text"/>
                        </a:rPr>
                        <a:t>42.7us</a:t>
                      </a:r>
                      <a:r>
                        <a:rPr lang="zh-CN" altLang="en-US" sz="1300" dirty="0">
                          <a:solidFill>
                            <a:srgbClr val="1F1F1F"/>
                          </a:solidFill>
                          <a:effectLst/>
                          <a:latin typeface="Google Sans Text"/>
                        </a:rPr>
                        <a:t>；无预测时延迟约 </a:t>
                      </a:r>
                      <a:r>
                        <a:rPr lang="en-US" altLang="zh-CN" sz="1300" dirty="0">
                          <a:solidFill>
                            <a:srgbClr val="1F1F1F"/>
                          </a:solidFill>
                          <a:effectLst/>
                          <a:latin typeface="Google Sans Text"/>
                        </a:rPr>
                        <a:t>85-95us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a:solidFill>
                            <a:srgbClr val="1F1F1F"/>
                          </a:solidFill>
                          <a:effectLst/>
                          <a:latin typeface="Google Sans Text"/>
                        </a:rPr>
                        <a:t>依赖滤波配置</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典型电角度误差 </a:t>
                      </a:r>
                      <a:r>
                        <a:rPr lang="en-US" altLang="zh-CN" sz="1300" dirty="0">
                          <a:solidFill>
                            <a:srgbClr val="1F1F1F"/>
                          </a:solidFill>
                          <a:effectLst/>
                          <a:latin typeface="Google Sans Text"/>
                        </a:rPr>
                        <a:t>0.6° </a:t>
                      </a:r>
                      <a:r>
                        <a:rPr lang="zh-CN" altLang="en-US" sz="1300" dirty="0">
                          <a:solidFill>
                            <a:srgbClr val="1F1F1F"/>
                          </a:solidFill>
                          <a:effectLst/>
                          <a:latin typeface="Google Sans Text"/>
                        </a:rPr>
                        <a:t>起</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3753727"/>
                  </a:ext>
                </a:extLst>
              </a:tr>
              <a:tr h="538172">
                <a:tc>
                  <a:txBody>
                    <a:bodyPr/>
                    <a:lstStyle/>
                    <a:p>
                      <a:pPr rtl="0"/>
                      <a:r>
                        <a:rPr lang="en-US" sz="1300" b="1">
                          <a:solidFill>
                            <a:srgbClr val="1F1F1F"/>
                          </a:solidFill>
                          <a:effectLst/>
                          <a:latin typeface="Google Sans Text"/>
                        </a:rPr>
                        <a:t>MT6826S</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输出传播延迟约 </a:t>
                      </a:r>
                      <a:r>
                        <a:rPr lang="en-US" altLang="zh-CN" sz="1300">
                          <a:solidFill>
                            <a:srgbClr val="1F1F1F"/>
                          </a:solidFill>
                          <a:effectLst/>
                          <a:latin typeface="Google Sans Text"/>
                        </a:rPr>
                        <a:t>2-10us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未突出 </a:t>
                      </a:r>
                      <a:r>
                        <a:rPr lang="en-US" altLang="zh-CN" sz="1300">
                          <a:solidFill>
                            <a:srgbClr val="1F1F1F"/>
                          </a:solidFill>
                          <a:effectLst/>
                          <a:latin typeface="Google Sans Text"/>
                        </a:rPr>
                        <a:t>10kHz </a:t>
                      </a:r>
                      <a:r>
                        <a:rPr lang="zh-CN" altLang="en-US" sz="1300">
                          <a:solidFill>
                            <a:srgbClr val="1F1F1F"/>
                          </a:solidFill>
                          <a:effectLst/>
                          <a:latin typeface="Google Sans Text"/>
                        </a:rPr>
                        <a:t>以上带宽</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工厂校准约 </a:t>
                      </a:r>
                      <a:r>
                        <a:rPr lang="en-US" altLang="zh-CN" sz="1300" dirty="0">
                          <a:solidFill>
                            <a:srgbClr val="1F1F1F"/>
                          </a:solidFill>
                          <a:effectLst/>
                          <a:latin typeface="Google Sans Text"/>
                        </a:rPr>
                        <a:t>0.5°</a:t>
                      </a:r>
                      <a:r>
                        <a:rPr lang="zh-CN" altLang="en-US" sz="1300" dirty="0">
                          <a:solidFill>
                            <a:srgbClr val="1F1F1F"/>
                          </a:solidFill>
                          <a:effectLst/>
                          <a:latin typeface="Google Sans Text"/>
                        </a:rPr>
                        <a:t>，用户校准可到 </a:t>
                      </a:r>
                      <a:r>
                        <a:rPr lang="en-US" altLang="zh-CN" sz="1300" dirty="0">
                          <a:solidFill>
                            <a:srgbClr val="1F1F1F"/>
                          </a:solidFill>
                          <a:effectLst/>
                          <a:latin typeface="Google Sans Text"/>
                        </a:rPr>
                        <a: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07496464"/>
                  </a:ext>
                </a:extLst>
              </a:tr>
            </a:tbl>
          </a:graphicData>
        </a:graphic>
      </p:graphicFrame>
      <p:pic>
        <p:nvPicPr>
          <p:cNvPr id="71" name="图片 70">
            <a:extLst>
              <a:ext uri="{FF2B5EF4-FFF2-40B4-BE49-F238E27FC236}">
                <a16:creationId xmlns:a16="http://schemas.microsoft.com/office/drawing/2014/main" id="{FD482C89-64FE-85FB-0FD9-1B5FC581FFFC}"/>
              </a:ext>
            </a:extLst>
          </p:cNvPr>
          <p:cNvPicPr>
            <a:picLocks noChangeAspect="1"/>
          </p:cNvPicPr>
          <p:nvPr/>
        </p:nvPicPr>
        <p:blipFill>
          <a:blip r:embed="rId8"/>
          <a:stretch>
            <a:fillRect/>
          </a:stretch>
        </p:blipFill>
        <p:spPr>
          <a:xfrm>
            <a:off x="525257" y="1015328"/>
            <a:ext cx="2557050" cy="2394932"/>
          </a:xfrm>
          <a:prstGeom prst="rect">
            <a:avLst/>
          </a:prstGeom>
        </p:spPr>
      </p:pic>
    </p:spTree>
    <p:extLst>
      <p:ext uri="{BB962C8B-B14F-4D97-AF65-F5344CB8AC3E}">
        <p14:creationId xmlns:p14="http://schemas.microsoft.com/office/powerpoint/2010/main" val="3595624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Layout——板框与四层叠层</a:t>
              </a:r>
            </a:p>
          </p:txBody>
        </p:sp>
      </p:grpSp>
      <p:sp>
        <p:nvSpPr>
          <p:cNvPr id="6" name="Rectangle 6"/>
          <p:cNvSpPr/>
          <p:nvPr/>
        </p:nvSpPr>
        <p:spPr>
          <a:xfrm>
            <a:off x="457200" y="1009650"/>
            <a:ext cx="6324600" cy="2952750"/>
          </a:xfrm>
          <a:prstGeom prst="rect">
            <a:avLst/>
          </a:prstGeom>
          <a:solidFill>
            <a:srgbClr val="F2F2F2"/>
          </a:solidFill>
          <a:ln w="9525">
            <a:solidFill>
              <a:srgbClr val="AFC7DD"/>
            </a:solidFill>
          </a:ln>
        </p:spPr>
      </p:sp>
      <p:grpSp>
        <p:nvGrpSpPr>
          <p:cNvPr id="17" name="Group 17"/>
          <p:cNvGrpSpPr/>
          <p:nvPr/>
        </p:nvGrpSpPr>
        <p:grpSpPr>
          <a:xfrm>
            <a:off x="6972300" y="1009650"/>
            <a:ext cx="4762500" cy="2952750"/>
            <a:chOff x="6972300" y="1009650"/>
            <a:chExt cx="4762500" cy="2952750"/>
          </a:xfrm>
        </p:grpSpPr>
        <p:sp>
          <p:nvSpPr>
            <p:cNvPr id="9" name="Rectangle 9"/>
            <p:cNvSpPr/>
            <p:nvPr/>
          </p:nvSpPr>
          <p:spPr>
            <a:xfrm>
              <a:off x="6972300" y="1009650"/>
              <a:ext cx="4762500" cy="2952750"/>
            </a:xfrm>
            <a:prstGeom prst="rect">
              <a:avLst/>
            </a:prstGeom>
            <a:solidFill>
              <a:srgbClr val="F2F2F2"/>
            </a:solidFill>
            <a:ln w="9525">
              <a:solidFill>
                <a:srgbClr val="AFC7DD"/>
              </a:solidFill>
            </a:ln>
          </p:spPr>
        </p:sp>
        <p:sp>
          <p:nvSpPr>
            <p:cNvPr id="10" name="Rectangle 10"/>
            <p:cNvSpPr/>
            <p:nvPr/>
          </p:nvSpPr>
          <p:spPr>
            <a:xfrm>
              <a:off x="6972300" y="1009650"/>
              <a:ext cx="4762500" cy="400050"/>
            </a:xfrm>
            <a:prstGeom prst="rect">
              <a:avLst/>
            </a:prstGeom>
            <a:solidFill>
              <a:srgbClr val="0070C0"/>
            </a:solidFill>
            <a:ln>
              <a:noFill/>
            </a:ln>
          </p:spPr>
        </p:sp>
        <p:sp>
          <p:nvSpPr>
            <p:cNvPr id="11" name="TextBox 11"/>
            <p:cNvSpPr txBox="1"/>
            <p:nvPr/>
          </p:nvSpPr>
          <p:spPr>
            <a:xfrm>
              <a:off x="8561701" y="1115854"/>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板框与工艺参数</a:t>
              </a:r>
            </a:p>
          </p:txBody>
        </p:sp>
        <p:sp>
          <p:nvSpPr>
            <p:cNvPr id="12" name="TextBox 12"/>
            <p:cNvSpPr txBox="1"/>
            <p:nvPr/>
          </p:nvSpPr>
          <p:spPr>
            <a:xfrm>
              <a:off x="7257098" y="1639729"/>
              <a:ext cx="331641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外形尺寸：约 49.23 × 42.86 mm</a:t>
              </a:r>
            </a:p>
          </p:txBody>
        </p:sp>
        <p:sp>
          <p:nvSpPr>
            <p:cNvPr id="13" name="TextBox 13"/>
            <p:cNvSpPr txBox="1"/>
            <p:nvPr/>
          </p:nvSpPr>
          <p:spPr>
            <a:xfrm>
              <a:off x="7257098" y="2039779"/>
              <a:ext cx="186723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板层结构：4 层板</a:t>
              </a:r>
            </a:p>
          </p:txBody>
        </p:sp>
        <p:sp>
          <p:nvSpPr>
            <p:cNvPr id="14" name="TextBox 14"/>
            <p:cNvSpPr txBox="1"/>
            <p:nvPr/>
          </p:nvSpPr>
          <p:spPr>
            <a:xfrm>
              <a:off x="7257098" y="2439829"/>
              <a:ext cx="226628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成品板厚：约 1.6 mm</a:t>
              </a:r>
            </a:p>
          </p:txBody>
        </p:sp>
        <p:sp>
          <p:nvSpPr>
            <p:cNvPr id="15" name="TextBox 15"/>
            <p:cNvSpPr txBox="1"/>
            <p:nvPr/>
          </p:nvSpPr>
          <p:spPr>
            <a:xfrm>
              <a:off x="7257098" y="2839879"/>
              <a:ext cx="2371296"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铜厚配置：外层约 1 oz</a:t>
              </a:r>
            </a:p>
          </p:txBody>
        </p:sp>
        <p:sp>
          <p:nvSpPr>
            <p:cNvPr id="16" name="TextBox 16"/>
            <p:cNvSpPr txBox="1"/>
            <p:nvPr/>
          </p:nvSpPr>
          <p:spPr>
            <a:xfrm>
              <a:off x="7257098" y="3239929"/>
              <a:ext cx="355794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布局规模：116 个器件，311 个过孔</a:t>
              </a:r>
            </a:p>
          </p:txBody>
        </p:sp>
      </p:grpSp>
      <p:grpSp>
        <p:nvGrpSpPr>
          <p:cNvPr id="31" name="Group 31"/>
          <p:cNvGrpSpPr/>
          <p:nvPr/>
        </p:nvGrpSpPr>
        <p:grpSpPr>
          <a:xfrm>
            <a:off x="431482" y="4143851"/>
            <a:ext cx="11303318" cy="2142649"/>
            <a:chOff x="431482" y="4143851"/>
            <a:chExt cx="11303318" cy="2142649"/>
          </a:xfrm>
        </p:grpSpPr>
        <p:sp>
          <p:nvSpPr>
            <p:cNvPr id="18" name="TextBox 18"/>
            <p:cNvSpPr txBox="1"/>
            <p:nvPr/>
          </p:nvSpPr>
          <p:spPr>
            <a:xfrm>
              <a:off x="431482" y="4143851"/>
              <a:ext cx="1752648" cy="411480"/>
            </a:xfrm>
            <a:prstGeom prst="rect">
              <a:avLst/>
            </a:prstGeom>
            <a:noFill/>
            <a:ln>
              <a:noFill/>
            </a:ln>
          </p:spPr>
          <p:txBody>
            <a:bodyPr wrap="none" lIns="0" tIns="0" rIns="0" bIns="0" anchor="t" anchorCtr="0">
              <a:spAutoFit/>
            </a:bodyPr>
            <a:lstStyle/>
            <a:p>
              <a:pPr algn="l"/>
              <a:r>
                <a:rPr lang="zh-CN" sz="2025" b="1" dirty="0">
                  <a:solidFill>
                    <a:srgbClr val="005A9C"/>
                  </a:solidFill>
                  <a:latin typeface="Arial"/>
                  <a:ea typeface="Microsoft YaHei"/>
                  <a:cs typeface="Arial"/>
                </a:rPr>
                <a:t>四层叠层职责</a:t>
              </a:r>
            </a:p>
          </p:txBody>
        </p:sp>
        <p:sp>
          <p:nvSpPr>
            <p:cNvPr id="19" name="Rectangle 19"/>
            <p:cNvSpPr/>
            <p:nvPr/>
          </p:nvSpPr>
          <p:spPr>
            <a:xfrm>
              <a:off x="457200" y="4552950"/>
              <a:ext cx="11277600" cy="457200"/>
            </a:xfrm>
            <a:prstGeom prst="rect">
              <a:avLst/>
            </a:prstGeom>
            <a:solidFill>
              <a:srgbClr val="0070C0"/>
            </a:solidFill>
            <a:ln>
              <a:noFill/>
            </a:ln>
          </p:spPr>
        </p:sp>
        <p:sp>
          <p:nvSpPr>
            <p:cNvPr id="20" name="TextBox 20"/>
            <p:cNvSpPr txBox="1"/>
            <p:nvPr/>
          </p:nvSpPr>
          <p:spPr>
            <a:xfrm>
              <a:off x="684848" y="4687729"/>
              <a:ext cx="900062"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L1 · Top</a:t>
              </a:r>
            </a:p>
          </p:txBody>
        </p:sp>
        <p:sp>
          <p:nvSpPr>
            <p:cNvPr id="21" name="TextBox 21"/>
            <p:cNvSpPr txBox="1"/>
            <p:nvPr/>
          </p:nvSpPr>
          <p:spPr>
            <a:xfrm>
              <a:off x="2362200" y="4695825"/>
              <a:ext cx="3838575"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器件布局、功率铜皮、栅极驱动与关键信号</a:t>
              </a:r>
            </a:p>
          </p:txBody>
        </p:sp>
        <p:sp>
          <p:nvSpPr>
            <p:cNvPr id="22" name="Rectangle 22"/>
            <p:cNvSpPr/>
            <p:nvPr/>
          </p:nvSpPr>
          <p:spPr>
            <a:xfrm>
              <a:off x="457200" y="5048250"/>
              <a:ext cx="11277600" cy="381000"/>
            </a:xfrm>
            <a:prstGeom prst="rect">
              <a:avLst/>
            </a:prstGeom>
            <a:solidFill>
              <a:srgbClr val="EDF8F4"/>
            </a:solidFill>
            <a:ln w="9525">
              <a:solidFill>
                <a:srgbClr val="AFC7DD"/>
              </a:solidFill>
            </a:ln>
          </p:spPr>
        </p:sp>
        <p:sp>
          <p:nvSpPr>
            <p:cNvPr id="23" name="TextBox 23"/>
            <p:cNvSpPr txBox="1"/>
            <p:nvPr/>
          </p:nvSpPr>
          <p:spPr>
            <a:xfrm>
              <a:off x="685800" y="5143500"/>
              <a:ext cx="857202"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L2 · GND</a:t>
              </a:r>
            </a:p>
          </p:txBody>
        </p:sp>
        <p:sp>
          <p:nvSpPr>
            <p:cNvPr id="24" name="TextBox 24"/>
            <p:cNvSpPr txBox="1"/>
            <p:nvPr/>
          </p:nvSpPr>
          <p:spPr>
            <a:xfrm>
              <a:off x="2363152" y="5151596"/>
              <a:ext cx="5166836"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连续参考地平面，为采样、驱动和控制信号提供低阻回流路径</a:t>
              </a:r>
            </a:p>
          </p:txBody>
        </p:sp>
        <p:sp>
          <p:nvSpPr>
            <p:cNvPr id="25" name="Rectangle 25"/>
            <p:cNvSpPr/>
            <p:nvPr/>
          </p:nvSpPr>
          <p:spPr>
            <a:xfrm>
              <a:off x="457200" y="5467350"/>
              <a:ext cx="11277600" cy="381000"/>
            </a:xfrm>
            <a:prstGeom prst="rect">
              <a:avLst/>
            </a:prstGeom>
            <a:solidFill>
              <a:srgbClr val="FFF2F2"/>
            </a:solidFill>
            <a:ln w="9525">
              <a:solidFill>
                <a:srgbClr val="AFC7DD"/>
              </a:solidFill>
            </a:ln>
          </p:spPr>
        </p:sp>
        <p:sp>
          <p:nvSpPr>
            <p:cNvPr id="26" name="TextBox 26"/>
            <p:cNvSpPr txBox="1"/>
            <p:nvPr/>
          </p:nvSpPr>
          <p:spPr>
            <a:xfrm>
              <a:off x="685800" y="5562600"/>
              <a:ext cx="1130236" cy="304800"/>
            </a:xfrm>
            <a:prstGeom prst="rect">
              <a:avLst/>
            </a:prstGeom>
            <a:noFill/>
            <a:ln>
              <a:noFill/>
            </a:ln>
          </p:spPr>
          <p:txBody>
            <a:bodyPr wrap="none" lIns="0" tIns="0" rIns="0" bIns="0" anchor="t" anchorCtr="0">
              <a:spAutoFit/>
            </a:bodyPr>
            <a:lstStyle/>
            <a:p>
              <a:pPr algn="l"/>
              <a:r>
                <a:rPr lang="zh-CN" sz="1500" b="1" dirty="0">
                  <a:solidFill>
                    <a:srgbClr val="C00000"/>
                  </a:solidFill>
                  <a:latin typeface="Arial"/>
                  <a:ea typeface="Microsoft YaHei"/>
                  <a:cs typeface="Arial"/>
                </a:rPr>
                <a:t>L3 · Power</a:t>
              </a:r>
            </a:p>
          </p:txBody>
        </p:sp>
        <p:sp>
          <p:nvSpPr>
            <p:cNvPr id="27" name="TextBox 27"/>
            <p:cNvSpPr txBox="1"/>
            <p:nvPr/>
          </p:nvSpPr>
          <p:spPr>
            <a:xfrm>
              <a:off x="2363152" y="5570696"/>
              <a:ext cx="4026694"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电源分配与局部铜面，降低供电阻抗并辅助散热</a:t>
              </a:r>
            </a:p>
          </p:txBody>
        </p:sp>
        <p:sp>
          <p:nvSpPr>
            <p:cNvPr id="28" name="Rectangle 28"/>
            <p:cNvSpPr/>
            <p:nvPr/>
          </p:nvSpPr>
          <p:spPr>
            <a:xfrm>
              <a:off x="457200" y="5886450"/>
              <a:ext cx="11277600" cy="381000"/>
            </a:xfrm>
            <a:prstGeom prst="rect">
              <a:avLst/>
            </a:prstGeom>
            <a:solidFill>
              <a:srgbClr val="F2F2F2"/>
            </a:solidFill>
            <a:ln w="9525">
              <a:solidFill>
                <a:srgbClr val="AFC7DD"/>
              </a:solidFill>
            </a:ln>
          </p:spPr>
        </p:sp>
        <p:sp>
          <p:nvSpPr>
            <p:cNvPr id="29" name="TextBox 29"/>
            <p:cNvSpPr txBox="1"/>
            <p:nvPr/>
          </p:nvSpPr>
          <p:spPr>
            <a:xfrm>
              <a:off x="685800" y="5981700"/>
              <a:ext cx="1245751"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L4 · Bottom</a:t>
              </a:r>
            </a:p>
          </p:txBody>
        </p:sp>
        <p:sp>
          <p:nvSpPr>
            <p:cNvPr id="30" name="TextBox 30"/>
            <p:cNvSpPr txBox="1"/>
            <p:nvPr/>
          </p:nvSpPr>
          <p:spPr>
            <a:xfrm>
              <a:off x="2363152" y="5989796"/>
              <a:ext cx="456826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MCU、驱动与低速控制信号，配合过孔完成上下层互连</a:t>
              </a:r>
            </a:p>
          </p:txBody>
        </p:sp>
      </p:grpSp>
      <p:sp>
        <p:nvSpPr>
          <p:cNvPr id="32" name="TextBox 32"/>
          <p:cNvSpPr txBox="1"/>
          <p:nvPr/>
        </p:nvSpPr>
        <p:spPr>
          <a:xfrm>
            <a:off x="444818" y="6514624"/>
            <a:ext cx="4055269"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紧凑板框下，通过完整地平面和独立电源层控制回流路径与供电阻抗。</a:t>
            </a:r>
          </a:p>
        </p:txBody>
      </p:sp>
      <p:grpSp>
        <p:nvGrpSpPr>
          <p:cNvPr id="35" name="Group 21">
            <a:extLst>
              <a:ext uri="{FF2B5EF4-FFF2-40B4-BE49-F238E27FC236}">
                <a16:creationId xmlns:a16="http://schemas.microsoft.com/office/drawing/2014/main" id="{C9A34308-0DA0-3615-1992-4B541E5D6806}"/>
              </a:ext>
            </a:extLst>
          </p:cNvPr>
          <p:cNvGrpSpPr/>
          <p:nvPr/>
        </p:nvGrpSpPr>
        <p:grpSpPr>
          <a:xfrm>
            <a:off x="457200" y="1021556"/>
            <a:ext cx="6324600" cy="2952750"/>
            <a:chOff x="457200" y="1009650"/>
            <a:chExt cx="6324600" cy="2952750"/>
          </a:xfrm>
        </p:grpSpPr>
        <p:sp>
          <p:nvSpPr>
            <p:cNvPr id="36" name="Rectangle 6">
              <a:extLst>
                <a:ext uri="{FF2B5EF4-FFF2-40B4-BE49-F238E27FC236}">
                  <a16:creationId xmlns:a16="http://schemas.microsoft.com/office/drawing/2014/main" id="{2E04427E-9FA5-B6A7-28E1-0CDAC98B781B}"/>
                </a:ext>
              </a:extLst>
            </p:cNvPr>
            <p:cNvSpPr/>
            <p:nvPr/>
          </p:nvSpPr>
          <p:spPr>
            <a:xfrm>
              <a:off x="457200" y="1009650"/>
              <a:ext cx="6324600" cy="2952750"/>
            </a:xfrm>
            <a:prstGeom prst="rect">
              <a:avLst/>
            </a:prstGeom>
            <a:solidFill>
              <a:srgbClr val="F2F2F2"/>
            </a:solidFill>
            <a:ln w="9525">
              <a:solidFill>
                <a:srgbClr val="AFC7DD"/>
              </a:solidFill>
            </a:ln>
          </p:spPr>
        </p:sp>
        <p:pic>
          <p:nvPicPr>
            <p:cNvPr id="37" name="Image 7">
              <a:extLst>
                <a:ext uri="{FF2B5EF4-FFF2-40B4-BE49-F238E27FC236}">
                  <a16:creationId xmlns:a16="http://schemas.microsoft.com/office/drawing/2014/main" id="{D19AA215-A497-8E0F-BEF5-35EAF7117B39}"/>
                </a:ext>
              </a:extLst>
            </p:cNvPr>
            <p:cNvPicPr>
              <a:picLocks noChangeAspect="1"/>
            </p:cNvPicPr>
            <p:nvPr/>
          </p:nvPicPr>
          <p:blipFill>
            <a:blip r:embed="rId3"/>
            <a:stretch>
              <a:fillRect/>
            </a:stretch>
          </p:blipFill>
          <p:spPr>
            <a:xfrm>
              <a:off x="856298" y="1085850"/>
              <a:ext cx="3640455" cy="2800350"/>
            </a:xfrm>
            <a:prstGeom prst="rect">
              <a:avLst/>
            </a:prstGeom>
          </p:spPr>
        </p:pic>
        <p:sp>
          <p:nvSpPr>
            <p:cNvPr id="38" name="Rectangle 8">
              <a:extLst>
                <a:ext uri="{FF2B5EF4-FFF2-40B4-BE49-F238E27FC236}">
                  <a16:creationId xmlns:a16="http://schemas.microsoft.com/office/drawing/2014/main" id="{81BA81B5-4FFA-2CF9-912D-63C0A59349D3}"/>
                </a:ext>
              </a:extLst>
            </p:cNvPr>
            <p:cNvSpPr/>
            <p:nvPr/>
          </p:nvSpPr>
          <p:spPr>
            <a:xfrm>
              <a:off x="4781550" y="1200150"/>
              <a:ext cx="1790700" cy="514350"/>
            </a:xfrm>
            <a:prstGeom prst="rect">
              <a:avLst/>
            </a:prstGeom>
            <a:solidFill>
              <a:srgbClr val="0070C0"/>
            </a:solidFill>
            <a:ln>
              <a:noFill/>
            </a:ln>
          </p:spPr>
        </p:sp>
        <p:sp>
          <p:nvSpPr>
            <p:cNvPr id="39" name="TextBox 9">
              <a:extLst>
                <a:ext uri="{FF2B5EF4-FFF2-40B4-BE49-F238E27FC236}">
                  <a16:creationId xmlns:a16="http://schemas.microsoft.com/office/drawing/2014/main" id="{F00E179D-F1B4-BCAB-1CF6-037D4CD54B74}"/>
                </a:ext>
              </a:extLst>
            </p:cNvPr>
            <p:cNvSpPr txBox="1"/>
            <p:nvPr/>
          </p:nvSpPr>
          <p:spPr>
            <a:xfrm>
              <a:off x="4936808" y="1291114"/>
              <a:ext cx="728622"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L1 · Top</a:t>
              </a:r>
            </a:p>
          </p:txBody>
        </p:sp>
        <p:sp>
          <p:nvSpPr>
            <p:cNvPr id="40" name="TextBox 10">
              <a:extLst>
                <a:ext uri="{FF2B5EF4-FFF2-40B4-BE49-F238E27FC236}">
                  <a16:creationId xmlns:a16="http://schemas.microsoft.com/office/drawing/2014/main" id="{2A2410D6-5ECC-BA3F-4B69-EE72AEA072A4}"/>
                </a:ext>
              </a:extLst>
            </p:cNvPr>
            <p:cNvSpPr txBox="1"/>
            <p:nvPr/>
          </p:nvSpPr>
          <p:spPr>
            <a:xfrm>
              <a:off x="4939665" y="1515428"/>
              <a:ext cx="1286828"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真实顶层铜皮与走线</a:t>
              </a:r>
            </a:p>
          </p:txBody>
        </p:sp>
        <p:sp>
          <p:nvSpPr>
            <p:cNvPr id="41" name="Rectangle 11">
              <a:extLst>
                <a:ext uri="{FF2B5EF4-FFF2-40B4-BE49-F238E27FC236}">
                  <a16:creationId xmlns:a16="http://schemas.microsoft.com/office/drawing/2014/main" id="{896BE9EA-3580-F237-D85E-113A82BAC20D}"/>
                </a:ext>
              </a:extLst>
            </p:cNvPr>
            <p:cNvSpPr/>
            <p:nvPr/>
          </p:nvSpPr>
          <p:spPr>
            <a:xfrm>
              <a:off x="4781550" y="1847850"/>
              <a:ext cx="1790700" cy="514350"/>
            </a:xfrm>
            <a:prstGeom prst="rect">
              <a:avLst/>
            </a:prstGeom>
            <a:solidFill>
              <a:srgbClr val="EDF8F4"/>
            </a:solidFill>
            <a:ln w="9525">
              <a:solidFill>
                <a:srgbClr val="00A36C"/>
              </a:solidFill>
            </a:ln>
          </p:spPr>
        </p:sp>
        <p:sp>
          <p:nvSpPr>
            <p:cNvPr id="42" name="TextBox 12">
              <a:extLst>
                <a:ext uri="{FF2B5EF4-FFF2-40B4-BE49-F238E27FC236}">
                  <a16:creationId xmlns:a16="http://schemas.microsoft.com/office/drawing/2014/main" id="{9977AD20-EE85-CC3D-FD9D-4B8FB8689ADA}"/>
                </a:ext>
              </a:extLst>
            </p:cNvPr>
            <p:cNvSpPr txBox="1"/>
            <p:nvPr/>
          </p:nvSpPr>
          <p:spPr>
            <a:xfrm>
              <a:off x="4936808" y="1938814"/>
              <a:ext cx="728622"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L2 · GND</a:t>
              </a:r>
            </a:p>
          </p:txBody>
        </p:sp>
        <p:sp>
          <p:nvSpPr>
            <p:cNvPr id="43" name="TextBox 13">
              <a:extLst>
                <a:ext uri="{FF2B5EF4-FFF2-40B4-BE49-F238E27FC236}">
                  <a16:creationId xmlns:a16="http://schemas.microsoft.com/office/drawing/2014/main" id="{EC1F2676-AB93-3513-F4EF-237AA08B7176}"/>
                </a:ext>
              </a:extLst>
            </p:cNvPr>
            <p:cNvSpPr txBox="1"/>
            <p:nvPr/>
          </p:nvSpPr>
          <p:spPr>
            <a:xfrm>
              <a:off x="4939665" y="2163128"/>
              <a:ext cx="1146810"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连续地平面与过孔</a:t>
              </a:r>
            </a:p>
          </p:txBody>
        </p:sp>
        <p:sp>
          <p:nvSpPr>
            <p:cNvPr id="44" name="Rectangle 14">
              <a:extLst>
                <a:ext uri="{FF2B5EF4-FFF2-40B4-BE49-F238E27FC236}">
                  <a16:creationId xmlns:a16="http://schemas.microsoft.com/office/drawing/2014/main" id="{45CE92B8-1A8C-DB9D-0900-B59CBF815833}"/>
                </a:ext>
              </a:extLst>
            </p:cNvPr>
            <p:cNvSpPr/>
            <p:nvPr/>
          </p:nvSpPr>
          <p:spPr>
            <a:xfrm>
              <a:off x="4781550" y="2495550"/>
              <a:ext cx="1790700" cy="514350"/>
            </a:xfrm>
            <a:prstGeom prst="rect">
              <a:avLst/>
            </a:prstGeom>
            <a:solidFill>
              <a:srgbClr val="FFF2F2"/>
            </a:solidFill>
            <a:ln w="9525">
              <a:solidFill>
                <a:srgbClr val="C00000"/>
              </a:solidFill>
            </a:ln>
          </p:spPr>
        </p:sp>
        <p:sp>
          <p:nvSpPr>
            <p:cNvPr id="45" name="TextBox 15">
              <a:extLst>
                <a:ext uri="{FF2B5EF4-FFF2-40B4-BE49-F238E27FC236}">
                  <a16:creationId xmlns:a16="http://schemas.microsoft.com/office/drawing/2014/main" id="{0AA816D0-D0F3-3C3B-DFBD-30D240868C45}"/>
                </a:ext>
              </a:extLst>
            </p:cNvPr>
            <p:cNvSpPr txBox="1"/>
            <p:nvPr/>
          </p:nvSpPr>
          <p:spPr>
            <a:xfrm>
              <a:off x="4936808" y="2586514"/>
              <a:ext cx="960701" cy="259080"/>
            </a:xfrm>
            <a:prstGeom prst="rect">
              <a:avLst/>
            </a:prstGeom>
            <a:noFill/>
            <a:ln>
              <a:noFill/>
            </a:ln>
          </p:spPr>
          <p:txBody>
            <a:bodyPr wrap="none" lIns="0" tIns="0" rIns="0" bIns="0" anchor="t" anchorCtr="0">
              <a:spAutoFit/>
            </a:bodyPr>
            <a:lstStyle/>
            <a:p>
              <a:pPr algn="l"/>
              <a:r>
                <a:rPr lang="zh-CN" sz="1275" b="1" dirty="0">
                  <a:solidFill>
                    <a:srgbClr val="C00000"/>
                  </a:solidFill>
                  <a:latin typeface="Arial"/>
                  <a:ea typeface="Microsoft YaHei"/>
                  <a:cs typeface="Arial"/>
                </a:rPr>
                <a:t>L3 · Power</a:t>
              </a:r>
            </a:p>
          </p:txBody>
        </p:sp>
        <p:sp>
          <p:nvSpPr>
            <p:cNvPr id="46" name="TextBox 16">
              <a:extLst>
                <a:ext uri="{FF2B5EF4-FFF2-40B4-BE49-F238E27FC236}">
                  <a16:creationId xmlns:a16="http://schemas.microsoft.com/office/drawing/2014/main" id="{6176AD29-CEF2-D956-865D-3D1C11BFECB1}"/>
                </a:ext>
              </a:extLst>
            </p:cNvPr>
            <p:cNvSpPr txBox="1"/>
            <p:nvPr/>
          </p:nvSpPr>
          <p:spPr>
            <a:xfrm>
              <a:off x="4939665" y="28108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实际电源铺铜与分区</a:t>
              </a:r>
            </a:p>
          </p:txBody>
        </p:sp>
        <p:sp>
          <p:nvSpPr>
            <p:cNvPr id="47" name="Rectangle 17">
              <a:extLst>
                <a:ext uri="{FF2B5EF4-FFF2-40B4-BE49-F238E27FC236}">
                  <a16:creationId xmlns:a16="http://schemas.microsoft.com/office/drawing/2014/main" id="{C4CC897F-361F-A4EE-E27D-06D2E1351EBD}"/>
                </a:ext>
              </a:extLst>
            </p:cNvPr>
            <p:cNvSpPr/>
            <p:nvPr/>
          </p:nvSpPr>
          <p:spPr>
            <a:xfrm>
              <a:off x="4781550" y="3143250"/>
              <a:ext cx="1790700" cy="514350"/>
            </a:xfrm>
            <a:prstGeom prst="rect">
              <a:avLst/>
            </a:prstGeom>
            <a:solidFill>
              <a:srgbClr val="FFFFFF"/>
            </a:solidFill>
            <a:ln w="9525">
              <a:solidFill>
                <a:srgbClr val="AFC7DD"/>
              </a:solidFill>
            </a:ln>
          </p:spPr>
        </p:sp>
        <p:sp>
          <p:nvSpPr>
            <p:cNvPr id="48" name="TextBox 18">
              <a:extLst>
                <a:ext uri="{FF2B5EF4-FFF2-40B4-BE49-F238E27FC236}">
                  <a16:creationId xmlns:a16="http://schemas.microsoft.com/office/drawing/2014/main" id="{47FE6D71-D5B0-E09B-8DD6-82FC7DC641BB}"/>
                </a:ext>
              </a:extLst>
            </p:cNvPr>
            <p:cNvSpPr txBox="1"/>
            <p:nvPr/>
          </p:nvSpPr>
          <p:spPr>
            <a:xfrm>
              <a:off x="4936808" y="3234214"/>
              <a:ext cx="1058888"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L4 · Bottom</a:t>
              </a:r>
            </a:p>
          </p:txBody>
        </p:sp>
        <p:sp>
          <p:nvSpPr>
            <p:cNvPr id="49" name="TextBox 19">
              <a:extLst>
                <a:ext uri="{FF2B5EF4-FFF2-40B4-BE49-F238E27FC236}">
                  <a16:creationId xmlns:a16="http://schemas.microsoft.com/office/drawing/2014/main" id="{4850BB8F-5443-3B89-2FE9-65B2F8E75306}"/>
                </a:ext>
              </a:extLst>
            </p:cNvPr>
            <p:cNvSpPr txBox="1"/>
            <p:nvPr/>
          </p:nvSpPr>
          <p:spPr>
            <a:xfrm>
              <a:off x="4939665" y="34585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真实底层布线与铜面</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4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1" grpId="0"/>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379504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Layout——功能分区</a:t>
              </a:r>
            </a:p>
          </p:txBody>
        </p:sp>
      </p:grpSp>
      <p:grpSp>
        <p:nvGrpSpPr>
          <p:cNvPr id="18" name="Group 18"/>
          <p:cNvGrpSpPr/>
          <p:nvPr/>
        </p:nvGrpSpPr>
        <p:grpSpPr>
          <a:xfrm>
            <a:off x="457200" y="1009650"/>
            <a:ext cx="6724650" cy="5143500"/>
            <a:chOff x="457200" y="1009650"/>
            <a:chExt cx="6724650" cy="5143500"/>
          </a:xfrm>
        </p:grpSpPr>
        <p:sp>
          <p:nvSpPr>
            <p:cNvPr id="6" name="Rectangle 6"/>
            <p:cNvSpPr/>
            <p:nvPr/>
          </p:nvSpPr>
          <p:spPr>
            <a:xfrm>
              <a:off x="457200" y="1009650"/>
              <a:ext cx="6724650" cy="5143500"/>
            </a:xfrm>
            <a:prstGeom prst="rect">
              <a:avLst/>
            </a:prstGeom>
            <a:solidFill>
              <a:srgbClr val="F2F2F2"/>
            </a:solidFill>
            <a:ln w="9525">
              <a:solidFill>
                <a:srgbClr val="AFC7DD"/>
              </a:solidFill>
            </a:ln>
          </p:spPr>
        </p:sp>
        <p:pic>
          <p:nvPicPr>
            <p:cNvPr id="7" name="Image 7"/>
            <p:cNvPicPr>
              <a:picLocks noChangeAspect="1"/>
            </p:cNvPicPr>
            <p:nvPr/>
          </p:nvPicPr>
          <p:blipFill>
            <a:blip r:embed="rId3"/>
            <a:stretch>
              <a:fillRect/>
            </a:stretch>
          </p:blipFill>
          <p:spPr>
            <a:xfrm>
              <a:off x="590550" y="1294209"/>
              <a:ext cx="6457950" cy="4574381"/>
            </a:xfrm>
            <a:prstGeom prst="rect">
              <a:avLst/>
            </a:prstGeom>
          </p:spPr>
        </p:pic>
        <p:sp>
          <p:nvSpPr>
            <p:cNvPr id="8" name="Ellipse 8"/>
            <p:cNvSpPr/>
            <p:nvPr/>
          </p:nvSpPr>
          <p:spPr>
            <a:xfrm>
              <a:off x="3248025" y="3295650"/>
              <a:ext cx="361950" cy="361950"/>
            </a:xfrm>
            <a:prstGeom prst="ellipse">
              <a:avLst/>
            </a:prstGeom>
            <a:solidFill>
              <a:srgbClr val="0070C0"/>
            </a:solidFill>
            <a:ln>
              <a:noFill/>
            </a:ln>
          </p:spPr>
        </p:sp>
        <p:sp>
          <p:nvSpPr>
            <p:cNvPr id="9" name="TextBox 9"/>
            <p:cNvSpPr txBox="1"/>
            <p:nvPr/>
          </p:nvSpPr>
          <p:spPr>
            <a:xfrm>
              <a:off x="3359874" y="3397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Ellipse 10"/>
            <p:cNvSpPr/>
            <p:nvPr/>
          </p:nvSpPr>
          <p:spPr>
            <a:xfrm>
              <a:off x="1647825" y="2162175"/>
              <a:ext cx="361950" cy="361950"/>
            </a:xfrm>
            <a:prstGeom prst="ellipse">
              <a:avLst/>
            </a:prstGeom>
            <a:solidFill>
              <a:srgbClr val="0070C0"/>
            </a:solidFill>
            <a:ln>
              <a:noFill/>
            </a:ln>
          </p:spPr>
        </p:sp>
        <p:sp>
          <p:nvSpPr>
            <p:cNvPr id="11" name="TextBox 11"/>
            <p:cNvSpPr txBox="1"/>
            <p:nvPr/>
          </p:nvSpPr>
          <p:spPr>
            <a:xfrm>
              <a:off x="1759674" y="22640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2" name="Ellipse 12"/>
            <p:cNvSpPr/>
            <p:nvPr/>
          </p:nvSpPr>
          <p:spPr>
            <a:xfrm>
              <a:off x="3990975" y="4743450"/>
              <a:ext cx="361950" cy="361950"/>
            </a:xfrm>
            <a:prstGeom prst="ellipse">
              <a:avLst/>
            </a:prstGeom>
            <a:solidFill>
              <a:srgbClr val="0070C0"/>
            </a:solidFill>
            <a:ln>
              <a:noFill/>
            </a:ln>
          </p:spPr>
        </p:sp>
        <p:sp>
          <p:nvSpPr>
            <p:cNvPr id="13" name="TextBox 13"/>
            <p:cNvSpPr txBox="1"/>
            <p:nvPr/>
          </p:nvSpPr>
          <p:spPr>
            <a:xfrm>
              <a:off x="4102824" y="48453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4" name="Ellipse 14"/>
            <p:cNvSpPr/>
            <p:nvPr/>
          </p:nvSpPr>
          <p:spPr>
            <a:xfrm>
              <a:off x="2600325" y="4314825"/>
              <a:ext cx="361950" cy="361950"/>
            </a:xfrm>
            <a:prstGeom prst="ellipse">
              <a:avLst/>
            </a:prstGeom>
            <a:solidFill>
              <a:srgbClr val="0070C0"/>
            </a:solidFill>
            <a:ln>
              <a:noFill/>
            </a:ln>
          </p:spPr>
        </p:sp>
        <p:sp>
          <p:nvSpPr>
            <p:cNvPr id="15" name="TextBox 15"/>
            <p:cNvSpPr txBox="1"/>
            <p:nvPr/>
          </p:nvSpPr>
          <p:spPr>
            <a:xfrm>
              <a:off x="2712174" y="44167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16" name="Ellipse 16"/>
            <p:cNvSpPr/>
            <p:nvPr/>
          </p:nvSpPr>
          <p:spPr>
            <a:xfrm>
              <a:off x="5581650" y="3009900"/>
              <a:ext cx="361950" cy="361950"/>
            </a:xfrm>
            <a:prstGeom prst="ellipse">
              <a:avLst/>
            </a:prstGeom>
            <a:solidFill>
              <a:srgbClr val="0070C0"/>
            </a:solidFill>
            <a:ln>
              <a:noFill/>
            </a:ln>
          </p:spPr>
        </p:sp>
        <p:sp>
          <p:nvSpPr>
            <p:cNvPr id="17" name="TextBox 17"/>
            <p:cNvSpPr txBox="1"/>
            <p:nvPr/>
          </p:nvSpPr>
          <p:spPr>
            <a:xfrm>
              <a:off x="5693499" y="31118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grpSp>
      <p:grpSp>
        <p:nvGrpSpPr>
          <p:cNvPr id="51" name="Group 51"/>
          <p:cNvGrpSpPr/>
          <p:nvPr/>
        </p:nvGrpSpPr>
        <p:grpSpPr>
          <a:xfrm>
            <a:off x="7372350" y="1009650"/>
            <a:ext cx="4880420" cy="5143500"/>
            <a:chOff x="7372350" y="1009650"/>
            <a:chExt cx="4880420" cy="5143500"/>
          </a:xfrm>
        </p:grpSpPr>
        <p:sp>
          <p:nvSpPr>
            <p:cNvPr id="19" name="Rectangle 19"/>
            <p:cNvSpPr/>
            <p:nvPr/>
          </p:nvSpPr>
          <p:spPr>
            <a:xfrm>
              <a:off x="7372350" y="1009650"/>
              <a:ext cx="4362450" cy="5143500"/>
            </a:xfrm>
            <a:prstGeom prst="rect">
              <a:avLst/>
            </a:prstGeom>
            <a:solidFill>
              <a:srgbClr val="FFFFFF"/>
            </a:solidFill>
            <a:ln w="9525">
              <a:solidFill>
                <a:srgbClr val="AFC7DD"/>
              </a:solidFill>
            </a:ln>
          </p:spPr>
        </p:sp>
        <p:grpSp>
          <p:nvGrpSpPr>
            <p:cNvPr id="24" name="Group 24"/>
            <p:cNvGrpSpPr/>
            <p:nvPr/>
          </p:nvGrpSpPr>
          <p:grpSpPr>
            <a:xfrm>
              <a:off x="7505700" y="1230154"/>
              <a:ext cx="4066985" cy="567690"/>
              <a:chOff x="7505700" y="1230154"/>
              <a:chExt cx="4066985" cy="567690"/>
            </a:xfrm>
          </p:grpSpPr>
          <p:sp>
            <p:nvSpPr>
              <p:cNvPr id="20" name="Ellipse 20"/>
              <p:cNvSpPr/>
              <p:nvPr/>
            </p:nvSpPr>
            <p:spPr>
              <a:xfrm>
                <a:off x="7505700" y="1238250"/>
                <a:ext cx="381000" cy="381000"/>
              </a:xfrm>
              <a:prstGeom prst="ellipse">
                <a:avLst/>
              </a:prstGeom>
              <a:solidFill>
                <a:srgbClr val="0070C0"/>
              </a:solidFill>
              <a:ln>
                <a:noFill/>
              </a:ln>
            </p:spPr>
          </p:sp>
          <p:sp>
            <p:nvSpPr>
              <p:cNvPr id="21" name="TextBox 21"/>
              <p:cNvSpPr txBox="1"/>
              <p:nvPr/>
            </p:nvSpPr>
            <p:spPr>
              <a:xfrm>
                <a:off x="7627074" y="13496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2" name="TextBox 22"/>
              <p:cNvSpPr txBox="1"/>
              <p:nvPr/>
            </p:nvSpPr>
            <p:spPr>
              <a:xfrm>
                <a:off x="8000048" y="1230154"/>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磁编码器中心区</a:t>
                </a:r>
              </a:p>
            </p:txBody>
          </p:sp>
          <p:sp>
            <p:nvSpPr>
              <p:cNvPr id="23" name="TextBox 23"/>
              <p:cNvSpPr txBox="1"/>
              <p:nvPr/>
            </p:nvSpPr>
            <p:spPr>
              <a:xfrm>
                <a:off x="8003858" y="1538764"/>
                <a:ext cx="3568827"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MA600A 对准电机轴心，周围限制高电流器件。</a:t>
                </a:r>
              </a:p>
            </p:txBody>
          </p:sp>
        </p:grpSp>
        <p:sp>
          <p:nvSpPr>
            <p:cNvPr id="25" name="Line 25"/>
            <p:cNvSpPr/>
            <p:nvPr/>
          </p:nvSpPr>
          <p:spPr>
            <a:xfrm>
              <a:off x="7562850" y="187642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0" name="Group 30"/>
            <p:cNvGrpSpPr/>
            <p:nvPr/>
          </p:nvGrpSpPr>
          <p:grpSpPr>
            <a:xfrm>
              <a:off x="7505700" y="2077879"/>
              <a:ext cx="4322017" cy="567690"/>
              <a:chOff x="7505700" y="2077879"/>
              <a:chExt cx="4322017" cy="567690"/>
            </a:xfrm>
          </p:grpSpPr>
          <p:sp>
            <p:nvSpPr>
              <p:cNvPr id="26" name="Ellipse 26"/>
              <p:cNvSpPr/>
              <p:nvPr/>
            </p:nvSpPr>
            <p:spPr>
              <a:xfrm>
                <a:off x="7505700" y="2085975"/>
                <a:ext cx="381000" cy="381000"/>
              </a:xfrm>
              <a:prstGeom prst="ellipse">
                <a:avLst/>
              </a:prstGeom>
              <a:solidFill>
                <a:srgbClr val="0070C0"/>
              </a:solidFill>
              <a:ln>
                <a:noFill/>
              </a:ln>
            </p:spPr>
          </p:sp>
          <p:sp>
            <p:nvSpPr>
              <p:cNvPr id="27" name="TextBox 27"/>
              <p:cNvSpPr txBox="1"/>
              <p:nvPr/>
            </p:nvSpPr>
            <p:spPr>
              <a:xfrm>
                <a:off x="7627074" y="21974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8" name="TextBox 28"/>
              <p:cNvSpPr txBox="1"/>
              <p:nvPr/>
            </p:nvSpPr>
            <p:spPr>
              <a:xfrm>
                <a:off x="8000048" y="2077879"/>
                <a:ext cx="114264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三相功率区</a:t>
                </a:r>
              </a:p>
            </p:txBody>
          </p:sp>
          <p:sp>
            <p:nvSpPr>
              <p:cNvPr id="29" name="TextBox 29"/>
              <p:cNvSpPr txBox="1"/>
              <p:nvPr/>
            </p:nvSpPr>
            <p:spPr>
              <a:xfrm>
                <a:off x="8003858" y="2386489"/>
                <a:ext cx="3823859"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六颗 MOSFET 沿板边展开，缩短相线与散热路径。</a:t>
                </a:r>
              </a:p>
            </p:txBody>
          </p:sp>
        </p:grpSp>
        <p:sp>
          <p:nvSpPr>
            <p:cNvPr id="31" name="Line 31"/>
            <p:cNvSpPr/>
            <p:nvPr/>
          </p:nvSpPr>
          <p:spPr>
            <a:xfrm>
              <a:off x="7562850" y="272415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6" name="Group 36"/>
            <p:cNvGrpSpPr/>
            <p:nvPr/>
          </p:nvGrpSpPr>
          <p:grpSpPr>
            <a:xfrm>
              <a:off x="7505700" y="2925604"/>
              <a:ext cx="4747070" cy="567690"/>
              <a:chOff x="7505700" y="2925604"/>
              <a:chExt cx="4747070" cy="567690"/>
            </a:xfrm>
          </p:grpSpPr>
          <p:sp>
            <p:nvSpPr>
              <p:cNvPr id="32" name="Ellipse 32"/>
              <p:cNvSpPr/>
              <p:nvPr/>
            </p:nvSpPr>
            <p:spPr>
              <a:xfrm>
                <a:off x="7505700" y="2933700"/>
                <a:ext cx="381000" cy="381000"/>
              </a:xfrm>
              <a:prstGeom prst="ellipse">
                <a:avLst/>
              </a:prstGeom>
              <a:solidFill>
                <a:srgbClr val="0070C0"/>
              </a:solidFill>
              <a:ln>
                <a:noFill/>
              </a:ln>
            </p:spPr>
          </p:sp>
          <p:sp>
            <p:nvSpPr>
              <p:cNvPr id="33" name="TextBox 33"/>
              <p:cNvSpPr txBox="1"/>
              <p:nvPr/>
            </p:nvSpPr>
            <p:spPr>
              <a:xfrm>
                <a:off x="7627074" y="30451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4" name="TextBox 34"/>
              <p:cNvSpPr txBox="1"/>
              <p:nvPr/>
            </p:nvSpPr>
            <p:spPr>
              <a:xfrm>
                <a:off x="8000048" y="2925604"/>
                <a:ext cx="1750479" cy="242374"/>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驱动与控制区</a:t>
                </a:r>
                <a:r>
                  <a:rPr lang="en-US" altLang="zh-CN" sz="1575" b="1" dirty="0">
                    <a:solidFill>
                      <a:srgbClr val="005A9C"/>
                    </a:solidFill>
                    <a:latin typeface="Arial"/>
                    <a:ea typeface="Microsoft YaHei"/>
                    <a:cs typeface="Arial"/>
                  </a:rPr>
                  <a:t>(</a:t>
                </a:r>
                <a:r>
                  <a:rPr lang="zh-CN" altLang="en-US" sz="1575" b="1" dirty="0">
                    <a:solidFill>
                      <a:srgbClr val="005A9C"/>
                    </a:solidFill>
                    <a:latin typeface="Arial"/>
                    <a:ea typeface="Microsoft YaHei"/>
                    <a:cs typeface="Arial"/>
                  </a:rPr>
                  <a:t>背面</a:t>
                </a:r>
                <a:r>
                  <a:rPr lang="en-US" altLang="zh-CN" sz="1575" b="1" dirty="0">
                    <a:solidFill>
                      <a:srgbClr val="005A9C"/>
                    </a:solidFill>
                    <a:latin typeface="Arial"/>
                    <a:ea typeface="Microsoft YaHei"/>
                    <a:cs typeface="Arial"/>
                  </a:rPr>
                  <a:t>)</a:t>
                </a:r>
                <a:endParaRPr lang="zh-CN" sz="1575" b="1" dirty="0">
                  <a:solidFill>
                    <a:srgbClr val="005A9C"/>
                  </a:solidFill>
                  <a:latin typeface="Arial"/>
                  <a:ea typeface="Microsoft YaHei"/>
                  <a:cs typeface="Arial"/>
                </a:endParaRPr>
              </a:p>
            </p:txBody>
          </p:sp>
          <p:sp>
            <p:nvSpPr>
              <p:cNvPr id="35" name="TextBox 35"/>
              <p:cNvSpPr txBox="1"/>
              <p:nvPr/>
            </p:nvSpPr>
            <p:spPr>
              <a:xfrm>
                <a:off x="8003858" y="3234214"/>
                <a:ext cx="4248912"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MP6539B 靠近功率级，STM32G431 集中管理控制信号。</a:t>
                </a:r>
              </a:p>
            </p:txBody>
          </p:sp>
        </p:grpSp>
        <p:sp>
          <p:nvSpPr>
            <p:cNvPr id="37" name="Line 37"/>
            <p:cNvSpPr/>
            <p:nvPr/>
          </p:nvSpPr>
          <p:spPr>
            <a:xfrm>
              <a:off x="7562850" y="357187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2" name="Group 42"/>
            <p:cNvGrpSpPr/>
            <p:nvPr/>
          </p:nvGrpSpPr>
          <p:grpSpPr>
            <a:xfrm>
              <a:off x="7505700" y="3773329"/>
              <a:ext cx="4551546" cy="567690"/>
              <a:chOff x="7505700" y="3773329"/>
              <a:chExt cx="4551546" cy="567690"/>
            </a:xfrm>
          </p:grpSpPr>
          <p:sp>
            <p:nvSpPr>
              <p:cNvPr id="38" name="Ellipse 38"/>
              <p:cNvSpPr/>
              <p:nvPr/>
            </p:nvSpPr>
            <p:spPr>
              <a:xfrm>
                <a:off x="7505700" y="3781425"/>
                <a:ext cx="381000" cy="381000"/>
              </a:xfrm>
              <a:prstGeom prst="ellipse">
                <a:avLst/>
              </a:prstGeom>
              <a:solidFill>
                <a:srgbClr val="0070C0"/>
              </a:solidFill>
              <a:ln>
                <a:noFill/>
              </a:ln>
            </p:spPr>
          </p:sp>
          <p:sp>
            <p:nvSpPr>
              <p:cNvPr id="39" name="TextBox 39"/>
              <p:cNvSpPr txBox="1"/>
              <p:nvPr/>
            </p:nvSpPr>
            <p:spPr>
              <a:xfrm>
                <a:off x="7627074" y="38928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0" name="TextBox 40"/>
              <p:cNvSpPr txBox="1"/>
              <p:nvPr/>
            </p:nvSpPr>
            <p:spPr>
              <a:xfrm>
                <a:off x="8000048" y="3773329"/>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三相电流采样区</a:t>
                </a:r>
              </a:p>
            </p:txBody>
          </p:sp>
          <p:sp>
            <p:nvSpPr>
              <p:cNvPr id="41" name="TextBox 41"/>
              <p:cNvSpPr txBox="1"/>
              <p:nvPr/>
            </p:nvSpPr>
            <p:spPr>
              <a:xfrm>
                <a:off x="8003858" y="4081939"/>
                <a:ext cx="4053388"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10 mΩ 分流电阻与 INA240 就近布置，控制采样环路。</a:t>
                </a:r>
              </a:p>
            </p:txBody>
          </p:sp>
        </p:grpSp>
        <p:sp>
          <p:nvSpPr>
            <p:cNvPr id="43" name="Line 43"/>
            <p:cNvSpPr/>
            <p:nvPr/>
          </p:nvSpPr>
          <p:spPr>
            <a:xfrm>
              <a:off x="7562850" y="441960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8" name="Group 48"/>
            <p:cNvGrpSpPr/>
            <p:nvPr/>
          </p:nvGrpSpPr>
          <p:grpSpPr>
            <a:xfrm>
              <a:off x="7505700" y="4621054"/>
              <a:ext cx="3445193" cy="824865"/>
              <a:chOff x="7505700" y="4621054"/>
              <a:chExt cx="3445193" cy="824865"/>
            </a:xfrm>
          </p:grpSpPr>
          <p:sp>
            <p:nvSpPr>
              <p:cNvPr id="44" name="Ellipse 44"/>
              <p:cNvSpPr/>
              <p:nvPr/>
            </p:nvSpPr>
            <p:spPr>
              <a:xfrm>
                <a:off x="7505700" y="4629150"/>
                <a:ext cx="381000" cy="381000"/>
              </a:xfrm>
              <a:prstGeom prst="ellipse">
                <a:avLst/>
              </a:prstGeom>
              <a:solidFill>
                <a:srgbClr val="0070C0"/>
              </a:solidFill>
              <a:ln>
                <a:noFill/>
              </a:ln>
            </p:spPr>
          </p:sp>
          <p:sp>
            <p:nvSpPr>
              <p:cNvPr id="45" name="TextBox 45"/>
              <p:cNvSpPr txBox="1"/>
              <p:nvPr/>
            </p:nvSpPr>
            <p:spPr>
              <a:xfrm>
                <a:off x="7627074" y="47405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46" name="TextBox 46"/>
              <p:cNvSpPr txBox="1"/>
              <p:nvPr/>
            </p:nvSpPr>
            <p:spPr>
              <a:xfrm>
                <a:off x="8000048" y="4621054"/>
                <a:ext cx="202475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辅助电源与隔离通信</a:t>
                </a:r>
              </a:p>
            </p:txBody>
          </p:sp>
          <p:sp>
            <p:nvSpPr>
              <p:cNvPr id="47" name="TextBox 47"/>
              <p:cNvSpPr txBox="1"/>
              <p:nvPr/>
            </p:nvSpPr>
            <p:spPr>
              <a:xfrm>
                <a:off x="8003858" y="4929664"/>
                <a:ext cx="2947035" cy="516255"/>
              </a:xfrm>
              <a:prstGeom prst="rect">
                <a:avLst/>
              </a:prstGeom>
              <a:noFill/>
              <a:ln>
                <a:noFill/>
              </a:ln>
            </p:spPr>
            <p:txBody>
              <a:bodyPr wrap="square" lIns="0" tIns="0" rIns="0" bIns="0" anchor="t" anchorCtr="0"/>
              <a:lstStyle/>
              <a:p>
                <a:pPr algn="l">
                  <a:lnSpc>
                    <a:spcPts val="2025"/>
                  </a:lnSpc>
                </a:pPr>
                <a:r>
                  <a:rPr lang="zh-CN" sz="1275" dirty="0">
                    <a:solidFill>
                      <a:srgbClr val="5B6573"/>
                    </a:solidFill>
                    <a:latin typeface="Arial"/>
                    <a:ea typeface="Microsoft YaHei"/>
                    <a:cs typeface="Arial"/>
                  </a:rPr>
                  <a:t>DC-DC、隔离电源与 CAN 接口靠近板边，便于电源入口和外部总线连接。</a:t>
                </a:r>
              </a:p>
            </p:txBody>
          </p:sp>
        </p:grpSp>
        <p:sp>
          <p:nvSpPr>
            <p:cNvPr id="49" name="Rectangle 49"/>
            <p:cNvSpPr/>
            <p:nvPr/>
          </p:nvSpPr>
          <p:spPr>
            <a:xfrm>
              <a:off x="7562850" y="5543550"/>
              <a:ext cx="3962400" cy="400050"/>
            </a:xfrm>
            <a:prstGeom prst="rect">
              <a:avLst/>
            </a:prstGeom>
            <a:solidFill>
              <a:srgbClr val="EDF8F4"/>
            </a:solidFill>
            <a:ln>
              <a:noFill/>
            </a:ln>
          </p:spPr>
        </p:sp>
        <p:sp>
          <p:nvSpPr>
            <p:cNvPr id="50" name="TextBox 50"/>
            <p:cNvSpPr txBox="1"/>
            <p:nvPr/>
          </p:nvSpPr>
          <p:spPr>
            <a:xfrm>
              <a:off x="7385590" y="5663089"/>
              <a:ext cx="4316920" cy="259080"/>
            </a:xfrm>
            <a:prstGeom prst="rect">
              <a:avLst/>
            </a:prstGeom>
            <a:noFill/>
            <a:ln>
              <a:noFill/>
            </a:ln>
          </p:spPr>
          <p:txBody>
            <a:bodyPr wrap="none" lIns="0" tIns="0" rIns="0" bIns="0" anchor="t" anchorCtr="0">
              <a:spAutoFit/>
            </a:bodyPr>
            <a:lstStyle/>
            <a:p>
              <a:pPr algn="ctr"/>
              <a:r>
                <a:rPr lang="zh-CN" sz="1275" b="1" dirty="0">
                  <a:solidFill>
                    <a:srgbClr val="005A9C"/>
                  </a:solidFill>
                  <a:latin typeface="Arial"/>
                  <a:ea typeface="Microsoft YaHei"/>
                  <a:cs typeface="Arial"/>
                </a:rPr>
                <a:t>分区原则：缩短大电流环路，隔离敏感采样与通信边界</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59527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Layout——功率回路与栅极回路</a:t>
              </a:r>
            </a:p>
          </p:txBody>
        </p:sp>
      </p:grpSp>
      <p:grpSp>
        <p:nvGrpSpPr>
          <p:cNvPr id="30" name="Group 30"/>
          <p:cNvGrpSpPr/>
          <p:nvPr/>
        </p:nvGrpSpPr>
        <p:grpSpPr>
          <a:xfrm>
            <a:off x="457200" y="1028700"/>
            <a:ext cx="6705600" cy="2743200"/>
            <a:chOff x="457200" y="1028700"/>
            <a:chExt cx="6705600" cy="2743200"/>
          </a:xfrm>
        </p:grpSpPr>
        <p:sp>
          <p:nvSpPr>
            <p:cNvPr id="6" name="Rectangle 6"/>
            <p:cNvSpPr/>
            <p:nvPr/>
          </p:nvSpPr>
          <p:spPr>
            <a:xfrm>
              <a:off x="457200" y="1028700"/>
              <a:ext cx="6705600" cy="2743200"/>
            </a:xfrm>
            <a:prstGeom prst="rect">
              <a:avLst/>
            </a:prstGeom>
            <a:solidFill>
              <a:srgbClr val="F2F2F2"/>
            </a:solidFill>
            <a:ln w="9525">
              <a:solidFill>
                <a:srgbClr val="AFC7DD"/>
              </a:solidFill>
            </a:ln>
          </p:spPr>
        </p:sp>
        <p:sp>
          <p:nvSpPr>
            <p:cNvPr id="7" name="Rectangle 7"/>
            <p:cNvSpPr/>
            <p:nvPr/>
          </p:nvSpPr>
          <p:spPr>
            <a:xfrm>
              <a:off x="457200" y="1028700"/>
              <a:ext cx="6705600" cy="381000"/>
            </a:xfrm>
            <a:prstGeom prst="rect">
              <a:avLst/>
            </a:prstGeom>
            <a:solidFill>
              <a:srgbClr val="0070C0"/>
            </a:solidFill>
            <a:ln>
              <a:noFill/>
            </a:ln>
          </p:spPr>
        </p:sp>
        <p:sp>
          <p:nvSpPr>
            <p:cNvPr id="8" name="TextBox 8"/>
            <p:cNvSpPr txBox="1"/>
            <p:nvPr/>
          </p:nvSpPr>
          <p:spPr>
            <a:xfrm>
              <a:off x="3018151" y="1125379"/>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主功率电流环路</a:t>
              </a:r>
            </a:p>
          </p:txBody>
        </p:sp>
        <p:sp>
          <p:nvSpPr>
            <p:cNvPr id="9" name="Rectangle 9"/>
            <p:cNvSpPr/>
            <p:nvPr/>
          </p:nvSpPr>
          <p:spPr>
            <a:xfrm>
              <a:off x="723900" y="2038350"/>
              <a:ext cx="1066800" cy="590550"/>
            </a:xfrm>
            <a:prstGeom prst="rect">
              <a:avLst/>
            </a:prstGeom>
            <a:solidFill>
              <a:srgbClr val="FFFFFF"/>
            </a:solidFill>
            <a:ln w="19050">
              <a:solidFill>
                <a:srgbClr val="0070C0"/>
              </a:solidFill>
            </a:ln>
          </p:spPr>
        </p:sp>
        <p:sp>
          <p:nvSpPr>
            <p:cNvPr id="10" name="TextBox 10"/>
            <p:cNvSpPr txBox="1"/>
            <p:nvPr/>
          </p:nvSpPr>
          <p:spPr>
            <a:xfrm>
              <a:off x="838480" y="2140268"/>
              <a:ext cx="837640"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48 V 输入</a:t>
              </a:r>
            </a:p>
          </p:txBody>
        </p:sp>
        <p:sp>
          <p:nvSpPr>
            <p:cNvPr id="11" name="TextBox 11"/>
            <p:cNvSpPr txBox="1"/>
            <p:nvPr/>
          </p:nvSpPr>
          <p:spPr>
            <a:xfrm>
              <a:off x="942975" y="2383631"/>
              <a:ext cx="628650"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母线电容</a:t>
              </a:r>
            </a:p>
          </p:txBody>
        </p:sp>
        <p:sp>
          <p:nvSpPr>
            <p:cNvPr id="12" name="Rectangle 12"/>
            <p:cNvSpPr/>
            <p:nvPr/>
          </p:nvSpPr>
          <p:spPr>
            <a:xfrm>
              <a:off x="2324100" y="1885950"/>
              <a:ext cx="1352550" cy="895350"/>
            </a:xfrm>
            <a:prstGeom prst="rect">
              <a:avLst/>
            </a:prstGeom>
            <a:solidFill>
              <a:srgbClr val="FFFFFF"/>
            </a:solidFill>
            <a:ln w="19050">
              <a:solidFill>
                <a:srgbClr val="C00000"/>
              </a:solidFill>
            </a:ln>
          </p:spPr>
        </p:sp>
        <p:sp>
          <p:nvSpPr>
            <p:cNvPr id="13" name="TextBox 13"/>
            <p:cNvSpPr txBox="1"/>
            <p:nvPr/>
          </p:nvSpPr>
          <p:spPr>
            <a:xfrm>
              <a:off x="2416159" y="2045018"/>
              <a:ext cx="1168432" cy="274320"/>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a:ea typeface="Microsoft YaHei"/>
                  <a:cs typeface="Arial"/>
                </a:rPr>
                <a:t>半桥 MOSFET</a:t>
              </a:r>
            </a:p>
          </p:txBody>
        </p:sp>
        <p:sp>
          <p:nvSpPr>
            <p:cNvPr id="14" name="TextBox 14"/>
            <p:cNvSpPr txBox="1"/>
            <p:nvPr/>
          </p:nvSpPr>
          <p:spPr>
            <a:xfrm>
              <a:off x="2573084" y="2327910"/>
              <a:ext cx="854583" cy="243840"/>
            </a:xfrm>
            <a:prstGeom prst="rect">
              <a:avLst/>
            </a:prstGeom>
            <a:noFill/>
            <a:ln>
              <a:noFill/>
            </a:ln>
          </p:spPr>
          <p:txBody>
            <a:bodyPr wrap="none" lIns="0" tIns="0" rIns="0" bIns="0" anchor="t" anchorCtr="0">
              <a:spAutoFit/>
            </a:bodyPr>
            <a:lstStyle/>
            <a:p>
              <a:pPr algn="ctr"/>
              <a:r>
                <a:rPr lang="zh-CN" sz="1200" dirty="0">
                  <a:solidFill>
                    <a:srgbClr val="5B6573"/>
                  </a:solidFill>
                  <a:latin typeface="Arial"/>
                  <a:ea typeface="Microsoft YaHei"/>
                  <a:cs typeface="Arial"/>
                </a:rPr>
                <a:t>高侧 + 低侧</a:t>
              </a:r>
            </a:p>
          </p:txBody>
        </p:sp>
        <p:sp>
          <p:nvSpPr>
            <p:cNvPr id="15" name="Rectangle 15"/>
            <p:cNvSpPr/>
            <p:nvPr/>
          </p:nvSpPr>
          <p:spPr>
            <a:xfrm>
              <a:off x="4210050" y="2038350"/>
              <a:ext cx="1066800" cy="590550"/>
            </a:xfrm>
            <a:prstGeom prst="rect">
              <a:avLst/>
            </a:prstGeom>
            <a:solidFill>
              <a:srgbClr val="FFFFFF"/>
            </a:solidFill>
            <a:ln w="19050">
              <a:solidFill>
                <a:srgbClr val="0070C0"/>
              </a:solidFill>
            </a:ln>
          </p:spPr>
        </p:sp>
        <p:sp>
          <p:nvSpPr>
            <p:cNvPr id="16" name="TextBox 16"/>
            <p:cNvSpPr txBox="1"/>
            <p:nvPr/>
          </p:nvSpPr>
          <p:spPr>
            <a:xfrm>
              <a:off x="43482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相线输出</a:t>
              </a:r>
            </a:p>
          </p:txBody>
        </p:sp>
        <p:sp>
          <p:nvSpPr>
            <p:cNvPr id="17" name="TextBox 17"/>
            <p:cNvSpPr txBox="1"/>
            <p:nvPr/>
          </p:nvSpPr>
          <p:spPr>
            <a:xfrm>
              <a:off x="4417874" y="2393156"/>
              <a:ext cx="651153"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U / V / W</a:t>
              </a:r>
            </a:p>
          </p:txBody>
        </p:sp>
        <p:sp>
          <p:nvSpPr>
            <p:cNvPr id="18" name="Rectangle 18"/>
            <p:cNvSpPr/>
            <p:nvPr/>
          </p:nvSpPr>
          <p:spPr>
            <a:xfrm>
              <a:off x="5810250" y="2038350"/>
              <a:ext cx="1066800" cy="590550"/>
            </a:xfrm>
            <a:prstGeom prst="rect">
              <a:avLst/>
            </a:prstGeom>
            <a:solidFill>
              <a:srgbClr val="FFFFFF"/>
            </a:solidFill>
            <a:ln w="19050">
              <a:solidFill>
                <a:srgbClr val="0070C0"/>
              </a:solidFill>
            </a:ln>
          </p:spPr>
        </p:sp>
        <p:sp>
          <p:nvSpPr>
            <p:cNvPr id="19" name="TextBox 19"/>
            <p:cNvSpPr txBox="1"/>
            <p:nvPr/>
          </p:nvSpPr>
          <p:spPr>
            <a:xfrm>
              <a:off x="59484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分流电阻</a:t>
              </a:r>
            </a:p>
          </p:txBody>
        </p:sp>
        <p:sp>
          <p:nvSpPr>
            <p:cNvPr id="20" name="TextBox 20"/>
            <p:cNvSpPr txBox="1"/>
            <p:nvPr/>
          </p:nvSpPr>
          <p:spPr>
            <a:xfrm>
              <a:off x="6126837" y="2393156"/>
              <a:ext cx="433626"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10 mΩ</a:t>
              </a:r>
            </a:p>
          </p:txBody>
        </p:sp>
        <p:sp>
          <p:nvSpPr>
            <p:cNvPr id="21" name="Line 21"/>
            <p:cNvSpPr/>
            <p:nvPr/>
          </p:nvSpPr>
          <p:spPr>
            <a:xfrm>
              <a:off x="179070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2" name="Polygon 22"/>
            <p:cNvSpPr/>
            <p:nvPr/>
          </p:nvSpPr>
          <p:spPr>
            <a:xfrm>
              <a:off x="219075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3" name="Line 23"/>
            <p:cNvSpPr/>
            <p:nvPr/>
          </p:nvSpPr>
          <p:spPr>
            <a:xfrm>
              <a:off x="36766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4" name="Polygon 24"/>
            <p:cNvSpPr/>
            <p:nvPr/>
          </p:nvSpPr>
          <p:spPr>
            <a:xfrm>
              <a:off x="40767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5" name="Line 25"/>
            <p:cNvSpPr/>
            <p:nvPr/>
          </p:nvSpPr>
          <p:spPr>
            <a:xfrm>
              <a:off x="52768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6" name="Polygon 26"/>
            <p:cNvSpPr/>
            <p:nvPr/>
          </p:nvSpPr>
          <p:spPr>
            <a:xfrm>
              <a:off x="56769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7" name="Freeform 27"/>
            <p:cNvSpPr/>
            <p:nvPr/>
          </p:nvSpPr>
          <p:spPr>
            <a:xfrm>
              <a:off x="1257300" y="2628900"/>
              <a:ext cx="5086350" cy="533400"/>
            </a:xfrm>
            <a:custGeom>
              <a:avLst/>
              <a:gdLst/>
              <a:ahLst/>
              <a:cxnLst/>
              <a:rect l="l" t="t" r="r" b="b"/>
              <a:pathLst>
                <a:path w="5086350" h="533400">
                  <a:moveTo>
                    <a:pt x="5086350" y="0"/>
                  </a:moveTo>
                  <a:lnTo>
                    <a:pt x="5086350" y="533400"/>
                  </a:lnTo>
                  <a:lnTo>
                    <a:pt x="0" y="533400"/>
                  </a:lnTo>
                  <a:lnTo>
                    <a:pt x="0" y="0"/>
                  </a:lnTo>
                </a:path>
              </a:pathLst>
            </a:custGeom>
            <a:noFill/>
            <a:ln w="47625">
              <a:solidFill>
                <a:srgbClr val="C00000"/>
              </a:solidFill>
            </a:ln>
          </p:spPr>
        </p:sp>
        <p:sp>
          <p:nvSpPr>
            <p:cNvPr id="28" name="Polygon 28"/>
            <p:cNvSpPr/>
            <p:nvPr/>
          </p:nvSpPr>
          <p:spPr>
            <a:xfrm>
              <a:off x="1181100" y="2628900"/>
              <a:ext cx="152400" cy="133350"/>
            </a:xfrm>
            <a:custGeom>
              <a:avLst/>
              <a:gdLst/>
              <a:ahLst/>
              <a:cxnLst/>
              <a:rect l="l" t="t" r="r" b="b"/>
              <a:pathLst>
                <a:path w="152400" h="133350">
                  <a:moveTo>
                    <a:pt x="76200" y="0"/>
                  </a:moveTo>
                  <a:lnTo>
                    <a:pt x="0" y="133350"/>
                  </a:lnTo>
                  <a:lnTo>
                    <a:pt x="152400" y="133350"/>
                  </a:lnTo>
                  <a:close/>
                </a:path>
              </a:pathLst>
            </a:custGeom>
            <a:solidFill>
              <a:srgbClr val="C00000"/>
            </a:solidFill>
            <a:ln>
              <a:noFill/>
            </a:ln>
          </p:spPr>
        </p:sp>
        <p:sp>
          <p:nvSpPr>
            <p:cNvPr id="29" name="TextBox 29"/>
            <p:cNvSpPr txBox="1"/>
            <p:nvPr/>
          </p:nvSpPr>
          <p:spPr>
            <a:xfrm>
              <a:off x="1919323" y="3358039"/>
              <a:ext cx="3781354" cy="259080"/>
            </a:xfrm>
            <a:prstGeom prst="rect">
              <a:avLst/>
            </a:prstGeom>
            <a:noFill/>
            <a:ln>
              <a:noFill/>
            </a:ln>
          </p:spPr>
          <p:txBody>
            <a:bodyPr wrap="none" lIns="0" tIns="0" rIns="0" bIns="0" anchor="t" anchorCtr="0">
              <a:spAutoFit/>
            </a:bodyPr>
            <a:lstStyle/>
            <a:p>
              <a:pPr algn="ctr"/>
              <a:r>
                <a:rPr lang="zh-CN" sz="1275" b="1" dirty="0">
                  <a:solidFill>
                    <a:srgbClr val="C00000"/>
                  </a:solidFill>
                  <a:latin typeface="Arial"/>
                  <a:ea typeface="Microsoft YaHei"/>
                  <a:cs typeface="Arial"/>
                </a:rPr>
                <a:t>环路面积越小，母线尖峰与开关噪声越容易控制</a:t>
              </a:r>
            </a:p>
          </p:txBody>
        </p:sp>
      </p:grpSp>
      <p:grpSp>
        <p:nvGrpSpPr>
          <p:cNvPr id="39" name="Group 39"/>
          <p:cNvGrpSpPr/>
          <p:nvPr/>
        </p:nvGrpSpPr>
        <p:grpSpPr>
          <a:xfrm>
            <a:off x="7353300" y="1028700"/>
            <a:ext cx="4381500" cy="2743200"/>
            <a:chOff x="7353300" y="1028700"/>
            <a:chExt cx="4381500" cy="2743200"/>
          </a:xfrm>
        </p:grpSpPr>
        <p:sp>
          <p:nvSpPr>
            <p:cNvPr id="31" name="Rectangle 31"/>
            <p:cNvSpPr/>
            <p:nvPr/>
          </p:nvSpPr>
          <p:spPr>
            <a:xfrm>
              <a:off x="7353300" y="1028700"/>
              <a:ext cx="4381500" cy="2743200"/>
            </a:xfrm>
            <a:prstGeom prst="rect">
              <a:avLst/>
            </a:prstGeom>
            <a:solidFill>
              <a:srgbClr val="FFFFFF"/>
            </a:solidFill>
            <a:ln w="9525">
              <a:solidFill>
                <a:srgbClr val="AFC7DD"/>
              </a:solidFill>
            </a:ln>
          </p:spPr>
        </p:sp>
        <p:sp>
          <p:nvSpPr>
            <p:cNvPr id="32" name="Rectangle 32"/>
            <p:cNvSpPr/>
            <p:nvPr/>
          </p:nvSpPr>
          <p:spPr>
            <a:xfrm>
              <a:off x="7353300" y="1028700"/>
              <a:ext cx="4381500" cy="381000"/>
            </a:xfrm>
            <a:prstGeom prst="rect">
              <a:avLst/>
            </a:prstGeom>
            <a:solidFill>
              <a:srgbClr val="0070C0"/>
            </a:solidFill>
            <a:ln>
              <a:noFill/>
            </a:ln>
          </p:spPr>
        </p:sp>
        <p:sp>
          <p:nvSpPr>
            <p:cNvPr id="33" name="TextBox 33"/>
            <p:cNvSpPr txBox="1"/>
            <p:nvPr/>
          </p:nvSpPr>
          <p:spPr>
            <a:xfrm>
              <a:off x="8531673" y="1125379"/>
              <a:ext cx="202475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按参考图复核本项目</a:t>
              </a:r>
            </a:p>
          </p:txBody>
        </p:sp>
        <p:sp>
          <p:nvSpPr>
            <p:cNvPr id="34" name="TextBox 34"/>
            <p:cNvSpPr txBox="1"/>
            <p:nvPr/>
          </p:nvSpPr>
          <p:spPr>
            <a:xfrm>
              <a:off x="7601902" y="16082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半桥上下管相邻，开关节点铜皮短而宽</a:t>
              </a:r>
            </a:p>
          </p:txBody>
        </p:sp>
        <p:sp>
          <p:nvSpPr>
            <p:cNvPr id="35" name="TextBox 35"/>
            <p:cNvSpPr txBox="1"/>
            <p:nvPr/>
          </p:nvSpPr>
          <p:spPr>
            <a:xfrm>
              <a:off x="7601902" y="1979771"/>
              <a:ext cx="3618143"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母线电容贴近功率级，回流不穿过控制地</a:t>
              </a:r>
            </a:p>
          </p:txBody>
        </p:sp>
        <p:sp>
          <p:nvSpPr>
            <p:cNvPr id="36" name="TextBox 36"/>
            <p:cNvSpPr txBox="1"/>
            <p:nvPr/>
          </p:nvSpPr>
          <p:spPr>
            <a:xfrm>
              <a:off x="7601902" y="2351246"/>
              <a:ext cx="309557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CBOOT / VDD 去耦贴近驱动器引脚</a:t>
              </a:r>
            </a:p>
          </p:txBody>
        </p:sp>
        <p:sp>
          <p:nvSpPr>
            <p:cNvPr id="37" name="TextBox 37"/>
            <p:cNvSpPr txBox="1"/>
            <p:nvPr/>
          </p:nvSpPr>
          <p:spPr>
            <a:xfrm>
              <a:off x="7601902" y="2722721"/>
              <a:ext cx="4074200"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Gate 与 Source 回流并行，减少栅极环路面积</a:t>
              </a:r>
            </a:p>
          </p:txBody>
        </p:sp>
        <p:sp>
          <p:nvSpPr>
            <p:cNvPr id="38" name="TextBox 38"/>
            <p:cNvSpPr txBox="1"/>
            <p:nvPr/>
          </p:nvSpPr>
          <p:spPr>
            <a:xfrm>
              <a:off x="7601902" y="30941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高压功率走线与低压信号走线保持分离</a:t>
              </a:r>
            </a:p>
          </p:txBody>
        </p:sp>
      </p:grpSp>
      <p:grpSp>
        <p:nvGrpSpPr>
          <p:cNvPr id="50" name="Group 50"/>
          <p:cNvGrpSpPr/>
          <p:nvPr/>
        </p:nvGrpSpPr>
        <p:grpSpPr>
          <a:xfrm>
            <a:off x="457200" y="3962400"/>
            <a:ext cx="5334000" cy="2247900"/>
            <a:chOff x="457200" y="3962400"/>
            <a:chExt cx="5334000" cy="2247900"/>
          </a:xfrm>
        </p:grpSpPr>
        <p:sp>
          <p:nvSpPr>
            <p:cNvPr id="40" name="Rectangle 40"/>
            <p:cNvSpPr/>
            <p:nvPr/>
          </p:nvSpPr>
          <p:spPr>
            <a:xfrm>
              <a:off x="457200" y="3962400"/>
              <a:ext cx="5334000" cy="2247900"/>
            </a:xfrm>
            <a:prstGeom prst="rect">
              <a:avLst/>
            </a:prstGeom>
            <a:solidFill>
              <a:srgbClr val="FFFFFF"/>
            </a:solidFill>
            <a:ln w="9525">
              <a:solidFill>
                <a:srgbClr val="AFC7DD"/>
              </a:solidFill>
            </a:ln>
          </p:spPr>
        </p:sp>
        <p:sp>
          <p:nvSpPr>
            <p:cNvPr id="41" name="Rectangle 41"/>
            <p:cNvSpPr/>
            <p:nvPr/>
          </p:nvSpPr>
          <p:spPr>
            <a:xfrm>
              <a:off x="457200" y="3962400"/>
              <a:ext cx="5334000" cy="342900"/>
            </a:xfrm>
            <a:prstGeom prst="rect">
              <a:avLst/>
            </a:prstGeom>
            <a:solidFill>
              <a:srgbClr val="0070C0"/>
            </a:solidFill>
            <a:ln>
              <a:noFill/>
            </a:ln>
          </p:spPr>
        </p:sp>
        <p:sp>
          <p:nvSpPr>
            <p:cNvPr id="42" name="TextBox 42"/>
            <p:cNvSpPr txBox="1"/>
            <p:nvPr/>
          </p:nvSpPr>
          <p:spPr>
            <a:xfrm>
              <a:off x="1536426" y="4046696"/>
              <a:ext cx="3175548" cy="219291"/>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MPS 官方参考：MP653</a:t>
              </a:r>
              <a:r>
                <a:rPr lang="en-US" altLang="zh-CN" sz="1425" b="1" dirty="0">
                  <a:solidFill>
                    <a:srgbClr val="FFFFFF"/>
                  </a:solidFill>
                  <a:latin typeface="Arial"/>
                  <a:ea typeface="Microsoft YaHei"/>
                  <a:cs typeface="Arial"/>
                </a:rPr>
                <a:t>x</a:t>
              </a:r>
              <a:r>
                <a:rPr lang="zh-CN" sz="1425" b="1" dirty="0">
                  <a:solidFill>
                    <a:srgbClr val="FFFFFF"/>
                  </a:solidFill>
                  <a:latin typeface="Arial"/>
                  <a:ea typeface="Microsoft YaHei"/>
                  <a:cs typeface="Arial"/>
                </a:rPr>
                <a:t> Demo Board</a:t>
              </a:r>
            </a:p>
          </p:txBody>
        </p:sp>
        <p:pic>
          <p:nvPicPr>
            <p:cNvPr id="43" name="Image 43"/>
            <p:cNvPicPr>
              <a:picLocks noChangeAspect="1"/>
            </p:cNvPicPr>
            <p:nvPr/>
          </p:nvPicPr>
          <p:blipFill>
            <a:blip r:embed="rId3"/>
            <a:stretch>
              <a:fillRect/>
            </a:stretch>
          </p:blipFill>
          <p:spPr>
            <a:xfrm>
              <a:off x="1101077" y="4400550"/>
              <a:ext cx="2236496" cy="1562100"/>
            </a:xfrm>
            <a:prstGeom prst="rect">
              <a:avLst/>
            </a:prstGeom>
          </p:spPr>
        </p:pic>
        <p:sp>
          <p:nvSpPr>
            <p:cNvPr id="44" name="TextBox 44"/>
            <p:cNvSpPr txBox="1"/>
            <p:nvPr/>
          </p:nvSpPr>
          <p:spPr>
            <a:xfrm>
              <a:off x="398526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45" name="TextBox 45"/>
            <p:cNvSpPr txBox="1"/>
            <p:nvPr/>
          </p:nvSpPr>
          <p:spPr>
            <a:xfrm>
              <a:off x="3986212" y="4793456"/>
              <a:ext cx="120622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上下管连接极短</a:t>
              </a:r>
            </a:p>
          </p:txBody>
        </p:sp>
        <p:sp>
          <p:nvSpPr>
            <p:cNvPr id="46" name="TextBox 46"/>
            <p:cNvSpPr txBox="1"/>
            <p:nvPr/>
          </p:nvSpPr>
          <p:spPr>
            <a:xfrm>
              <a:off x="3986212" y="50792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大电流路径宽铜皮</a:t>
              </a:r>
            </a:p>
          </p:txBody>
        </p:sp>
        <p:sp>
          <p:nvSpPr>
            <p:cNvPr id="47" name="TextBox 47"/>
            <p:cNvSpPr txBox="1"/>
            <p:nvPr/>
          </p:nvSpPr>
          <p:spPr>
            <a:xfrm>
              <a:off x="3986212" y="5364956"/>
              <a:ext cx="1228725"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去耦靠近驱动 IC</a:t>
              </a:r>
            </a:p>
          </p:txBody>
        </p:sp>
        <p:sp>
          <p:nvSpPr>
            <p:cNvPr id="48" name="TextBox 48"/>
            <p:cNvSpPr txBox="1"/>
            <p:nvPr/>
          </p:nvSpPr>
          <p:spPr>
            <a:xfrm>
              <a:off x="3986212" y="56507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功率地避开信号地</a:t>
              </a:r>
            </a:p>
          </p:txBody>
        </p:sp>
        <p:sp>
          <p:nvSpPr>
            <p:cNvPr id="49" name="TextBox 49"/>
            <p:cNvSpPr txBox="1"/>
            <p:nvPr/>
          </p:nvSpPr>
          <p:spPr>
            <a:xfrm>
              <a:off x="597218" y="5990749"/>
              <a:ext cx="1669471"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来源：MPS AN111 Figure 10</a:t>
              </a:r>
            </a:p>
          </p:txBody>
        </p:sp>
      </p:grpSp>
      <p:grpSp>
        <p:nvGrpSpPr>
          <p:cNvPr id="61" name="Group 61"/>
          <p:cNvGrpSpPr/>
          <p:nvPr/>
        </p:nvGrpSpPr>
        <p:grpSpPr>
          <a:xfrm>
            <a:off x="5981700" y="3962400"/>
            <a:ext cx="5753100" cy="2247900"/>
            <a:chOff x="5981700" y="3962400"/>
            <a:chExt cx="5753100" cy="2247900"/>
          </a:xfrm>
        </p:grpSpPr>
        <p:sp>
          <p:nvSpPr>
            <p:cNvPr id="51" name="Rectangle 51"/>
            <p:cNvSpPr/>
            <p:nvPr/>
          </p:nvSpPr>
          <p:spPr>
            <a:xfrm>
              <a:off x="5981700" y="3962400"/>
              <a:ext cx="5753100" cy="2247900"/>
            </a:xfrm>
            <a:prstGeom prst="rect">
              <a:avLst/>
            </a:prstGeom>
            <a:solidFill>
              <a:srgbClr val="FFFFFF"/>
            </a:solidFill>
            <a:ln w="9525">
              <a:solidFill>
                <a:srgbClr val="AFC7DD"/>
              </a:solidFill>
            </a:ln>
          </p:spPr>
        </p:sp>
        <p:sp>
          <p:nvSpPr>
            <p:cNvPr id="52" name="Rectangle 52"/>
            <p:cNvSpPr/>
            <p:nvPr/>
          </p:nvSpPr>
          <p:spPr>
            <a:xfrm>
              <a:off x="5981700" y="3962400"/>
              <a:ext cx="5753100" cy="342900"/>
            </a:xfrm>
            <a:prstGeom prst="rect">
              <a:avLst/>
            </a:prstGeom>
            <a:solidFill>
              <a:srgbClr val="0070C0"/>
            </a:solidFill>
            <a:ln>
              <a:noFill/>
            </a:ln>
          </p:spPr>
        </p:sp>
        <p:sp>
          <p:nvSpPr>
            <p:cNvPr id="53" name="TextBox 53"/>
            <p:cNvSpPr txBox="1"/>
            <p:nvPr/>
          </p:nvSpPr>
          <p:spPr>
            <a:xfrm>
              <a:off x="7303810" y="4046696"/>
              <a:ext cx="3108879"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TI 官方参考：Bootstrap 元件布局</a:t>
              </a:r>
            </a:p>
          </p:txBody>
        </p:sp>
        <p:pic>
          <p:nvPicPr>
            <p:cNvPr id="54" name="Image 54"/>
            <p:cNvPicPr>
              <a:picLocks noChangeAspect="1"/>
            </p:cNvPicPr>
            <p:nvPr/>
          </p:nvPicPr>
          <p:blipFill>
            <a:blip r:embed="rId4"/>
            <a:srcRect l="9519" t="6843" r="11972" b="21984"/>
            <a:stretch/>
          </p:blipFill>
          <p:spPr>
            <a:xfrm>
              <a:off x="6126837" y="4584851"/>
              <a:ext cx="3786330" cy="1314941"/>
            </a:xfrm>
            <a:prstGeom prst="rect">
              <a:avLst/>
            </a:prstGeom>
          </p:spPr>
        </p:pic>
        <p:sp>
          <p:nvSpPr>
            <p:cNvPr id="55" name="TextBox 55"/>
            <p:cNvSpPr txBox="1"/>
            <p:nvPr/>
          </p:nvSpPr>
          <p:spPr>
            <a:xfrm>
              <a:off x="998601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56" name="TextBox 56"/>
            <p:cNvSpPr txBox="1"/>
            <p:nvPr/>
          </p:nvSpPr>
          <p:spPr>
            <a:xfrm>
              <a:off x="9986962" y="4793456"/>
              <a:ext cx="1461254"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CBOOT 紧贴 HO/HS</a:t>
              </a:r>
            </a:p>
          </p:txBody>
        </p:sp>
        <p:sp>
          <p:nvSpPr>
            <p:cNvPr id="57" name="TextBox 57"/>
            <p:cNvSpPr txBox="1"/>
            <p:nvPr/>
          </p:nvSpPr>
          <p:spPr>
            <a:xfrm>
              <a:off x="9986962" y="5079206"/>
              <a:ext cx="128123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CVDD 紧贴供电脚</a:t>
              </a:r>
            </a:p>
          </p:txBody>
        </p:sp>
        <p:sp>
          <p:nvSpPr>
            <p:cNvPr id="58" name="TextBox 58"/>
            <p:cNvSpPr txBox="1"/>
            <p:nvPr/>
          </p:nvSpPr>
          <p:spPr>
            <a:xfrm>
              <a:off x="9986962" y="536495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高峰值充电路径短</a:t>
              </a:r>
            </a:p>
          </p:txBody>
        </p:sp>
        <p:sp>
          <p:nvSpPr>
            <p:cNvPr id="59" name="TextBox 59"/>
            <p:cNvSpPr txBox="1"/>
            <p:nvPr/>
          </p:nvSpPr>
          <p:spPr>
            <a:xfrm>
              <a:off x="9986962" y="5650706"/>
              <a:ext cx="143875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高压/低压走线分离</a:t>
              </a:r>
            </a:p>
          </p:txBody>
        </p:sp>
      </p:grpSp>
      <p:sp>
        <p:nvSpPr>
          <p:cNvPr id="65" name="矩形 64">
            <a:extLst>
              <a:ext uri="{FF2B5EF4-FFF2-40B4-BE49-F238E27FC236}">
                <a16:creationId xmlns:a16="http://schemas.microsoft.com/office/drawing/2014/main" id="{79CF32A1-D592-6885-5558-2272CE22F18A}"/>
              </a:ext>
            </a:extLst>
          </p:cNvPr>
          <p:cNvSpPr/>
          <p:nvPr/>
        </p:nvSpPr>
        <p:spPr>
          <a:xfrm>
            <a:off x="7476251" y="5086350"/>
            <a:ext cx="438390" cy="1071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image">
                                      <p:cBhvr>
                                        <p:cTn id="15" dur="400"/>
                                        <p:tgtEl>
                                          <p:spTgt spid="5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9" grpId="0"/>
      <p:bldP spid="50" grpId="0"/>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51513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Layout——三相电流采样</a:t>
              </a:r>
            </a:p>
          </p:txBody>
        </p:sp>
      </p:grpSp>
      <p:grpSp>
        <p:nvGrpSpPr>
          <p:cNvPr id="25" name="Group 25"/>
          <p:cNvGrpSpPr/>
          <p:nvPr/>
        </p:nvGrpSpPr>
        <p:grpSpPr>
          <a:xfrm>
            <a:off x="457200" y="1028700"/>
            <a:ext cx="11277600" cy="1809750"/>
            <a:chOff x="457200" y="1028700"/>
            <a:chExt cx="11277600" cy="1809750"/>
          </a:xfrm>
        </p:grpSpPr>
        <p:sp>
          <p:nvSpPr>
            <p:cNvPr id="6" name="Rectangle 6"/>
            <p:cNvSpPr/>
            <p:nvPr/>
          </p:nvSpPr>
          <p:spPr>
            <a:xfrm>
              <a:off x="457200" y="1028700"/>
              <a:ext cx="11277600" cy="1809750"/>
            </a:xfrm>
            <a:prstGeom prst="rect">
              <a:avLst/>
            </a:prstGeom>
            <a:solidFill>
              <a:srgbClr val="F2F2F2"/>
            </a:solidFill>
            <a:ln w="9525">
              <a:solidFill>
                <a:srgbClr val="AFC7DD"/>
              </a:solidFill>
            </a:ln>
          </p:spPr>
        </p:sp>
        <p:sp>
          <p:nvSpPr>
            <p:cNvPr id="7" name="Rectangle 7"/>
            <p:cNvSpPr/>
            <p:nvPr/>
          </p:nvSpPr>
          <p:spPr>
            <a:xfrm>
              <a:off x="742950" y="1504950"/>
              <a:ext cx="2038350" cy="876300"/>
            </a:xfrm>
            <a:prstGeom prst="rect">
              <a:avLst/>
            </a:prstGeom>
            <a:solidFill>
              <a:srgbClr val="FFFFFF"/>
            </a:solidFill>
            <a:ln w="19050">
              <a:solidFill>
                <a:srgbClr val="0070C0"/>
              </a:solidFill>
            </a:ln>
          </p:spPr>
        </p:sp>
        <p:sp>
          <p:nvSpPr>
            <p:cNvPr id="8" name="TextBox 8"/>
            <p:cNvSpPr txBox="1"/>
            <p:nvPr/>
          </p:nvSpPr>
          <p:spPr>
            <a:xfrm>
              <a:off x="1080540" y="1639729"/>
              <a:ext cx="1363170"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三相分流电阻</a:t>
              </a:r>
            </a:p>
          </p:txBody>
        </p:sp>
        <p:sp>
          <p:nvSpPr>
            <p:cNvPr id="9" name="TextBox 9"/>
            <p:cNvSpPr txBox="1"/>
            <p:nvPr/>
          </p:nvSpPr>
          <p:spPr>
            <a:xfrm>
              <a:off x="745855" y="1959292"/>
              <a:ext cx="203254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R10 / R11 / R12 · 10 mΩ</a:t>
              </a:r>
            </a:p>
          </p:txBody>
        </p:sp>
        <p:sp>
          <p:nvSpPr>
            <p:cNvPr id="10" name="Line 10"/>
            <p:cNvSpPr/>
            <p:nvPr/>
          </p:nvSpPr>
          <p:spPr>
            <a:xfrm>
              <a:off x="27813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1" name="Polygon 11"/>
            <p:cNvSpPr/>
            <p:nvPr/>
          </p:nvSpPr>
          <p:spPr>
            <a:xfrm>
              <a:off x="32004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2" name="Rectangle 12"/>
            <p:cNvSpPr/>
            <p:nvPr/>
          </p:nvSpPr>
          <p:spPr>
            <a:xfrm>
              <a:off x="3333750" y="1504950"/>
              <a:ext cx="2038350" cy="876300"/>
            </a:xfrm>
            <a:prstGeom prst="rect">
              <a:avLst/>
            </a:prstGeom>
            <a:solidFill>
              <a:srgbClr val="FFFFFF"/>
            </a:solidFill>
            <a:ln w="19050">
              <a:solidFill>
                <a:srgbClr val="0070C0"/>
              </a:solidFill>
            </a:ln>
          </p:spPr>
        </p:sp>
        <p:sp>
          <p:nvSpPr>
            <p:cNvPr id="13" name="TextBox 13"/>
            <p:cNvSpPr txBox="1"/>
            <p:nvPr/>
          </p:nvSpPr>
          <p:spPr>
            <a:xfrm>
              <a:off x="3875328" y="1639729"/>
              <a:ext cx="955194"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INA240A1</a:t>
              </a:r>
            </a:p>
          </p:txBody>
        </p:sp>
        <p:sp>
          <p:nvSpPr>
            <p:cNvPr id="14" name="TextBox 14"/>
            <p:cNvSpPr txBox="1"/>
            <p:nvPr/>
          </p:nvSpPr>
          <p:spPr>
            <a:xfrm>
              <a:off x="3854220" y="1959292"/>
              <a:ext cx="99741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增益 20 V/V</a:t>
              </a:r>
            </a:p>
          </p:txBody>
        </p:sp>
        <p:sp>
          <p:nvSpPr>
            <p:cNvPr id="15" name="Line 15"/>
            <p:cNvSpPr/>
            <p:nvPr/>
          </p:nvSpPr>
          <p:spPr>
            <a:xfrm>
              <a:off x="53721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6" name="Polygon 16"/>
            <p:cNvSpPr/>
            <p:nvPr/>
          </p:nvSpPr>
          <p:spPr>
            <a:xfrm>
              <a:off x="57912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7" name="Rectangle 17"/>
            <p:cNvSpPr/>
            <p:nvPr/>
          </p:nvSpPr>
          <p:spPr>
            <a:xfrm>
              <a:off x="5924550" y="1504950"/>
              <a:ext cx="2038350" cy="876300"/>
            </a:xfrm>
            <a:prstGeom prst="rect">
              <a:avLst/>
            </a:prstGeom>
            <a:solidFill>
              <a:srgbClr val="FFFFFF"/>
            </a:solidFill>
            <a:ln w="19050">
              <a:solidFill>
                <a:srgbClr val="0070C0"/>
              </a:solidFill>
            </a:ln>
          </p:spPr>
        </p:sp>
        <p:sp>
          <p:nvSpPr>
            <p:cNvPr id="18" name="TextBox 18"/>
            <p:cNvSpPr txBox="1"/>
            <p:nvPr/>
          </p:nvSpPr>
          <p:spPr>
            <a:xfrm>
              <a:off x="6295219" y="1639729"/>
              <a:ext cx="1297012"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输出 RC 滤波</a:t>
              </a:r>
            </a:p>
          </p:txBody>
        </p:sp>
        <p:sp>
          <p:nvSpPr>
            <p:cNvPr id="19" name="TextBox 19"/>
            <p:cNvSpPr txBox="1"/>
            <p:nvPr/>
          </p:nvSpPr>
          <p:spPr>
            <a:xfrm>
              <a:off x="5913953" y="1959292"/>
              <a:ext cx="2059543"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抑制开关尖峰与 ADC 混叠</a:t>
              </a:r>
            </a:p>
          </p:txBody>
        </p:sp>
        <p:sp>
          <p:nvSpPr>
            <p:cNvPr id="20" name="Line 20"/>
            <p:cNvSpPr/>
            <p:nvPr/>
          </p:nvSpPr>
          <p:spPr>
            <a:xfrm>
              <a:off x="79629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21" name="Polygon 21"/>
            <p:cNvSpPr/>
            <p:nvPr/>
          </p:nvSpPr>
          <p:spPr>
            <a:xfrm>
              <a:off x="83820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22" name="Rectangle 22"/>
            <p:cNvSpPr/>
            <p:nvPr/>
          </p:nvSpPr>
          <p:spPr>
            <a:xfrm>
              <a:off x="8515350" y="1504950"/>
              <a:ext cx="2933700" cy="876300"/>
            </a:xfrm>
            <a:prstGeom prst="rect">
              <a:avLst/>
            </a:prstGeom>
            <a:solidFill>
              <a:srgbClr val="FFFFFF"/>
            </a:solidFill>
            <a:ln w="19050">
              <a:solidFill>
                <a:srgbClr val="0070C0"/>
              </a:solidFill>
            </a:ln>
          </p:spPr>
        </p:sp>
        <p:sp>
          <p:nvSpPr>
            <p:cNvPr id="23" name="TextBox 23"/>
            <p:cNvSpPr txBox="1"/>
            <p:nvPr/>
          </p:nvSpPr>
          <p:spPr>
            <a:xfrm>
              <a:off x="9179325" y="1639729"/>
              <a:ext cx="1605751"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STM32G431 ADC</a:t>
              </a:r>
            </a:p>
          </p:txBody>
        </p:sp>
        <p:sp>
          <p:nvSpPr>
            <p:cNvPr id="24" name="TextBox 24"/>
            <p:cNvSpPr txBox="1"/>
            <p:nvPr/>
          </p:nvSpPr>
          <p:spPr>
            <a:xfrm>
              <a:off x="8844415" y="1959292"/>
              <a:ext cx="227557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同步采样并进入 FOC 电流环</a:t>
              </a:r>
            </a:p>
          </p:txBody>
        </p:sp>
      </p:grpSp>
      <p:grpSp>
        <p:nvGrpSpPr>
          <p:cNvPr id="36" name="Group 36"/>
          <p:cNvGrpSpPr/>
          <p:nvPr/>
        </p:nvGrpSpPr>
        <p:grpSpPr>
          <a:xfrm>
            <a:off x="457200" y="3009900"/>
            <a:ext cx="5200650" cy="3105150"/>
            <a:chOff x="457200" y="3009900"/>
            <a:chExt cx="5200650" cy="3105150"/>
          </a:xfrm>
        </p:grpSpPr>
        <p:sp>
          <p:nvSpPr>
            <p:cNvPr id="26" name="Rectangle 26"/>
            <p:cNvSpPr/>
            <p:nvPr/>
          </p:nvSpPr>
          <p:spPr>
            <a:xfrm>
              <a:off x="457200" y="3009900"/>
              <a:ext cx="5200650" cy="3105150"/>
            </a:xfrm>
            <a:prstGeom prst="rect">
              <a:avLst/>
            </a:prstGeom>
            <a:solidFill>
              <a:srgbClr val="FFFFFF"/>
            </a:solidFill>
            <a:ln w="9525">
              <a:solidFill>
                <a:srgbClr val="AFC7DD"/>
              </a:solidFill>
            </a:ln>
          </p:spPr>
        </p:sp>
        <p:sp>
          <p:nvSpPr>
            <p:cNvPr id="27" name="Rectangle 27"/>
            <p:cNvSpPr/>
            <p:nvPr/>
          </p:nvSpPr>
          <p:spPr>
            <a:xfrm>
              <a:off x="457200" y="3009900"/>
              <a:ext cx="5200650" cy="400050"/>
            </a:xfrm>
            <a:prstGeom prst="rect">
              <a:avLst/>
            </a:prstGeom>
            <a:solidFill>
              <a:srgbClr val="0070C0"/>
            </a:solidFill>
            <a:ln>
              <a:noFill/>
            </a:ln>
          </p:spPr>
        </p:sp>
        <p:sp>
          <p:nvSpPr>
            <p:cNvPr id="28" name="TextBox 28"/>
            <p:cNvSpPr txBox="1"/>
            <p:nvPr/>
          </p:nvSpPr>
          <p:spPr>
            <a:xfrm>
              <a:off x="2375940" y="3116104"/>
              <a:ext cx="136317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采样布局要点</a:t>
              </a:r>
            </a:p>
          </p:txBody>
        </p:sp>
        <p:sp>
          <p:nvSpPr>
            <p:cNvPr id="29" name="TextBox 29"/>
            <p:cNvSpPr txBox="1"/>
            <p:nvPr/>
          </p:nvSpPr>
          <p:spPr>
            <a:xfrm>
              <a:off x="724852" y="3656171"/>
              <a:ext cx="312408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分流电阻两端采用 Kelvin 四线取样</a:t>
              </a:r>
            </a:p>
          </p:txBody>
        </p:sp>
        <p:sp>
          <p:nvSpPr>
            <p:cNvPr id="30" name="TextBox 30"/>
            <p:cNvSpPr txBox="1"/>
            <p:nvPr/>
          </p:nvSpPr>
          <p:spPr>
            <a:xfrm>
              <a:off x="724852" y="4037171"/>
              <a:ext cx="405519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 / IN− 成对、等长并避开 SHx 与 Gate 节点</a:t>
              </a:r>
            </a:p>
          </p:txBody>
        </p:sp>
        <p:sp>
          <p:nvSpPr>
            <p:cNvPr id="31" name="TextBox 31"/>
            <p:cNvSpPr txBox="1"/>
            <p:nvPr/>
          </p:nvSpPr>
          <p:spPr>
            <a:xfrm>
              <a:off x="724852" y="4418171"/>
              <a:ext cx="368465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INA240 紧靠分流电阻，缩小差分采样环路</a:t>
              </a:r>
            </a:p>
          </p:txBody>
        </p:sp>
        <p:sp>
          <p:nvSpPr>
            <p:cNvPr id="32" name="TextBox 32"/>
            <p:cNvSpPr txBox="1"/>
            <p:nvPr/>
          </p:nvSpPr>
          <p:spPr>
            <a:xfrm>
              <a:off x="724852" y="4799171"/>
              <a:ext cx="2734532"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0.1 μF 去耦电容紧贴电源引脚</a:t>
              </a:r>
            </a:p>
          </p:txBody>
        </p:sp>
        <p:sp>
          <p:nvSpPr>
            <p:cNvPr id="33" name="TextBox 33"/>
            <p:cNvSpPr txBox="1"/>
            <p:nvPr/>
          </p:nvSpPr>
          <p:spPr>
            <a:xfrm>
              <a:off x="724852" y="5180171"/>
              <a:ext cx="3798665"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输出滤波器靠近 ADC，走线参考连续地平面</a:t>
              </a:r>
            </a:p>
          </p:txBody>
        </p:sp>
        <p:sp>
          <p:nvSpPr>
            <p:cNvPr id="34" name="Rectangle 34"/>
            <p:cNvSpPr/>
            <p:nvPr/>
          </p:nvSpPr>
          <p:spPr>
            <a:xfrm>
              <a:off x="742950" y="5543550"/>
              <a:ext cx="4629150" cy="381000"/>
            </a:xfrm>
            <a:prstGeom prst="rect">
              <a:avLst/>
            </a:prstGeom>
            <a:solidFill>
              <a:srgbClr val="EDF8F4"/>
            </a:solidFill>
            <a:ln>
              <a:noFill/>
            </a:ln>
          </p:spPr>
        </p:sp>
        <p:sp>
          <p:nvSpPr>
            <p:cNvPr id="35" name="TextBox 35"/>
            <p:cNvSpPr txBox="1"/>
            <p:nvPr/>
          </p:nvSpPr>
          <p:spPr>
            <a:xfrm>
              <a:off x="1466758" y="5645468"/>
              <a:ext cx="3181533"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采样比例：10 mΩ × 20 V/V = 0.2 V/A</a:t>
              </a:r>
            </a:p>
          </p:txBody>
        </p:sp>
      </p:grpSp>
      <p:sp>
        <p:nvSpPr>
          <p:cNvPr id="37" name="Rectangle 37"/>
          <p:cNvSpPr/>
          <p:nvPr/>
        </p:nvSpPr>
        <p:spPr>
          <a:xfrm>
            <a:off x="5848350" y="3009900"/>
            <a:ext cx="5886450" cy="3105150"/>
          </a:xfrm>
          <a:prstGeom prst="rect">
            <a:avLst/>
          </a:prstGeom>
          <a:solidFill>
            <a:srgbClr val="FFF2F2"/>
          </a:solidFill>
          <a:ln w="19050">
            <a:solidFill>
              <a:srgbClr val="C00000"/>
            </a:solidFill>
            <a:custDash>
              <a:ds d="500000" sp="400000"/>
            </a:custDash>
          </a:ln>
        </p:spPr>
        <p:txBody>
          <a:bodyPr/>
          <a:lstStyle/>
          <a:p>
            <a:endParaRPr lang="zh-CN" altLang="en-US"/>
          </a:p>
        </p:txBody>
      </p:sp>
      <p:pic>
        <p:nvPicPr>
          <p:cNvPr id="47" name="图片 46">
            <a:extLst>
              <a:ext uri="{FF2B5EF4-FFF2-40B4-BE49-F238E27FC236}">
                <a16:creationId xmlns:a16="http://schemas.microsoft.com/office/drawing/2014/main" id="{6E387CF9-84A0-285A-F6C6-6606AD40FC29}"/>
              </a:ext>
            </a:extLst>
          </p:cNvPr>
          <p:cNvPicPr>
            <a:picLocks noChangeAspect="1"/>
          </p:cNvPicPr>
          <p:nvPr/>
        </p:nvPicPr>
        <p:blipFill>
          <a:blip r:embed="rId3"/>
          <a:stretch>
            <a:fillRect/>
          </a:stretch>
        </p:blipFill>
        <p:spPr>
          <a:xfrm>
            <a:off x="5924550" y="3074720"/>
            <a:ext cx="3750780" cy="2982703"/>
          </a:xfrm>
          <a:prstGeom prst="rect">
            <a:avLst/>
          </a:prstGeom>
        </p:spPr>
      </p:pic>
      <p:sp>
        <p:nvSpPr>
          <p:cNvPr id="49" name="椭圆 48">
            <a:extLst>
              <a:ext uri="{FF2B5EF4-FFF2-40B4-BE49-F238E27FC236}">
                <a16:creationId xmlns:a16="http://schemas.microsoft.com/office/drawing/2014/main" id="{40DCCA3C-1F9F-CF4E-66DF-D2A6F371C057}"/>
              </a:ext>
            </a:extLst>
          </p:cNvPr>
          <p:cNvSpPr/>
          <p:nvPr/>
        </p:nvSpPr>
        <p:spPr>
          <a:xfrm>
            <a:off x="8085207" y="4562475"/>
            <a:ext cx="593585" cy="5715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3F6A9FE1-220B-2BCE-5454-38225CFD8746}"/>
              </a:ext>
            </a:extLst>
          </p:cNvPr>
          <p:cNvSpPr/>
          <p:nvPr/>
        </p:nvSpPr>
        <p:spPr>
          <a:xfrm>
            <a:off x="7264174" y="3173576"/>
            <a:ext cx="773144" cy="744379"/>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65074124-B720-F840-15A5-1EAFD91C19EB}"/>
              </a:ext>
            </a:extLst>
          </p:cNvPr>
          <p:cNvSpPr txBox="1"/>
          <p:nvPr/>
        </p:nvSpPr>
        <p:spPr>
          <a:xfrm>
            <a:off x="9675330" y="3158013"/>
            <a:ext cx="2135670" cy="2504532"/>
          </a:xfrm>
          <a:prstGeom prst="rect">
            <a:avLst/>
          </a:prstGeom>
          <a:noFill/>
        </p:spPr>
        <p:txBody>
          <a:bodyPr wrap="square">
            <a:spAutoFit/>
          </a:bodyPr>
          <a:lstStyle/>
          <a:p>
            <a:r>
              <a:rPr lang="zh-CN" altLang="en-US" sz="1425" dirty="0">
                <a:solidFill>
                  <a:srgbClr val="1A1C1F"/>
                </a:solidFill>
                <a:latin typeface="Arial"/>
                <a:ea typeface="Microsoft YaHei"/>
                <a:cs typeface="Arial"/>
              </a:rPr>
              <a:t>电流采样 </a:t>
            </a:r>
            <a:r>
              <a:rPr lang="en-US" altLang="zh-CN" sz="1425" dirty="0">
                <a:solidFill>
                  <a:srgbClr val="1A1C1F"/>
                </a:solidFill>
                <a:latin typeface="Arial"/>
                <a:ea typeface="Microsoft YaHei"/>
                <a:cs typeface="Arial"/>
              </a:rPr>
              <a:t>VS </a:t>
            </a:r>
            <a:r>
              <a:rPr lang="zh-CN" altLang="en-US" sz="1425" dirty="0">
                <a:solidFill>
                  <a:srgbClr val="1A1C1F"/>
                </a:solidFill>
                <a:latin typeface="Arial"/>
                <a:ea typeface="Microsoft YaHei"/>
                <a:cs typeface="Arial"/>
              </a:rPr>
              <a:t>与 </a:t>
            </a:r>
            <a:r>
              <a:rPr lang="en-US" altLang="zh-CN" sz="1425" dirty="0">
                <a:solidFill>
                  <a:srgbClr val="1A1C1F"/>
                </a:solidFill>
                <a:latin typeface="Arial"/>
                <a:ea typeface="Microsoft YaHei"/>
                <a:cs typeface="Arial"/>
              </a:rPr>
              <a:t>GND </a:t>
            </a:r>
            <a:r>
              <a:rPr lang="zh-CN" altLang="en-US" sz="1425" dirty="0">
                <a:solidFill>
                  <a:srgbClr val="1A1C1F"/>
                </a:solidFill>
                <a:latin typeface="Arial"/>
                <a:ea typeface="Microsoft YaHei"/>
                <a:cs typeface="Arial"/>
              </a:rPr>
              <a:t>之间放置 </a:t>
            </a:r>
            <a:r>
              <a:rPr lang="en-US" altLang="zh-CN" sz="1425" dirty="0">
                <a:solidFill>
                  <a:srgbClr val="1A1C1F"/>
                </a:solidFill>
                <a:latin typeface="Arial"/>
                <a:ea typeface="Microsoft YaHei"/>
                <a:cs typeface="Arial"/>
              </a:rPr>
              <a:t>0.1 </a:t>
            </a:r>
            <a:r>
              <a:rPr lang="en-US" altLang="zh-CN" sz="1425" dirty="0" err="1">
                <a:solidFill>
                  <a:srgbClr val="1A1C1F"/>
                </a:solidFill>
                <a:latin typeface="Arial"/>
                <a:ea typeface="Microsoft YaHei"/>
                <a:cs typeface="Arial"/>
              </a:rPr>
              <a:t>μF</a:t>
            </a:r>
            <a:r>
              <a:rPr lang="en-US" altLang="zh-CN" sz="1425" dirty="0">
                <a:solidFill>
                  <a:srgbClr val="1A1C1F"/>
                </a:solidFill>
                <a:latin typeface="Arial"/>
                <a:ea typeface="Microsoft YaHei"/>
                <a:cs typeface="Arial"/>
              </a:rPr>
              <a:t> </a:t>
            </a:r>
            <a:r>
              <a:rPr lang="zh-CN" altLang="en-US" sz="1425" dirty="0">
                <a:solidFill>
                  <a:srgbClr val="1A1C1F"/>
                </a:solidFill>
                <a:latin typeface="Arial"/>
                <a:ea typeface="Microsoft YaHei"/>
                <a:cs typeface="Arial"/>
              </a:rPr>
              <a:t>去耦电容，尽量贴近芯片电源引脚，回流路径短且直接接入参考地平面，滤除电源噪声。</a:t>
            </a:r>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r>
              <a:rPr lang="en-US" altLang="zh-CN" sz="1425" dirty="0">
                <a:solidFill>
                  <a:srgbClr val="1A1C1F"/>
                </a:solidFill>
                <a:latin typeface="Arial"/>
                <a:ea typeface="Microsoft YaHei"/>
                <a:cs typeface="Arial"/>
              </a:rPr>
              <a:t>Kelvin</a:t>
            </a:r>
            <a:r>
              <a:rPr lang="zh-CN" altLang="en-US" sz="1425" dirty="0">
                <a:solidFill>
                  <a:srgbClr val="1A1C1F"/>
                </a:solidFill>
                <a:latin typeface="Arial"/>
                <a:ea typeface="Microsoft YaHei"/>
                <a:cs typeface="Arial"/>
              </a:rPr>
              <a:t>采样连接，避免功率铜皮和焊盘压降进入采样结果。</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23522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Layout——编码器与隔离通信</a:t>
              </a:r>
            </a:p>
          </p:txBody>
        </p:sp>
      </p:grpSp>
      <p:sp>
        <p:nvSpPr>
          <p:cNvPr id="6" name="Rectangle 6"/>
          <p:cNvSpPr/>
          <p:nvPr/>
        </p:nvSpPr>
        <p:spPr>
          <a:xfrm>
            <a:off x="457200" y="1028700"/>
            <a:ext cx="5467350" cy="5124450"/>
          </a:xfrm>
          <a:prstGeom prst="rect">
            <a:avLst/>
          </a:prstGeom>
          <a:solidFill>
            <a:srgbClr val="FFFFFF"/>
          </a:solidFill>
          <a:ln w="9525">
            <a:solidFill>
              <a:srgbClr val="AFC7DD"/>
            </a:solidFill>
          </a:ln>
        </p:spPr>
      </p:sp>
      <p:sp>
        <p:nvSpPr>
          <p:cNvPr id="7" name="Rectangle 7"/>
          <p:cNvSpPr/>
          <p:nvPr/>
        </p:nvSpPr>
        <p:spPr>
          <a:xfrm>
            <a:off x="457200" y="1028700"/>
            <a:ext cx="5467350" cy="419100"/>
          </a:xfrm>
          <a:prstGeom prst="rect">
            <a:avLst/>
          </a:prstGeom>
          <a:solidFill>
            <a:srgbClr val="0070C0"/>
          </a:solidFill>
          <a:ln>
            <a:noFill/>
          </a:ln>
        </p:spPr>
      </p:sp>
      <p:sp>
        <p:nvSpPr>
          <p:cNvPr id="8" name="TextBox 8"/>
          <p:cNvSpPr txBox="1"/>
          <p:nvPr/>
        </p:nvSpPr>
        <p:spPr>
          <a:xfrm>
            <a:off x="2090287" y="1144429"/>
            <a:ext cx="2201175"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MA600A 磁编码器布局</a:t>
            </a:r>
          </a:p>
        </p:txBody>
      </p:sp>
      <p:sp>
        <p:nvSpPr>
          <p:cNvPr id="14" name="TextBox 14"/>
          <p:cNvSpPr txBox="1"/>
          <p:nvPr/>
        </p:nvSpPr>
        <p:spPr>
          <a:xfrm>
            <a:off x="725805" y="41119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传感器中心与电机轴心对齐，减少偏心角误差</a:t>
            </a:r>
          </a:p>
        </p:txBody>
      </p:sp>
      <p:sp>
        <p:nvSpPr>
          <p:cNvPr id="15" name="TextBox 15"/>
          <p:cNvSpPr txBox="1"/>
          <p:nvPr/>
        </p:nvSpPr>
        <p:spPr>
          <a:xfrm>
            <a:off x="725805" y="44548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大电流铜皮与开关节点远离传感器及磁钢区域</a:t>
            </a:r>
          </a:p>
        </p:txBody>
      </p:sp>
      <p:sp>
        <p:nvSpPr>
          <p:cNvPr id="16" name="TextBox 16"/>
          <p:cNvSpPr txBox="1"/>
          <p:nvPr/>
        </p:nvSpPr>
        <p:spPr>
          <a:xfrm>
            <a:off x="725805" y="4797742"/>
            <a:ext cx="4324902" cy="207749"/>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电容等磁性敏感器件距芯片中心至少 5 mm</a:t>
            </a:r>
            <a:r>
              <a:rPr lang="en-US" altLang="zh-CN" sz="1350" dirty="0">
                <a:solidFill>
                  <a:srgbClr val="1A1C1F"/>
                </a:solidFill>
                <a:latin typeface="Arial"/>
                <a:ea typeface="Microsoft YaHei"/>
                <a:cs typeface="Arial"/>
              </a:rPr>
              <a:t>,</a:t>
            </a:r>
            <a:r>
              <a:rPr lang="zh-CN" altLang="en-US" sz="1350">
                <a:solidFill>
                  <a:srgbClr val="1A1C1F"/>
                </a:solidFill>
                <a:latin typeface="Arial"/>
                <a:ea typeface="Microsoft YaHei"/>
                <a:cs typeface="Arial"/>
              </a:rPr>
              <a:t>丝印已标出</a:t>
            </a:r>
            <a:endParaRPr lang="zh-CN" sz="1350" dirty="0">
              <a:solidFill>
                <a:srgbClr val="1A1C1F"/>
              </a:solidFill>
              <a:latin typeface="Arial"/>
              <a:ea typeface="Microsoft YaHei"/>
              <a:cs typeface="Arial"/>
            </a:endParaRPr>
          </a:p>
        </p:txBody>
      </p:sp>
      <p:sp>
        <p:nvSpPr>
          <p:cNvPr id="17" name="TextBox 17"/>
          <p:cNvSpPr txBox="1"/>
          <p:nvPr/>
        </p:nvSpPr>
        <p:spPr>
          <a:xfrm>
            <a:off x="725805" y="5140642"/>
            <a:ext cx="42288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SPI 线短且参考完整地，可预留 200 Ω / 10 pF 滤波</a:t>
            </a:r>
          </a:p>
        </p:txBody>
      </p:sp>
      <p:sp>
        <p:nvSpPr>
          <p:cNvPr id="18" name="Rectangle 18"/>
          <p:cNvSpPr/>
          <p:nvPr/>
        </p:nvSpPr>
        <p:spPr>
          <a:xfrm>
            <a:off x="742950" y="5638800"/>
            <a:ext cx="4686300" cy="323850"/>
          </a:xfrm>
          <a:prstGeom prst="rect">
            <a:avLst/>
          </a:prstGeom>
          <a:solidFill>
            <a:srgbClr val="EDF8F4"/>
          </a:solidFill>
          <a:ln>
            <a:noFill/>
          </a:ln>
        </p:spPr>
      </p:sp>
      <p:sp>
        <p:nvSpPr>
          <p:cNvPr id="19" name="TextBox 19"/>
          <p:cNvSpPr txBox="1"/>
          <p:nvPr/>
        </p:nvSpPr>
        <p:spPr>
          <a:xfrm>
            <a:off x="1547217" y="5728335"/>
            <a:ext cx="3077766"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保证角度反馈稳定，降低电流环与位置环抖动</a:t>
            </a:r>
          </a:p>
        </p:txBody>
      </p:sp>
      <p:sp>
        <p:nvSpPr>
          <p:cNvPr id="21" name="Rectangle 21"/>
          <p:cNvSpPr/>
          <p:nvPr/>
        </p:nvSpPr>
        <p:spPr>
          <a:xfrm>
            <a:off x="6115050" y="1028700"/>
            <a:ext cx="5619750" cy="5124450"/>
          </a:xfrm>
          <a:prstGeom prst="rect">
            <a:avLst/>
          </a:prstGeom>
          <a:solidFill>
            <a:srgbClr val="FFFFFF"/>
          </a:solidFill>
          <a:ln w="9525">
            <a:solidFill>
              <a:srgbClr val="AFC7DD"/>
            </a:solidFill>
          </a:ln>
        </p:spPr>
      </p:sp>
      <p:sp>
        <p:nvSpPr>
          <p:cNvPr id="22" name="Rectangle 22"/>
          <p:cNvSpPr/>
          <p:nvPr/>
        </p:nvSpPr>
        <p:spPr>
          <a:xfrm>
            <a:off x="6115050" y="1028700"/>
            <a:ext cx="5619750" cy="419100"/>
          </a:xfrm>
          <a:prstGeom prst="rect">
            <a:avLst/>
          </a:prstGeom>
          <a:solidFill>
            <a:srgbClr val="0070C0"/>
          </a:solidFill>
          <a:ln>
            <a:noFill/>
          </a:ln>
        </p:spPr>
      </p:sp>
      <p:sp>
        <p:nvSpPr>
          <p:cNvPr id="23" name="TextBox 23"/>
          <p:cNvSpPr txBox="1"/>
          <p:nvPr/>
        </p:nvSpPr>
        <p:spPr>
          <a:xfrm>
            <a:off x="7322637" y="1144429"/>
            <a:ext cx="3204576"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MIE1W0505 + ISO1042 隔离通信</a:t>
            </a:r>
          </a:p>
        </p:txBody>
      </p:sp>
      <p:sp>
        <p:nvSpPr>
          <p:cNvPr id="31" name="TextBox 31"/>
          <p:cNvSpPr txBox="1"/>
          <p:nvPr/>
        </p:nvSpPr>
        <p:spPr>
          <a:xfrm>
            <a:off x="6383655" y="4111942"/>
            <a:ext cx="3940778"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隔离电源与收发器靠近放置，缩短 ISO_5V 回路</a:t>
            </a:r>
          </a:p>
        </p:txBody>
      </p:sp>
      <p:sp>
        <p:nvSpPr>
          <p:cNvPr id="32" name="TextBox 32"/>
          <p:cNvSpPr txBox="1"/>
          <p:nvPr/>
        </p:nvSpPr>
        <p:spPr>
          <a:xfrm>
            <a:off x="6383655" y="4454842"/>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隔离边界上下层保持净空，禁止铜皮跨越</a:t>
            </a:r>
          </a:p>
        </p:txBody>
      </p:sp>
      <p:sp>
        <p:nvSpPr>
          <p:cNvPr id="33" name="TextBox 33"/>
          <p:cNvSpPr txBox="1"/>
          <p:nvPr/>
        </p:nvSpPr>
        <p:spPr>
          <a:xfrm>
            <a:off x="6383655" y="4797742"/>
            <a:ext cx="3760756"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CANH / CANL 成对布线并靠近接口与终端器件</a:t>
            </a:r>
          </a:p>
        </p:txBody>
      </p:sp>
      <p:sp>
        <p:nvSpPr>
          <p:cNvPr id="34" name="TextBox 34"/>
          <p:cNvSpPr txBox="1"/>
          <p:nvPr/>
        </p:nvSpPr>
        <p:spPr>
          <a:xfrm>
            <a:off x="6383655" y="51406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控制地与总线地分区明确，降低外部共模干扰</a:t>
            </a:r>
          </a:p>
        </p:txBody>
      </p:sp>
      <p:sp>
        <p:nvSpPr>
          <p:cNvPr id="35" name="Rectangle 35"/>
          <p:cNvSpPr/>
          <p:nvPr/>
        </p:nvSpPr>
        <p:spPr>
          <a:xfrm>
            <a:off x="6400800" y="5638800"/>
            <a:ext cx="4838700" cy="323850"/>
          </a:xfrm>
          <a:prstGeom prst="rect">
            <a:avLst/>
          </a:prstGeom>
          <a:solidFill>
            <a:srgbClr val="EDF8F4"/>
          </a:solidFill>
          <a:ln>
            <a:noFill/>
          </a:ln>
        </p:spPr>
      </p:sp>
      <p:sp>
        <p:nvSpPr>
          <p:cNvPr id="36" name="TextBox 36"/>
          <p:cNvSpPr txBox="1"/>
          <p:nvPr/>
        </p:nvSpPr>
        <p:spPr>
          <a:xfrm>
            <a:off x="7127378" y="5728335"/>
            <a:ext cx="3385542"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将电机功率噪声限制在本地，保护控制与通信链路</a:t>
            </a:r>
          </a:p>
        </p:txBody>
      </p:sp>
      <p:grpSp>
        <p:nvGrpSpPr>
          <p:cNvPr id="43" name="组合 42">
            <a:extLst>
              <a:ext uri="{FF2B5EF4-FFF2-40B4-BE49-F238E27FC236}">
                <a16:creationId xmlns:a16="http://schemas.microsoft.com/office/drawing/2014/main" id="{11D557DC-7B48-97CE-B600-EB29356AA3EB}"/>
              </a:ext>
            </a:extLst>
          </p:cNvPr>
          <p:cNvGrpSpPr/>
          <p:nvPr/>
        </p:nvGrpSpPr>
        <p:grpSpPr>
          <a:xfrm>
            <a:off x="6788132" y="1775694"/>
            <a:ext cx="3754979" cy="2029304"/>
            <a:chOff x="6750524" y="1516380"/>
            <a:chExt cx="3754979" cy="2029304"/>
          </a:xfrm>
        </p:grpSpPr>
        <p:sp>
          <p:nvSpPr>
            <p:cNvPr id="27" name="TextBox 27"/>
            <p:cNvSpPr txBox="1"/>
            <p:nvPr/>
          </p:nvSpPr>
          <p:spPr>
            <a:xfrm>
              <a:off x="67505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控制侧</a:t>
              </a:r>
            </a:p>
          </p:txBody>
        </p:sp>
        <p:sp>
          <p:nvSpPr>
            <p:cNvPr id="28" name="TextBox 28"/>
            <p:cNvSpPr txBox="1"/>
            <p:nvPr/>
          </p:nvSpPr>
          <p:spPr>
            <a:xfrm>
              <a:off x="98373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总线侧</a:t>
              </a:r>
            </a:p>
          </p:txBody>
        </p:sp>
        <p:pic>
          <p:nvPicPr>
            <p:cNvPr id="42" name="图片 41">
              <a:extLst>
                <a:ext uri="{FF2B5EF4-FFF2-40B4-BE49-F238E27FC236}">
                  <a16:creationId xmlns:a16="http://schemas.microsoft.com/office/drawing/2014/main" id="{444FE928-1DDF-3818-6B77-603AA522E42C}"/>
                </a:ext>
              </a:extLst>
            </p:cNvPr>
            <p:cNvPicPr>
              <a:picLocks noChangeAspect="1"/>
            </p:cNvPicPr>
            <p:nvPr/>
          </p:nvPicPr>
          <p:blipFill>
            <a:blip r:embed="rId3"/>
            <a:srcRect r="28375"/>
            <a:stretch/>
          </p:blipFill>
          <p:spPr>
            <a:xfrm rot="5400000">
              <a:off x="7707296" y="1441611"/>
              <a:ext cx="1888332" cy="2319814"/>
            </a:xfrm>
            <a:prstGeom prst="rect">
              <a:avLst/>
            </a:prstGeom>
          </p:spPr>
        </p:pic>
        <p:sp>
          <p:nvSpPr>
            <p:cNvPr id="25" name="Line 25"/>
            <p:cNvSpPr/>
            <p:nvPr/>
          </p:nvSpPr>
          <p:spPr>
            <a:xfrm>
              <a:off x="8419070" y="1516380"/>
              <a:ext cx="57843" cy="2029301"/>
            </a:xfrm>
            <a:custGeom>
              <a:avLst/>
              <a:gdLst/>
              <a:ahLst/>
              <a:cxnLst/>
              <a:rect l="l" t="t" r="r" b="b"/>
              <a:pathLst>
                <a:path w="9525" h="857250">
                  <a:moveTo>
                    <a:pt x="0" y="0"/>
                  </a:moveTo>
                  <a:lnTo>
                    <a:pt x="0" y="857250"/>
                  </a:lnTo>
                </a:path>
              </a:pathLst>
            </a:custGeom>
            <a:noFill/>
            <a:ln w="28575">
              <a:solidFill>
                <a:srgbClr val="C00000"/>
              </a:solidFill>
              <a:custDash>
                <a:ds d="333333" sp="266666"/>
              </a:custDash>
            </a:ln>
          </p:spPr>
        </p:sp>
      </p:grpSp>
      <p:pic>
        <p:nvPicPr>
          <p:cNvPr id="44" name="图片 43">
            <a:extLst>
              <a:ext uri="{FF2B5EF4-FFF2-40B4-BE49-F238E27FC236}">
                <a16:creationId xmlns:a16="http://schemas.microsoft.com/office/drawing/2014/main" id="{8C4336AC-803C-F748-BB93-58B320A6DA01}"/>
              </a:ext>
            </a:extLst>
          </p:cNvPr>
          <p:cNvPicPr>
            <a:picLocks noChangeAspect="1"/>
          </p:cNvPicPr>
          <p:nvPr/>
        </p:nvPicPr>
        <p:blipFill>
          <a:blip r:embed="rId4"/>
          <a:stretch>
            <a:fillRect/>
          </a:stretch>
        </p:blipFill>
        <p:spPr>
          <a:xfrm>
            <a:off x="1476292" y="1634966"/>
            <a:ext cx="2556565" cy="2331720"/>
          </a:xfrm>
          <a:prstGeom prst="rect">
            <a:avLst/>
          </a:prstGeom>
        </p:spPr>
      </p:pic>
      <p:sp>
        <p:nvSpPr>
          <p:cNvPr id="10" name="Ellipse 10"/>
          <p:cNvSpPr/>
          <p:nvPr/>
        </p:nvSpPr>
        <p:spPr>
          <a:xfrm>
            <a:off x="2164025" y="2243461"/>
            <a:ext cx="990600" cy="990600"/>
          </a:xfrm>
          <a:prstGeom prst="ellipse">
            <a:avLst/>
          </a:prstGeom>
          <a:noFill/>
          <a:ln w="19050">
            <a:solidFill>
              <a:srgbClr val="FF0000"/>
            </a:solidFill>
            <a:custDash>
              <a:ds d="400000" sp="300000"/>
            </a:custDash>
          </a:ln>
        </p:spPr>
      </p:sp>
      <p:sp>
        <p:nvSpPr>
          <p:cNvPr id="11" name="Ellipse 11"/>
          <p:cNvSpPr/>
          <p:nvPr/>
        </p:nvSpPr>
        <p:spPr>
          <a:xfrm>
            <a:off x="2564075" y="2643511"/>
            <a:ext cx="190500" cy="190500"/>
          </a:xfrm>
          <a:prstGeom prst="ellipse">
            <a:avLst/>
          </a:prstGeom>
          <a:solidFill>
            <a:srgbClr val="FF0000"/>
          </a:solidFill>
          <a:ln>
            <a:solidFill>
              <a:srgbClr val="FF0000"/>
            </a:solid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7175"/>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Layout——散热与设计检查</a:t>
              </a:r>
            </a:p>
          </p:txBody>
        </p:sp>
      </p:grpSp>
      <p:grpSp>
        <p:nvGrpSpPr>
          <p:cNvPr id="15" name="Group 15"/>
          <p:cNvGrpSpPr/>
          <p:nvPr/>
        </p:nvGrpSpPr>
        <p:grpSpPr>
          <a:xfrm>
            <a:off x="457200" y="1028700"/>
            <a:ext cx="6438900" cy="5124450"/>
            <a:chOff x="457200" y="1028700"/>
            <a:chExt cx="6438900" cy="5124450"/>
          </a:xfrm>
        </p:grpSpPr>
        <p:sp>
          <p:nvSpPr>
            <p:cNvPr id="6" name="Rectangle 6"/>
            <p:cNvSpPr/>
            <p:nvPr/>
          </p:nvSpPr>
          <p:spPr>
            <a:xfrm>
              <a:off x="457200" y="1028700"/>
              <a:ext cx="6438900" cy="5124450"/>
            </a:xfrm>
            <a:prstGeom prst="rect">
              <a:avLst/>
            </a:prstGeom>
            <a:solidFill>
              <a:srgbClr val="F2F2F2"/>
            </a:solidFill>
            <a:ln w="9525">
              <a:solidFill>
                <a:srgbClr val="AFC7DD"/>
              </a:solidFill>
            </a:ln>
          </p:spPr>
        </p:sp>
        <p:sp>
          <p:nvSpPr>
            <p:cNvPr id="7" name="Rectangle 7"/>
            <p:cNvSpPr/>
            <p:nvPr/>
          </p:nvSpPr>
          <p:spPr>
            <a:xfrm>
              <a:off x="666750" y="1257300"/>
              <a:ext cx="6019800" cy="2400300"/>
            </a:xfrm>
            <a:prstGeom prst="rect">
              <a:avLst/>
            </a:prstGeom>
            <a:solidFill>
              <a:srgbClr val="FFFFFF"/>
            </a:solidFill>
            <a:ln w="9525">
              <a:solidFill>
                <a:srgbClr val="AFC7DD"/>
              </a:solidFill>
            </a:ln>
          </p:spPr>
        </p:sp>
        <p:sp>
          <p:nvSpPr>
            <p:cNvPr id="9" name="Rectangle 9"/>
            <p:cNvSpPr/>
            <p:nvPr/>
          </p:nvSpPr>
          <p:spPr>
            <a:xfrm>
              <a:off x="666750" y="3829050"/>
              <a:ext cx="6019800" cy="2076450"/>
            </a:xfrm>
            <a:prstGeom prst="rect">
              <a:avLst/>
            </a:prstGeom>
            <a:solidFill>
              <a:srgbClr val="FFFFFF"/>
            </a:solidFill>
            <a:ln w="9525">
              <a:solidFill>
                <a:srgbClr val="AFC7DD"/>
              </a:solidFill>
            </a:ln>
          </p:spPr>
        </p:sp>
        <p:sp>
          <p:nvSpPr>
            <p:cNvPr id="10" name="TextBox 10"/>
            <p:cNvSpPr txBox="1"/>
            <p:nvPr/>
          </p:nvSpPr>
          <p:spPr>
            <a:xfrm>
              <a:off x="854392" y="4023836"/>
              <a:ext cx="1492996" cy="350520"/>
            </a:xfrm>
            <a:prstGeom prst="rect">
              <a:avLst/>
            </a:prstGeom>
            <a:noFill/>
            <a:ln>
              <a:noFill/>
            </a:ln>
          </p:spPr>
          <p:txBody>
            <a:bodyPr wrap="none" lIns="0" tIns="0" rIns="0" bIns="0" anchor="t" anchorCtr="0">
              <a:spAutoFit/>
            </a:bodyPr>
            <a:lstStyle/>
            <a:p>
              <a:pPr algn="l"/>
              <a:r>
                <a:rPr lang="zh-CN" sz="1725" b="1" dirty="0">
                  <a:solidFill>
                    <a:srgbClr val="005A9C"/>
                  </a:solidFill>
                  <a:latin typeface="Arial"/>
                  <a:ea typeface="Microsoft YaHei"/>
                  <a:cs typeface="Arial"/>
                </a:rPr>
                <a:t>散热路径设计</a:t>
              </a:r>
            </a:p>
          </p:txBody>
        </p:sp>
        <p:sp>
          <p:nvSpPr>
            <p:cNvPr id="11" name="TextBox 11"/>
            <p:cNvSpPr txBox="1"/>
            <p:nvPr/>
          </p:nvSpPr>
          <p:spPr>
            <a:xfrm>
              <a:off x="859155" y="44643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MOSFET 与分流电阻采用大面积铜皮扩散热量</a:t>
              </a:r>
            </a:p>
          </p:txBody>
        </p:sp>
        <p:sp>
          <p:nvSpPr>
            <p:cNvPr id="12" name="TextBox 12"/>
            <p:cNvSpPr txBox="1"/>
            <p:nvPr/>
          </p:nvSpPr>
          <p:spPr>
            <a:xfrm>
              <a:off x="859155" y="4807268"/>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上下层通过并联过孔导热，降低局部热点</a:t>
              </a:r>
            </a:p>
          </p:txBody>
        </p:sp>
        <p:sp>
          <p:nvSpPr>
            <p:cNvPr id="13" name="TextBox 13"/>
            <p:cNvSpPr txBox="1"/>
            <p:nvPr/>
          </p:nvSpPr>
          <p:spPr>
            <a:xfrm>
              <a:off x="859155" y="51501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功率器件沿板边布置，便于接触外壳或结构件</a:t>
              </a:r>
            </a:p>
          </p:txBody>
        </p:sp>
        <p:sp>
          <p:nvSpPr>
            <p:cNvPr id="14" name="TextBox 14"/>
            <p:cNvSpPr txBox="1"/>
            <p:nvPr/>
          </p:nvSpPr>
          <p:spPr>
            <a:xfrm>
              <a:off x="859155" y="5493068"/>
              <a:ext cx="414780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温升测试后再确定铜厚、过孔数量与外壳导热方案</a:t>
              </a:r>
            </a:p>
          </p:txBody>
        </p:sp>
      </p:grpSp>
      <p:grpSp>
        <p:nvGrpSpPr>
          <p:cNvPr id="50" name="Group 50"/>
          <p:cNvGrpSpPr/>
          <p:nvPr/>
        </p:nvGrpSpPr>
        <p:grpSpPr>
          <a:xfrm>
            <a:off x="7086600" y="1028700"/>
            <a:ext cx="4648200" cy="5124450"/>
            <a:chOff x="7086600" y="1028700"/>
            <a:chExt cx="4648200" cy="5124450"/>
          </a:xfrm>
        </p:grpSpPr>
        <p:sp>
          <p:nvSpPr>
            <p:cNvPr id="16" name="Rectangle 16"/>
            <p:cNvSpPr/>
            <p:nvPr/>
          </p:nvSpPr>
          <p:spPr>
            <a:xfrm>
              <a:off x="7086600" y="1028700"/>
              <a:ext cx="4648200" cy="5124450"/>
            </a:xfrm>
            <a:prstGeom prst="rect">
              <a:avLst/>
            </a:prstGeom>
            <a:solidFill>
              <a:srgbClr val="FFFFFF"/>
            </a:solidFill>
            <a:ln w="9525">
              <a:solidFill>
                <a:srgbClr val="AFC7DD"/>
              </a:solidFill>
            </a:ln>
          </p:spPr>
        </p:sp>
        <p:sp>
          <p:nvSpPr>
            <p:cNvPr id="17" name="Rectangle 17"/>
            <p:cNvSpPr/>
            <p:nvPr/>
          </p:nvSpPr>
          <p:spPr>
            <a:xfrm>
              <a:off x="7086600" y="1028700"/>
              <a:ext cx="4648200" cy="419100"/>
            </a:xfrm>
            <a:prstGeom prst="rect">
              <a:avLst/>
            </a:prstGeom>
            <a:solidFill>
              <a:srgbClr val="0070C0"/>
            </a:solidFill>
            <a:ln>
              <a:noFill/>
            </a:ln>
          </p:spPr>
        </p:sp>
        <p:sp>
          <p:nvSpPr>
            <p:cNvPr id="18" name="TextBox 18"/>
            <p:cNvSpPr txBox="1"/>
            <p:nvPr/>
          </p:nvSpPr>
          <p:spPr>
            <a:xfrm>
              <a:off x="8337678" y="1144429"/>
              <a:ext cx="214604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PCB Layout 设计检查</a:t>
              </a:r>
            </a:p>
          </p:txBody>
        </p:sp>
        <p:grpSp>
          <p:nvGrpSpPr>
            <p:cNvPr id="23" name="Group 23"/>
            <p:cNvGrpSpPr/>
            <p:nvPr/>
          </p:nvGrpSpPr>
          <p:grpSpPr>
            <a:xfrm>
              <a:off x="7296150" y="1668304"/>
              <a:ext cx="3448050" cy="541496"/>
              <a:chOff x="7296150" y="1668304"/>
              <a:chExt cx="3448050" cy="541496"/>
            </a:xfrm>
          </p:grpSpPr>
          <p:sp>
            <p:nvSpPr>
              <p:cNvPr id="19" name="Ellipse 19"/>
              <p:cNvSpPr/>
              <p:nvPr/>
            </p:nvSpPr>
            <p:spPr>
              <a:xfrm>
                <a:off x="7296150" y="1695450"/>
                <a:ext cx="381000" cy="381000"/>
              </a:xfrm>
              <a:prstGeom prst="ellipse">
                <a:avLst/>
              </a:prstGeom>
              <a:solidFill>
                <a:srgbClr val="00A36C"/>
              </a:solidFill>
              <a:ln>
                <a:noFill/>
              </a:ln>
            </p:spPr>
          </p:sp>
          <p:sp>
            <p:nvSpPr>
              <p:cNvPr id="20" name="TextBox 20"/>
              <p:cNvSpPr txBox="1"/>
              <p:nvPr/>
            </p:nvSpPr>
            <p:spPr>
              <a:xfrm>
                <a:off x="7402162" y="17840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1" name="TextBox 21"/>
              <p:cNvSpPr txBox="1"/>
              <p:nvPr/>
            </p:nvSpPr>
            <p:spPr>
              <a:xfrm>
                <a:off x="7828598" y="16683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功率路径</a:t>
                </a:r>
              </a:p>
            </p:txBody>
          </p:sp>
          <p:sp>
            <p:nvSpPr>
              <p:cNvPr id="22" name="TextBox 22"/>
              <p:cNvSpPr txBox="1"/>
              <p:nvPr/>
            </p:nvSpPr>
            <p:spPr>
              <a:xfrm>
                <a:off x="7833360" y="19659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母线、半桥、相线与分流电阻环路短且宽</a:t>
                </a:r>
              </a:p>
            </p:txBody>
          </p:sp>
        </p:grpSp>
        <p:sp>
          <p:nvSpPr>
            <p:cNvPr id="24" name="Line 24"/>
            <p:cNvSpPr/>
            <p:nvPr/>
          </p:nvSpPr>
          <p:spPr>
            <a:xfrm>
              <a:off x="7372350" y="23241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29" name="Group 29"/>
            <p:cNvGrpSpPr/>
            <p:nvPr/>
          </p:nvGrpSpPr>
          <p:grpSpPr>
            <a:xfrm>
              <a:off x="7296150" y="2506504"/>
              <a:ext cx="3288030" cy="541496"/>
              <a:chOff x="7296150" y="2506504"/>
              <a:chExt cx="3288030" cy="541496"/>
            </a:xfrm>
          </p:grpSpPr>
          <p:sp>
            <p:nvSpPr>
              <p:cNvPr id="25" name="Ellipse 25"/>
              <p:cNvSpPr/>
              <p:nvPr/>
            </p:nvSpPr>
            <p:spPr>
              <a:xfrm>
                <a:off x="7296150" y="2533650"/>
                <a:ext cx="381000" cy="381000"/>
              </a:xfrm>
              <a:prstGeom prst="ellipse">
                <a:avLst/>
              </a:prstGeom>
              <a:solidFill>
                <a:srgbClr val="00A36C"/>
              </a:solidFill>
              <a:ln>
                <a:noFill/>
              </a:ln>
            </p:spPr>
          </p:sp>
          <p:sp>
            <p:nvSpPr>
              <p:cNvPr id="26" name="TextBox 26"/>
              <p:cNvSpPr txBox="1"/>
              <p:nvPr/>
            </p:nvSpPr>
            <p:spPr>
              <a:xfrm>
                <a:off x="7402162" y="26222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7" name="TextBox 27"/>
              <p:cNvSpPr txBox="1"/>
              <p:nvPr/>
            </p:nvSpPr>
            <p:spPr>
              <a:xfrm>
                <a:off x="7828598" y="25065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回流路径</a:t>
                </a:r>
              </a:p>
            </p:txBody>
          </p:sp>
          <p:sp>
            <p:nvSpPr>
              <p:cNvPr id="28" name="TextBox 28"/>
              <p:cNvSpPr txBox="1"/>
              <p:nvPr/>
            </p:nvSpPr>
            <p:spPr>
              <a:xfrm>
                <a:off x="7833360" y="2804160"/>
                <a:ext cx="275082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驱动、采样与控制信号均有连续地参考</a:t>
                </a:r>
              </a:p>
            </p:txBody>
          </p:sp>
        </p:grpSp>
        <p:sp>
          <p:nvSpPr>
            <p:cNvPr id="30" name="Line 30"/>
            <p:cNvSpPr/>
            <p:nvPr/>
          </p:nvSpPr>
          <p:spPr>
            <a:xfrm>
              <a:off x="7372350" y="31623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35" name="Group 35"/>
            <p:cNvGrpSpPr/>
            <p:nvPr/>
          </p:nvGrpSpPr>
          <p:grpSpPr>
            <a:xfrm>
              <a:off x="7296150" y="3344704"/>
              <a:ext cx="3448050" cy="541496"/>
              <a:chOff x="7296150" y="3344704"/>
              <a:chExt cx="3448050" cy="541496"/>
            </a:xfrm>
          </p:grpSpPr>
          <p:sp>
            <p:nvSpPr>
              <p:cNvPr id="31" name="Ellipse 31"/>
              <p:cNvSpPr/>
              <p:nvPr/>
            </p:nvSpPr>
            <p:spPr>
              <a:xfrm>
                <a:off x="7296150" y="3371850"/>
                <a:ext cx="381000" cy="381000"/>
              </a:xfrm>
              <a:prstGeom prst="ellipse">
                <a:avLst/>
              </a:prstGeom>
              <a:solidFill>
                <a:srgbClr val="00A36C"/>
              </a:solidFill>
              <a:ln>
                <a:noFill/>
              </a:ln>
            </p:spPr>
          </p:sp>
          <p:sp>
            <p:nvSpPr>
              <p:cNvPr id="32" name="TextBox 32"/>
              <p:cNvSpPr txBox="1"/>
              <p:nvPr/>
            </p:nvSpPr>
            <p:spPr>
              <a:xfrm>
                <a:off x="7402162" y="3460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3" name="TextBox 33"/>
              <p:cNvSpPr txBox="1"/>
              <p:nvPr/>
            </p:nvSpPr>
            <p:spPr>
              <a:xfrm>
                <a:off x="7828598" y="3344704"/>
                <a:ext cx="70158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热路径</a:t>
                </a:r>
              </a:p>
            </p:txBody>
          </p:sp>
          <p:sp>
            <p:nvSpPr>
              <p:cNvPr id="34" name="TextBox 34"/>
              <p:cNvSpPr txBox="1"/>
              <p:nvPr/>
            </p:nvSpPr>
            <p:spPr>
              <a:xfrm>
                <a:off x="7833360" y="36423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铜皮、导热过孔与结构散热形成连续通道</a:t>
                </a:r>
              </a:p>
            </p:txBody>
          </p:sp>
        </p:grpSp>
        <p:sp>
          <p:nvSpPr>
            <p:cNvPr id="36" name="Line 36"/>
            <p:cNvSpPr/>
            <p:nvPr/>
          </p:nvSpPr>
          <p:spPr>
            <a:xfrm>
              <a:off x="7372350" y="40005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1" name="Group 41"/>
            <p:cNvGrpSpPr/>
            <p:nvPr/>
          </p:nvGrpSpPr>
          <p:grpSpPr>
            <a:xfrm>
              <a:off x="7296150" y="4182904"/>
              <a:ext cx="3664077" cy="541496"/>
              <a:chOff x="7296150" y="4182904"/>
              <a:chExt cx="3664077" cy="541496"/>
            </a:xfrm>
          </p:grpSpPr>
          <p:sp>
            <p:nvSpPr>
              <p:cNvPr id="37" name="Ellipse 37"/>
              <p:cNvSpPr/>
              <p:nvPr/>
            </p:nvSpPr>
            <p:spPr>
              <a:xfrm>
                <a:off x="7296150" y="4210050"/>
                <a:ext cx="381000" cy="381000"/>
              </a:xfrm>
              <a:prstGeom prst="ellipse">
                <a:avLst/>
              </a:prstGeom>
              <a:solidFill>
                <a:srgbClr val="00A36C"/>
              </a:solidFill>
              <a:ln>
                <a:noFill/>
              </a:ln>
            </p:spPr>
          </p:sp>
          <p:sp>
            <p:nvSpPr>
              <p:cNvPr id="38" name="TextBox 38"/>
              <p:cNvSpPr txBox="1"/>
              <p:nvPr/>
            </p:nvSpPr>
            <p:spPr>
              <a:xfrm>
                <a:off x="7402162" y="42986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9" name="TextBox 39"/>
              <p:cNvSpPr txBox="1"/>
              <p:nvPr/>
            </p:nvSpPr>
            <p:spPr>
              <a:xfrm>
                <a:off x="7828598" y="41829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敏感信号</a:t>
                </a:r>
              </a:p>
            </p:txBody>
          </p:sp>
          <p:sp>
            <p:nvSpPr>
              <p:cNvPr id="40" name="TextBox 40"/>
              <p:cNvSpPr txBox="1"/>
              <p:nvPr/>
            </p:nvSpPr>
            <p:spPr>
              <a:xfrm>
                <a:off x="7833360" y="4480560"/>
                <a:ext cx="3126867"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电流采样、编码器与 SPI 避开高 dv/dt 节点</a:t>
                </a:r>
              </a:p>
            </p:txBody>
          </p:sp>
        </p:grpSp>
        <p:sp>
          <p:nvSpPr>
            <p:cNvPr id="42" name="Line 42"/>
            <p:cNvSpPr/>
            <p:nvPr/>
          </p:nvSpPr>
          <p:spPr>
            <a:xfrm>
              <a:off x="7372350" y="48387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7" name="Group 47"/>
            <p:cNvGrpSpPr/>
            <p:nvPr/>
          </p:nvGrpSpPr>
          <p:grpSpPr>
            <a:xfrm>
              <a:off x="7296150" y="5021104"/>
              <a:ext cx="3608070" cy="541496"/>
              <a:chOff x="7296150" y="5021104"/>
              <a:chExt cx="3608070" cy="541496"/>
            </a:xfrm>
          </p:grpSpPr>
          <p:sp>
            <p:nvSpPr>
              <p:cNvPr id="43" name="Ellipse 43"/>
              <p:cNvSpPr/>
              <p:nvPr/>
            </p:nvSpPr>
            <p:spPr>
              <a:xfrm>
                <a:off x="7296150" y="5048250"/>
                <a:ext cx="381000" cy="381000"/>
              </a:xfrm>
              <a:prstGeom prst="ellipse">
                <a:avLst/>
              </a:prstGeom>
              <a:solidFill>
                <a:srgbClr val="00A36C"/>
              </a:solidFill>
              <a:ln>
                <a:noFill/>
              </a:ln>
            </p:spPr>
          </p:sp>
          <p:sp>
            <p:nvSpPr>
              <p:cNvPr id="44" name="TextBox 44"/>
              <p:cNvSpPr txBox="1"/>
              <p:nvPr/>
            </p:nvSpPr>
            <p:spPr>
              <a:xfrm>
                <a:off x="7402162" y="51368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45" name="TextBox 45"/>
              <p:cNvSpPr txBox="1"/>
              <p:nvPr/>
            </p:nvSpPr>
            <p:spPr>
              <a:xfrm>
                <a:off x="7828598" y="50211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隔离边界</a:t>
                </a:r>
              </a:p>
            </p:txBody>
          </p:sp>
          <p:sp>
            <p:nvSpPr>
              <p:cNvPr id="46" name="TextBox 46"/>
              <p:cNvSpPr txBox="1"/>
              <p:nvPr/>
            </p:nvSpPr>
            <p:spPr>
              <a:xfrm>
                <a:off x="7833360" y="5318760"/>
                <a:ext cx="307086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隔离净空完整，控制地与总线地无铜皮跨接</a:t>
                </a:r>
              </a:p>
            </p:txBody>
          </p:sp>
        </p:grpSp>
        <p:sp>
          <p:nvSpPr>
            <p:cNvPr id="48" name="Rectangle 48"/>
            <p:cNvSpPr/>
            <p:nvPr/>
          </p:nvSpPr>
          <p:spPr>
            <a:xfrm>
              <a:off x="7372350" y="5695950"/>
              <a:ext cx="4095750" cy="266700"/>
            </a:xfrm>
            <a:prstGeom prst="rect">
              <a:avLst/>
            </a:prstGeom>
            <a:solidFill>
              <a:srgbClr val="EDF8F4"/>
            </a:solidFill>
            <a:ln>
              <a:noFill/>
            </a:ln>
          </p:spPr>
        </p:sp>
        <p:sp>
          <p:nvSpPr>
            <p:cNvPr id="49" name="TextBox 49"/>
            <p:cNvSpPr txBox="1"/>
            <p:nvPr/>
          </p:nvSpPr>
          <p:spPr>
            <a:xfrm>
              <a:off x="7358182" y="5765006"/>
              <a:ext cx="4124087" cy="228600"/>
            </a:xfrm>
            <a:prstGeom prst="rect">
              <a:avLst/>
            </a:prstGeom>
            <a:noFill/>
            <a:ln>
              <a:noFill/>
            </a:ln>
          </p:spPr>
          <p:txBody>
            <a:bodyPr wrap="none" lIns="0" tIns="0" rIns="0" bIns="0" anchor="t" anchorCtr="0">
              <a:spAutoFit/>
            </a:bodyPr>
            <a:lstStyle/>
            <a:p>
              <a:pPr algn="ctr"/>
              <a:r>
                <a:rPr lang="zh-CN" sz="1125" b="1" dirty="0">
                  <a:solidFill>
                    <a:srgbClr val="005A9C"/>
                  </a:solidFill>
                  <a:latin typeface="Arial"/>
                  <a:ea typeface="Microsoft YaHei"/>
                  <a:cs typeface="Arial"/>
                </a:rPr>
                <a:t>下一步：结合温升、母线尖峰和电流采样波形完成实板验证</a:t>
              </a:r>
            </a:p>
          </p:txBody>
        </p:sp>
      </p:grpSp>
      <p:pic>
        <p:nvPicPr>
          <p:cNvPr id="8" name="图片 7">
            <a:extLst>
              <a:ext uri="{FF2B5EF4-FFF2-40B4-BE49-F238E27FC236}">
                <a16:creationId xmlns:a16="http://schemas.microsoft.com/office/drawing/2014/main" id="{48FAA7B1-B175-C246-DD7F-B2FF8291AE6D}"/>
              </a:ext>
            </a:extLst>
          </p:cNvPr>
          <p:cNvPicPr>
            <a:picLocks noChangeAspect="1"/>
          </p:cNvPicPr>
          <p:nvPr/>
        </p:nvPicPr>
        <p:blipFill>
          <a:blip r:embed="rId3"/>
          <a:stretch>
            <a:fillRect/>
          </a:stretch>
        </p:blipFill>
        <p:spPr>
          <a:xfrm>
            <a:off x="3685115" y="1313293"/>
            <a:ext cx="2545441" cy="2294392"/>
          </a:xfrm>
          <a:prstGeom prst="rect">
            <a:avLst/>
          </a:prstGeom>
        </p:spPr>
      </p:pic>
      <p:pic>
        <p:nvPicPr>
          <p:cNvPr id="51" name="图片 50">
            <a:extLst>
              <a:ext uri="{FF2B5EF4-FFF2-40B4-BE49-F238E27FC236}">
                <a16:creationId xmlns:a16="http://schemas.microsoft.com/office/drawing/2014/main" id="{62D8DC02-00D6-5C7F-CC08-DBC59D738F88}"/>
              </a:ext>
            </a:extLst>
          </p:cNvPr>
          <p:cNvPicPr>
            <a:picLocks noChangeAspect="1"/>
          </p:cNvPicPr>
          <p:nvPr/>
        </p:nvPicPr>
        <p:blipFill>
          <a:blip r:embed="rId4"/>
          <a:stretch>
            <a:fillRect/>
          </a:stretch>
        </p:blipFill>
        <p:spPr>
          <a:xfrm>
            <a:off x="1123354" y="1313291"/>
            <a:ext cx="2561761" cy="229439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slide(fromBottom)">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9E8A-0EF5-D768-DD2B-F76D2351DFF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FA540B9-297A-4065-A713-525CA558460F}"/>
              </a:ext>
            </a:extLst>
          </p:cNvPr>
          <p:cNvSpPr>
            <a:spLocks noGrp="1"/>
          </p:cNvSpPr>
          <p:nvPr/>
        </p:nvSpPr>
        <p:spPr>
          <a:xfrm>
            <a:off x="2298809" y="3332769"/>
            <a:ext cx="1569660" cy="369332"/>
          </a:xfrm>
          <a:prstGeom prst="rect">
            <a:avLst/>
          </a:prstGeom>
          <a:noFill/>
        </p:spPr>
        <p:txBody>
          <a:bodyPr wrap="none">
            <a:spAutoFit/>
          </a:bodyPr>
          <a:lstStyle/>
          <a:p>
            <a:r>
              <a:rPr lang="zh-CN" altLang="en-US" dirty="0"/>
              <a:t>同样这个场景</a:t>
            </a:r>
            <a:endParaRPr lang="en-US" dirty="0"/>
          </a:p>
        </p:txBody>
      </p:sp>
      <p:pic>
        <p:nvPicPr>
          <p:cNvPr id="3" name="图片 2">
            <a:extLst>
              <a:ext uri="{FF2B5EF4-FFF2-40B4-BE49-F238E27FC236}">
                <a16:creationId xmlns:a16="http://schemas.microsoft.com/office/drawing/2014/main" id="{4811EBA2-CAA4-6A4F-128C-031A47C4E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908" y="2316967"/>
            <a:ext cx="4074390" cy="3055793"/>
          </a:xfrm>
          <a:prstGeom prst="rect">
            <a:avLst/>
          </a:prstGeom>
        </p:spPr>
      </p:pic>
    </p:spTree>
    <p:extLst>
      <p:ext uri="{BB962C8B-B14F-4D97-AF65-F5344CB8AC3E}">
        <p14:creationId xmlns:p14="http://schemas.microsoft.com/office/powerpoint/2010/main" val="2347676766"/>
      </p:ext>
    </p:extLst>
  </p:cSld>
  <p:clrMapOvr>
    <a:masterClrMapping/>
  </p:clrMapOvr>
</p:sld>
</file>

<file path=ppt/theme/theme1.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967</TotalTime>
  <Words>3110</Words>
  <Application>Microsoft Office PowerPoint</Application>
  <DocSecurity>0</DocSecurity>
  <PresentationFormat>宽屏</PresentationFormat>
  <Paragraphs>331</Paragraphs>
  <Slides>16</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-apple-system</vt:lpstr>
      <vt:lpstr>Google Sans Text</vt:lpstr>
      <vt:lpstr>ui-monospace</vt:lpstr>
      <vt:lpstr>微软雅黑</vt:lpstr>
      <vt:lpstr>微软雅黑</vt:lpstr>
      <vt:lpstr>Arial</vt:lpstr>
      <vt:lpstr>Times New Roman</vt:lpstr>
      <vt:lpstr>Wingdings</vt:lpstr>
      <vt:lpstr>腾讯文档 默认主题​</vt:lpstr>
      <vt:lpstr>第二章：硬件设计计算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Rise Sun</cp:lastModifiedBy>
  <cp:revision>342</cp:revision>
  <dcterms:created xsi:type="dcterms:W3CDTF">2026-06-07T05:21:37Z</dcterms:created>
  <dcterms:modified xsi:type="dcterms:W3CDTF">2026-08-08T09:56:49Z</dcterms:modified>
</cp:coreProperties>
</file>