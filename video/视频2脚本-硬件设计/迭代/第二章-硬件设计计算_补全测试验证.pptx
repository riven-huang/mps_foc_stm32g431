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65" r:id="rId4"/>
    <p:sldId id="258" r:id="rId5"/>
    <p:sldId id="259" r:id="rId6"/>
    <p:sldId id="266" r:id="rId7"/>
    <p:sldId id="267" r:id="rId8"/>
    <p:sldId id="268" r:id="rId9"/>
    <p:sldId id="270" r:id="rId10"/>
    <p:sldId id="271" r:id="rId11"/>
    <p:sldId id="272" r:id="rId12"/>
    <p:sldId id="260" r:id="rId13"/>
    <p:sldId id="261" r:id="rId14"/>
    <p:sldId id="262" r:id="rId15"/>
    <p:sldId id="273" r:id="rId16"/>
    <p:sldId id="274" r:id="rId17"/>
    <p:sldId id="275" r:id="rId18"/>
    <p:sldId id="276" r:id="rId19"/>
    <p:sldId id="277" r:id="rId20"/>
    <p:sldId id="278" r:id="rId21"/>
    <p:sldId id="279" r:id="rId22"/>
    <p:sldId id="280" r:id="rId23"/>
    <p:sldId id="281" r:id="rId2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C17FB6-8DBC-C8E7-EA6A-CEBDE8B2FED1}" name="Leofwine (Huiwen) Yang" initials="LY" userId="S::Leofwine.Yang@monolithicpower.com::0932449c-f7f0-431c-862c-019f5987d925" providerId="AD"/>
  <p188:author id="{DBF8D1DB-DC70-CD51-A32D-A25DA2D31ED3}" name="Jessie (Yijun) Guo" initials="JG" userId="S::Jessie.Guo@monolithicpower.com::182e48c2-b88f-4d5b-8f7a-720db196549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8542034-FE4F-4ADA-92B8-4CA66D0F0DF3}" styleName="腾讯文档-基本">
    <a:wholeTbl>
      <a:tcTxStyle>
        <a:fontRef idx="minor"/>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109" autoAdjust="0"/>
  </p:normalViewPr>
  <p:slideViewPr>
    <p:cSldViewPr snapToGrid="0">
      <p:cViewPr varScale="1">
        <p:scale>
          <a:sx n="93" d="100"/>
          <a:sy n="93" d="100"/>
        </p:scale>
        <p:origin x="1570" y="7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b="1" dirty="0"/>
              <a:t>先来几秒钟快闪</a:t>
            </a:r>
            <a:endParaRPr sz="1800"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CA033-CB31-999A-7FD0-80F074796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7F1318-F7B0-C534-924F-9381A22E3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485DB-7BEC-07F9-C239-A63B99694CAD}"/>
              </a:ext>
            </a:extLst>
          </p:cNvPr>
          <p:cNvSpPr>
            <a:spLocks noGrp="1"/>
          </p:cNvSpPr>
          <p:nvPr>
            <p:ph type="body" idx="1"/>
          </p:nvPr>
        </p:nvSpPr>
        <p:spPr/>
        <p:txBody>
          <a:bodyPr/>
          <a:lstStyle/>
          <a:p>
            <a:pPr algn="l">
              <a:lnSpc>
                <a:spcPts val="1650"/>
              </a:lnSpc>
              <a:buNone/>
            </a:pPr>
            <a:r>
              <a:rPr lang="zh-CN" altLang="en-US" sz="2800" b="0" i="0" dirty="0">
                <a:solidFill>
                  <a:srgbClr val="1A1C1F"/>
                </a:solidFill>
                <a:effectLst/>
                <a:latin typeface="-apple-system"/>
              </a:rPr>
              <a:t>好的，大家好！本期视频我们将进入器件选型与硬件设计篇。</a:t>
            </a:r>
          </a:p>
          <a:p>
            <a:pPr algn="l">
              <a:lnSpc>
                <a:spcPts val="1650"/>
              </a:lnSpc>
              <a:buNone/>
            </a:pPr>
            <a:r>
              <a:rPr lang="zh-CN" altLang="en-US" sz="2800" b="0" i="0" dirty="0">
                <a:solidFill>
                  <a:srgbClr val="1A1C1F"/>
                </a:solidFill>
                <a:effectLst/>
                <a:latin typeface="-apple-system"/>
              </a:rPr>
              <a:t>在这一章节我们会结合关节电机 </a:t>
            </a:r>
            <a:r>
              <a:rPr lang="en-US" altLang="zh-CN" sz="2800" b="0" i="0" dirty="0">
                <a:solidFill>
                  <a:srgbClr val="1A1C1F"/>
                </a:solidFill>
                <a:effectLst/>
                <a:latin typeface="-apple-system"/>
              </a:rPr>
              <a:t>FOC </a:t>
            </a:r>
            <a:r>
              <a:rPr lang="zh-CN" altLang="en-US" sz="2800" b="0" i="0" dirty="0">
                <a:solidFill>
                  <a:srgbClr val="1A1C1F"/>
                </a:solidFill>
                <a:effectLst/>
                <a:latin typeface="-apple-system"/>
              </a:rPr>
              <a:t>的实际指标，分析系统需求和关键参数，用实际数据说明这套 </a:t>
            </a:r>
            <a:r>
              <a:rPr lang="en-US" altLang="zh-CN" sz="2800" b="0" i="0" dirty="0">
                <a:solidFill>
                  <a:srgbClr val="1A1C1F"/>
                </a:solidFill>
                <a:effectLst/>
                <a:latin typeface="-apple-system"/>
              </a:rPr>
              <a:t>MPS </a:t>
            </a:r>
            <a:r>
              <a:rPr lang="zh-CN" altLang="en-US" sz="2800" b="0" i="0" dirty="0">
                <a:solidFill>
                  <a:srgbClr val="1A1C1F"/>
                </a:solidFill>
                <a:effectLst/>
                <a:latin typeface="-apple-system"/>
              </a:rPr>
              <a:t>方案的选型依据。随后，我们会结合器件手册和应用场景，讲解原理图设计与 </a:t>
            </a:r>
            <a:r>
              <a:rPr lang="en-US" altLang="zh-CN" sz="2800" b="0" i="0" dirty="0">
                <a:solidFill>
                  <a:srgbClr val="1A1C1F"/>
                </a:solidFill>
                <a:effectLst/>
                <a:latin typeface="-apple-system"/>
              </a:rPr>
              <a:t>PCB Layout </a:t>
            </a:r>
            <a:r>
              <a:rPr lang="zh-CN" altLang="en-US" sz="2800" b="0" i="0" dirty="0">
                <a:solidFill>
                  <a:srgbClr val="1A1C1F"/>
                </a:solidFill>
                <a:effectLst/>
                <a:latin typeface="-apple-system"/>
              </a:rPr>
              <a:t>的关键思路，将整块 </a:t>
            </a:r>
            <a:r>
              <a:rPr lang="en-US" altLang="zh-CN" sz="2800" b="0" i="0" dirty="0">
                <a:solidFill>
                  <a:srgbClr val="1A1C1F"/>
                </a:solidFill>
                <a:effectLst/>
                <a:latin typeface="-apple-system"/>
              </a:rPr>
              <a:t>FOC </a:t>
            </a:r>
            <a:r>
              <a:rPr lang="zh-CN" altLang="en-US" sz="2800" b="0" i="0" dirty="0">
                <a:solidFill>
                  <a:srgbClr val="1A1C1F"/>
                </a:solidFill>
                <a:effectLst/>
                <a:latin typeface="-apple-system"/>
              </a:rPr>
              <a:t>控制板像剥洋葱一样逐层拆开。</a:t>
            </a:r>
          </a:p>
          <a:p>
            <a:pPr algn="l">
              <a:lnSpc>
                <a:spcPts val="1650"/>
              </a:lnSpc>
            </a:pPr>
            <a:r>
              <a:rPr lang="zh-CN" altLang="en-US" sz="2800" b="0" i="0" dirty="0">
                <a:solidFill>
                  <a:srgbClr val="1A1C1F"/>
                </a:solidFill>
                <a:effectLst/>
                <a:latin typeface="-apple-system"/>
              </a:rPr>
              <a:t>话不多说，我们先进入指标分析</a:t>
            </a:r>
            <a:r>
              <a:rPr lang="en-US" altLang="zh-CN" sz="2800" b="0" i="0" dirty="0">
                <a:solidFill>
                  <a:srgbClr val="1A1C1F"/>
                </a:solidFill>
                <a:effectLst/>
                <a:latin typeface="-apple-system"/>
              </a:rPr>
              <a:t>part</a:t>
            </a:r>
            <a:r>
              <a:rPr lang="zh-CN" altLang="en-US" sz="2800" b="0" i="0" dirty="0">
                <a:solidFill>
                  <a:srgbClr val="1A1C1F"/>
                </a:solidFill>
                <a:effectLst/>
                <a:latin typeface="-apple-system"/>
              </a:rPr>
              <a:t>。</a:t>
            </a:r>
          </a:p>
          <a:p>
            <a:pPr marL="0" indent="0" algn="l">
              <a:lnSpc>
                <a:spcPts val="2000"/>
              </a:lnSpc>
              <a:buFont typeface="Arial" panose="020B0604020202020204" pitchFamily="34" charset="0"/>
              <a:buNone/>
            </a:pPr>
            <a:endParaRPr lang="en-US" altLang="zh-CN" sz="1800" dirty="0"/>
          </a:p>
        </p:txBody>
      </p:sp>
      <p:sp>
        <p:nvSpPr>
          <p:cNvPr id="4" name="Slide Number Placeholder 3">
            <a:extLst>
              <a:ext uri="{FF2B5EF4-FFF2-40B4-BE49-F238E27FC236}">
                <a16:creationId xmlns:a16="http://schemas.microsoft.com/office/drawing/2014/main" id="{38883A63-AB65-BA54-1D04-54CFA33D047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1969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中间这张表是几款主流关节电机的横向对比，基本落在 </a:t>
            </a:r>
            <a:r>
              <a:rPr lang="en-US" altLang="zh-CN" dirty="0"/>
              <a:t>48V </a:t>
            </a:r>
            <a:r>
              <a:rPr lang="zh-CN" altLang="en-US" dirty="0"/>
              <a:t>母线、</a:t>
            </a:r>
            <a:r>
              <a:rPr lang="en-US" altLang="zh-CN" dirty="0"/>
              <a:t>100 </a:t>
            </a:r>
            <a:r>
              <a:rPr lang="zh-CN" altLang="en-US" dirty="0"/>
              <a:t>到 </a:t>
            </a:r>
            <a:r>
              <a:rPr lang="en-US" altLang="zh-CN" dirty="0"/>
              <a:t>200W </a:t>
            </a:r>
            <a:r>
              <a:rPr lang="zh-CN" altLang="en-US" dirty="0"/>
              <a:t>这个区间。本项目对齐这个定位</a:t>
            </a:r>
            <a:r>
              <a:rPr lang="en-US" altLang="zh-CN" dirty="0"/>
              <a:t>——</a:t>
            </a:r>
            <a:r>
              <a:rPr lang="zh-CN" altLang="en-US" dirty="0"/>
              <a:t>根据</a:t>
            </a:r>
            <a:r>
              <a:rPr lang="en-US" altLang="zh-CN" dirty="0"/>
              <a:t>MPS-FOC</a:t>
            </a:r>
            <a:r>
              <a:rPr lang="zh-CN" altLang="en-US" dirty="0"/>
              <a:t>的关节电机设计测试项和市面上常见的产品定义，推出我们的设计目标，使用</a:t>
            </a:r>
            <a:r>
              <a:rPr lang="en-US" altLang="zh-CN" dirty="0"/>
              <a:t>CAN</a:t>
            </a:r>
            <a:r>
              <a:rPr lang="zh-CN" altLang="en-US" dirty="0"/>
              <a:t>通信协议以适配主流标准</a:t>
            </a:r>
            <a:r>
              <a:rPr lang="en-US" altLang="zh-CN" dirty="0"/>
              <a:t>.</a:t>
            </a:r>
            <a:r>
              <a:rPr lang="zh-CN" altLang="en-US" dirty="0"/>
              <a:t>使用</a:t>
            </a:r>
            <a:r>
              <a:rPr lang="en-US" altLang="zh-CN" dirty="0"/>
              <a:t>MPS</a:t>
            </a:r>
            <a:r>
              <a:rPr lang="zh-CN" altLang="en-US" dirty="0"/>
              <a:t>方案，在满足市面上常见需求的情况下，达到更高功率密度</a:t>
            </a:r>
            <a:endParaRPr lang="en-US" altLang="zh-C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lnSpc>
                <a:spcPct val="100000"/>
              </a:lnSpc>
              <a:spcBef>
                <a:spcPts val="0"/>
              </a:spcBef>
              <a:spcAft>
                <a:spcPts val="0"/>
              </a:spcAft>
              <a:buNone/>
            </a:pPr>
            <a:r>
              <a:rPr lang="zh-CN" altLang="en-US" dirty="0"/>
              <a:t>备注：这个图高亮一下这两个芯片 还没做呢</a:t>
            </a:r>
            <a:endParaRPr lang="en-US" altLang="zh-CN" dirty="0"/>
          </a:p>
          <a:p>
            <a:pPr marL="0" indent="0" algn="l">
              <a:lnSpc>
                <a:spcPct val="100000"/>
              </a:lnSpc>
              <a:spcBef>
                <a:spcPts val="0"/>
              </a:spcBef>
              <a:spcAft>
                <a:spcPts val="0"/>
              </a:spcAft>
              <a:buNone/>
            </a:pPr>
            <a:endParaRPr lang="en-US" dirty="0"/>
          </a:p>
          <a:p>
            <a:pPr marL="0" indent="0" algn="l">
              <a:lnSpc>
                <a:spcPct val="100000"/>
              </a:lnSpc>
              <a:spcBef>
                <a:spcPts val="0"/>
              </a:spcBef>
              <a:spcAft>
                <a:spcPts val="0"/>
              </a:spcAft>
              <a:buNone/>
            </a:pPr>
            <a:r>
              <a:rPr lang="zh-CN" altLang="en-US" dirty="0"/>
              <a:t>来看辅助电源选型：采用如图的三级降压的方案。除了</a:t>
            </a:r>
            <a:r>
              <a:rPr lang="en-US" altLang="zh-CN" dirty="0"/>
              <a:t>MPS</a:t>
            </a:r>
            <a:r>
              <a:rPr lang="zh-CN" altLang="en-US" dirty="0"/>
              <a:t>一惯的极致集成度外。还值得注意的是，</a:t>
            </a:r>
            <a:r>
              <a:rPr lang="en-US" altLang="zh-CN" dirty="0"/>
              <a:t>MP4583</a:t>
            </a:r>
            <a:r>
              <a:rPr lang="zh-CN" altLang="en-US" dirty="0"/>
              <a:t>拥有</a:t>
            </a:r>
            <a:r>
              <a:rPr lang="en-US" altLang="zh-CN" dirty="0"/>
              <a:t>4.5V </a:t>
            </a:r>
            <a:r>
              <a:rPr lang="zh-CN" altLang="en-US" dirty="0"/>
              <a:t>到 </a:t>
            </a:r>
            <a:r>
              <a:rPr lang="en-US" altLang="zh-CN" dirty="0"/>
              <a:t>100V </a:t>
            </a:r>
            <a:r>
              <a:rPr lang="zh-CN" altLang="en-US" dirty="0"/>
              <a:t>的超宽压输入，高达</a:t>
            </a:r>
            <a:r>
              <a:rPr lang="en-US" altLang="zh-CN" dirty="0"/>
              <a:t>3A</a:t>
            </a:r>
            <a:r>
              <a:rPr lang="zh-CN" altLang="en-US" dirty="0"/>
              <a:t>的带载能力，作为第一级辅助电源部分兼栅极驱动 </a:t>
            </a:r>
            <a:r>
              <a:rPr lang="en-US" altLang="zh-CN" dirty="0"/>
              <a:t>MP6839</a:t>
            </a:r>
            <a:r>
              <a:rPr lang="zh-CN" altLang="en-US" dirty="0"/>
              <a:t>供电，其集成的多种保护功能可以有效提高整体可靠性。</a:t>
            </a:r>
            <a:endParaRPr lang="en-US" altLang="zh-CN" dirty="0"/>
          </a:p>
          <a:p>
            <a:pPr marL="0" indent="0" algn="l">
              <a:lnSpc>
                <a:spcPct val="100000"/>
              </a:lnSpc>
              <a:spcBef>
                <a:spcPts val="0"/>
              </a:spcBef>
              <a:spcAft>
                <a:spcPts val="0"/>
              </a:spcAft>
              <a:buNone/>
            </a:pPr>
            <a:r>
              <a:rPr lang="zh-CN" altLang="en-US" dirty="0"/>
              <a:t>第二级</a:t>
            </a:r>
            <a:r>
              <a:rPr lang="en-US" altLang="zh-CN" dirty="0"/>
              <a:t>MP3632S</a:t>
            </a:r>
            <a:r>
              <a:rPr lang="zh-CN" altLang="en-US" dirty="0"/>
              <a:t>，最大的优势就是集成了电感和电容，整个模块只有 </a:t>
            </a:r>
            <a:r>
              <a:rPr lang="en-US" altLang="zh-CN" dirty="0"/>
              <a:t>3×3mm</a:t>
            </a:r>
            <a:r>
              <a:rPr lang="zh-CN" alt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EF096-8857-FF18-6972-FDA073D84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5EDAB-6B05-6D5A-2CB4-52B47F39C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96151-F911-BB4F-1A1A-0BEFC6EEDD3B}"/>
              </a:ext>
            </a:extLst>
          </p:cNvPr>
          <p:cNvSpPr>
            <a:spLocks noGrp="1"/>
          </p:cNvSpPr>
          <p:nvPr>
            <p:ph type="body" idx="1"/>
          </p:nvPr>
        </p:nvSpPr>
        <p:spPr/>
        <p:txBody>
          <a:bodyPr/>
          <a:lstStyle/>
          <a:p>
            <a:pPr marL="0" indent="0" algn="l">
              <a:lnSpc>
                <a:spcPct val="100000"/>
              </a:lnSpc>
              <a:spcBef>
                <a:spcPts val="0"/>
              </a:spcBef>
              <a:spcAft>
                <a:spcPts val="0"/>
              </a:spcAft>
              <a:buNone/>
            </a:pPr>
            <a:r>
              <a:rPr lang="en-US" altLang="zh-CN" b="0" i="0" dirty="0">
                <a:solidFill>
                  <a:srgbClr val="1A1C1F"/>
                </a:solidFill>
                <a:effectLst/>
                <a:latin typeface="-apple-system"/>
              </a:rPr>
              <a:t>5V </a:t>
            </a:r>
            <a:r>
              <a:rPr lang="zh-CN" altLang="en-US" b="0" i="0" dirty="0">
                <a:solidFill>
                  <a:srgbClr val="1A1C1F"/>
                </a:solidFill>
                <a:effectLst/>
                <a:latin typeface="-apple-system"/>
              </a:rPr>
              <a:t>电源出来以后，一路通过 </a:t>
            </a:r>
            <a:r>
              <a:rPr lang="en-US" altLang="zh-CN" b="0" i="0" dirty="0">
                <a:solidFill>
                  <a:srgbClr val="1A1C1F"/>
                </a:solidFill>
                <a:effectLst/>
                <a:latin typeface="-apple-system"/>
              </a:rPr>
              <a:t>MP20051DQ </a:t>
            </a:r>
            <a:r>
              <a:rPr lang="zh-CN" altLang="en-US" b="0" i="0" dirty="0">
                <a:solidFill>
                  <a:srgbClr val="1A1C1F"/>
                </a:solidFill>
                <a:effectLst/>
                <a:latin typeface="-apple-system"/>
              </a:rPr>
              <a:t>生成 </a:t>
            </a:r>
            <a:r>
              <a:rPr lang="en-US" altLang="zh-CN" b="0" i="0" dirty="0">
                <a:solidFill>
                  <a:srgbClr val="1A1C1F"/>
                </a:solidFill>
                <a:effectLst/>
                <a:latin typeface="-apple-system"/>
              </a:rPr>
              <a:t>3.3V VCC</a:t>
            </a:r>
            <a:r>
              <a:rPr lang="zh-CN" altLang="en-US" b="0" i="0" dirty="0">
                <a:solidFill>
                  <a:srgbClr val="1A1C1F"/>
                </a:solidFill>
                <a:effectLst/>
                <a:latin typeface="-apple-system"/>
              </a:rPr>
              <a:t>，它在 </a:t>
            </a:r>
            <a:r>
              <a:rPr lang="en-US" altLang="zh-CN" b="0" i="0" dirty="0">
                <a:solidFill>
                  <a:srgbClr val="1A1C1F"/>
                </a:solidFill>
                <a:effectLst/>
                <a:latin typeface="-apple-system"/>
              </a:rPr>
              <a:t>1A </a:t>
            </a:r>
            <a:r>
              <a:rPr lang="zh-CN" altLang="en-US" b="0" i="0" dirty="0">
                <a:solidFill>
                  <a:srgbClr val="1A1C1F"/>
                </a:solidFill>
                <a:effectLst/>
                <a:latin typeface="-apple-system"/>
              </a:rPr>
              <a:t>负载下压差只有 </a:t>
            </a:r>
            <a:r>
              <a:rPr lang="en-US" altLang="zh-CN" b="0" i="0" dirty="0">
                <a:solidFill>
                  <a:srgbClr val="1A1C1F"/>
                </a:solidFill>
                <a:effectLst/>
                <a:latin typeface="-apple-system"/>
              </a:rPr>
              <a:t>140mV</a:t>
            </a:r>
            <a:r>
              <a:rPr lang="zh-CN" altLang="en-US" b="0" i="0" dirty="0">
                <a:solidFill>
                  <a:srgbClr val="1A1C1F"/>
                </a:solidFill>
                <a:effectLst/>
                <a:latin typeface="-apple-system"/>
              </a:rPr>
              <a:t>，典型输出噪声 </a:t>
            </a:r>
            <a:r>
              <a:rPr lang="en-US" altLang="zh-CN" b="0" i="0" dirty="0">
                <a:solidFill>
                  <a:srgbClr val="1A1C1F"/>
                </a:solidFill>
                <a:effectLst/>
                <a:latin typeface="-apple-system"/>
              </a:rPr>
              <a:t>13μVRMS</a:t>
            </a:r>
            <a:r>
              <a:rPr lang="zh-CN" altLang="en-US" b="0" i="0" dirty="0">
                <a:solidFill>
                  <a:srgbClr val="1A1C1F"/>
                </a:solidFill>
                <a:effectLst/>
                <a:latin typeface="-apple-system"/>
              </a:rPr>
              <a:t>，可以最大限度排除因为电源纹波问题导致的电流采样和角度采样误差问题。另一路通过 </a:t>
            </a:r>
            <a:r>
              <a:rPr lang="en-US" altLang="zh-CN" b="0" i="0" dirty="0">
                <a:solidFill>
                  <a:srgbClr val="1A1C1F"/>
                </a:solidFill>
                <a:effectLst/>
                <a:latin typeface="-apple-system"/>
              </a:rPr>
              <a:t>MIE1W0505 </a:t>
            </a:r>
            <a:r>
              <a:rPr lang="zh-CN" altLang="en-US" b="0" i="0" dirty="0">
                <a:solidFill>
                  <a:srgbClr val="1A1C1F"/>
                </a:solidFill>
                <a:effectLst/>
                <a:latin typeface="-apple-system"/>
              </a:rPr>
              <a:t>生成隔离 </a:t>
            </a:r>
            <a:r>
              <a:rPr lang="en-US" altLang="zh-CN" b="0" i="0" dirty="0">
                <a:solidFill>
                  <a:srgbClr val="1A1C1F"/>
                </a:solidFill>
                <a:effectLst/>
                <a:latin typeface="-apple-system"/>
              </a:rPr>
              <a:t>5V</a:t>
            </a:r>
            <a:r>
              <a:rPr lang="zh-CN" altLang="en-US" b="0" i="0" dirty="0">
                <a:solidFill>
                  <a:srgbClr val="1A1C1F"/>
                </a:solidFill>
                <a:effectLst/>
                <a:latin typeface="-apple-system"/>
              </a:rPr>
              <a:t>，提供 </a:t>
            </a:r>
            <a:r>
              <a:rPr lang="en-US" altLang="zh-CN" b="0" i="0" dirty="0">
                <a:solidFill>
                  <a:srgbClr val="1A1C1F"/>
                </a:solidFill>
                <a:effectLst/>
                <a:latin typeface="-apple-system"/>
              </a:rPr>
              <a:t>200mA </a:t>
            </a:r>
            <a:r>
              <a:rPr lang="zh-CN" altLang="en-US" b="0" i="0" dirty="0">
                <a:solidFill>
                  <a:srgbClr val="1A1C1F"/>
                </a:solidFill>
                <a:effectLst/>
                <a:latin typeface="-apple-system"/>
              </a:rPr>
              <a:t>以上负载电流，保证</a:t>
            </a:r>
            <a:r>
              <a:rPr lang="en-US" altLang="zh-CN" b="0" i="0" dirty="0">
                <a:solidFill>
                  <a:srgbClr val="1A1C1F"/>
                </a:solidFill>
                <a:effectLst/>
                <a:latin typeface="-apple-system"/>
              </a:rPr>
              <a:t>CAN</a:t>
            </a:r>
            <a:r>
              <a:rPr lang="zh-CN" altLang="en-US" b="0" i="0" dirty="0">
                <a:solidFill>
                  <a:srgbClr val="1A1C1F"/>
                </a:solidFill>
                <a:effectLst/>
                <a:latin typeface="-apple-system"/>
              </a:rPr>
              <a:t>通信稳定提高调试和联机运行时的可靠性。</a:t>
            </a:r>
            <a:endParaRPr dirty="0"/>
          </a:p>
        </p:txBody>
      </p:sp>
      <p:sp>
        <p:nvSpPr>
          <p:cNvPr id="4" name="Slide Number Placeholder 3">
            <a:extLst>
              <a:ext uri="{FF2B5EF4-FFF2-40B4-BE49-F238E27FC236}">
                <a16:creationId xmlns:a16="http://schemas.microsoft.com/office/drawing/2014/main" id="{E67F815A-0C4C-6A8E-1C24-5128830800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12553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558CD-D45A-DBE2-ECB1-6ECA604BA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96FE0-EDF7-0E4D-69A0-CC112A519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48679-E6CF-A28B-4B7E-434E617B3781}"/>
              </a:ext>
            </a:extLst>
          </p:cNvPr>
          <p:cNvSpPr>
            <a:spLocks noGrp="1"/>
          </p:cNvSpPr>
          <p:nvPr>
            <p:ph type="body" idx="1"/>
          </p:nvPr>
        </p:nvSpPr>
        <p:spPr/>
        <p:txBody>
          <a:bodyPr/>
          <a:lstStyle/>
          <a:p>
            <a:pPr marL="0" indent="0" algn="l">
              <a:lnSpc>
                <a:spcPct val="100000"/>
              </a:lnSpc>
              <a:spcBef>
                <a:spcPts val="0"/>
              </a:spcBef>
              <a:spcAft>
                <a:spcPts val="0"/>
              </a:spcAft>
              <a:buNone/>
            </a:pPr>
            <a:r>
              <a:rPr lang="zh-CN" altLang="en-US" b="0" i="0" dirty="0">
                <a:solidFill>
                  <a:srgbClr val="1A1C1F"/>
                </a:solidFill>
                <a:effectLst/>
                <a:latin typeface="-apple-system"/>
              </a:rPr>
              <a:t>驱动电路使用是 </a:t>
            </a:r>
            <a:r>
              <a:rPr lang="en-US" altLang="zh-CN" b="0" i="0" dirty="0">
                <a:solidFill>
                  <a:srgbClr val="1A1C1F"/>
                </a:solidFill>
                <a:effectLst/>
                <a:latin typeface="-apple-system"/>
              </a:rPr>
              <a:t>MP6539B </a:t>
            </a:r>
            <a:r>
              <a:rPr lang="zh-CN" altLang="en-US" b="0" i="0" dirty="0">
                <a:solidFill>
                  <a:srgbClr val="1A1C1F"/>
                </a:solidFill>
                <a:effectLst/>
                <a:latin typeface="-apple-system"/>
              </a:rPr>
              <a:t>三相 </a:t>
            </a:r>
            <a:r>
              <a:rPr lang="en-US" altLang="zh-CN" b="0" i="0" dirty="0">
                <a:solidFill>
                  <a:srgbClr val="1A1C1F"/>
                </a:solidFill>
                <a:effectLst/>
                <a:latin typeface="-apple-system"/>
              </a:rPr>
              <a:t>PMSM </a:t>
            </a:r>
            <a:r>
              <a:rPr lang="zh-CN" altLang="en-US" b="0" i="0" dirty="0">
                <a:solidFill>
                  <a:srgbClr val="1A1C1F"/>
                </a:solidFill>
                <a:effectLst/>
                <a:latin typeface="-apple-system"/>
              </a:rPr>
              <a:t>预驱芯片。芯片支持 </a:t>
            </a:r>
            <a:r>
              <a:rPr lang="en-US" altLang="zh-CN" b="0" i="0" dirty="0">
                <a:solidFill>
                  <a:srgbClr val="1A1C1F"/>
                </a:solidFill>
                <a:effectLst/>
                <a:latin typeface="-apple-system"/>
              </a:rPr>
              <a:t>100V </a:t>
            </a:r>
            <a:r>
              <a:rPr lang="zh-CN" altLang="en-US" b="0" i="0" dirty="0">
                <a:solidFill>
                  <a:srgbClr val="1A1C1F"/>
                </a:solidFill>
                <a:effectLst/>
                <a:latin typeface="-apple-system"/>
              </a:rPr>
              <a:t>母线应用与</a:t>
            </a:r>
            <a:r>
              <a:rPr lang="en-US" altLang="zh-CN" b="0" i="0" dirty="0">
                <a:solidFill>
                  <a:srgbClr val="1A1C1F"/>
                </a:solidFill>
                <a:effectLst/>
                <a:latin typeface="-apple-system"/>
              </a:rPr>
              <a:t>MP4583</a:t>
            </a:r>
            <a:r>
              <a:rPr lang="zh-CN" altLang="en-US" b="0" i="0" dirty="0">
                <a:solidFill>
                  <a:srgbClr val="1A1C1F"/>
                </a:solidFill>
                <a:effectLst/>
                <a:latin typeface="-apple-system"/>
              </a:rPr>
              <a:t>范围适配。其</a:t>
            </a:r>
            <a:r>
              <a:rPr lang="en-US" altLang="zh-CN" b="0" i="0" dirty="0" err="1">
                <a:solidFill>
                  <a:srgbClr val="1A1C1F"/>
                </a:solidFill>
                <a:effectLst/>
                <a:latin typeface="-apple-system"/>
              </a:rPr>
              <a:t>nSLEEP</a:t>
            </a:r>
            <a:r>
              <a:rPr lang="zh-CN" altLang="en-US" b="0" i="0" dirty="0">
                <a:solidFill>
                  <a:srgbClr val="1A1C1F"/>
                </a:solidFill>
                <a:effectLst/>
                <a:latin typeface="-apple-system"/>
              </a:rPr>
              <a:t>模式下仅</a:t>
            </a:r>
            <a:r>
              <a:rPr lang="en-US" altLang="zh-CN" b="0" i="0" dirty="0">
                <a:solidFill>
                  <a:srgbClr val="1A1C1F"/>
                </a:solidFill>
                <a:effectLst/>
                <a:latin typeface="-apple-system"/>
              </a:rPr>
              <a:t>2uA</a:t>
            </a:r>
            <a:r>
              <a:rPr lang="zh-CN" altLang="en-US" b="0" i="0" dirty="0">
                <a:solidFill>
                  <a:srgbClr val="1A1C1F"/>
                </a:solidFill>
                <a:effectLst/>
                <a:latin typeface="-apple-system"/>
              </a:rPr>
              <a:t>的静态电流可用作低功耗设计，内部</a:t>
            </a:r>
            <a:r>
              <a:rPr lang="en-US" altLang="zh-CN" b="0" i="0" dirty="0">
                <a:solidFill>
                  <a:srgbClr val="1A1C1F"/>
                </a:solidFill>
                <a:effectLst/>
                <a:latin typeface="-apple-system"/>
              </a:rPr>
              <a:t>Charge Pump </a:t>
            </a:r>
            <a:r>
              <a:rPr lang="zh-CN" altLang="en-US" b="0" i="0" dirty="0">
                <a:solidFill>
                  <a:srgbClr val="1A1C1F"/>
                </a:solidFill>
                <a:effectLst/>
                <a:latin typeface="-apple-system"/>
              </a:rPr>
              <a:t>加 </a:t>
            </a:r>
            <a:r>
              <a:rPr lang="en-US" altLang="zh-CN" b="0" i="0" dirty="0">
                <a:solidFill>
                  <a:srgbClr val="1A1C1F"/>
                </a:solidFill>
                <a:effectLst/>
                <a:latin typeface="-apple-system"/>
              </a:rPr>
              <a:t>Bootstrap </a:t>
            </a:r>
            <a:r>
              <a:rPr lang="zh-CN" altLang="en-US" b="0" i="0" dirty="0">
                <a:solidFill>
                  <a:srgbClr val="1A1C1F"/>
                </a:solidFill>
                <a:effectLst/>
                <a:latin typeface="-apple-system"/>
              </a:rPr>
              <a:t>结构，使得高边驱动可以长时间维持，栅极驱动能力优异，满足大部分场景需求。且内置运放与保护电路，节省成本提高可靠性。</a:t>
            </a:r>
            <a:endParaRPr lang="en-US" dirty="0"/>
          </a:p>
        </p:txBody>
      </p:sp>
      <p:sp>
        <p:nvSpPr>
          <p:cNvPr id="4" name="Slide Number Placeholder 3">
            <a:extLst>
              <a:ext uri="{FF2B5EF4-FFF2-40B4-BE49-F238E27FC236}">
                <a16:creationId xmlns:a16="http://schemas.microsoft.com/office/drawing/2014/main" id="{EE831CA8-5AB7-608D-2293-F7CBAA1226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51550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E1D3-892B-EDF7-CAA0-7B5DD95D9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584B0C-8937-B4B3-D91E-AE1BF959F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63182D-070A-796C-5545-4A529BF78043}"/>
              </a:ext>
            </a:extLst>
          </p:cNvPr>
          <p:cNvSpPr>
            <a:spLocks noGrp="1"/>
          </p:cNvSpPr>
          <p:nvPr>
            <p:ph type="body" idx="1"/>
          </p:nvPr>
        </p:nvSpPr>
        <p:spPr/>
        <p:txBody>
          <a:bodyPr/>
          <a:lstStyle/>
          <a:p>
            <a:pPr marL="0" indent="0" algn="l">
              <a:lnSpc>
                <a:spcPct val="100000"/>
              </a:lnSpc>
              <a:spcBef>
                <a:spcPts val="0"/>
              </a:spcBef>
              <a:spcAft>
                <a:spcPts val="0"/>
              </a:spcAft>
              <a:buNone/>
            </a:pPr>
            <a:r>
              <a:rPr lang="zh-CN" altLang="en-US" b="0" i="0" dirty="0">
                <a:solidFill>
                  <a:srgbClr val="1A1C1F"/>
                </a:solidFill>
                <a:effectLst/>
                <a:latin typeface="-apple-system"/>
              </a:rPr>
              <a:t>相较于市面上其他的常用磁编码器，</a:t>
            </a:r>
            <a:r>
              <a:rPr lang="en-US" altLang="zh-CN" b="0" i="0" dirty="0">
                <a:solidFill>
                  <a:srgbClr val="1A1C1F"/>
                </a:solidFill>
                <a:effectLst/>
                <a:latin typeface="-apple-system"/>
              </a:rPr>
              <a:t>MA600A </a:t>
            </a:r>
            <a:r>
              <a:rPr lang="zh-CN" altLang="en-US" b="0" i="0" dirty="0">
                <a:solidFill>
                  <a:srgbClr val="1A1C1F"/>
                </a:solidFill>
                <a:effectLst/>
                <a:latin typeface="-apple-system"/>
              </a:rPr>
              <a:t>在动态控制场景里更突出。它默认 </a:t>
            </a:r>
            <a:r>
              <a:rPr lang="en-US" altLang="zh-CN" b="0" i="0" dirty="0">
                <a:solidFill>
                  <a:srgbClr val="1A1C1F"/>
                </a:solidFill>
                <a:effectLst/>
                <a:latin typeface="-apple-system"/>
              </a:rPr>
              <a:t>12.5bit </a:t>
            </a:r>
            <a:r>
              <a:rPr lang="zh-CN" altLang="en-US" b="0" i="0" dirty="0">
                <a:solidFill>
                  <a:srgbClr val="1A1C1F"/>
                </a:solidFill>
                <a:effectLst/>
                <a:latin typeface="-apple-system"/>
              </a:rPr>
              <a:t>配置下带宽有 </a:t>
            </a:r>
            <a:r>
              <a:rPr lang="en-US" altLang="zh-CN" b="0" i="0" dirty="0">
                <a:solidFill>
                  <a:srgbClr val="1A1C1F"/>
                </a:solidFill>
                <a:effectLst/>
                <a:latin typeface="-apple-system"/>
              </a:rPr>
              <a:t>12kHz</a:t>
            </a:r>
            <a:r>
              <a:rPr lang="zh-CN" altLang="en-US" b="0" i="0" dirty="0">
                <a:solidFill>
                  <a:srgbClr val="1A1C1F"/>
                </a:solidFill>
                <a:effectLst/>
                <a:latin typeface="-apple-system"/>
              </a:rPr>
              <a:t>，自带延迟补偿，补偿后延迟到达了夸张的</a:t>
            </a:r>
            <a:r>
              <a:rPr lang="en-US" altLang="zh-CN" b="0" i="0" dirty="0">
                <a:solidFill>
                  <a:srgbClr val="1A1C1F"/>
                </a:solidFill>
                <a:effectLst/>
                <a:latin typeface="-apple-system"/>
              </a:rPr>
              <a:t>1us</a:t>
            </a:r>
            <a:r>
              <a:rPr lang="zh-CN" altLang="en-US" b="0" i="0" dirty="0">
                <a:solidFill>
                  <a:srgbClr val="1A1C1F"/>
                </a:solidFill>
                <a:effectLst/>
                <a:latin typeface="-apple-system"/>
              </a:rPr>
              <a:t>内，按 </a:t>
            </a:r>
            <a:r>
              <a:rPr lang="en-US" altLang="zh-CN" b="0" i="0" dirty="0">
                <a:solidFill>
                  <a:srgbClr val="1A1C1F"/>
                </a:solidFill>
                <a:effectLst/>
                <a:latin typeface="-apple-system"/>
              </a:rPr>
              <a:t>3000rpm</a:t>
            </a:r>
            <a:r>
              <a:rPr lang="zh-CN" altLang="en-US" b="0" i="0" dirty="0">
                <a:solidFill>
                  <a:srgbClr val="1A1C1F"/>
                </a:solidFill>
                <a:effectLst/>
                <a:latin typeface="-apple-system"/>
              </a:rPr>
              <a:t>、</a:t>
            </a:r>
            <a:r>
              <a:rPr lang="en-US" altLang="zh-CN" b="0" i="0" dirty="0">
                <a:solidFill>
                  <a:srgbClr val="1A1C1F"/>
                </a:solidFill>
                <a:effectLst/>
                <a:latin typeface="-apple-system"/>
              </a:rPr>
              <a:t>7 </a:t>
            </a:r>
            <a:r>
              <a:rPr lang="zh-CN" altLang="en-US" b="0" i="0" dirty="0">
                <a:solidFill>
                  <a:srgbClr val="1A1C1F"/>
                </a:solidFill>
                <a:effectLst/>
                <a:latin typeface="-apple-system"/>
              </a:rPr>
              <a:t>对极电机粗算，</a:t>
            </a:r>
            <a:r>
              <a:rPr lang="en-US" altLang="zh-CN" b="0" i="0" dirty="0">
                <a:solidFill>
                  <a:srgbClr val="1A1C1F"/>
                </a:solidFill>
                <a:effectLst/>
                <a:latin typeface="-apple-system"/>
              </a:rPr>
              <a:t>MA600A</a:t>
            </a:r>
            <a:r>
              <a:rPr lang="zh-CN" altLang="en-US" b="0" i="0" dirty="0">
                <a:solidFill>
                  <a:srgbClr val="1A1C1F"/>
                </a:solidFill>
                <a:effectLst/>
                <a:latin typeface="-apple-system"/>
              </a:rPr>
              <a:t>的</a:t>
            </a:r>
            <a:r>
              <a:rPr lang="en-US" altLang="zh-CN" b="0" i="0" dirty="0">
                <a:solidFill>
                  <a:srgbClr val="1A1C1F"/>
                </a:solidFill>
                <a:effectLst/>
                <a:latin typeface="-apple-system"/>
              </a:rPr>
              <a:t>1us </a:t>
            </a:r>
            <a:r>
              <a:rPr lang="zh-CN" altLang="en-US" b="0" i="0" dirty="0">
                <a:solidFill>
                  <a:srgbClr val="1A1C1F"/>
                </a:solidFill>
                <a:effectLst/>
                <a:latin typeface="-apple-system"/>
              </a:rPr>
              <a:t>级延迟对应的电角度滞后只有 </a:t>
            </a:r>
            <a:r>
              <a:rPr lang="en-US" altLang="zh-CN" b="0" i="0" dirty="0">
                <a:solidFill>
                  <a:srgbClr val="1A1C1F"/>
                </a:solidFill>
                <a:effectLst/>
                <a:latin typeface="-apple-system"/>
              </a:rPr>
              <a:t>0.1°</a:t>
            </a:r>
            <a:r>
              <a:rPr lang="zh-CN" altLang="en-US" b="0" i="0" dirty="0">
                <a:solidFill>
                  <a:srgbClr val="1A1C1F"/>
                </a:solidFill>
                <a:effectLst/>
                <a:latin typeface="-apple-system"/>
              </a:rPr>
              <a:t>量级；而同类产品 </a:t>
            </a:r>
            <a:r>
              <a:rPr lang="en-US" altLang="zh-CN" b="0" i="0" dirty="0">
                <a:solidFill>
                  <a:srgbClr val="1A1C1F"/>
                </a:solidFill>
                <a:effectLst/>
                <a:latin typeface="-apple-system"/>
              </a:rPr>
              <a:t>100us </a:t>
            </a:r>
            <a:r>
              <a:rPr lang="zh-CN" altLang="en-US" b="0" i="0" dirty="0">
                <a:solidFill>
                  <a:srgbClr val="1A1C1F"/>
                </a:solidFill>
                <a:effectLst/>
                <a:latin typeface="-apple-system"/>
              </a:rPr>
              <a:t>级延迟会放大到十几度电角度。</a:t>
            </a:r>
            <a:endParaRPr lang="en-US" altLang="zh-CN" b="0" i="0" dirty="0">
              <a:solidFill>
                <a:srgbClr val="1A1C1F"/>
              </a:solidFill>
              <a:effectLst/>
              <a:latin typeface="-apple-system"/>
            </a:endParaRPr>
          </a:p>
          <a:p>
            <a:pPr marL="0" indent="0" algn="l">
              <a:lnSpc>
                <a:spcPct val="100000"/>
              </a:lnSpc>
              <a:spcBef>
                <a:spcPts val="0"/>
              </a:spcBef>
              <a:spcAft>
                <a:spcPts val="0"/>
              </a:spcAft>
              <a:buNone/>
            </a:pPr>
            <a:r>
              <a:rPr lang="zh-CN" altLang="en-US" b="0" dirty="0"/>
              <a:t>此外 </a:t>
            </a:r>
            <a:r>
              <a:rPr lang="en-US" altLang="zh-CN" b="0" dirty="0"/>
              <a:t>MA600A </a:t>
            </a:r>
            <a:r>
              <a:rPr lang="zh-CN" altLang="en-US" b="0" dirty="0"/>
              <a:t>支持端轴和旁轴两种安装方式，结构设计上灵活度更高。</a:t>
            </a:r>
            <a:endParaRPr lang="en-US" b="0" dirty="0"/>
          </a:p>
        </p:txBody>
      </p:sp>
      <p:sp>
        <p:nvSpPr>
          <p:cNvPr id="4" name="Slide Number Placeholder 3">
            <a:extLst>
              <a:ext uri="{FF2B5EF4-FFF2-40B4-BE49-F238E27FC236}">
                <a16:creationId xmlns:a16="http://schemas.microsoft.com/office/drawing/2014/main" id="{0845A39F-5C95-9D70-ECEA-E93633A3DC5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34829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完成器件选型和硬件计算后，接下来进入 PCB Layout。整板需要在约 49 × 43 毫米的空间内放下 48 V、180 W 功率驱动、三相电流采样、磁编码器和隔离 CAN 通信，因此布局重点是控制功率环路、噪声耦合和散热路径。</a:t>
            </a:r>
          </a:p>
          <a:p>
            <a:r>
              <a:rPr lang="zh-CN" dirty="0"/>
              <a:t>本项目采用四层板，成品厚度约 1.6 毫米，外层铜厚约 1 盎司</a:t>
            </a:r>
            <a:r>
              <a:rPr lang="zh-CN" altLang="en-US" dirty="0"/>
              <a:t>，有条件的嘉人可以依照工业标准加厚到</a:t>
            </a:r>
            <a:r>
              <a:rPr lang="en-US" altLang="zh-CN" dirty="0"/>
              <a:t>2</a:t>
            </a:r>
            <a:r>
              <a:rPr lang="zh-CN" altLang="zh-CN" dirty="0"/>
              <a:t>盎司</a:t>
            </a:r>
            <a:r>
              <a:rPr lang="zh-CN" dirty="0"/>
              <a:t>。</a:t>
            </a:r>
            <a:endParaRPr lang="en-US" altLang="zh-CN" dirty="0"/>
          </a:p>
          <a:p>
            <a:r>
              <a:rPr lang="zh-CN" dirty="0"/>
              <a:t>顶层承担器件、功率铜皮和关键走线，第二层保持连续地平面，第三层用于电源分配，底层布置控制器件和低速信号，这样可以在紧凑板框内获得稳定的回流路径。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整板以 MA600A 和电机轴心为中心，</a:t>
            </a:r>
            <a:r>
              <a:rPr lang="zh-CN" altLang="en-US" dirty="0"/>
              <a:t>板上可见明确圆圈丝印隔离高功率器件。</a:t>
            </a:r>
            <a:r>
              <a:rPr lang="zh-CN" dirty="0"/>
              <a:t>六颗 MOSFET 沿外围展开，缩短三相功率输出和散热路径。MP6539B、STM32G431 和三相 INA240 位于控制与采样区域，辅助电源和隔离 CAN 靠近板边，方便连接输入电源和外部总线。</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驱动回路的布局尤为重要，</a:t>
            </a:r>
            <a:r>
              <a:rPr lang="zh-CN" dirty="0"/>
              <a:t>MPS 的</a:t>
            </a:r>
            <a:r>
              <a:rPr lang="zh-CN" altLang="en-US" dirty="0"/>
              <a:t>布局参考</a:t>
            </a:r>
            <a:r>
              <a:rPr lang="zh-CN" dirty="0"/>
              <a:t>重点体现上下管连接短、大电流路径宽铜皮、驱动去耦靠近芯片；</a:t>
            </a:r>
            <a:r>
              <a:rPr lang="zh-CN" altLang="en-US" dirty="0"/>
              <a:t>同样的</a:t>
            </a:r>
            <a:r>
              <a:rPr lang="zh-CN" dirty="0"/>
              <a:t>的 Bootstrap 布局示例强调 CBOOT 和 VDD 去耦要贴近驱动器，尽量缩小高峰值充电路径。</a:t>
            </a:r>
            <a:r>
              <a:rPr lang="en-US" altLang="zh-CN" dirty="0"/>
              <a:t>MOSFET</a:t>
            </a:r>
            <a:r>
              <a:rPr lang="zh-CN" altLang="en-US" dirty="0"/>
              <a:t>的</a:t>
            </a:r>
            <a:r>
              <a:rPr lang="en-US" altLang="zh-CN" dirty="0"/>
              <a:t>Gate </a:t>
            </a:r>
            <a:r>
              <a:rPr lang="zh-CN" altLang="en-US" dirty="0"/>
              <a:t>与 </a:t>
            </a:r>
            <a:r>
              <a:rPr lang="en-US" altLang="zh-CN" dirty="0"/>
              <a:t>Source </a:t>
            </a:r>
            <a:r>
              <a:rPr lang="zh-CN" altLang="en-US"/>
              <a:t>回流并行。</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三相电流均通过 10 毫欧分流电阻和 INA240A1 采集，整体比例为 0.2 伏每安培。分流电阻两端采用 Kelvin 取样，差分线成对引到 INA240，并避开相位开关节点和栅极走线，输出</a:t>
            </a:r>
            <a:r>
              <a:rPr lang="zh-CN" altLang="en-US" dirty="0"/>
              <a:t>经</a:t>
            </a:r>
            <a:r>
              <a:rPr lang="en-US" altLang="zh-CN" dirty="0"/>
              <a:t>ADC</a:t>
            </a:r>
            <a:r>
              <a:rPr lang="zh-CN" altLang="en-US" dirty="0"/>
              <a:t>处理后，进一步使用数字滤波处理</a:t>
            </a:r>
            <a:r>
              <a:rPr lang="zh-CN" dirty="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MA600A 位于电机轴心附近，高电流铜皮和开关节点需要远离传感器区域，周围电容与芯片中心保持至少 5 毫米距离。隔离通信部分由 MIE1W0505 和 ISO1042 构成，控制侧与总线侧保持清晰净空，CANH 和 CANL 靠近接口成对布线。</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功率器件沿板边布置，通过大面积铜皮和并联过孔把热量扩散到上下层，并为后续与外壳导热预留条件。</a:t>
            </a:r>
            <a:r>
              <a:rPr lang="zh-CN" altLang="en-US" dirty="0"/>
              <a:t>接下来做一个简单回顾，</a:t>
            </a:r>
            <a:r>
              <a:rPr lang="zh-CN" dirty="0"/>
              <a:t>逐项检查功率路径、回流路径、散热路径、敏感信号和隔离边界，再通过温升、母线尖峰和电流采样波形完成实板验证。</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在完成 </a:t>
            </a:r>
            <a:r>
              <a:rPr lang="en-US" altLang="zh-CN"/>
              <a:t>PCB Layout </a:t>
            </a:r>
            <a:r>
              <a:rPr lang="zh-CN" altLang="en-US"/>
              <a:t>之后，验证不能只看电机能不能转，而要沿着电源、功率级、驱动、采样和闭环控制逐层收敛。目前宽压输入、控制性能和负载温升已经有本地实测证据，双脉冲与采样细节页先固定测试方法和判据，后续用示波器截图直接替换。</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030197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首先验证辅助电源链路。仓库中的输入范围测试覆盖四十到五十六伏，已经跨过项目定义的四十八伏正负百分之十范围。后续若要把电源性能讲得更完整，可以在同一页补上十二伏、五伏和三点三伏电源轨的纹波截图。</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76842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双脉冲测试用于把功率级从系统控制中单独拆出来。第一脉冲建立电感电流，第二脉冲观察器件真正的开通和关断瞬态，测量时必须同时关注栅源电压、漏源电压和电流，并从低母线、限流条件开始逐步提高应力。</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315922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这页不是实测截图，而是用于固定示波器截图应该呈现的信息。正式测试时，把三条示意曲线替换成同一时间基准下的栅源电压、电流和漏源电压，并在第二脉冲附近标出过冲、振铃、反向恢复和开关损耗。</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8374947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双脉冲确认功率器件瞬态之后，还要回到驱动器本身检查高低侧互补关系。重点不是只有死区数值，还包括米勒平台、关断负压、栅极振铃以及 </a:t>
            </a:r>
            <a:r>
              <a:rPr lang="en-US" altLang="zh-CN"/>
              <a:t>Bootstrap </a:t>
            </a:r>
            <a:r>
              <a:rPr lang="zh-CN" altLang="en-US"/>
              <a:t>在长导通条件下是否保持足够电压。</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5502689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电流采样验证先从零电流偏置开始，再用已知直流电流标定零点和增益，最后比较三相通道的一致性。动态运行时，</a:t>
            </a:r>
            <a:r>
              <a:rPr lang="en-US" altLang="zh-CN"/>
              <a:t>ADC </a:t>
            </a:r>
            <a:r>
              <a:rPr lang="zh-CN" altLang="en-US"/>
              <a:t>采样点应该放在 </a:t>
            </a:r>
            <a:r>
              <a:rPr lang="en-US" altLang="zh-CN"/>
              <a:t>PWM </a:t>
            </a:r>
            <a:r>
              <a:rPr lang="zh-CN" altLang="en-US"/>
              <a:t>稳定区间，避开开关沿和续流换相造成的尖峰。</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0978426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系统级控制测试先观察启停过程是否平顺，再检查速度阶跃后的上升过程和稳态扰动。现有记录给出了每分钟一百转和两百转两个工作点，稳态扰动分别约为三转和八转。</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3670843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位置环测试使用九十度和一百八十度目标阶跃，曲线能够稳定进入目标平台，现有测试记录给出的稳态误差接近零。后续若用于更严格的性能对比，可以继续标注超调量、整定时间和负载扰动恢复时间。</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773250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最后用连续负载和热像把硬件验证闭环。两分钟时最高热点约六十一点八摄氏度，八分钟时最高热点约八十二点六摄氏度，说明系统已经完成一百八十瓦等级的连续运行验证，同时也明确了后续需要重点优化的热路径和开关应力。</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584925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05752F-A94C-4D47-A51F-610CD25A3432}"/>
              </a:ext>
            </a:extLst>
          </p:cNvPr>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a:extLst>
              <a:ext uri="{FF2B5EF4-FFF2-40B4-BE49-F238E27FC236}">
                <a16:creationId xmlns:a16="http://schemas.microsoft.com/office/drawing/2014/main" id="{6E9A1F76-2D00-455C-ACB9-35E106A785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a:extLst>
              <a:ext uri="{FF2B5EF4-FFF2-40B4-BE49-F238E27FC236}">
                <a16:creationId xmlns:a16="http://schemas.microsoft.com/office/drawing/2014/main" id="{E180289B-D436-482E-AC94-9D23C37057B9}"/>
              </a:ext>
            </a:extLst>
          </p:cNvPr>
          <p:cNvSpPr>
            <a:spLocks noGrp="1"/>
          </p:cNvSpPr>
          <p:nvPr>
            <p:ph type="dt" idx="10"/>
          </p:nvPr>
        </p:nvSpPr>
        <p:spPr/>
        <p:txBody>
          <a:bodyPr/>
          <a:lstStyle/>
          <a:p>
            <a:fld id="{0F7DC6A6-BF1E-4CE5-B3E6-718B8EA0B82A}" type="datetime1">
              <a:t>2026/6/14</a:t>
            </a:fld>
            <a:endParaRPr/>
          </a:p>
        </p:txBody>
      </p:sp>
      <p:sp>
        <p:nvSpPr>
          <p:cNvPr id="5" name="页脚占位符 4">
            <a:extLst>
              <a:ext uri="{FF2B5EF4-FFF2-40B4-BE49-F238E27FC236}">
                <a16:creationId xmlns:a16="http://schemas.microsoft.com/office/drawing/2014/main" id="{81389B5A-DF29-468F-9B0B-BD486995F569}"/>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099FEB5D-F169-492E-899A-79E026BAE902}"/>
              </a:ext>
            </a:extLst>
          </p:cNvPr>
          <p:cNvSpPr>
            <a:spLocks noGrp="1"/>
          </p:cNvSpPr>
          <p:nvPr>
            <p:ph type="sldNum" idx="12"/>
          </p:nvPr>
        </p:nvSpPr>
        <p:spPr/>
        <p:txBody>
          <a:bodyPr/>
          <a:lstStyle/>
          <a:p>
            <a:fld id="{8FC705DF-EB6A-4429-A9CF-8086C29D54D9}"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0" name="标题 1">
            <a:extLst>
              <a:ext uri="{FF2B5EF4-FFF2-40B4-BE49-F238E27FC236}">
                <a16:creationId xmlns:a16="http://schemas.microsoft.com/office/drawing/2014/main" id="{BD73703F-1021-4BA0-A512-F64CFA814BE5}"/>
              </a:ext>
            </a:extLst>
          </p:cNvPr>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21" name="文本占位符 2">
            <a:extLst>
              <a:ext uri="{FF2B5EF4-FFF2-40B4-BE49-F238E27FC236}">
                <a16:creationId xmlns:a16="http://schemas.microsoft.com/office/drawing/2014/main" id="{9D8C644C-2870-4ACE-8AF0-71DA544373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单击此处编辑母版文本样式</a:t>
            </a:r>
          </a:p>
        </p:txBody>
      </p:sp>
      <p:sp>
        <p:nvSpPr>
          <p:cNvPr id="22" name="日期占位符 3">
            <a:extLst>
              <a:ext uri="{FF2B5EF4-FFF2-40B4-BE49-F238E27FC236}">
                <a16:creationId xmlns:a16="http://schemas.microsoft.com/office/drawing/2014/main" id="{951213E9-A379-4A62-80A0-1F74D0DA6230}"/>
              </a:ext>
            </a:extLst>
          </p:cNvPr>
          <p:cNvSpPr>
            <a:spLocks noGrp="1"/>
          </p:cNvSpPr>
          <p:nvPr>
            <p:ph type="dt" idx="10"/>
          </p:nvPr>
        </p:nvSpPr>
        <p:spPr/>
        <p:txBody>
          <a:bodyPr/>
          <a:lstStyle/>
          <a:p>
            <a:fld id="{8D5B006A-3E28-4231-AF04-14767498E664}" type="datetime1">
              <a:t>2026/6/14</a:t>
            </a:fld>
            <a:endParaRPr/>
          </a:p>
        </p:txBody>
      </p:sp>
      <p:sp>
        <p:nvSpPr>
          <p:cNvPr id="23" name="页脚占位符 4">
            <a:extLst>
              <a:ext uri="{FF2B5EF4-FFF2-40B4-BE49-F238E27FC236}">
                <a16:creationId xmlns:a16="http://schemas.microsoft.com/office/drawing/2014/main" id="{DAF5303B-F930-443C-B7C4-7A2800927225}"/>
              </a:ext>
            </a:extLst>
          </p:cNvPr>
          <p:cNvSpPr>
            <a:spLocks noGrp="1"/>
          </p:cNvSpPr>
          <p:nvPr>
            <p:ph type="ftr" idx="11"/>
          </p:nvPr>
        </p:nvSpPr>
        <p:spPr/>
        <p:txBody>
          <a:bodyPr/>
          <a:lstStyle/>
          <a:p>
            <a:endParaRPr/>
          </a:p>
        </p:txBody>
      </p:sp>
      <p:sp>
        <p:nvSpPr>
          <p:cNvPr id="24" name="灯片编号占位符 5">
            <a:extLst>
              <a:ext uri="{FF2B5EF4-FFF2-40B4-BE49-F238E27FC236}">
                <a16:creationId xmlns:a16="http://schemas.microsoft.com/office/drawing/2014/main" id="{2E2C6D17-EE1C-41F0-A800-9208DDAD4F81}"/>
              </a:ext>
            </a:extLst>
          </p:cNvPr>
          <p:cNvSpPr>
            <a:spLocks noGrp="1"/>
          </p:cNvSpPr>
          <p:nvPr>
            <p:ph type="sldNum" idx="12"/>
          </p:nvPr>
        </p:nvSpPr>
        <p:spPr/>
        <p:txBody>
          <a:bodyPr/>
          <a:lstStyle/>
          <a:p>
            <a:fld id="{C8B94FA0-F740-4CDC-A935-5AEA919A98D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6" name="标题 1">
            <a:extLst>
              <a:ext uri="{FF2B5EF4-FFF2-40B4-BE49-F238E27FC236}">
                <a16:creationId xmlns:a16="http://schemas.microsoft.com/office/drawing/2014/main" id="{C5CCC62B-E18D-4A97-8100-1739F62D16F7}"/>
              </a:ext>
            </a:extLst>
          </p:cNvPr>
          <p:cNvSpPr>
            <a:spLocks noGrp="1"/>
          </p:cNvSpPr>
          <p:nvPr>
            <p:ph type="title"/>
          </p:nvPr>
        </p:nvSpPr>
        <p:spPr/>
        <p:txBody>
          <a:bodyPr/>
          <a:lstStyle/>
          <a:p>
            <a:r>
              <a:t>单击此处编辑母版标题样式</a:t>
            </a:r>
          </a:p>
        </p:txBody>
      </p:sp>
      <p:sp>
        <p:nvSpPr>
          <p:cNvPr id="27" name="内容占位符 2">
            <a:extLst>
              <a:ext uri="{FF2B5EF4-FFF2-40B4-BE49-F238E27FC236}">
                <a16:creationId xmlns:a16="http://schemas.microsoft.com/office/drawing/2014/main" id="{B3A46243-34C0-4FF1-9FF3-10854A9705C6}"/>
              </a:ext>
            </a:extLst>
          </p:cNvPr>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28" name="内容占位符 3">
            <a:extLst>
              <a:ext uri="{FF2B5EF4-FFF2-40B4-BE49-F238E27FC236}">
                <a16:creationId xmlns:a16="http://schemas.microsoft.com/office/drawing/2014/main" id="{01B91AEC-A7A2-4A6A-84D3-7C8F85D151EB}"/>
              </a:ext>
            </a:extLst>
          </p:cNvPr>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29" name="日期占位符 4">
            <a:extLst>
              <a:ext uri="{FF2B5EF4-FFF2-40B4-BE49-F238E27FC236}">
                <a16:creationId xmlns:a16="http://schemas.microsoft.com/office/drawing/2014/main" id="{B3AFA0E3-D000-4A0C-8036-92B4377FB546}"/>
              </a:ext>
            </a:extLst>
          </p:cNvPr>
          <p:cNvSpPr>
            <a:spLocks noGrp="1"/>
          </p:cNvSpPr>
          <p:nvPr>
            <p:ph type="dt" idx="10"/>
          </p:nvPr>
        </p:nvSpPr>
        <p:spPr/>
        <p:txBody>
          <a:bodyPr/>
          <a:lstStyle/>
          <a:p>
            <a:fld id="{A1F3BCCF-927F-4C14-9052-F5177C3C439D}" type="datetime1">
              <a:t>2026/6/14</a:t>
            </a:fld>
            <a:endParaRPr/>
          </a:p>
        </p:txBody>
      </p:sp>
      <p:sp>
        <p:nvSpPr>
          <p:cNvPr id="30" name="页脚占位符 5">
            <a:extLst>
              <a:ext uri="{FF2B5EF4-FFF2-40B4-BE49-F238E27FC236}">
                <a16:creationId xmlns:a16="http://schemas.microsoft.com/office/drawing/2014/main" id="{141E3939-A435-48B3-B11F-45A2C831E687}"/>
              </a:ext>
            </a:extLst>
          </p:cNvPr>
          <p:cNvSpPr>
            <a:spLocks noGrp="1"/>
          </p:cNvSpPr>
          <p:nvPr>
            <p:ph type="ftr" idx="11"/>
          </p:nvPr>
        </p:nvSpPr>
        <p:spPr/>
        <p:txBody>
          <a:bodyPr/>
          <a:lstStyle/>
          <a:p>
            <a:endParaRPr/>
          </a:p>
        </p:txBody>
      </p:sp>
      <p:sp>
        <p:nvSpPr>
          <p:cNvPr id="31" name="灯片编号占位符 6">
            <a:extLst>
              <a:ext uri="{FF2B5EF4-FFF2-40B4-BE49-F238E27FC236}">
                <a16:creationId xmlns:a16="http://schemas.microsoft.com/office/drawing/2014/main" id="{19B01B05-0D86-4716-8640-577CC9D24DC3}"/>
              </a:ext>
            </a:extLst>
          </p:cNvPr>
          <p:cNvSpPr>
            <a:spLocks noGrp="1"/>
          </p:cNvSpPr>
          <p:nvPr>
            <p:ph type="sldNum" idx="12"/>
          </p:nvPr>
        </p:nvSpPr>
        <p:spPr/>
        <p:txBody>
          <a:bodyPr/>
          <a:lstStyle/>
          <a:p>
            <a:fld id="{408259AF-2A25-452C-AA5F-7B080E8C5A7E}"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chOff x="0" y="0"/>
          <a:chExt cx="0" cy="0"/>
        </a:xfrm>
      </p:grpSpPr>
      <p:sp>
        <p:nvSpPr>
          <p:cNvPr id="33" name="标题 1">
            <a:extLst>
              <a:ext uri="{FF2B5EF4-FFF2-40B4-BE49-F238E27FC236}">
                <a16:creationId xmlns:a16="http://schemas.microsoft.com/office/drawing/2014/main" id="{5968CDCC-4BE8-42F9-9391-E97420D51846}"/>
              </a:ext>
            </a:extLst>
          </p:cNvPr>
          <p:cNvSpPr>
            <a:spLocks noGrp="1"/>
          </p:cNvSpPr>
          <p:nvPr>
            <p:ph type="title"/>
          </p:nvPr>
        </p:nvSpPr>
        <p:spPr>
          <a:xfrm>
            <a:off x="839788" y="365125"/>
            <a:ext cx="10515600" cy="1325563"/>
          </a:xfrm>
        </p:spPr>
        <p:txBody>
          <a:bodyPr/>
          <a:lstStyle/>
          <a:p>
            <a:r>
              <a:t>单击此处编辑母版标题样式</a:t>
            </a:r>
          </a:p>
        </p:txBody>
      </p:sp>
      <p:sp>
        <p:nvSpPr>
          <p:cNvPr id="34" name="文本占位符 2">
            <a:extLst>
              <a:ext uri="{FF2B5EF4-FFF2-40B4-BE49-F238E27FC236}">
                <a16:creationId xmlns:a16="http://schemas.microsoft.com/office/drawing/2014/main" id="{519788B3-861F-4EF6-9036-11DC12163D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35" name="内容占位符 3">
            <a:extLst>
              <a:ext uri="{FF2B5EF4-FFF2-40B4-BE49-F238E27FC236}">
                <a16:creationId xmlns:a16="http://schemas.microsoft.com/office/drawing/2014/main" id="{EE82DBF0-6B6D-40B0-A193-D2714ACC6FBA}"/>
              </a:ext>
            </a:extLst>
          </p:cNvPr>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36" name="文本占位符 4">
            <a:extLst>
              <a:ext uri="{FF2B5EF4-FFF2-40B4-BE49-F238E27FC236}">
                <a16:creationId xmlns:a16="http://schemas.microsoft.com/office/drawing/2014/main" id="{81A53F8E-72E1-4A0A-B2C8-267E3399F91A}"/>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37" name="内容占位符 5">
            <a:extLst>
              <a:ext uri="{FF2B5EF4-FFF2-40B4-BE49-F238E27FC236}">
                <a16:creationId xmlns:a16="http://schemas.microsoft.com/office/drawing/2014/main" id="{585EEC3A-B65B-470D-9AA4-4B46F66E3BAF}"/>
              </a:ext>
            </a:extLst>
          </p:cNvPr>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38" name="日期占位符 6">
            <a:extLst>
              <a:ext uri="{FF2B5EF4-FFF2-40B4-BE49-F238E27FC236}">
                <a16:creationId xmlns:a16="http://schemas.microsoft.com/office/drawing/2014/main" id="{820E9D36-4F00-45ED-8795-AD7B64DF6CB2}"/>
              </a:ext>
            </a:extLst>
          </p:cNvPr>
          <p:cNvSpPr>
            <a:spLocks noGrp="1"/>
          </p:cNvSpPr>
          <p:nvPr>
            <p:ph type="dt" idx="10"/>
          </p:nvPr>
        </p:nvSpPr>
        <p:spPr/>
        <p:txBody>
          <a:bodyPr/>
          <a:lstStyle/>
          <a:p>
            <a:fld id="{E19FF268-CF0C-4595-A6A8-A0B1FC2FEB42}" type="datetime1">
              <a:t>2026/6/14</a:t>
            </a:fld>
            <a:endParaRPr/>
          </a:p>
        </p:txBody>
      </p:sp>
      <p:sp>
        <p:nvSpPr>
          <p:cNvPr id="39" name="页脚占位符 7">
            <a:extLst>
              <a:ext uri="{FF2B5EF4-FFF2-40B4-BE49-F238E27FC236}">
                <a16:creationId xmlns:a16="http://schemas.microsoft.com/office/drawing/2014/main" id="{905516BC-7B07-407B-9AFE-3DFB6A243980}"/>
              </a:ext>
            </a:extLst>
          </p:cNvPr>
          <p:cNvSpPr>
            <a:spLocks noGrp="1"/>
          </p:cNvSpPr>
          <p:nvPr>
            <p:ph type="ftr" idx="11"/>
          </p:nvPr>
        </p:nvSpPr>
        <p:spPr/>
        <p:txBody>
          <a:bodyPr/>
          <a:lstStyle/>
          <a:p>
            <a:endParaRPr/>
          </a:p>
        </p:txBody>
      </p:sp>
      <p:sp>
        <p:nvSpPr>
          <p:cNvPr id="40" name="灯片编号占位符 8">
            <a:extLst>
              <a:ext uri="{FF2B5EF4-FFF2-40B4-BE49-F238E27FC236}">
                <a16:creationId xmlns:a16="http://schemas.microsoft.com/office/drawing/2014/main" id="{6B05C7CF-0D20-43D0-822D-1708E90CE2BF}"/>
              </a:ext>
            </a:extLst>
          </p:cNvPr>
          <p:cNvSpPr>
            <a:spLocks noGrp="1"/>
          </p:cNvSpPr>
          <p:nvPr>
            <p:ph type="sldNum" idx="12"/>
          </p:nvPr>
        </p:nvSpPr>
        <p:spPr/>
        <p:txBody>
          <a:bodyPr/>
          <a:lstStyle/>
          <a:p>
            <a:fld id="{63A90A56-B7DA-460C-8F46-95BFAF0AF95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
        <p:nvSpPr>
          <p:cNvPr id="42" name="标题 1">
            <a:extLst>
              <a:ext uri="{FF2B5EF4-FFF2-40B4-BE49-F238E27FC236}">
                <a16:creationId xmlns:a16="http://schemas.microsoft.com/office/drawing/2014/main" id="{684BB998-DAE0-4ACD-86C1-3152824E29D3}"/>
              </a:ext>
            </a:extLst>
          </p:cNvPr>
          <p:cNvSpPr>
            <a:spLocks noGrp="1"/>
          </p:cNvSpPr>
          <p:nvPr>
            <p:ph type="title"/>
          </p:nvPr>
        </p:nvSpPr>
        <p:spPr/>
        <p:txBody>
          <a:bodyPr/>
          <a:lstStyle/>
          <a:p>
            <a:r>
              <a:t>单击此处编辑母版标题样式</a:t>
            </a:r>
          </a:p>
        </p:txBody>
      </p:sp>
      <p:sp>
        <p:nvSpPr>
          <p:cNvPr id="43" name="日期占位符 2">
            <a:extLst>
              <a:ext uri="{FF2B5EF4-FFF2-40B4-BE49-F238E27FC236}">
                <a16:creationId xmlns:a16="http://schemas.microsoft.com/office/drawing/2014/main" id="{A4F13546-3F79-4B24-B0D1-94E048EEBD2E}"/>
              </a:ext>
            </a:extLst>
          </p:cNvPr>
          <p:cNvSpPr>
            <a:spLocks noGrp="1"/>
          </p:cNvSpPr>
          <p:nvPr>
            <p:ph type="dt" idx="10"/>
          </p:nvPr>
        </p:nvSpPr>
        <p:spPr/>
        <p:txBody>
          <a:bodyPr/>
          <a:lstStyle/>
          <a:p>
            <a:fld id="{E05E0E50-3259-4429-AAEB-7BA10F2285FC}" type="datetime1">
              <a:t>2026/6/14</a:t>
            </a:fld>
            <a:endParaRPr/>
          </a:p>
        </p:txBody>
      </p:sp>
      <p:sp>
        <p:nvSpPr>
          <p:cNvPr id="44" name="页脚占位符 3">
            <a:extLst>
              <a:ext uri="{FF2B5EF4-FFF2-40B4-BE49-F238E27FC236}">
                <a16:creationId xmlns:a16="http://schemas.microsoft.com/office/drawing/2014/main" id="{D7DD0B55-C159-4B6A-B987-1739A5A3C1DF}"/>
              </a:ext>
            </a:extLst>
          </p:cNvPr>
          <p:cNvSpPr>
            <a:spLocks noGrp="1"/>
          </p:cNvSpPr>
          <p:nvPr>
            <p:ph type="ftr" idx="11"/>
          </p:nvPr>
        </p:nvSpPr>
        <p:spPr/>
        <p:txBody>
          <a:bodyPr/>
          <a:lstStyle/>
          <a:p>
            <a:endParaRPr/>
          </a:p>
        </p:txBody>
      </p:sp>
      <p:sp>
        <p:nvSpPr>
          <p:cNvPr id="45" name="灯片编号占位符 4">
            <a:extLst>
              <a:ext uri="{FF2B5EF4-FFF2-40B4-BE49-F238E27FC236}">
                <a16:creationId xmlns:a16="http://schemas.microsoft.com/office/drawing/2014/main" id="{0F6A32AA-E2E5-4FD4-8ED9-8BD276E3CE4B}"/>
              </a:ext>
            </a:extLst>
          </p:cNvPr>
          <p:cNvSpPr>
            <a:spLocks noGrp="1"/>
          </p:cNvSpPr>
          <p:nvPr>
            <p:ph type="sldNum" idx="12"/>
          </p:nvPr>
        </p:nvSpPr>
        <p:spPr/>
        <p:txBody>
          <a:bodyPr/>
          <a:lstStyle/>
          <a:p>
            <a:fld id="{C2178EC5-58A4-4F44-B83C-34BE3E218ABE}"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
        <p:nvSpPr>
          <p:cNvPr id="47" name="日期占位符 1">
            <a:extLst>
              <a:ext uri="{FF2B5EF4-FFF2-40B4-BE49-F238E27FC236}">
                <a16:creationId xmlns:a16="http://schemas.microsoft.com/office/drawing/2014/main" id="{E8F12930-4852-4D9E-93EC-D013F8E06441}"/>
              </a:ext>
            </a:extLst>
          </p:cNvPr>
          <p:cNvSpPr>
            <a:spLocks noGrp="1"/>
          </p:cNvSpPr>
          <p:nvPr>
            <p:ph type="dt" idx="10"/>
          </p:nvPr>
        </p:nvSpPr>
        <p:spPr/>
        <p:txBody>
          <a:bodyPr/>
          <a:lstStyle/>
          <a:p>
            <a:fld id="{03EF5456-EA9D-47AD-816E-BBFCE6D3FB5C}" type="datetime1">
              <a:t>2026/6/14</a:t>
            </a:fld>
            <a:endParaRPr/>
          </a:p>
        </p:txBody>
      </p:sp>
      <p:sp>
        <p:nvSpPr>
          <p:cNvPr id="48" name="页脚占位符 2">
            <a:extLst>
              <a:ext uri="{FF2B5EF4-FFF2-40B4-BE49-F238E27FC236}">
                <a16:creationId xmlns:a16="http://schemas.microsoft.com/office/drawing/2014/main" id="{7E2D8288-E2AA-4492-A489-36AD439D5D6E}"/>
              </a:ext>
            </a:extLst>
          </p:cNvPr>
          <p:cNvSpPr>
            <a:spLocks noGrp="1"/>
          </p:cNvSpPr>
          <p:nvPr>
            <p:ph type="ftr" idx="11"/>
          </p:nvPr>
        </p:nvSpPr>
        <p:spPr/>
        <p:txBody>
          <a:bodyPr/>
          <a:lstStyle/>
          <a:p>
            <a:endParaRPr/>
          </a:p>
        </p:txBody>
      </p:sp>
      <p:sp>
        <p:nvSpPr>
          <p:cNvPr id="49" name="灯片编号占位符 3">
            <a:extLst>
              <a:ext uri="{FF2B5EF4-FFF2-40B4-BE49-F238E27FC236}">
                <a16:creationId xmlns:a16="http://schemas.microsoft.com/office/drawing/2014/main" id="{3A3C4ED8-8262-47DB-A4EA-CDE00798A800}"/>
              </a:ext>
            </a:extLst>
          </p:cNvPr>
          <p:cNvSpPr>
            <a:spLocks noGrp="1"/>
          </p:cNvSpPr>
          <p:nvPr>
            <p:ph type="sldNum" idx="12"/>
          </p:nvPr>
        </p:nvSpPr>
        <p:spPr/>
        <p:txBody>
          <a:bodyPr/>
          <a:lstStyle/>
          <a:p>
            <a:fld id="{E3199BA4-F8C4-48F6-BF3D-6D4BD834E815}"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51" name="标题 1">
            <a:extLst>
              <a:ext uri="{FF2B5EF4-FFF2-40B4-BE49-F238E27FC236}">
                <a16:creationId xmlns:a16="http://schemas.microsoft.com/office/drawing/2014/main" id="{67A08238-819F-498D-B263-D954AB3403E4}"/>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52" name="内容占位符 2">
            <a:extLst>
              <a:ext uri="{FF2B5EF4-FFF2-40B4-BE49-F238E27FC236}">
                <a16:creationId xmlns:a16="http://schemas.microsoft.com/office/drawing/2014/main" id="{AF8AA228-5B99-46A9-8B78-2600AA70FD2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3" name="文本占位符 3">
            <a:extLst>
              <a:ext uri="{FF2B5EF4-FFF2-40B4-BE49-F238E27FC236}">
                <a16:creationId xmlns:a16="http://schemas.microsoft.com/office/drawing/2014/main" id="{99984A6E-E270-4746-8541-C895451D14C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4" name="日期占位符 4">
            <a:extLst>
              <a:ext uri="{FF2B5EF4-FFF2-40B4-BE49-F238E27FC236}">
                <a16:creationId xmlns:a16="http://schemas.microsoft.com/office/drawing/2014/main" id="{42CC39A3-DFB3-4780-9A36-B9F75C3C6B98}"/>
              </a:ext>
            </a:extLst>
          </p:cNvPr>
          <p:cNvSpPr>
            <a:spLocks noGrp="1"/>
          </p:cNvSpPr>
          <p:nvPr>
            <p:ph type="dt" idx="10"/>
          </p:nvPr>
        </p:nvSpPr>
        <p:spPr/>
        <p:txBody>
          <a:bodyPr/>
          <a:lstStyle/>
          <a:p>
            <a:fld id="{BDD0B665-21F2-4210-A0AB-1FF516ABB0EC}" type="datetime1">
              <a:t>2026/6/14</a:t>
            </a:fld>
            <a:endParaRPr/>
          </a:p>
        </p:txBody>
      </p:sp>
      <p:sp>
        <p:nvSpPr>
          <p:cNvPr id="55" name="页脚占位符 5">
            <a:extLst>
              <a:ext uri="{FF2B5EF4-FFF2-40B4-BE49-F238E27FC236}">
                <a16:creationId xmlns:a16="http://schemas.microsoft.com/office/drawing/2014/main" id="{B1FE1C3E-67CE-4C50-9CB8-58C7F0CFB69B}"/>
              </a:ext>
            </a:extLst>
          </p:cNvPr>
          <p:cNvSpPr>
            <a:spLocks noGrp="1"/>
          </p:cNvSpPr>
          <p:nvPr>
            <p:ph type="ftr" idx="11"/>
          </p:nvPr>
        </p:nvSpPr>
        <p:spPr/>
        <p:txBody>
          <a:bodyPr/>
          <a:lstStyle/>
          <a:p>
            <a:endParaRPr/>
          </a:p>
        </p:txBody>
      </p:sp>
      <p:sp>
        <p:nvSpPr>
          <p:cNvPr id="56" name="灯片编号占位符 6">
            <a:extLst>
              <a:ext uri="{FF2B5EF4-FFF2-40B4-BE49-F238E27FC236}">
                <a16:creationId xmlns:a16="http://schemas.microsoft.com/office/drawing/2014/main" id="{CD7B1B76-2387-44CB-9ABC-EB5410611922}"/>
              </a:ext>
            </a:extLst>
          </p:cNvPr>
          <p:cNvSpPr>
            <a:spLocks noGrp="1"/>
          </p:cNvSpPr>
          <p:nvPr>
            <p:ph type="sldNum" idx="12"/>
          </p:nvPr>
        </p:nvSpPr>
        <p:spPr/>
        <p:txBody>
          <a:bodyPr/>
          <a:lstStyle/>
          <a:p>
            <a:fld id="{D3120986-D9F8-450A-8E8A-7B53A97B66E9}"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58" name="标题 1">
            <a:extLst>
              <a:ext uri="{FF2B5EF4-FFF2-40B4-BE49-F238E27FC236}">
                <a16:creationId xmlns:a16="http://schemas.microsoft.com/office/drawing/2014/main" id="{9A720774-7948-43C5-A88D-6F2BDC2F84AD}"/>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59" name="图片占位符 2">
            <a:extLst>
              <a:ext uri="{FF2B5EF4-FFF2-40B4-BE49-F238E27FC236}">
                <a16:creationId xmlns:a16="http://schemas.microsoft.com/office/drawing/2014/main" id="{70F083E2-CE4A-4EF6-8EDA-F0FD113FAA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60" name="文本占位符 3">
            <a:extLst>
              <a:ext uri="{FF2B5EF4-FFF2-40B4-BE49-F238E27FC236}">
                <a16:creationId xmlns:a16="http://schemas.microsoft.com/office/drawing/2014/main" id="{0A3C4BF1-61A2-4299-AF91-EEACBFAC8E4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61" name="日期占位符 4">
            <a:extLst>
              <a:ext uri="{FF2B5EF4-FFF2-40B4-BE49-F238E27FC236}">
                <a16:creationId xmlns:a16="http://schemas.microsoft.com/office/drawing/2014/main" id="{A42DC9B9-49B1-47AF-B84A-BF5424FE074B}"/>
              </a:ext>
            </a:extLst>
          </p:cNvPr>
          <p:cNvSpPr>
            <a:spLocks noGrp="1"/>
          </p:cNvSpPr>
          <p:nvPr>
            <p:ph type="dt" idx="10"/>
          </p:nvPr>
        </p:nvSpPr>
        <p:spPr/>
        <p:txBody>
          <a:bodyPr/>
          <a:lstStyle/>
          <a:p>
            <a:fld id="{4E233BD8-DB7E-4E6E-9456-6D1E77C88269}" type="datetime1">
              <a:t>2026/6/14</a:t>
            </a:fld>
            <a:endParaRPr/>
          </a:p>
        </p:txBody>
      </p:sp>
      <p:sp>
        <p:nvSpPr>
          <p:cNvPr id="62" name="页脚占位符 5">
            <a:extLst>
              <a:ext uri="{FF2B5EF4-FFF2-40B4-BE49-F238E27FC236}">
                <a16:creationId xmlns:a16="http://schemas.microsoft.com/office/drawing/2014/main" id="{1CACCAB4-19D0-4933-BADF-1C219AF2D682}"/>
              </a:ext>
            </a:extLst>
          </p:cNvPr>
          <p:cNvSpPr>
            <a:spLocks noGrp="1"/>
          </p:cNvSpPr>
          <p:nvPr>
            <p:ph type="ftr" idx="11"/>
          </p:nvPr>
        </p:nvSpPr>
        <p:spPr/>
        <p:txBody>
          <a:bodyPr/>
          <a:lstStyle/>
          <a:p>
            <a:endParaRPr/>
          </a:p>
        </p:txBody>
      </p:sp>
      <p:sp>
        <p:nvSpPr>
          <p:cNvPr id="63" name="灯片编号占位符 6">
            <a:extLst>
              <a:ext uri="{FF2B5EF4-FFF2-40B4-BE49-F238E27FC236}">
                <a16:creationId xmlns:a16="http://schemas.microsoft.com/office/drawing/2014/main" id="{0618521D-6631-463C-9257-F1EFC8CA3FC8}"/>
              </a:ext>
            </a:extLst>
          </p:cNvPr>
          <p:cNvSpPr>
            <a:spLocks noGrp="1"/>
          </p:cNvSpPr>
          <p:nvPr>
            <p:ph type="sldNum" idx="12"/>
          </p:nvPr>
        </p:nvSpPr>
        <p:spPr/>
        <p:txBody>
          <a:bodyPr/>
          <a:lstStyle/>
          <a:p>
            <a:fld id="{747CCC7F-E1A2-469B-A337-764C3DF07313}"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chOff x="0" y="0"/>
          <a:chExt cx="0" cy="0"/>
        </a:xfrm>
      </p:grpSpPr>
      <p:sp>
        <p:nvSpPr>
          <p:cNvPr id="65" name="标题 1">
            <a:extLst>
              <a:ext uri="{FF2B5EF4-FFF2-40B4-BE49-F238E27FC236}">
                <a16:creationId xmlns:a16="http://schemas.microsoft.com/office/drawing/2014/main" id="{17927255-5200-4B6D-A609-B249AFA38D8A}"/>
              </a:ext>
            </a:extLst>
          </p:cNvPr>
          <p:cNvSpPr>
            <a:spLocks noGrp="1"/>
          </p:cNvSpPr>
          <p:nvPr>
            <p:ph type="title"/>
          </p:nvPr>
        </p:nvSpPr>
        <p:spPr/>
        <p:txBody>
          <a:bodyPr/>
          <a:lstStyle/>
          <a:p>
            <a:r>
              <a:t>单击此处编辑母版标题样式</a:t>
            </a:r>
          </a:p>
        </p:txBody>
      </p:sp>
      <p:sp>
        <p:nvSpPr>
          <p:cNvPr id="66" name="竖排文字占位符 2">
            <a:extLst>
              <a:ext uri="{FF2B5EF4-FFF2-40B4-BE49-F238E27FC236}">
                <a16:creationId xmlns:a16="http://schemas.microsoft.com/office/drawing/2014/main" id="{7F566ADF-4654-4758-81CF-8E8CCD419A47}"/>
              </a:ext>
            </a:extLst>
          </p:cNvPr>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67" name="日期占位符 3">
            <a:extLst>
              <a:ext uri="{FF2B5EF4-FFF2-40B4-BE49-F238E27FC236}">
                <a16:creationId xmlns:a16="http://schemas.microsoft.com/office/drawing/2014/main" id="{8B85D177-341F-4936-B23F-517D3EEF0896}"/>
              </a:ext>
            </a:extLst>
          </p:cNvPr>
          <p:cNvSpPr>
            <a:spLocks noGrp="1"/>
          </p:cNvSpPr>
          <p:nvPr>
            <p:ph type="dt" idx="10"/>
          </p:nvPr>
        </p:nvSpPr>
        <p:spPr/>
        <p:txBody>
          <a:bodyPr/>
          <a:lstStyle/>
          <a:p>
            <a:fld id="{9772B07E-4E44-4E95-89AF-F1EF6F4CC7EC}" type="datetime1">
              <a:t>2026/6/14</a:t>
            </a:fld>
            <a:endParaRPr/>
          </a:p>
        </p:txBody>
      </p:sp>
      <p:sp>
        <p:nvSpPr>
          <p:cNvPr id="68" name="页脚占位符 4">
            <a:extLst>
              <a:ext uri="{FF2B5EF4-FFF2-40B4-BE49-F238E27FC236}">
                <a16:creationId xmlns:a16="http://schemas.microsoft.com/office/drawing/2014/main" id="{1DE68863-2042-48C5-9079-213A94D740C2}"/>
              </a:ext>
            </a:extLst>
          </p:cNvPr>
          <p:cNvSpPr>
            <a:spLocks noGrp="1"/>
          </p:cNvSpPr>
          <p:nvPr>
            <p:ph type="ftr" idx="11"/>
          </p:nvPr>
        </p:nvSpPr>
        <p:spPr/>
        <p:txBody>
          <a:bodyPr/>
          <a:lstStyle/>
          <a:p>
            <a:endParaRPr/>
          </a:p>
        </p:txBody>
      </p:sp>
      <p:sp>
        <p:nvSpPr>
          <p:cNvPr id="69" name="灯片编号占位符 5">
            <a:extLst>
              <a:ext uri="{FF2B5EF4-FFF2-40B4-BE49-F238E27FC236}">
                <a16:creationId xmlns:a16="http://schemas.microsoft.com/office/drawing/2014/main" id="{E8806AB6-52B2-4800-906E-1ACACECC6A7E}"/>
              </a:ext>
            </a:extLst>
          </p:cNvPr>
          <p:cNvSpPr>
            <a:spLocks noGrp="1"/>
          </p:cNvSpPr>
          <p:nvPr>
            <p:ph type="sldNum" idx="12"/>
          </p:nvPr>
        </p:nvSpPr>
        <p:spPr/>
        <p:txBody>
          <a:bodyPr/>
          <a:lstStyle/>
          <a:p>
            <a:fld id="{10D47AF7-089F-4725-8B45-DEA8A59F6C62}"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竖排标题与文本">
    <p:spTree>
      <p:nvGrpSpPr>
        <p:cNvPr id="1" name=""/>
        <p:cNvGrpSpPr/>
        <p:nvPr/>
      </p:nvGrpSpPr>
      <p:grpSpPr>
        <a:xfrm>
          <a:off x="0" y="0"/>
          <a:ext cx="0" cy="0"/>
          <a:chOff x="0" y="0"/>
          <a:chExt cx="0" cy="0"/>
        </a:xfrm>
      </p:grpSpPr>
      <p:sp>
        <p:nvSpPr>
          <p:cNvPr id="14" name="竖排标题 1">
            <a:extLst>
              <a:ext uri="{FF2B5EF4-FFF2-40B4-BE49-F238E27FC236}">
                <a16:creationId xmlns:a16="http://schemas.microsoft.com/office/drawing/2014/main" id="{62E3E628-D729-4A42-87E9-6A13C5F120A8}"/>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15" name="竖排文字占位符 2">
            <a:extLst>
              <a:ext uri="{FF2B5EF4-FFF2-40B4-BE49-F238E27FC236}">
                <a16:creationId xmlns:a16="http://schemas.microsoft.com/office/drawing/2014/main" id="{FDE587EA-8235-46EE-8FF4-A0FDC3962B77}"/>
              </a:ext>
            </a:extLst>
          </p:cNvPr>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16" name="日期占位符 3">
            <a:extLst>
              <a:ext uri="{FF2B5EF4-FFF2-40B4-BE49-F238E27FC236}">
                <a16:creationId xmlns:a16="http://schemas.microsoft.com/office/drawing/2014/main" id="{A9891120-669F-4FF5-8A55-D6844A0589BD}"/>
              </a:ext>
            </a:extLst>
          </p:cNvPr>
          <p:cNvSpPr>
            <a:spLocks noGrp="1"/>
          </p:cNvSpPr>
          <p:nvPr>
            <p:ph type="dt" idx="10"/>
          </p:nvPr>
        </p:nvSpPr>
        <p:spPr/>
        <p:txBody>
          <a:bodyPr/>
          <a:lstStyle/>
          <a:p>
            <a:fld id="{17AA1729-FFEC-4670-BE57-9BB1B6CF1583}" type="datetime1">
              <a:t>2026/6/14</a:t>
            </a:fld>
            <a:endParaRPr/>
          </a:p>
        </p:txBody>
      </p:sp>
      <p:sp>
        <p:nvSpPr>
          <p:cNvPr id="17" name="页脚占位符 4">
            <a:extLst>
              <a:ext uri="{FF2B5EF4-FFF2-40B4-BE49-F238E27FC236}">
                <a16:creationId xmlns:a16="http://schemas.microsoft.com/office/drawing/2014/main" id="{8A661A29-DC77-45CD-843C-06FB59737312}"/>
              </a:ext>
            </a:extLst>
          </p:cNvPr>
          <p:cNvSpPr>
            <a:spLocks noGrp="1"/>
          </p:cNvSpPr>
          <p:nvPr>
            <p:ph type="ftr" idx="11"/>
          </p:nvPr>
        </p:nvSpPr>
        <p:spPr/>
        <p:txBody>
          <a:bodyPr/>
          <a:lstStyle/>
          <a:p>
            <a:endParaRPr/>
          </a:p>
        </p:txBody>
      </p:sp>
      <p:sp>
        <p:nvSpPr>
          <p:cNvPr id="18" name="灯片编号占位符 5">
            <a:extLst>
              <a:ext uri="{FF2B5EF4-FFF2-40B4-BE49-F238E27FC236}">
                <a16:creationId xmlns:a16="http://schemas.microsoft.com/office/drawing/2014/main" id="{F13B4EB9-E145-46DA-A868-ED33485CF342}"/>
              </a:ext>
            </a:extLst>
          </p:cNvPr>
          <p:cNvSpPr>
            <a:spLocks noGrp="1"/>
          </p:cNvSpPr>
          <p:nvPr>
            <p:ph type="sldNum" idx="12"/>
          </p:nvPr>
        </p:nvSpPr>
        <p:spPr/>
        <p:txBody>
          <a:bodyPr/>
          <a:lstStyle/>
          <a:p>
            <a:fld id="{A7AACFD0-6D64-47CD-A483-D6FD4530736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6936DB4E-841A-4379-B51B-14AD73705C41}"/>
              </a:ext>
            </a:extLst>
          </p:cNvPr>
          <p:cNvSpPr>
            <a:spLocks noGrp="1"/>
          </p:cNvSpPr>
          <p:nvPr>
            <p:ph type="title"/>
          </p:nvPr>
        </p:nvSpPr>
        <p:spPr/>
        <p:txBody>
          <a:bodyPr/>
          <a:lstStyle/>
          <a:p>
            <a:r>
              <a:t>单击此处编辑母版标题样式</a:t>
            </a:r>
          </a:p>
        </p:txBody>
      </p:sp>
      <p:sp>
        <p:nvSpPr>
          <p:cNvPr id="9" name="内容占位符 2">
            <a:extLst>
              <a:ext uri="{FF2B5EF4-FFF2-40B4-BE49-F238E27FC236}">
                <a16:creationId xmlns:a16="http://schemas.microsoft.com/office/drawing/2014/main" id="{D859996F-A421-494B-AA01-FF66DA425A27}"/>
              </a:ext>
            </a:extLst>
          </p:cNvPr>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10" name="日期占位符 3">
            <a:extLst>
              <a:ext uri="{FF2B5EF4-FFF2-40B4-BE49-F238E27FC236}">
                <a16:creationId xmlns:a16="http://schemas.microsoft.com/office/drawing/2014/main" id="{1FCF9A93-114B-46D2-BCA1-620C3B54B4A1}"/>
              </a:ext>
            </a:extLst>
          </p:cNvPr>
          <p:cNvSpPr>
            <a:spLocks noGrp="1"/>
          </p:cNvSpPr>
          <p:nvPr>
            <p:ph type="dt" idx="10"/>
          </p:nvPr>
        </p:nvSpPr>
        <p:spPr/>
        <p:txBody>
          <a:bodyPr/>
          <a:lstStyle/>
          <a:p>
            <a:fld id="{7B03108F-6D01-401F-BB83-A4EE273EE035}" type="datetime1">
              <a:t>2026/6/14</a:t>
            </a:fld>
            <a:endParaRPr/>
          </a:p>
        </p:txBody>
      </p:sp>
      <p:sp>
        <p:nvSpPr>
          <p:cNvPr id="11" name="页脚占位符 4">
            <a:extLst>
              <a:ext uri="{FF2B5EF4-FFF2-40B4-BE49-F238E27FC236}">
                <a16:creationId xmlns:a16="http://schemas.microsoft.com/office/drawing/2014/main" id="{CEEB537A-3B55-461F-883A-B648C7964EC6}"/>
              </a:ext>
            </a:extLst>
          </p:cNvPr>
          <p:cNvSpPr>
            <a:spLocks noGrp="1"/>
          </p:cNvSpPr>
          <p:nvPr>
            <p:ph type="ftr" idx="11"/>
          </p:nvPr>
        </p:nvSpPr>
        <p:spPr/>
        <p:txBody>
          <a:bodyPr/>
          <a:lstStyle/>
          <a:p>
            <a:endParaRPr/>
          </a:p>
        </p:txBody>
      </p:sp>
      <p:sp>
        <p:nvSpPr>
          <p:cNvPr id="12" name="灯片编号占位符 5">
            <a:extLst>
              <a:ext uri="{FF2B5EF4-FFF2-40B4-BE49-F238E27FC236}">
                <a16:creationId xmlns:a16="http://schemas.microsoft.com/office/drawing/2014/main" id="{36558B55-3DD8-45C4-89BA-6464D3F575DB}"/>
              </a:ext>
            </a:extLst>
          </p:cNvPr>
          <p:cNvSpPr>
            <a:spLocks noGrp="1"/>
          </p:cNvSpPr>
          <p:nvPr>
            <p:ph type="sldNum" idx="12"/>
          </p:nvPr>
        </p:nvSpPr>
        <p:spPr/>
        <p:txBody>
          <a:bodyPr/>
          <a:lstStyle/>
          <a:p>
            <a:fld id="{2A18DFAB-279D-45FB-8988-01B47F34F95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2BDD6-9E4E-4457-9222-ABE3859CF563}"/>
              </a:ext>
            </a:extLst>
          </p:cNvPr>
          <p:cNvSpPr>
            <a:spLocks noGrp="1"/>
          </p:cNvSpPr>
          <p:nvPr>
            <p:ph idx="1"/>
          </p:nvPr>
        </p:nvSpPr>
        <p:spPr>
          <a:xfrm>
            <a:off x="848989" y="1178262"/>
            <a:ext cx="10515600" cy="4351338"/>
          </a:xfrm>
          <a:prstGeom prst="rect">
            <a:avLst/>
          </a:prstGeom>
        </p:spPr>
        <p:txBody>
          <a:bodyPr/>
          <a:lstStyle>
            <a:lvl1pPr>
              <a:buNone/>
              <a:defRPr sz="2000">
                <a:latin typeface="Arial"/>
                <a:ea typeface="Arial"/>
                <a:cs typeface="Arial"/>
              </a:defRPr>
            </a:lvl1pPr>
            <a:lvl2pPr marL="685800" indent="-228600">
              <a:buChar char="o"/>
              <a:defRPr sz="1800">
                <a:latin typeface="Arial"/>
                <a:ea typeface="Arial"/>
                <a:cs typeface="Arial"/>
              </a:defRPr>
            </a:lvl2pPr>
            <a:lvl3pPr marL="1143000" indent="-228600">
              <a:buChar char="•"/>
              <a:defRPr sz="1600">
                <a:latin typeface="Arial"/>
                <a:ea typeface="Arial"/>
                <a:cs typeface="Arial"/>
              </a:defRPr>
            </a:lvl3pPr>
            <a:lvl4pPr marL="1600200" indent="-228600">
              <a:buChar char="•"/>
              <a:defRPr sz="1400">
                <a:latin typeface="Arial"/>
                <a:ea typeface="Arial"/>
                <a:cs typeface="Arial"/>
              </a:defRPr>
            </a:lvl4pPr>
            <a:lvl5pPr marL="2057400" indent="-228600">
              <a:buChar char="•"/>
              <a:defRPr sz="1400">
                <a:latin typeface="Arial"/>
                <a:ea typeface="Arial"/>
                <a:cs typeface="Arial"/>
              </a:defRPr>
            </a:lvl5pPr>
          </a:lstStyle>
          <a:p>
            <a:pPr>
              <a:buNone/>
            </a:pPr>
            <a:r>
              <a:t>Edit Master text styles</a:t>
            </a:r>
          </a:p>
          <a:p>
            <a:pPr>
              <a:buNone/>
            </a:pPr>
            <a:r>
              <a:t>Second level</a:t>
            </a:r>
          </a:p>
          <a:p>
            <a:pPr>
              <a:buNone/>
            </a:pPr>
            <a:r>
              <a:t>Third level</a:t>
            </a:r>
          </a:p>
          <a:p>
            <a:pPr>
              <a:buNone/>
            </a:pPr>
            <a:r>
              <a:t>Fourth level</a:t>
            </a:r>
          </a:p>
          <a:p>
            <a:pPr>
              <a:buNone/>
            </a:pPr>
            <a:r>
              <a:t>Fifth level</a:t>
            </a:r>
          </a:p>
        </p:txBody>
      </p:sp>
      <p:sp>
        <p:nvSpPr>
          <p:cNvPr id="10" name="Title 1">
            <a:extLst>
              <a:ext uri="{FF2B5EF4-FFF2-40B4-BE49-F238E27FC236}">
                <a16:creationId xmlns:a16="http://schemas.microsoft.com/office/drawing/2014/main" id="{BF77787B-9799-44F9-AFF4-755097C6B47C}"/>
              </a:ext>
            </a:extLst>
          </p:cNvPr>
          <p:cNvSpPr>
            <a:spLocks noGrp="1"/>
          </p:cNvSpPr>
          <p:nvPr>
            <p:ph type="title" hasCustomPrompt="1"/>
          </p:nvPr>
        </p:nvSpPr>
        <p:spPr>
          <a:xfrm>
            <a:off x="217808" y="203284"/>
            <a:ext cx="6096000" cy="521208"/>
          </a:xfrm>
          <a:prstGeom prst="rect">
            <a:avLst/>
          </a:prstGeom>
          <a:solidFill>
            <a:schemeClr val="accent1"/>
          </a:solidFill>
        </p:spPr>
        <p:txBody>
          <a:bodyPr anchor="ctr"/>
          <a:lstStyle>
            <a:lvl1pPr>
              <a:buNone/>
              <a:defRPr sz="2800" b="1">
                <a:solidFill>
                  <a:schemeClr val="bg1"/>
                </a:solidFill>
                <a:latin typeface="Arial"/>
                <a:ea typeface="Arial"/>
                <a:cs typeface="Arial"/>
              </a:defRPr>
            </a:lvl1pPr>
          </a:lstStyle>
          <a:p>
            <a:r>
              <a:t>Slide Title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8890" y="456134"/>
            <a:ext cx="10736446" cy="993400"/>
          </a:xfrm>
          <a:prstGeom prst="rect">
            <a:avLst/>
          </a:prstGeom>
        </p:spPr>
        <p:txBody>
          <a:bodyPr lIns="0" tIns="0" rIns="0" bIns="0" anchor="t">
            <a:normAutofit/>
          </a:bodyPr>
          <a:lstStyle>
            <a:lvl1pPr marL="0" indent="0" algn="l">
              <a:lnSpc>
                <a:spcPts val="3429"/>
              </a:lnSpc>
              <a:spcBef>
                <a:spcPts val="0"/>
              </a:spcBef>
              <a:buNone/>
              <a:defRPr sz="3199">
                <a:solidFill>
                  <a:schemeClr val="tx1"/>
                </a:solidFill>
                <a:latin typeface="Microsoft YaHei"/>
                <a:ea typeface="Microsoft YaHei"/>
                <a:cs typeface="Microsoft YaHei"/>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t>单击此处添加标题</a:t>
            </a:r>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621" y="1501989"/>
            <a:ext cx="10729365" cy="4690459"/>
          </a:xfrm>
          <a:prstGeom prst="rect">
            <a:avLst/>
          </a:prstGeom>
        </p:spPr>
        <p:txBody>
          <a:bodyPr lIns="0" tIns="0" rIns="0" bIns="0"/>
          <a:lstStyle>
            <a:lvl1pPr marL="12368" indent="0">
              <a:lnSpc>
                <a:spcPct val="100000"/>
              </a:lnSpc>
              <a:spcBef>
                <a:spcPts val="0"/>
              </a:spcBef>
              <a:buNone/>
              <a:defRPr sz="1799">
                <a:solidFill>
                  <a:schemeClr val="tx1"/>
                </a:solidFill>
                <a:latin typeface="Microsoft YaHei"/>
                <a:ea typeface="Microsoft YaHei"/>
                <a:cs typeface="Microsoft YaHei"/>
              </a:defRPr>
            </a:lvl1pPr>
            <a:lvl2pPr marL="525640" indent="-171091">
              <a:buChar char="•"/>
              <a:defRPr sz="1298"/>
            </a:lvl2pPr>
            <a:lvl3pPr marL="525640" indent="-171091">
              <a:buChar char="•"/>
              <a:defRPr sz="1298"/>
            </a:lvl3pPr>
            <a:lvl4pPr marL="525640" indent="-171091">
              <a:buChar char="•"/>
              <a:defRPr sz="1298"/>
            </a:lvl4pPr>
            <a:lvl5pPr marL="525640" indent="-171091">
              <a:buChar char="•"/>
              <a:defRPr sz="1298"/>
            </a:lvl5pPr>
          </a:lstStyle>
          <a:p>
            <a:pPr>
              <a:buNone/>
            </a:pPr>
            <a:r>
              <a:t>单击此处添加文本</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6826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AE85BCB-7C3A-7CD4-A955-811D18E22912}"/>
              </a:ext>
            </a:extLst>
          </p:cNvPr>
          <p:cNvSpPr>
            <a:spLocks noGrp="1"/>
          </p:cNvSpPr>
          <p:nvPr>
            <p:ph type="dt" idx="10"/>
          </p:nvPr>
        </p:nvSpPr>
        <p:spPr/>
        <p:txBody>
          <a:bodyPr/>
          <a:lstStyle/>
          <a:p>
            <a:fld id="{C14ADBE2-30DF-480B-A5CC-C216012A8DE2}" type="datetime1">
              <a:rPr lang="en-US" altLang="zh-CN" smtClean="0"/>
              <a:t>6/14/2026</a:t>
            </a:fld>
            <a:endParaRPr lang="zh-CN" altLang="en-US"/>
          </a:p>
        </p:txBody>
      </p:sp>
      <p:sp>
        <p:nvSpPr>
          <p:cNvPr id="3" name="页脚占位符 2">
            <a:extLst>
              <a:ext uri="{FF2B5EF4-FFF2-40B4-BE49-F238E27FC236}">
                <a16:creationId xmlns:a16="http://schemas.microsoft.com/office/drawing/2014/main" id="{41724FA6-7003-376F-91E6-0EE3EEF94327}"/>
              </a:ext>
            </a:extLst>
          </p:cNvPr>
          <p:cNvSpPr>
            <a:spLocks noGrp="1"/>
          </p:cNvSpPr>
          <p:nvPr>
            <p:ph type="ftr" idx="11"/>
          </p:nvPr>
        </p:nvSpPr>
        <p:spPr/>
        <p:txBody>
          <a:bodyPr/>
          <a:lstStyle/>
          <a:p>
            <a:endParaRPr lang="zh-CN" altLang="en-US"/>
          </a:p>
        </p:txBody>
      </p:sp>
      <p:sp>
        <p:nvSpPr>
          <p:cNvPr id="4" name="灯片编号占位符 3">
            <a:extLst>
              <a:ext uri="{FF2B5EF4-FFF2-40B4-BE49-F238E27FC236}">
                <a16:creationId xmlns:a16="http://schemas.microsoft.com/office/drawing/2014/main" id="{4AEEF62D-C600-C9EA-49D1-BE396191F783}"/>
              </a:ext>
            </a:extLst>
          </p:cNvPr>
          <p:cNvSpPr>
            <a:spLocks noGrp="1"/>
          </p:cNvSpPr>
          <p:nvPr>
            <p:ph type="sldNum" idx="12"/>
          </p:nvPr>
        </p:nvSpPr>
        <p:spPr/>
        <p:txBody>
          <a:bodyPr/>
          <a:lstStyle/>
          <a:p>
            <a:fld id="{DD09DED9-3562-4003-9ED4-F9F7C2DA97F0}" type="slidenum">
              <a:rPr lang="en-US" altLang="zh-CN" smtClean="0"/>
              <a:t>‹#›</a:t>
            </a:fld>
            <a:endParaRPr lang="zh-CN" altLang="en-US"/>
          </a:p>
        </p:txBody>
      </p:sp>
    </p:spTree>
    <p:extLst>
      <p:ext uri="{BB962C8B-B14F-4D97-AF65-F5344CB8AC3E}">
        <p14:creationId xmlns:p14="http://schemas.microsoft.com/office/powerpoint/2010/main" val="1080575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A1F7FE5-011F-4F78-BB4D-A8FE098905CB}"/>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4038569C-5E1D-42C9-A982-1FCA564F57C6}"/>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a:extLst>
              <a:ext uri="{FF2B5EF4-FFF2-40B4-BE49-F238E27FC236}">
                <a16:creationId xmlns:a16="http://schemas.microsoft.com/office/drawing/2014/main" id="{F5760A08-5F28-430B-BBA1-0F44387ECF1D}"/>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C14ADBE2-30DF-480B-A5CC-C216012A8DE2}" type="datetime1">
              <a:t>2026/6/14</a:t>
            </a:fld>
            <a:endParaRPr/>
          </a:p>
        </p:txBody>
      </p:sp>
      <p:sp>
        <p:nvSpPr>
          <p:cNvPr id="5" name="页脚占位符 4">
            <a:extLst>
              <a:ext uri="{FF2B5EF4-FFF2-40B4-BE49-F238E27FC236}">
                <a16:creationId xmlns:a16="http://schemas.microsoft.com/office/drawing/2014/main" id="{47B178B1-2438-420A-A962-B9E3A272DE32}"/>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AB96250C-9417-4EDD-8AC3-89EB383DAB9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DD09DED9-3562-4003-9ED4-F9F7C2DA97F0}"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a:lnSpc>
          <a:spcPct val="130000"/>
        </a:lnSpc>
        <a:spcBef>
          <a:spcPts val="0"/>
        </a:spcBef>
        <a:buNone/>
        <a:defRPr sz="4400">
          <a:solidFill>
            <a:schemeClr val="tx1"/>
          </a:solidFill>
          <a:latin typeface="Arial"/>
          <a:ea typeface="Arial"/>
          <a:cs typeface="Arial"/>
        </a:defRPr>
      </a:lvl1pPr>
    </p:titleStyle>
    <p:bodyStyle>
      <a:lvl1pPr marL="228600" indent="-228600" algn="l">
        <a:lnSpc>
          <a:spcPct val="130000"/>
        </a:lnSpc>
        <a:spcBef>
          <a:spcPts val="1000"/>
        </a:spcBef>
        <a:buChar char="•"/>
        <a:defRPr sz="2800">
          <a:solidFill>
            <a:schemeClr val="tx1"/>
          </a:solidFill>
          <a:latin typeface="Arial"/>
          <a:ea typeface="Arial"/>
          <a:cs typeface="Arial"/>
        </a:defRPr>
      </a:lvl1pPr>
      <a:lvl2pPr marL="685800" indent="-228600" algn="l">
        <a:lnSpc>
          <a:spcPct val="130000"/>
        </a:lnSpc>
        <a:spcBef>
          <a:spcPts val="500"/>
        </a:spcBef>
        <a:buChar char="•"/>
        <a:defRPr sz="2400">
          <a:solidFill>
            <a:schemeClr val="tx1"/>
          </a:solidFill>
          <a:latin typeface="Arial"/>
          <a:ea typeface="Arial"/>
          <a:cs typeface="Arial"/>
        </a:defRPr>
      </a:lvl2pPr>
      <a:lvl3pPr marL="1143000" indent="-228600" algn="l">
        <a:lnSpc>
          <a:spcPct val="130000"/>
        </a:lnSpc>
        <a:spcBef>
          <a:spcPts val="500"/>
        </a:spcBef>
        <a:buChar char="•"/>
        <a:defRPr sz="2000">
          <a:solidFill>
            <a:schemeClr val="tx1"/>
          </a:solidFill>
          <a:latin typeface="Arial"/>
          <a:ea typeface="Arial"/>
          <a:cs typeface="Arial"/>
        </a:defRPr>
      </a:lvl3pPr>
      <a:lvl4pPr marL="1600200" indent="-228600" algn="l">
        <a:lnSpc>
          <a:spcPct val="130000"/>
        </a:lnSpc>
        <a:spcBef>
          <a:spcPts val="500"/>
        </a:spcBef>
        <a:buChar char="•"/>
        <a:defRPr sz="1800">
          <a:solidFill>
            <a:schemeClr val="tx1"/>
          </a:solidFill>
          <a:latin typeface="Arial"/>
          <a:ea typeface="Arial"/>
          <a:cs typeface="Arial"/>
        </a:defRPr>
      </a:lvl4pPr>
      <a:lvl5pPr marL="2057400" indent="-228600" algn="l">
        <a:lnSpc>
          <a:spcPct val="130000"/>
        </a:lnSpc>
        <a:spcBef>
          <a:spcPts val="500"/>
        </a:spcBef>
        <a:buChar char="•"/>
        <a:defRPr sz="1800">
          <a:solidFill>
            <a:schemeClr val="tx1"/>
          </a:solidFill>
          <a:latin typeface="Arial"/>
          <a:ea typeface="Arial"/>
          <a:cs typeface="Arial"/>
        </a:defRPr>
      </a:lvl5pPr>
      <a:lvl6pPr marL="2514600" indent="-228600" algn="l">
        <a:lnSpc>
          <a:spcPct val="130000"/>
        </a:lnSpc>
        <a:spcBef>
          <a:spcPts val="500"/>
        </a:spcBef>
        <a:buChar char="•"/>
        <a:defRPr sz="1800">
          <a:solidFill>
            <a:schemeClr val="tx1"/>
          </a:solidFill>
          <a:latin typeface="Arial"/>
          <a:ea typeface="Arial"/>
          <a:cs typeface="Arial"/>
        </a:defRPr>
      </a:lvl6pPr>
      <a:lvl7pPr marL="2971800" indent="-228600" algn="l">
        <a:lnSpc>
          <a:spcPct val="130000"/>
        </a:lnSpc>
        <a:spcBef>
          <a:spcPts val="500"/>
        </a:spcBef>
        <a:buChar char="•"/>
        <a:defRPr sz="1800">
          <a:solidFill>
            <a:schemeClr val="tx1"/>
          </a:solidFill>
          <a:latin typeface="Arial"/>
          <a:ea typeface="Arial"/>
          <a:cs typeface="Arial"/>
        </a:defRPr>
      </a:lvl7pPr>
      <a:lvl8pPr marL="3429000" indent="-228600" algn="l">
        <a:lnSpc>
          <a:spcPct val="130000"/>
        </a:lnSpc>
        <a:spcBef>
          <a:spcPts val="500"/>
        </a:spcBef>
        <a:buChar char="•"/>
        <a:defRPr sz="1800">
          <a:solidFill>
            <a:schemeClr val="tx1"/>
          </a:solidFill>
          <a:latin typeface="Arial"/>
          <a:ea typeface="Arial"/>
          <a:cs typeface="Arial"/>
        </a:defRPr>
      </a:lvl8pPr>
      <a:lvl9pPr marL="3886200" indent="-228600" algn="l">
        <a:lnSpc>
          <a:spcPct val="130000"/>
        </a:lnSpc>
        <a:spcBef>
          <a:spcPts val="500"/>
        </a:spcBef>
        <a:buChar char="•"/>
        <a:defRPr sz="1800">
          <a:solidFill>
            <a:schemeClr val="tx1"/>
          </a:solidFill>
          <a:latin typeface="Arial"/>
          <a:ea typeface="Arial"/>
          <a:cs typeface="Arial"/>
        </a:defRPr>
      </a:lvl9pPr>
    </p:bodyStyle>
    <p:otherStyle>
      <a:lvl1pPr marL="0" algn="l">
        <a:lnSpc>
          <a:spcPct val="130000"/>
        </a:lnSpc>
        <a:buNone/>
        <a:defRPr sz="1800">
          <a:solidFill>
            <a:schemeClr val="tx1"/>
          </a:solidFill>
          <a:latin typeface="Arial"/>
          <a:ea typeface="Arial"/>
          <a:cs typeface="Arial"/>
        </a:defRPr>
      </a:lvl1pPr>
      <a:lvl2pPr marL="457200" algn="l">
        <a:lnSpc>
          <a:spcPct val="130000"/>
        </a:lnSpc>
        <a:buNone/>
        <a:defRPr sz="1800">
          <a:solidFill>
            <a:schemeClr val="tx1"/>
          </a:solidFill>
          <a:latin typeface="Arial"/>
          <a:ea typeface="Arial"/>
          <a:cs typeface="Arial"/>
        </a:defRPr>
      </a:lvl2pPr>
      <a:lvl3pPr marL="914400" algn="l">
        <a:lnSpc>
          <a:spcPct val="130000"/>
        </a:lnSpc>
        <a:buNone/>
        <a:defRPr sz="1800">
          <a:solidFill>
            <a:schemeClr val="tx1"/>
          </a:solidFill>
          <a:latin typeface="Arial"/>
          <a:ea typeface="Arial"/>
          <a:cs typeface="Arial"/>
        </a:defRPr>
      </a:lvl3pPr>
      <a:lvl4pPr marL="1371600" algn="l">
        <a:lnSpc>
          <a:spcPct val="130000"/>
        </a:lnSpc>
        <a:buNone/>
        <a:defRPr sz="1800">
          <a:solidFill>
            <a:schemeClr val="tx1"/>
          </a:solidFill>
          <a:latin typeface="Arial"/>
          <a:ea typeface="Arial"/>
          <a:cs typeface="Arial"/>
        </a:defRPr>
      </a:lvl4pPr>
      <a:lvl5pPr marL="1828800" algn="l">
        <a:lnSpc>
          <a:spcPct val="130000"/>
        </a:lnSpc>
        <a:buNone/>
        <a:defRPr sz="1800">
          <a:solidFill>
            <a:schemeClr val="tx1"/>
          </a:solidFill>
          <a:latin typeface="Arial"/>
          <a:ea typeface="Arial"/>
          <a:cs typeface="Arial"/>
        </a:defRPr>
      </a:lvl5pPr>
      <a:lvl6pPr marL="2286000" algn="l">
        <a:lnSpc>
          <a:spcPct val="130000"/>
        </a:lnSpc>
        <a:buNone/>
        <a:defRPr sz="1800">
          <a:solidFill>
            <a:schemeClr val="tx1"/>
          </a:solidFill>
          <a:latin typeface="Arial"/>
          <a:ea typeface="Arial"/>
          <a:cs typeface="Arial"/>
        </a:defRPr>
      </a:lvl6pPr>
      <a:lvl7pPr marL="2743200" algn="l">
        <a:lnSpc>
          <a:spcPct val="130000"/>
        </a:lnSpc>
        <a:buNone/>
        <a:defRPr sz="1800">
          <a:solidFill>
            <a:schemeClr val="tx1"/>
          </a:solidFill>
          <a:latin typeface="Arial"/>
          <a:ea typeface="Arial"/>
          <a:cs typeface="Arial"/>
        </a:defRPr>
      </a:lvl7pPr>
      <a:lvl8pPr marL="3200400" algn="l">
        <a:lnSpc>
          <a:spcPct val="130000"/>
        </a:lnSpc>
        <a:buNone/>
        <a:defRPr sz="1800">
          <a:solidFill>
            <a:schemeClr val="tx1"/>
          </a:solidFill>
          <a:latin typeface="Arial"/>
          <a:ea typeface="Arial"/>
          <a:cs typeface="Arial"/>
        </a:defRPr>
      </a:lvl8pPr>
      <a:lvl9pPr marL="3657600" algn="l">
        <a:lnSpc>
          <a:spcPct val="130000"/>
        </a:lnSpc>
        <a:buNone/>
        <a:defRPr sz="180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4.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2.webp"/><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image" Target="../media/image28.png"/><Relationship Id="rId4"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FEB23C-872E-47B2-B759-D37544DB24E2}"/>
              </a:ext>
            </a:extLst>
          </p:cNvPr>
          <p:cNvSpPr>
            <a:spLocks noGrp="1"/>
          </p:cNvSpPr>
          <p:nvPr>
            <p:ph type="ctrTitle"/>
          </p:nvPr>
        </p:nvSpPr>
        <p:spPr>
          <a:xfrm>
            <a:off x="1524000" y="2829791"/>
            <a:ext cx="9144000" cy="1198418"/>
          </a:xfrm>
        </p:spPr>
        <p:txBody>
          <a:bodyPr>
            <a:normAutofit fontScale="93124"/>
          </a:bodyPr>
          <a:lstStyle/>
          <a:p>
            <a:pPr>
              <a:buNone/>
            </a:pPr>
            <a:r>
              <a:t>第二章：硬件设计计算</a:t>
            </a:r>
          </a:p>
        </p:txBody>
      </p:sp>
      <p:sp>
        <p:nvSpPr>
          <p:cNvPr id="4" name="文本框 3">
            <a:extLst>
              <a:ext uri="{FF2B5EF4-FFF2-40B4-BE49-F238E27FC236}">
                <a16:creationId xmlns:a16="http://schemas.microsoft.com/office/drawing/2014/main" id="{F296609D-2C54-3ECB-38A6-789FBBFD08B2}"/>
              </a:ext>
            </a:extLst>
          </p:cNvPr>
          <p:cNvSpPr>
            <a:spLocks noGrp="1"/>
          </p:cNvSpPr>
          <p:nvPr/>
        </p:nvSpPr>
        <p:spPr>
          <a:xfrm>
            <a:off x="3048000" y="4687079"/>
            <a:ext cx="6096000" cy="777008"/>
          </a:xfrm>
          <a:prstGeom prst="rect">
            <a:avLst/>
          </a:prstGeom>
          <a:noFill/>
        </p:spPr>
        <p:txBody>
          <a:bodyPr wrap="square">
            <a:spAutoFit/>
          </a:bodyPr>
          <a:lstStyle/>
          <a:p>
            <a:r>
              <a:rPr b="1"/>
              <a:t>需求分析 → 芯片选型 → 原理图设计 → PCB Layout → 测试验证。</a:t>
            </a:r>
          </a:p>
        </p:txBody>
      </p:sp>
    </p:spTree>
    <p:extLst>
      <p:ext uri="{BB962C8B-B14F-4D97-AF65-F5344CB8AC3E}">
        <p14:creationId xmlns:p14="http://schemas.microsoft.com/office/powerpoint/2010/main" val="1233603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98C9B12-92BE-4008-54D0-660E06892BEE}"/>
              </a:ext>
            </a:extLst>
          </p:cNvPr>
          <p:cNvSpPr>
            <a:spLocks noGrp="1"/>
          </p:cNvSpPr>
          <p:nvPr/>
        </p:nvSpPr>
        <p:spPr>
          <a:xfrm>
            <a:off x="338203" y="194153"/>
            <a:ext cx="6942926" cy="646331"/>
          </a:xfrm>
          <a:prstGeom prst="rect">
            <a:avLst/>
          </a:prstGeom>
          <a:noFill/>
        </p:spPr>
        <p:txBody>
          <a:bodyPr wrap="none">
            <a:spAutoFit/>
          </a:bodyPr>
          <a:lstStyle/>
          <a:p>
            <a:r>
              <a:rPr dirty="0"/>
              <a:t>0-</a:t>
            </a:r>
            <a:r>
              <a:rPr lang="en-US" dirty="0"/>
              <a:t>5</a:t>
            </a:r>
            <a:r>
              <a:rPr dirty="0"/>
              <a:t>s</a:t>
            </a:r>
            <a:endParaRPr lang="en-US" dirty="0"/>
          </a:p>
          <a:p>
            <a:r>
              <a:rPr lang="zh-CN" altLang="en-US" dirty="0"/>
              <a:t>同样先来几秒钟快闪 大概是板子焊接，然后聚焦于板子的运镜视频</a:t>
            </a:r>
            <a:endParaRPr dirty="0"/>
          </a:p>
        </p:txBody>
      </p:sp>
    </p:spTree>
    <p:extLst>
      <p:ext uri="{BB962C8B-B14F-4D97-AF65-F5344CB8AC3E}">
        <p14:creationId xmlns:p14="http://schemas.microsoft.com/office/powerpoint/2010/main" val="1070159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02FAD-1650-A999-118D-FADCB1BD3B6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88C5147-B793-83FB-2E9A-5A3816DD4BDB}"/>
              </a:ext>
            </a:extLst>
          </p:cNvPr>
          <p:cNvSpPr>
            <a:spLocks noGrp="1"/>
          </p:cNvSpPr>
          <p:nvPr/>
        </p:nvSpPr>
        <p:spPr>
          <a:xfrm>
            <a:off x="2298809" y="3332769"/>
            <a:ext cx="1569660" cy="369332"/>
          </a:xfrm>
          <a:prstGeom prst="rect">
            <a:avLst/>
          </a:prstGeom>
          <a:noFill/>
        </p:spPr>
        <p:txBody>
          <a:bodyPr wrap="none">
            <a:spAutoFit/>
          </a:bodyPr>
          <a:lstStyle/>
          <a:p>
            <a:r>
              <a:rPr lang="zh-CN" altLang="en-US" dirty="0"/>
              <a:t>同样这个场景</a:t>
            </a:r>
            <a:endParaRPr lang="en-US" dirty="0"/>
          </a:p>
        </p:txBody>
      </p:sp>
      <p:pic>
        <p:nvPicPr>
          <p:cNvPr id="3" name="图片 2">
            <a:extLst>
              <a:ext uri="{FF2B5EF4-FFF2-40B4-BE49-F238E27FC236}">
                <a16:creationId xmlns:a16="http://schemas.microsoft.com/office/drawing/2014/main" id="{D047532B-60EF-776C-99AB-76DD58A8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2908" y="2316967"/>
            <a:ext cx="4074390" cy="3055793"/>
          </a:xfrm>
          <a:prstGeom prst="rect">
            <a:avLst/>
          </a:prstGeom>
        </p:spPr>
      </p:pic>
    </p:spTree>
    <p:extLst>
      <p:ext uri="{BB962C8B-B14F-4D97-AF65-F5344CB8AC3E}">
        <p14:creationId xmlns:p14="http://schemas.microsoft.com/office/powerpoint/2010/main" val="147681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9942B2F-2EFB-3152-6BC0-F73BE2CF7682}"/>
              </a:ext>
            </a:extLst>
          </p:cNvPr>
          <p:cNvSpPr>
            <a:spLocks noGrp="1"/>
          </p:cNvSpPr>
          <p:nvPr/>
        </p:nvSpPr>
        <p:spPr>
          <a:xfrm>
            <a:off x="217807" y="203285"/>
            <a:ext cx="11400033"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a:solidFill>
                  <a:schemeClr val="bg1"/>
                </a:solidFill>
              </a:rPr>
              <a:t>需求分析——从电机参数推导板级指标</a:t>
            </a:r>
          </a:p>
        </p:txBody>
      </p:sp>
      <p:pic>
        <p:nvPicPr>
          <p:cNvPr id="4" name="图片 3">
            <a:extLst>
              <a:ext uri="{FF2B5EF4-FFF2-40B4-BE49-F238E27FC236}">
                <a16:creationId xmlns:a16="http://schemas.microsoft.com/office/drawing/2014/main" id="{643774D1-30E6-6AB3-2D8F-31C98681D6FB}"/>
              </a:ext>
            </a:extLst>
          </p:cNvPr>
          <p:cNvPicPr>
            <a:picLocks noChangeAspect="1"/>
          </p:cNvPicPr>
          <p:nvPr/>
        </p:nvPicPr>
        <p:blipFill>
          <a:blip r:embed="rId3"/>
          <a:stretch>
            <a:fillRect/>
          </a:stretch>
        </p:blipFill>
        <p:spPr>
          <a:xfrm>
            <a:off x="7884215" y="962744"/>
            <a:ext cx="4156589" cy="5378314"/>
          </a:xfrm>
          <a:prstGeom prst="rect">
            <a:avLst/>
          </a:prstGeom>
        </p:spPr>
      </p:pic>
      <p:graphicFrame>
        <p:nvGraphicFramePr>
          <p:cNvPr id="12" name="表格 11">
            <a:extLst>
              <a:ext uri="{FF2B5EF4-FFF2-40B4-BE49-F238E27FC236}">
                <a16:creationId xmlns:a16="http://schemas.microsoft.com/office/drawing/2014/main" id="{20A52201-4537-7CDE-5209-F3FFB150D69B}"/>
              </a:ext>
            </a:extLst>
          </p:cNvPr>
          <p:cNvGraphicFramePr>
            <a:graphicFrameLocks noGrp="1"/>
          </p:cNvGraphicFramePr>
          <p:nvPr>
            <p:extLst>
              <p:ext uri="{D42A27DB-BD31-4B8C-83A1-F6EECF244321}">
                <p14:modId xmlns:p14="http://schemas.microsoft.com/office/powerpoint/2010/main" val="3706524030"/>
              </p:ext>
            </p:extLst>
          </p:nvPr>
        </p:nvGraphicFramePr>
        <p:xfrm>
          <a:off x="3343645" y="979054"/>
          <a:ext cx="4417920" cy="2951084"/>
        </p:xfrm>
        <a:graphic>
          <a:graphicData uri="http://schemas.openxmlformats.org/drawingml/2006/table">
            <a:tbl>
              <a:tblPr/>
              <a:tblGrid>
                <a:gridCol w="883584">
                  <a:extLst>
                    <a:ext uri="{9D8B030D-6E8A-4147-A177-3AD203B41FA5}">
                      <a16:colId xmlns:a16="http://schemas.microsoft.com/office/drawing/2014/main" val="4139056977"/>
                    </a:ext>
                  </a:extLst>
                </a:gridCol>
                <a:gridCol w="883584">
                  <a:extLst>
                    <a:ext uri="{9D8B030D-6E8A-4147-A177-3AD203B41FA5}">
                      <a16:colId xmlns:a16="http://schemas.microsoft.com/office/drawing/2014/main" val="3243333064"/>
                    </a:ext>
                  </a:extLst>
                </a:gridCol>
                <a:gridCol w="883584">
                  <a:extLst>
                    <a:ext uri="{9D8B030D-6E8A-4147-A177-3AD203B41FA5}">
                      <a16:colId xmlns:a16="http://schemas.microsoft.com/office/drawing/2014/main" val="3357249920"/>
                    </a:ext>
                  </a:extLst>
                </a:gridCol>
                <a:gridCol w="883584">
                  <a:extLst>
                    <a:ext uri="{9D8B030D-6E8A-4147-A177-3AD203B41FA5}">
                      <a16:colId xmlns:a16="http://schemas.microsoft.com/office/drawing/2014/main" val="406458442"/>
                    </a:ext>
                  </a:extLst>
                </a:gridCol>
                <a:gridCol w="883584">
                  <a:extLst>
                    <a:ext uri="{9D8B030D-6E8A-4147-A177-3AD203B41FA5}">
                      <a16:colId xmlns:a16="http://schemas.microsoft.com/office/drawing/2014/main" val="3356366943"/>
                    </a:ext>
                  </a:extLst>
                </a:gridCol>
              </a:tblGrid>
              <a:tr h="373714">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代表型号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项目</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电压范围</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功率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电流</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控制与反馈</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1F1F1F"/>
                          </a:solidFill>
                          <a:effectLst/>
                          <a:latin typeface="微软雅黑" panose="020B0503020204020204" pitchFamily="34" charset="-122"/>
                          <a:ea typeface="微软雅黑" panose="020B0503020204020204" pitchFamily="34" charset="-122"/>
                        </a:rPr>
                        <a:t>转速 </a:t>
                      </a:r>
                      <a:r>
                        <a:rPr lang="en-US" altLang="zh-CN" sz="900" b="1" dirty="0">
                          <a:solidFill>
                            <a:srgbClr val="1F1F1F"/>
                          </a:solidFill>
                          <a:effectLst/>
                          <a:latin typeface="微软雅黑" panose="020B0503020204020204" pitchFamily="34" charset="-122"/>
                          <a:ea typeface="微软雅黑" panose="020B0503020204020204" pitchFamily="34" charset="-122"/>
                        </a:rPr>
                        <a:t>/ </a:t>
                      </a:r>
                      <a:r>
                        <a:rPr lang="zh-CN" altLang="en-US" sz="900" b="1" dirty="0">
                          <a:solidFill>
                            <a:srgbClr val="1F1F1F"/>
                          </a:solidFill>
                          <a:effectLst/>
                          <a:latin typeface="微软雅黑" panose="020B0503020204020204" pitchFamily="34" charset="-122"/>
                          <a:ea typeface="微软雅黑" panose="020B0503020204020204" pitchFamily="34" charset="-122"/>
                        </a:rPr>
                        <a:t>控制</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70755276"/>
                  </a:ext>
                </a:extLst>
              </a:tr>
              <a:tr h="556552">
                <a:tc>
                  <a:txBody>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900" b="0" dirty="0">
                          <a:solidFill>
                            <a:srgbClr val="1F1F1F"/>
                          </a:solidFill>
                          <a:effectLst/>
                          <a:latin typeface="微软雅黑" panose="020B0503020204020204" pitchFamily="34" charset="-122"/>
                          <a:ea typeface="微软雅黑" panose="020B0503020204020204" pitchFamily="34" charset="-122"/>
                        </a:rPr>
                        <a:t>达妙</a:t>
                      </a:r>
                    </a:p>
                    <a:p>
                      <a:pPr rtl="0"/>
                      <a:r>
                        <a:rPr lang="en-US" sz="900" b="0" dirty="0">
                          <a:solidFill>
                            <a:srgbClr val="1F1F1F"/>
                          </a:solidFill>
                          <a:effectLst/>
                          <a:latin typeface="微软雅黑" panose="020B0503020204020204" pitchFamily="34" charset="-122"/>
                          <a:ea typeface="微软雅黑" panose="020B0503020204020204" pitchFamily="34" charset="-122"/>
                        </a:rPr>
                        <a:t>DM-J8009-2EC</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sz="900" b="0">
                          <a:solidFill>
                            <a:srgbClr val="1F1F1F"/>
                          </a:solidFill>
                          <a:effectLst/>
                          <a:latin typeface="微软雅黑" panose="020B0503020204020204" pitchFamily="34" charset="-122"/>
                          <a:ea typeface="微软雅黑" panose="020B0503020204020204" pitchFamily="34" charset="-122"/>
                        </a:rPr>
                        <a:t>24-48V</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额定功率约 </a:t>
                      </a:r>
                      <a:r>
                        <a:rPr lang="en-US" altLang="zh-CN" sz="900" b="0" dirty="0">
                          <a:solidFill>
                            <a:srgbClr val="1F1F1F"/>
                          </a:solidFill>
                          <a:effectLst/>
                          <a:latin typeface="微软雅黑" panose="020B0503020204020204" pitchFamily="34" charset="-122"/>
                          <a:ea typeface="微软雅黑" panose="020B0503020204020204" pitchFamily="34" charset="-122"/>
                        </a:rPr>
                        <a:t>209</a:t>
                      </a:r>
                      <a:r>
                        <a:rPr lang="en-US" sz="900" b="0" dirty="0">
                          <a:solidFill>
                            <a:srgbClr val="1F1F1F"/>
                          </a:solidFill>
                          <a:effectLst/>
                          <a:latin typeface="微软雅黑" panose="020B0503020204020204" pitchFamily="34" charset="-122"/>
                          <a:ea typeface="微软雅黑" panose="020B0503020204020204" pitchFamily="34" charset="-122"/>
                        </a:rPr>
                        <a:t>W</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CAN/CANFD</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，磁编码器反馈</a:t>
                      </a:r>
                      <a:endParaRPr 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rtl="0"/>
                      <a:r>
                        <a:rPr lang="en-US" altLang="zh-CN" sz="900" b="0" dirty="0">
                          <a:solidFill>
                            <a:srgbClr val="1F1F1F"/>
                          </a:solidFill>
                          <a:effectLst/>
                          <a:latin typeface="微软雅黑" panose="020B0503020204020204" pitchFamily="34" charset="-122"/>
                          <a:ea typeface="微软雅黑" panose="020B0503020204020204" pitchFamily="34" charset="-122"/>
                        </a:rPr>
                        <a:t>48V </a:t>
                      </a:r>
                      <a:r>
                        <a:rPr lang="zh-CN" altLang="en-US" sz="900" b="0" dirty="0">
                          <a:solidFill>
                            <a:srgbClr val="1F1F1F"/>
                          </a:solidFill>
                          <a:effectLst/>
                          <a:latin typeface="微软雅黑" panose="020B0503020204020204" pitchFamily="34" charset="-122"/>
                          <a:ea typeface="微软雅黑" panose="020B0503020204020204" pitchFamily="34" charset="-122"/>
                        </a:rPr>
                        <a:t>下额定 </a:t>
                      </a:r>
                      <a:r>
                        <a:rPr lang="en-US" altLang="zh-CN" sz="900" b="0" dirty="0">
                          <a:solidFill>
                            <a:srgbClr val="1F1F1F"/>
                          </a:solidFill>
                          <a:effectLst/>
                          <a:latin typeface="微软雅黑" panose="020B0503020204020204" pitchFamily="34" charset="-122"/>
                          <a:ea typeface="微软雅黑" panose="020B0503020204020204" pitchFamily="34" charset="-122"/>
                        </a:rPr>
                        <a:t>200rpm</a:t>
                      </a:r>
                      <a:r>
                        <a:rPr lang="zh-CN" altLang="en-US" sz="900" b="0" dirty="0">
                          <a:solidFill>
                            <a:srgbClr val="1F1F1F"/>
                          </a:solidFill>
                          <a:effectLst/>
                          <a:latin typeface="微软雅黑" panose="020B0503020204020204" pitchFamily="34" charset="-122"/>
                          <a:ea typeface="微软雅黑" panose="020B0503020204020204" pitchFamily="34" charset="-122"/>
                        </a:rPr>
                        <a:t>，空载约 </a:t>
                      </a:r>
                      <a:r>
                        <a:rPr lang="en-US" altLang="zh-CN" sz="900" b="0" dirty="0">
                          <a:solidFill>
                            <a:srgbClr val="1F1F1F"/>
                          </a:solidFill>
                          <a:effectLst/>
                          <a:latin typeface="微软雅黑" panose="020B0503020204020204" pitchFamily="34" charset="-122"/>
                          <a:ea typeface="微软雅黑" panose="020B0503020204020204" pitchFamily="34" charset="-122"/>
                        </a:rPr>
                        <a:t>335rpm</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959346734"/>
                  </a:ext>
                </a:extLst>
              </a:tr>
              <a:tr h="708529">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零差云控</a:t>
                      </a:r>
                      <a:r>
                        <a:rPr lang="en-US" sz="900" b="0" dirty="0">
                          <a:solidFill>
                            <a:srgbClr val="1F1F1F"/>
                          </a:solidFill>
                          <a:effectLst/>
                          <a:latin typeface="微软雅黑" panose="020B0503020204020204" pitchFamily="34" charset="-122"/>
                          <a:ea typeface="微软雅黑" panose="020B0503020204020204" pitchFamily="34" charset="-122"/>
                        </a:rPr>
                        <a:t>eRob80I V6</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sz="900" b="0" dirty="0">
                          <a:solidFill>
                            <a:srgbClr val="1F1F1F"/>
                          </a:solidFill>
                          <a:effectLst/>
                          <a:latin typeface="微软雅黑" panose="020B0503020204020204" pitchFamily="34" charset="-122"/>
                          <a:ea typeface="微软雅黑" panose="020B0503020204020204" pitchFamily="34" charset="-122"/>
                        </a:rPr>
                        <a:t>48V ±10%</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电机功率约 </a:t>
                      </a:r>
                      <a:r>
                        <a:rPr lang="en-US" altLang="zh-CN" sz="900" b="0" dirty="0">
                          <a:solidFill>
                            <a:srgbClr val="1F1F1F"/>
                          </a:solidFill>
                          <a:effectLst/>
                          <a:latin typeface="微软雅黑" panose="020B0503020204020204" pitchFamily="34" charset="-122"/>
                          <a:ea typeface="微软雅黑" panose="020B0503020204020204" pitchFamily="34" charset="-122"/>
                        </a:rPr>
                        <a:t>126</a:t>
                      </a:r>
                      <a:r>
                        <a:rPr lang="en-US" sz="900" b="0" dirty="0">
                          <a:solidFill>
                            <a:srgbClr val="1F1F1F"/>
                          </a:solidFill>
                          <a:effectLst/>
                          <a:latin typeface="微软雅黑" panose="020B0503020204020204" pitchFamily="34" charset="-122"/>
                          <a:ea typeface="微软雅黑" panose="020B0503020204020204" pitchFamily="34" charset="-122"/>
                        </a:rPr>
                        <a:t>W</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0" i="0" dirty="0" err="1">
                          <a:solidFill>
                            <a:schemeClr val="tx1"/>
                          </a:solidFill>
                          <a:effectLst/>
                          <a:latin typeface="微软雅黑" panose="020B0503020204020204" pitchFamily="34" charset="-122"/>
                          <a:ea typeface="微软雅黑" panose="020B0503020204020204" pitchFamily="34" charset="-122"/>
                          <a:cs typeface="+mn-cs"/>
                        </a:rPr>
                        <a:t>EtherCAT</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 / </a:t>
                      </a:r>
                      <a:r>
                        <a:rPr lang="en-US" altLang="zh-CN" sz="900" b="0" i="0" dirty="0" err="1">
                          <a:solidFill>
                            <a:schemeClr val="tx1"/>
                          </a:solidFill>
                          <a:effectLst/>
                          <a:latin typeface="微软雅黑" panose="020B0503020204020204" pitchFamily="34" charset="-122"/>
                          <a:ea typeface="微软雅黑" panose="020B0503020204020204" pitchFamily="34" charset="-122"/>
                          <a:cs typeface="+mn-cs"/>
                        </a:rPr>
                        <a:t>CANopen</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 / Modbus</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，编码器反馈</a:t>
                      </a:r>
                      <a:endParaRPr lang="en-US" altLang="zh-CN"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输出峰值 </a:t>
                      </a:r>
                      <a:r>
                        <a:rPr lang="en-US" altLang="zh-CN" sz="900" b="0" dirty="0">
                          <a:solidFill>
                            <a:srgbClr val="1F1F1F"/>
                          </a:solidFill>
                          <a:effectLst/>
                          <a:latin typeface="微软雅黑" panose="020B0503020204020204" pitchFamily="34" charset="-122"/>
                          <a:ea typeface="微软雅黑" panose="020B0503020204020204" pitchFamily="34" charset="-122"/>
                        </a:rPr>
                        <a:t>25-60</a:t>
                      </a:r>
                      <a:r>
                        <a:rPr lang="en-US" sz="900" b="0" dirty="0">
                          <a:solidFill>
                            <a:srgbClr val="1F1F1F"/>
                          </a:solidFill>
                          <a:effectLst/>
                          <a:latin typeface="微软雅黑" panose="020B0503020204020204" pitchFamily="34" charset="-122"/>
                          <a:ea typeface="微软雅黑" panose="020B0503020204020204" pitchFamily="34" charset="-122"/>
                        </a:rPr>
                        <a:t>rpm</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683875439"/>
                  </a:ext>
                </a:extLst>
              </a:tr>
              <a:tr h="541122">
                <a:tc>
                  <a:txBody>
                    <a:bodyPr/>
                    <a:lstStyle/>
                    <a:p>
                      <a:pPr rtl="0"/>
                      <a:r>
                        <a:rPr lang="en-US" altLang="zh-CN" sz="900" b="0" dirty="0">
                          <a:solidFill>
                            <a:srgbClr val="1F1F1F"/>
                          </a:solidFill>
                          <a:effectLst/>
                          <a:latin typeface="微软雅黑" panose="020B0503020204020204" pitchFamily="34" charset="-122"/>
                          <a:ea typeface="微软雅黑" panose="020B0503020204020204" pitchFamily="34" charset="-122"/>
                        </a:rPr>
                        <a:t>Unitree</a:t>
                      </a:r>
                    </a:p>
                    <a:p>
                      <a:pPr rtl="0"/>
                      <a:r>
                        <a:rPr lang="en-US" altLang="zh-CN" sz="900" b="0" dirty="0">
                          <a:solidFill>
                            <a:srgbClr val="1F1F1F"/>
                          </a:solidFill>
                          <a:effectLst/>
                          <a:latin typeface="微软雅黑" panose="020B0503020204020204" pitchFamily="34" charset="-122"/>
                          <a:ea typeface="微软雅黑" panose="020B0503020204020204" pitchFamily="34" charset="-122"/>
                        </a:rPr>
                        <a:t>B1-16 </a:t>
                      </a:r>
                      <a:r>
                        <a:rPr lang="zh-CN" altLang="en-US" sz="900" b="0" dirty="0">
                          <a:solidFill>
                            <a:srgbClr val="1F1F1F"/>
                          </a:solidFill>
                          <a:effectLst/>
                          <a:latin typeface="微软雅黑" panose="020B0503020204020204" pitchFamily="34" charset="-122"/>
                          <a:ea typeface="微软雅黑" panose="020B0503020204020204" pitchFamily="34" charset="-122"/>
                        </a:rPr>
                        <a:t>防水关节电机</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en-US" sz="900" b="0">
                          <a:solidFill>
                            <a:srgbClr val="1F1F1F"/>
                          </a:solidFill>
                          <a:effectLst/>
                          <a:latin typeface="微软雅黑" panose="020B0503020204020204" pitchFamily="34" charset="-122"/>
                          <a:ea typeface="微软雅黑" panose="020B0503020204020204" pitchFamily="34" charset="-122"/>
                        </a:rPr>
                        <a:t>36-64V</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zh-CN" altLang="en-US" sz="900" b="0" dirty="0">
                          <a:solidFill>
                            <a:srgbClr val="1F1F1F"/>
                          </a:solidFill>
                          <a:effectLst/>
                          <a:latin typeface="微软雅黑" panose="020B0503020204020204" pitchFamily="34" charset="-122"/>
                          <a:ea typeface="微软雅黑" panose="020B0503020204020204" pitchFamily="34" charset="-122"/>
                        </a:rPr>
                        <a:t>未标额定功率</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高速 </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485</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a:t>
                      </a:r>
                      <a:r>
                        <a:rPr lang="en-US" altLang="zh-CN" sz="900" b="0" i="0" dirty="0">
                          <a:solidFill>
                            <a:schemeClr val="tx1"/>
                          </a:solidFill>
                          <a:effectLst/>
                          <a:latin typeface="微软雅黑" panose="020B0503020204020204" pitchFamily="34" charset="-122"/>
                          <a:ea typeface="微软雅黑" panose="020B0503020204020204" pitchFamily="34" charset="-122"/>
                          <a:cs typeface="+mn-cs"/>
                        </a:rPr>
                        <a:t>1kHz </a:t>
                      </a:r>
                      <a:r>
                        <a:rPr lang="zh-CN" altLang="en-US" sz="900" b="0" i="0" dirty="0">
                          <a:solidFill>
                            <a:schemeClr val="tx1"/>
                          </a:solidFill>
                          <a:effectLst/>
                          <a:latin typeface="微软雅黑" panose="020B0503020204020204" pitchFamily="34" charset="-122"/>
                          <a:ea typeface="微软雅黑" panose="020B0503020204020204" pitchFamily="34" charset="-122"/>
                          <a:cs typeface="+mn-cs"/>
                        </a:rPr>
                        <a:t>控制周期，编码器反馈</a:t>
                      </a:r>
                      <a:endParaRPr 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rtl="0"/>
                      <a:endParaRPr lang="zh-CN" altLang="en-US" sz="900" b="0" dirty="0">
                        <a:solidFill>
                          <a:srgbClr val="1F1F1F"/>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216393077"/>
                  </a:ext>
                </a:extLst>
              </a:tr>
              <a:tr h="645664">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MPS </a:t>
                      </a:r>
                      <a:r>
                        <a:rPr lang="zh-CN" altLang="en-US" sz="900" b="1" dirty="0">
                          <a:solidFill>
                            <a:srgbClr val="0070C0"/>
                          </a:solidFill>
                          <a:effectLst/>
                          <a:latin typeface="微软雅黑" panose="020B0503020204020204" pitchFamily="34" charset="-122"/>
                          <a:ea typeface="微软雅黑" panose="020B0503020204020204" pitchFamily="34" charset="-122"/>
                        </a:rPr>
                        <a:t>关节电机 </a:t>
                      </a:r>
                      <a:r>
                        <a:rPr lang="en-US" altLang="zh-CN" sz="900" b="1" dirty="0">
                          <a:solidFill>
                            <a:srgbClr val="0070C0"/>
                          </a:solidFill>
                          <a:effectLst/>
                          <a:latin typeface="微软雅黑" panose="020B0503020204020204" pitchFamily="34" charset="-122"/>
                          <a:ea typeface="微软雅黑" panose="020B0503020204020204" pitchFamily="34" charset="-122"/>
                        </a:rPr>
                        <a:t>FOC </a:t>
                      </a:r>
                      <a:r>
                        <a:rPr lang="zh-CN" altLang="en-US" sz="900" b="1" dirty="0">
                          <a:solidFill>
                            <a:srgbClr val="0070C0"/>
                          </a:solidFill>
                          <a:effectLst/>
                          <a:latin typeface="微软雅黑" panose="020B0503020204020204" pitchFamily="34" charset="-122"/>
                          <a:ea typeface="微软雅黑" panose="020B0503020204020204" pitchFamily="34" charset="-122"/>
                        </a:rPr>
                        <a:t>驱动板</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48V ±10%</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zh-CN" altLang="en-US" sz="900" b="1" dirty="0">
                          <a:solidFill>
                            <a:srgbClr val="0070C0"/>
                          </a:solidFill>
                          <a:effectLst/>
                          <a:latin typeface="微软雅黑" panose="020B0503020204020204" pitchFamily="34" charset="-122"/>
                          <a:ea typeface="微软雅黑" panose="020B0503020204020204" pitchFamily="34" charset="-122"/>
                        </a:rPr>
                        <a:t>额定功率约</a:t>
                      </a:r>
                      <a:r>
                        <a:rPr lang="en-US" altLang="zh-CN" sz="900" b="1" dirty="0">
                          <a:solidFill>
                            <a:srgbClr val="0070C0"/>
                          </a:solidFill>
                          <a:effectLst/>
                          <a:latin typeface="微软雅黑" panose="020B0503020204020204" pitchFamily="34" charset="-122"/>
                          <a:ea typeface="微软雅黑" panose="020B0503020204020204" pitchFamily="34" charset="-122"/>
                        </a:rPr>
                        <a:t>180W</a:t>
                      </a:r>
                      <a:endParaRPr lang="zh-CN" altLang="en-US" sz="900" b="1" dirty="0">
                        <a:solidFill>
                          <a:srgbClr val="0070C0"/>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CAN/CANFD</a:t>
                      </a:r>
                      <a:r>
                        <a:rPr lang="zh-CN" altLang="en-US" sz="900" b="1" dirty="0">
                          <a:solidFill>
                            <a:srgbClr val="0070C0"/>
                          </a:solidFill>
                          <a:effectLst/>
                          <a:latin typeface="微软雅黑" panose="020B0503020204020204" pitchFamily="34" charset="-122"/>
                          <a:ea typeface="微软雅黑" panose="020B0503020204020204" pitchFamily="34" charset="-122"/>
                        </a:rPr>
                        <a:t>，此编码器反馈</a:t>
                      </a: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rtl="0"/>
                      <a:r>
                        <a:rPr lang="en-US" altLang="zh-CN" sz="900" b="1" dirty="0">
                          <a:solidFill>
                            <a:srgbClr val="0070C0"/>
                          </a:solidFill>
                          <a:effectLst/>
                          <a:latin typeface="微软雅黑" panose="020B0503020204020204" pitchFamily="34" charset="-122"/>
                          <a:ea typeface="微软雅黑" panose="020B0503020204020204" pitchFamily="34" charset="-122"/>
                        </a:rPr>
                        <a:t>265rpm </a:t>
                      </a:r>
                      <a:r>
                        <a:rPr lang="zh-CN" altLang="en-US" sz="900" b="1" dirty="0">
                          <a:solidFill>
                            <a:srgbClr val="0070C0"/>
                          </a:solidFill>
                          <a:effectLst/>
                          <a:latin typeface="微软雅黑" panose="020B0503020204020204" pitchFamily="34" charset="-122"/>
                          <a:ea typeface="微软雅黑" panose="020B0503020204020204" pitchFamily="34" charset="-122"/>
                        </a:rPr>
                        <a:t>空载 </a:t>
                      </a:r>
                      <a:r>
                        <a:rPr lang="en-US" altLang="zh-CN" sz="900" b="1" dirty="0">
                          <a:solidFill>
                            <a:srgbClr val="0070C0"/>
                          </a:solidFill>
                          <a:effectLst/>
                          <a:latin typeface="微软雅黑" panose="020B0503020204020204" pitchFamily="34" charset="-122"/>
                          <a:ea typeface="微软雅黑" panose="020B0503020204020204" pitchFamily="34" charset="-122"/>
                        </a:rPr>
                        <a:t>/160rpm</a:t>
                      </a:r>
                      <a:r>
                        <a:rPr lang="zh-CN" altLang="en-US" sz="900" b="1" dirty="0">
                          <a:solidFill>
                            <a:srgbClr val="0070C0"/>
                          </a:solidFill>
                          <a:effectLst/>
                          <a:latin typeface="微软雅黑" panose="020B0503020204020204" pitchFamily="34" charset="-122"/>
                          <a:ea typeface="微软雅黑" panose="020B0503020204020204" pitchFamily="34" charset="-122"/>
                        </a:rPr>
                        <a:t>满载</a:t>
                      </a:r>
                      <a:endParaRPr lang="en-US" altLang="zh-CN" sz="900" b="1" dirty="0">
                        <a:solidFill>
                          <a:srgbClr val="0070C0"/>
                        </a:solidFill>
                        <a:effectLst/>
                        <a:latin typeface="微软雅黑" panose="020B0503020204020204" pitchFamily="34" charset="-122"/>
                        <a:ea typeface="微软雅黑" panose="020B0503020204020204" pitchFamily="34" charset="-122"/>
                      </a:endParaRPr>
                    </a:p>
                    <a:p>
                      <a:pPr rtl="0"/>
                      <a:endParaRPr lang="zh-CN" altLang="en-US" sz="900" b="1" dirty="0">
                        <a:solidFill>
                          <a:srgbClr val="0070C0"/>
                        </a:solidFill>
                        <a:effectLst/>
                        <a:latin typeface="微软雅黑" panose="020B0503020204020204" pitchFamily="34" charset="-122"/>
                        <a:ea typeface="微软雅黑" panose="020B0503020204020204" pitchFamily="34" charset="-122"/>
                      </a:endParaRPr>
                    </a:p>
                  </a:txBody>
                  <a:tcPr marL="44122" marR="44122" marT="29415" marB="294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2216535"/>
                  </a:ext>
                </a:extLst>
              </a:tr>
            </a:tbl>
          </a:graphicData>
        </a:graphic>
      </p:graphicFrame>
      <p:grpSp>
        <p:nvGrpSpPr>
          <p:cNvPr id="18" name="组合 17">
            <a:extLst>
              <a:ext uri="{FF2B5EF4-FFF2-40B4-BE49-F238E27FC236}">
                <a16:creationId xmlns:a16="http://schemas.microsoft.com/office/drawing/2014/main" id="{001842A6-235B-A878-72AB-52512A568407}"/>
              </a:ext>
            </a:extLst>
          </p:cNvPr>
          <p:cNvGrpSpPr/>
          <p:nvPr/>
        </p:nvGrpSpPr>
        <p:grpSpPr>
          <a:xfrm>
            <a:off x="-209159" y="886455"/>
            <a:ext cx="3844147" cy="5454605"/>
            <a:chOff x="8514710" y="907934"/>
            <a:chExt cx="3844147" cy="5763392"/>
          </a:xfrm>
        </p:grpSpPr>
        <p:pic>
          <p:nvPicPr>
            <p:cNvPr id="14" name="图片 13">
              <a:extLst>
                <a:ext uri="{FF2B5EF4-FFF2-40B4-BE49-F238E27FC236}">
                  <a16:creationId xmlns:a16="http://schemas.microsoft.com/office/drawing/2014/main" id="{DA01E078-E6EB-8E2F-29BD-8E22B4BAB434}"/>
                </a:ext>
              </a:extLst>
            </p:cNvPr>
            <p:cNvPicPr>
              <a:picLocks noChangeAspect="1"/>
            </p:cNvPicPr>
            <p:nvPr/>
          </p:nvPicPr>
          <p:blipFill>
            <a:blip r:embed="rId4"/>
            <a:stretch>
              <a:fillRect/>
            </a:stretch>
          </p:blipFill>
          <p:spPr>
            <a:xfrm>
              <a:off x="9156391" y="1277690"/>
              <a:ext cx="2560781" cy="2669059"/>
            </a:xfrm>
            <a:prstGeom prst="rect">
              <a:avLst/>
            </a:prstGeom>
          </p:spPr>
        </p:pic>
        <p:pic>
          <p:nvPicPr>
            <p:cNvPr id="15" name="图片 14">
              <a:extLst>
                <a:ext uri="{FF2B5EF4-FFF2-40B4-BE49-F238E27FC236}">
                  <a16:creationId xmlns:a16="http://schemas.microsoft.com/office/drawing/2014/main" id="{0562EFB9-D7DB-8253-D4C1-0FD8EE3FBCB7}"/>
                </a:ext>
              </a:extLst>
            </p:cNvPr>
            <p:cNvPicPr>
              <a:picLocks noChangeAspect="1"/>
            </p:cNvPicPr>
            <p:nvPr/>
          </p:nvPicPr>
          <p:blipFill>
            <a:blip r:embed="rId5"/>
            <a:stretch>
              <a:fillRect/>
            </a:stretch>
          </p:blipFill>
          <p:spPr>
            <a:xfrm>
              <a:off x="8514710" y="3871784"/>
              <a:ext cx="3844147" cy="2799542"/>
            </a:xfrm>
            <a:prstGeom prst="rect">
              <a:avLst/>
            </a:prstGeom>
          </p:spPr>
        </p:pic>
        <p:sp>
          <p:nvSpPr>
            <p:cNvPr id="16" name="矩形: 圆角 15">
              <a:extLst>
                <a:ext uri="{FF2B5EF4-FFF2-40B4-BE49-F238E27FC236}">
                  <a16:creationId xmlns:a16="http://schemas.microsoft.com/office/drawing/2014/main" id="{DCB41DAB-3A8E-817F-2808-AFEB62AE048B}"/>
                </a:ext>
              </a:extLst>
            </p:cNvPr>
            <p:cNvSpPr/>
            <p:nvPr/>
          </p:nvSpPr>
          <p:spPr>
            <a:xfrm>
              <a:off x="8954530" y="1076728"/>
              <a:ext cx="2990334" cy="5577988"/>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7022BC82-5347-0FA3-65A0-8906D362B995}"/>
                </a:ext>
              </a:extLst>
            </p:cNvPr>
            <p:cNvSpPr/>
            <p:nvPr/>
          </p:nvSpPr>
          <p:spPr>
            <a:xfrm>
              <a:off x="9526829" y="907934"/>
              <a:ext cx="1819903"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关节电机</a:t>
              </a:r>
            </a:p>
          </p:txBody>
        </p:sp>
      </p:grpSp>
      <p:sp>
        <p:nvSpPr>
          <p:cNvPr id="24" name="矩形: 圆角 23">
            <a:extLst>
              <a:ext uri="{FF2B5EF4-FFF2-40B4-BE49-F238E27FC236}">
                <a16:creationId xmlns:a16="http://schemas.microsoft.com/office/drawing/2014/main" id="{D379CBA7-A084-305D-30F7-921405827321}"/>
              </a:ext>
            </a:extLst>
          </p:cNvPr>
          <p:cNvSpPr/>
          <p:nvPr/>
        </p:nvSpPr>
        <p:spPr>
          <a:xfrm>
            <a:off x="3372936" y="4333103"/>
            <a:ext cx="4359338" cy="200795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右箭头 13">
            <a:extLst>
              <a:ext uri="{FF2B5EF4-FFF2-40B4-BE49-F238E27FC236}">
                <a16:creationId xmlns:a16="http://schemas.microsoft.com/office/drawing/2014/main" id="{D2C98506-AFD3-9D38-19D7-A94168264A99}"/>
              </a:ext>
            </a:extLst>
          </p:cNvPr>
          <p:cNvSpPr/>
          <p:nvPr/>
        </p:nvSpPr>
        <p:spPr>
          <a:xfrm rot="5400000">
            <a:off x="3439903" y="4116819"/>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6" name="矩形: 圆角 25">
            <a:extLst>
              <a:ext uri="{FF2B5EF4-FFF2-40B4-BE49-F238E27FC236}">
                <a16:creationId xmlns:a16="http://schemas.microsoft.com/office/drawing/2014/main" id="{EAC32BD4-D3B1-4C28-714C-A99ABD007BBB}"/>
              </a:ext>
            </a:extLst>
          </p:cNvPr>
          <p:cNvSpPr/>
          <p:nvPr/>
        </p:nvSpPr>
        <p:spPr>
          <a:xfrm>
            <a:off x="4642653" y="4164309"/>
            <a:ext cx="1819903"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设计目标</a:t>
            </a:r>
          </a:p>
        </p:txBody>
      </p:sp>
      <p:sp>
        <p:nvSpPr>
          <p:cNvPr id="27" name="右箭头 13">
            <a:extLst>
              <a:ext uri="{FF2B5EF4-FFF2-40B4-BE49-F238E27FC236}">
                <a16:creationId xmlns:a16="http://schemas.microsoft.com/office/drawing/2014/main" id="{E0F89C5D-44DF-775C-3C46-033850F1A490}"/>
              </a:ext>
            </a:extLst>
          </p:cNvPr>
          <p:cNvSpPr/>
          <p:nvPr/>
        </p:nvSpPr>
        <p:spPr>
          <a:xfrm rot="10800000">
            <a:off x="7461219" y="5289430"/>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4A5C883B-06F4-4FE0-1ABC-7B2BD821BA03}"/>
              </a:ext>
            </a:extLst>
          </p:cNvPr>
          <p:cNvSpPr txBox="1"/>
          <p:nvPr/>
        </p:nvSpPr>
        <p:spPr>
          <a:xfrm>
            <a:off x="3372936" y="4598416"/>
            <a:ext cx="6198972" cy="2031325"/>
          </a:xfrm>
          <a:prstGeom prst="rect">
            <a:avLst/>
          </a:prstGeom>
          <a:noFill/>
        </p:spPr>
        <p:txBody>
          <a:bodyPr wrap="square">
            <a:spAutoFit/>
          </a:bodyPr>
          <a:lstStyle/>
          <a:p>
            <a:r>
              <a:rPr lang="zh-CN" altLang="en-US" dirty="0"/>
              <a:t>● 输入电压：</a:t>
            </a:r>
            <a:r>
              <a:rPr lang="en-US" altLang="zh-CN" dirty="0"/>
              <a:t>48V ±10%</a:t>
            </a:r>
            <a:r>
              <a:rPr lang="zh-CN" altLang="en-US" dirty="0"/>
              <a:t>（</a:t>
            </a:r>
            <a:r>
              <a:rPr lang="en-US" altLang="zh-CN" dirty="0"/>
              <a:t>41V</a:t>
            </a:r>
            <a:r>
              <a:rPr lang="zh-CN" altLang="en-US" dirty="0"/>
              <a:t>～</a:t>
            </a:r>
            <a:r>
              <a:rPr lang="en-US" altLang="zh-CN" dirty="0"/>
              <a:t>55V</a:t>
            </a:r>
            <a:r>
              <a:rPr lang="zh-CN" altLang="en-US" dirty="0"/>
              <a:t>） </a:t>
            </a:r>
            <a:endParaRPr lang="en-US" altLang="zh-CN" dirty="0"/>
          </a:p>
          <a:p>
            <a:r>
              <a:rPr lang="zh-CN" altLang="en-US" dirty="0"/>
              <a:t>● 额定功率：</a:t>
            </a:r>
            <a:r>
              <a:rPr lang="en-US" altLang="zh-CN" dirty="0"/>
              <a:t>180W</a:t>
            </a:r>
          </a:p>
          <a:p>
            <a:r>
              <a:rPr lang="zh-CN" altLang="en-US" dirty="0"/>
              <a:t>● 通信协议：</a:t>
            </a:r>
            <a:r>
              <a:rPr lang="en-US" altLang="zh-CN" dirty="0"/>
              <a:t>CAN / CANFD </a:t>
            </a:r>
          </a:p>
          <a:p>
            <a:r>
              <a:rPr lang="en-US" altLang="zh-CN" dirty="0"/>
              <a:t>● </a:t>
            </a:r>
            <a:r>
              <a:rPr lang="zh-CN" altLang="en-US" dirty="0"/>
              <a:t>相电流： ≥</a:t>
            </a:r>
            <a:r>
              <a:rPr lang="en-US" altLang="zh-CN" dirty="0"/>
              <a:t>3A RMS / ≥10A Peak</a:t>
            </a:r>
          </a:p>
          <a:p>
            <a:r>
              <a:rPr lang="zh-CN" altLang="en-US" dirty="0"/>
              <a:t>● 转速：空载 </a:t>
            </a:r>
            <a:r>
              <a:rPr lang="en-US" altLang="zh-CN" dirty="0"/>
              <a:t>265rpm / </a:t>
            </a:r>
            <a:r>
              <a:rPr lang="zh-CN" altLang="en-US" dirty="0"/>
              <a:t>满载 </a:t>
            </a:r>
            <a:r>
              <a:rPr lang="en-US" altLang="zh-CN" dirty="0"/>
              <a:t>160rpm</a:t>
            </a:r>
          </a:p>
          <a:p>
            <a:r>
              <a:rPr lang="zh-CN" altLang="en-US" dirty="0"/>
              <a:t>● 开关频率：</a:t>
            </a:r>
            <a:r>
              <a:rPr lang="en-US" altLang="zh-CN" dirty="0"/>
              <a:t>20 kHz</a:t>
            </a:r>
          </a:p>
          <a:p>
            <a:endParaRPr lang="zh-CN" altLang="en-US" dirty="0"/>
          </a:p>
        </p:txBody>
      </p:sp>
    </p:spTree>
    <p:extLst>
      <p:ext uri="{BB962C8B-B14F-4D97-AF65-F5344CB8AC3E}">
        <p14:creationId xmlns:p14="http://schemas.microsoft.com/office/powerpoint/2010/main" val="302806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ACDC15F-C9FB-132A-4CF9-CBC01E73F303}"/>
              </a:ext>
            </a:extLst>
          </p:cNvPr>
          <p:cNvSpPr/>
          <p:nvPr/>
        </p:nvSpPr>
        <p:spPr>
          <a:xfrm>
            <a:off x="217806" y="800638"/>
            <a:ext cx="11663919"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a:extLst>
              <a:ext uri="{FF2B5EF4-FFF2-40B4-BE49-F238E27FC236}">
                <a16:creationId xmlns:a16="http://schemas.microsoft.com/office/drawing/2014/main" id="{29942B2F-2EFB-3152-6BC0-F73BE2CF7682}"/>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辅助电源 </a:t>
            </a:r>
            <a:r>
              <a:rPr lang="en-US" altLang="zh-CN" dirty="0">
                <a:solidFill>
                  <a:schemeClr val="bg1"/>
                </a:solidFill>
              </a:rPr>
              <a:t>MP4583</a:t>
            </a:r>
            <a:r>
              <a:rPr lang="zh-CN" altLang="en-US" dirty="0">
                <a:solidFill>
                  <a:schemeClr val="bg1"/>
                </a:solidFill>
              </a:rPr>
              <a:t>、</a:t>
            </a:r>
            <a:r>
              <a:rPr lang="en-US" altLang="zh-CN" dirty="0">
                <a:solidFill>
                  <a:schemeClr val="bg1"/>
                </a:solidFill>
              </a:rPr>
              <a:t>MP3632S</a:t>
            </a:r>
            <a:endParaRPr dirty="0">
              <a:solidFill>
                <a:schemeClr val="bg1"/>
              </a:solidFill>
            </a:endParaRPr>
          </a:p>
        </p:txBody>
      </p:sp>
      <p:sp>
        <p:nvSpPr>
          <p:cNvPr id="2" name="右箭头 13">
            <a:extLst>
              <a:ext uri="{FF2B5EF4-FFF2-40B4-BE49-F238E27FC236}">
                <a16:creationId xmlns:a16="http://schemas.microsoft.com/office/drawing/2014/main" id="{62B0EADA-F408-C70C-8252-B225DA2E46D8}"/>
              </a:ext>
            </a:extLst>
          </p:cNvPr>
          <p:cNvSpPr/>
          <p:nvPr/>
        </p:nvSpPr>
        <p:spPr>
          <a:xfrm>
            <a:off x="1549767" y="1969938"/>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48V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pic>
        <p:nvPicPr>
          <p:cNvPr id="4" name="Picture 2" descr="MP4583">
            <a:extLst>
              <a:ext uri="{FF2B5EF4-FFF2-40B4-BE49-F238E27FC236}">
                <a16:creationId xmlns:a16="http://schemas.microsoft.com/office/drawing/2014/main" id="{45AFD319-C8BD-F77B-2F7A-579C37CE7A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381" r="22239"/>
          <a:stretch/>
        </p:blipFill>
        <p:spPr bwMode="auto">
          <a:xfrm>
            <a:off x="2359712" y="1524059"/>
            <a:ext cx="1421541" cy="132432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E552E2EE-81E7-64FF-3867-33E829B3D5B4}"/>
              </a:ext>
            </a:extLst>
          </p:cNvPr>
          <p:cNvSpPr txBox="1"/>
          <p:nvPr/>
        </p:nvSpPr>
        <p:spPr>
          <a:xfrm>
            <a:off x="1983490" y="2793868"/>
            <a:ext cx="2087975"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100V DC-DC MP4583</a:t>
            </a:r>
            <a:endParaRPr lang="zh-CN" altLang="en-US" sz="14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170FAB73-99BC-4EDA-EA51-5233D3B6C64E}"/>
              </a:ext>
            </a:extLst>
          </p:cNvPr>
          <p:cNvPicPr>
            <a:picLocks noChangeAspect="1"/>
          </p:cNvPicPr>
          <p:nvPr/>
        </p:nvPicPr>
        <p:blipFill>
          <a:blip r:embed="rId4"/>
          <a:stretch>
            <a:fillRect/>
          </a:stretch>
        </p:blipFill>
        <p:spPr>
          <a:xfrm>
            <a:off x="8233093" y="604121"/>
            <a:ext cx="1365817" cy="1365817"/>
          </a:xfrm>
          <a:prstGeom prst="rect">
            <a:avLst/>
          </a:prstGeom>
        </p:spPr>
      </p:pic>
      <p:pic>
        <p:nvPicPr>
          <p:cNvPr id="12" name="图片 11">
            <a:extLst>
              <a:ext uri="{FF2B5EF4-FFF2-40B4-BE49-F238E27FC236}">
                <a16:creationId xmlns:a16="http://schemas.microsoft.com/office/drawing/2014/main" id="{BA3E7E5C-D883-7686-2B34-59FC8C859301}"/>
              </a:ext>
            </a:extLst>
          </p:cNvPr>
          <p:cNvPicPr>
            <a:picLocks noChangeAspect="1"/>
          </p:cNvPicPr>
          <p:nvPr/>
        </p:nvPicPr>
        <p:blipFill>
          <a:blip r:embed="rId5"/>
          <a:stretch>
            <a:fillRect/>
          </a:stretch>
        </p:blipFill>
        <p:spPr>
          <a:xfrm>
            <a:off x="4668863" y="1335334"/>
            <a:ext cx="1725330" cy="1732401"/>
          </a:xfrm>
          <a:prstGeom prst="rect">
            <a:avLst/>
          </a:prstGeom>
        </p:spPr>
      </p:pic>
      <p:sp>
        <p:nvSpPr>
          <p:cNvPr id="13" name="文本框 12">
            <a:extLst>
              <a:ext uri="{FF2B5EF4-FFF2-40B4-BE49-F238E27FC236}">
                <a16:creationId xmlns:a16="http://schemas.microsoft.com/office/drawing/2014/main" id="{223CD115-2A87-EEDE-3840-C7179EE64FD6}"/>
              </a:ext>
            </a:extLst>
          </p:cNvPr>
          <p:cNvSpPr txBox="1"/>
          <p:nvPr/>
        </p:nvSpPr>
        <p:spPr>
          <a:xfrm>
            <a:off x="4392436" y="2816257"/>
            <a:ext cx="2278184"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12V DC-DC MPM3632S</a:t>
            </a:r>
            <a:endParaRPr lang="zh-CN" altLang="en-US" sz="140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99A522E3-096D-5C19-21F0-2471A70F3EA9}"/>
              </a:ext>
            </a:extLst>
          </p:cNvPr>
          <p:cNvSpPr txBox="1"/>
          <p:nvPr/>
        </p:nvSpPr>
        <p:spPr>
          <a:xfrm>
            <a:off x="7964230" y="1838840"/>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LDO MP20051DQ</a:t>
            </a:r>
            <a:endParaRPr lang="zh-CN" altLang="en-US" sz="1400" dirty="0">
              <a:latin typeface="微软雅黑" panose="020B0503020204020204" pitchFamily="34" charset="-122"/>
              <a:ea typeface="微软雅黑" panose="020B0503020204020204" pitchFamily="34" charset="-122"/>
            </a:endParaRPr>
          </a:p>
        </p:txBody>
      </p:sp>
      <p:pic>
        <p:nvPicPr>
          <p:cNvPr id="15" name="Picture 2">
            <a:extLst>
              <a:ext uri="{FF2B5EF4-FFF2-40B4-BE49-F238E27FC236}">
                <a16:creationId xmlns:a16="http://schemas.microsoft.com/office/drawing/2014/main" id="{FB3FC742-FC2F-392D-305F-2B7B9F049E6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507" r="23445"/>
          <a:stretch/>
        </p:blipFill>
        <p:spPr bwMode="auto">
          <a:xfrm>
            <a:off x="8354321" y="2303865"/>
            <a:ext cx="1038237" cy="1024784"/>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9EE7C1E8-C66D-CD10-B401-472D7B82A756}"/>
              </a:ext>
            </a:extLst>
          </p:cNvPr>
          <p:cNvSpPr txBox="1"/>
          <p:nvPr/>
        </p:nvSpPr>
        <p:spPr>
          <a:xfrm>
            <a:off x="7993328" y="3202420"/>
            <a:ext cx="1725330" cy="523220"/>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rPr>
              <a:t>MIE1W0505</a:t>
            </a:r>
          </a:p>
          <a:p>
            <a:pPr indent="0" algn="ctr" fontAlgn="auto">
              <a:lnSpc>
                <a:spcPct val="100000"/>
              </a:lnSpc>
            </a:pPr>
            <a:r>
              <a:rPr lang="zh-CN" altLang="en-US" sz="1400" dirty="0">
                <a:latin typeface="微软雅黑" panose="020B0503020204020204" pitchFamily="34" charset="-122"/>
                <a:ea typeface="微软雅黑" panose="020B0503020204020204" pitchFamily="34" charset="-122"/>
              </a:rPr>
              <a:t>隔离电源</a:t>
            </a:r>
          </a:p>
        </p:txBody>
      </p:sp>
      <p:sp>
        <p:nvSpPr>
          <p:cNvPr id="17" name="右箭头 13">
            <a:extLst>
              <a:ext uri="{FF2B5EF4-FFF2-40B4-BE49-F238E27FC236}">
                <a16:creationId xmlns:a16="http://schemas.microsoft.com/office/drawing/2014/main" id="{7C9EC11C-06DC-E122-D3B5-3FEEA966666C}"/>
              </a:ext>
            </a:extLst>
          </p:cNvPr>
          <p:cNvSpPr/>
          <p:nvPr/>
        </p:nvSpPr>
        <p:spPr>
          <a:xfrm>
            <a:off x="3871219" y="1969938"/>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12V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19" name="圆角矩形 61">
            <a:extLst>
              <a:ext uri="{FF2B5EF4-FFF2-40B4-BE49-F238E27FC236}">
                <a16:creationId xmlns:a16="http://schemas.microsoft.com/office/drawing/2014/main" id="{892160DF-DEB7-6579-015B-71A04574371A}"/>
              </a:ext>
            </a:extLst>
          </p:cNvPr>
          <p:cNvSpPr/>
          <p:nvPr/>
        </p:nvSpPr>
        <p:spPr>
          <a:xfrm>
            <a:off x="310274" y="1980564"/>
            <a:ext cx="1101280" cy="421940"/>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48 </a:t>
            </a:r>
            <a:r>
              <a:rPr lang="en-US" altLang="zh-CN" sz="1599" b="1" dirty="0" err="1">
                <a:solidFill>
                  <a:schemeClr val="bg1"/>
                </a:solidFill>
                <a:latin typeface="微软雅黑" panose="020B0503020204020204" pitchFamily="34" charset="-122"/>
                <a:ea typeface="微软雅黑" panose="020B0503020204020204" pitchFamily="34" charset="-122"/>
                <a:sym typeface="+mn-ea"/>
              </a:rPr>
              <a:t>Vbat</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1" name="任意多边形: 形状 20">
            <a:extLst>
              <a:ext uri="{FF2B5EF4-FFF2-40B4-BE49-F238E27FC236}">
                <a16:creationId xmlns:a16="http://schemas.microsoft.com/office/drawing/2014/main" id="{4F67733B-132C-05F1-CF01-9B667D158539}"/>
              </a:ext>
            </a:extLst>
          </p:cNvPr>
          <p:cNvSpPr/>
          <p:nvPr/>
        </p:nvSpPr>
        <p:spPr>
          <a:xfrm>
            <a:off x="6497773" y="1169262"/>
            <a:ext cx="1493428" cy="2064547"/>
          </a:xfrm>
          <a:custGeom>
            <a:avLst/>
            <a:gdLst>
              <a:gd name="connsiteX0" fmla="*/ 0 w 803275"/>
              <a:gd name="connsiteY0" fmla="*/ 617537 h 1470025"/>
              <a:gd name="connsiteX1" fmla="*/ 249237 w 803275"/>
              <a:gd name="connsiteY1" fmla="*/ 617537 h 1470025"/>
              <a:gd name="connsiteX2" fmla="*/ 249237 w 803275"/>
              <a:gd name="connsiteY2" fmla="*/ 388937 h 1470025"/>
              <a:gd name="connsiteX3" fmla="*/ 266700 w 803275"/>
              <a:gd name="connsiteY3" fmla="*/ 315912 h 1470025"/>
              <a:gd name="connsiteX4" fmla="*/ 277812 w 803275"/>
              <a:gd name="connsiteY4" fmla="*/ 260350 h 1470025"/>
              <a:gd name="connsiteX5" fmla="*/ 306387 w 803275"/>
              <a:gd name="connsiteY5" fmla="*/ 209550 h 1470025"/>
              <a:gd name="connsiteX6" fmla="*/ 334962 w 803275"/>
              <a:gd name="connsiteY6" fmla="*/ 171450 h 1470025"/>
              <a:gd name="connsiteX7" fmla="*/ 358775 w 803275"/>
              <a:gd name="connsiteY7" fmla="*/ 146050 h 1470025"/>
              <a:gd name="connsiteX8" fmla="*/ 385762 w 803275"/>
              <a:gd name="connsiteY8" fmla="*/ 127000 h 1470025"/>
              <a:gd name="connsiteX9" fmla="*/ 423862 w 803275"/>
              <a:gd name="connsiteY9" fmla="*/ 109537 h 1470025"/>
              <a:gd name="connsiteX10" fmla="*/ 438150 w 803275"/>
              <a:gd name="connsiteY10" fmla="*/ 100012 h 1470025"/>
              <a:gd name="connsiteX11" fmla="*/ 458787 w 803275"/>
              <a:gd name="connsiteY11" fmla="*/ 98425 h 1470025"/>
              <a:gd name="connsiteX12" fmla="*/ 485775 w 803275"/>
              <a:gd name="connsiteY12" fmla="*/ 96837 h 1470025"/>
              <a:gd name="connsiteX13" fmla="*/ 666750 w 803275"/>
              <a:gd name="connsiteY13" fmla="*/ 96837 h 1470025"/>
              <a:gd name="connsiteX14" fmla="*/ 666750 w 803275"/>
              <a:gd name="connsiteY14" fmla="*/ 0 h 1470025"/>
              <a:gd name="connsiteX15" fmla="*/ 803275 w 803275"/>
              <a:gd name="connsiteY15" fmla="*/ 184150 h 1470025"/>
              <a:gd name="connsiteX16" fmla="*/ 661987 w 803275"/>
              <a:gd name="connsiteY16" fmla="*/ 381000 h 1470025"/>
              <a:gd name="connsiteX17" fmla="*/ 661987 w 803275"/>
              <a:gd name="connsiteY17" fmla="*/ 280987 h 1470025"/>
              <a:gd name="connsiteX18" fmla="*/ 487362 w 803275"/>
              <a:gd name="connsiteY18" fmla="*/ 280987 h 1470025"/>
              <a:gd name="connsiteX19" fmla="*/ 454025 w 803275"/>
              <a:gd name="connsiteY19" fmla="*/ 293687 h 1470025"/>
              <a:gd name="connsiteX20" fmla="*/ 439737 w 803275"/>
              <a:gd name="connsiteY20" fmla="*/ 304800 h 1470025"/>
              <a:gd name="connsiteX21" fmla="*/ 428625 w 803275"/>
              <a:gd name="connsiteY21" fmla="*/ 314325 h 1470025"/>
              <a:gd name="connsiteX22" fmla="*/ 404812 w 803275"/>
              <a:gd name="connsiteY22" fmla="*/ 342900 h 1470025"/>
              <a:gd name="connsiteX23" fmla="*/ 392112 w 803275"/>
              <a:gd name="connsiteY23" fmla="*/ 387350 h 1470025"/>
              <a:gd name="connsiteX24" fmla="*/ 388937 w 803275"/>
              <a:gd name="connsiteY24" fmla="*/ 417512 h 1470025"/>
              <a:gd name="connsiteX25" fmla="*/ 388937 w 803275"/>
              <a:gd name="connsiteY25" fmla="*/ 1008062 h 1470025"/>
              <a:gd name="connsiteX26" fmla="*/ 388937 w 803275"/>
              <a:gd name="connsiteY26" fmla="*/ 1057275 h 1470025"/>
              <a:gd name="connsiteX27" fmla="*/ 390525 w 803275"/>
              <a:gd name="connsiteY27" fmla="*/ 1079500 h 1470025"/>
              <a:gd name="connsiteX28" fmla="*/ 393700 w 803275"/>
              <a:gd name="connsiteY28" fmla="*/ 1084262 h 1470025"/>
              <a:gd name="connsiteX29" fmla="*/ 398462 w 803275"/>
              <a:gd name="connsiteY29" fmla="*/ 1106487 h 1470025"/>
              <a:gd name="connsiteX30" fmla="*/ 409575 w 803275"/>
              <a:gd name="connsiteY30" fmla="*/ 1125537 h 1470025"/>
              <a:gd name="connsiteX31" fmla="*/ 417512 w 803275"/>
              <a:gd name="connsiteY31" fmla="*/ 1146175 h 1470025"/>
              <a:gd name="connsiteX32" fmla="*/ 428625 w 803275"/>
              <a:gd name="connsiteY32" fmla="*/ 1157287 h 1470025"/>
              <a:gd name="connsiteX33" fmla="*/ 446087 w 803275"/>
              <a:gd name="connsiteY33" fmla="*/ 1177925 h 1470025"/>
              <a:gd name="connsiteX34" fmla="*/ 479425 w 803275"/>
              <a:gd name="connsiteY34" fmla="*/ 1189037 h 1470025"/>
              <a:gd name="connsiteX35" fmla="*/ 665162 w 803275"/>
              <a:gd name="connsiteY35" fmla="*/ 1189037 h 1470025"/>
              <a:gd name="connsiteX36" fmla="*/ 665162 w 803275"/>
              <a:gd name="connsiteY36" fmla="*/ 1092200 h 1470025"/>
              <a:gd name="connsiteX37" fmla="*/ 801687 w 803275"/>
              <a:gd name="connsiteY37" fmla="*/ 1282700 h 1470025"/>
              <a:gd name="connsiteX38" fmla="*/ 666750 w 803275"/>
              <a:gd name="connsiteY38" fmla="*/ 1470025 h 1470025"/>
              <a:gd name="connsiteX39" fmla="*/ 666750 w 803275"/>
              <a:gd name="connsiteY39" fmla="*/ 1377950 h 1470025"/>
              <a:gd name="connsiteX40" fmla="*/ 463550 w 803275"/>
              <a:gd name="connsiteY40" fmla="*/ 1377950 h 1470025"/>
              <a:gd name="connsiteX41" fmla="*/ 425450 w 803275"/>
              <a:gd name="connsiteY41" fmla="*/ 1360487 h 1470025"/>
              <a:gd name="connsiteX42" fmla="*/ 411162 w 803275"/>
              <a:gd name="connsiteY42" fmla="*/ 1355725 h 1470025"/>
              <a:gd name="connsiteX43" fmla="*/ 388937 w 803275"/>
              <a:gd name="connsiteY43" fmla="*/ 1343025 h 1470025"/>
              <a:gd name="connsiteX44" fmla="*/ 369887 w 803275"/>
              <a:gd name="connsiteY44" fmla="*/ 1330325 h 1470025"/>
              <a:gd name="connsiteX45" fmla="*/ 355600 w 803275"/>
              <a:gd name="connsiteY45" fmla="*/ 1317625 h 1470025"/>
              <a:gd name="connsiteX46" fmla="*/ 342900 w 803275"/>
              <a:gd name="connsiteY46" fmla="*/ 1303337 h 1470025"/>
              <a:gd name="connsiteX47" fmla="*/ 333375 w 803275"/>
              <a:gd name="connsiteY47" fmla="*/ 1292225 h 1470025"/>
              <a:gd name="connsiteX48" fmla="*/ 322262 w 803275"/>
              <a:gd name="connsiteY48" fmla="*/ 1281112 h 1470025"/>
              <a:gd name="connsiteX49" fmla="*/ 314325 w 803275"/>
              <a:gd name="connsiteY49" fmla="*/ 1265237 h 1470025"/>
              <a:gd name="connsiteX50" fmla="*/ 303212 w 803275"/>
              <a:gd name="connsiteY50" fmla="*/ 1246187 h 1470025"/>
              <a:gd name="connsiteX51" fmla="*/ 284162 w 803275"/>
              <a:gd name="connsiteY51" fmla="*/ 1211262 h 1470025"/>
              <a:gd name="connsiteX52" fmla="*/ 273050 w 803275"/>
              <a:gd name="connsiteY52" fmla="*/ 1176337 h 1470025"/>
              <a:gd name="connsiteX53" fmla="*/ 265112 w 803275"/>
              <a:gd name="connsiteY53" fmla="*/ 1154112 h 1470025"/>
              <a:gd name="connsiteX54" fmla="*/ 260350 w 803275"/>
              <a:gd name="connsiteY54" fmla="*/ 1125537 h 1470025"/>
              <a:gd name="connsiteX55" fmla="*/ 250825 w 803275"/>
              <a:gd name="connsiteY55" fmla="*/ 1104900 h 1470025"/>
              <a:gd name="connsiteX56" fmla="*/ 250825 w 803275"/>
              <a:gd name="connsiteY56" fmla="*/ 1089025 h 1470025"/>
              <a:gd name="connsiteX57" fmla="*/ 250825 w 803275"/>
              <a:gd name="connsiteY57" fmla="*/ 835025 h 1470025"/>
              <a:gd name="connsiteX58" fmla="*/ 0 w 803275"/>
              <a:gd name="connsiteY58" fmla="*/ 835025 h 1470025"/>
              <a:gd name="connsiteX59" fmla="*/ 0 w 803275"/>
              <a:gd name="connsiteY59" fmla="*/ 617537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03275" h="1470025">
                <a:moveTo>
                  <a:pt x="0" y="617537"/>
                </a:moveTo>
                <a:lnTo>
                  <a:pt x="249237" y="617537"/>
                </a:lnTo>
                <a:lnTo>
                  <a:pt x="249237" y="388937"/>
                </a:lnTo>
                <a:lnTo>
                  <a:pt x="266700" y="315912"/>
                </a:lnTo>
                <a:lnTo>
                  <a:pt x="277812" y="260350"/>
                </a:lnTo>
                <a:lnTo>
                  <a:pt x="306387" y="209550"/>
                </a:lnTo>
                <a:lnTo>
                  <a:pt x="334962" y="171450"/>
                </a:lnTo>
                <a:lnTo>
                  <a:pt x="358775" y="146050"/>
                </a:lnTo>
                <a:lnTo>
                  <a:pt x="385762" y="127000"/>
                </a:lnTo>
                <a:lnTo>
                  <a:pt x="423862" y="109537"/>
                </a:lnTo>
                <a:lnTo>
                  <a:pt x="438150" y="100012"/>
                </a:lnTo>
                <a:lnTo>
                  <a:pt x="458787" y="98425"/>
                </a:lnTo>
                <a:lnTo>
                  <a:pt x="485775" y="96837"/>
                </a:lnTo>
                <a:lnTo>
                  <a:pt x="666750" y="96837"/>
                </a:lnTo>
                <a:lnTo>
                  <a:pt x="666750" y="0"/>
                </a:lnTo>
                <a:lnTo>
                  <a:pt x="803275" y="184150"/>
                </a:lnTo>
                <a:lnTo>
                  <a:pt x="661987" y="381000"/>
                </a:lnTo>
                <a:lnTo>
                  <a:pt x="661987" y="280987"/>
                </a:lnTo>
                <a:lnTo>
                  <a:pt x="487362" y="280987"/>
                </a:lnTo>
                <a:lnTo>
                  <a:pt x="454025" y="293687"/>
                </a:lnTo>
                <a:lnTo>
                  <a:pt x="439737" y="304800"/>
                </a:lnTo>
                <a:lnTo>
                  <a:pt x="428625" y="314325"/>
                </a:lnTo>
                <a:lnTo>
                  <a:pt x="404812" y="342900"/>
                </a:lnTo>
                <a:lnTo>
                  <a:pt x="392112" y="387350"/>
                </a:lnTo>
                <a:lnTo>
                  <a:pt x="388937" y="417512"/>
                </a:lnTo>
                <a:lnTo>
                  <a:pt x="388937" y="1008062"/>
                </a:lnTo>
                <a:lnTo>
                  <a:pt x="388937" y="1057275"/>
                </a:lnTo>
                <a:lnTo>
                  <a:pt x="390525" y="1079500"/>
                </a:lnTo>
                <a:lnTo>
                  <a:pt x="393700" y="1084262"/>
                </a:lnTo>
                <a:lnTo>
                  <a:pt x="398462" y="1106487"/>
                </a:lnTo>
                <a:lnTo>
                  <a:pt x="409575" y="1125537"/>
                </a:lnTo>
                <a:lnTo>
                  <a:pt x="417512" y="1146175"/>
                </a:lnTo>
                <a:lnTo>
                  <a:pt x="428625" y="1157287"/>
                </a:lnTo>
                <a:lnTo>
                  <a:pt x="446087" y="1177925"/>
                </a:lnTo>
                <a:lnTo>
                  <a:pt x="479425" y="1189037"/>
                </a:lnTo>
                <a:lnTo>
                  <a:pt x="665162" y="1189037"/>
                </a:lnTo>
                <a:lnTo>
                  <a:pt x="665162" y="1092200"/>
                </a:lnTo>
                <a:lnTo>
                  <a:pt x="801687" y="1282700"/>
                </a:lnTo>
                <a:lnTo>
                  <a:pt x="666750" y="1470025"/>
                </a:lnTo>
                <a:lnTo>
                  <a:pt x="666750" y="1377950"/>
                </a:lnTo>
                <a:lnTo>
                  <a:pt x="463550" y="1377950"/>
                </a:lnTo>
                <a:lnTo>
                  <a:pt x="425450" y="1360487"/>
                </a:lnTo>
                <a:lnTo>
                  <a:pt x="411162" y="1355725"/>
                </a:lnTo>
                <a:lnTo>
                  <a:pt x="388937" y="1343025"/>
                </a:lnTo>
                <a:lnTo>
                  <a:pt x="369887" y="1330325"/>
                </a:lnTo>
                <a:lnTo>
                  <a:pt x="355600" y="1317625"/>
                </a:lnTo>
                <a:lnTo>
                  <a:pt x="342900" y="1303337"/>
                </a:lnTo>
                <a:lnTo>
                  <a:pt x="333375" y="1292225"/>
                </a:lnTo>
                <a:lnTo>
                  <a:pt x="322262" y="1281112"/>
                </a:lnTo>
                <a:lnTo>
                  <a:pt x="314325" y="1265237"/>
                </a:lnTo>
                <a:lnTo>
                  <a:pt x="303212" y="1246187"/>
                </a:lnTo>
                <a:lnTo>
                  <a:pt x="284162" y="1211262"/>
                </a:lnTo>
                <a:lnTo>
                  <a:pt x="273050" y="1176337"/>
                </a:lnTo>
                <a:lnTo>
                  <a:pt x="265112" y="1154112"/>
                </a:lnTo>
                <a:lnTo>
                  <a:pt x="260350" y="1125537"/>
                </a:lnTo>
                <a:lnTo>
                  <a:pt x="250825" y="1104900"/>
                </a:lnTo>
                <a:lnTo>
                  <a:pt x="250825" y="1089025"/>
                </a:lnTo>
                <a:lnTo>
                  <a:pt x="250825" y="835025"/>
                </a:lnTo>
                <a:lnTo>
                  <a:pt x="0" y="835025"/>
                </a:lnTo>
                <a:lnTo>
                  <a:pt x="0" y="617537"/>
                </a:lnTo>
                <a:close/>
              </a:path>
            </a:pathLst>
          </a:cu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rgbClr val="FFFFFF"/>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2A83B114-5206-1F19-D73E-E30EB2AF53AA}"/>
              </a:ext>
            </a:extLst>
          </p:cNvPr>
          <p:cNvSpPr txBox="1"/>
          <p:nvPr/>
        </p:nvSpPr>
        <p:spPr>
          <a:xfrm>
            <a:off x="7033740" y="2832453"/>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25" name="文本框 24">
            <a:extLst>
              <a:ext uri="{FF2B5EF4-FFF2-40B4-BE49-F238E27FC236}">
                <a16:creationId xmlns:a16="http://schemas.microsoft.com/office/drawing/2014/main" id="{4E17F16D-6C6D-89C5-87DF-6F70DFAC2C43}"/>
              </a:ext>
            </a:extLst>
          </p:cNvPr>
          <p:cNvSpPr txBox="1"/>
          <p:nvPr/>
        </p:nvSpPr>
        <p:spPr>
          <a:xfrm>
            <a:off x="7093559" y="1331620"/>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26" name="右箭头 13">
            <a:extLst>
              <a:ext uri="{FF2B5EF4-FFF2-40B4-BE49-F238E27FC236}">
                <a16:creationId xmlns:a16="http://schemas.microsoft.com/office/drawing/2014/main" id="{AEF40B04-02DA-8B44-15AF-3A253DBDC270}"/>
              </a:ext>
            </a:extLst>
          </p:cNvPr>
          <p:cNvSpPr/>
          <p:nvPr/>
        </p:nvSpPr>
        <p:spPr>
          <a:xfrm>
            <a:off x="9689560" y="1249026"/>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3.3V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7" name="圆角矩形 61">
            <a:extLst>
              <a:ext uri="{FF2B5EF4-FFF2-40B4-BE49-F238E27FC236}">
                <a16:creationId xmlns:a16="http://schemas.microsoft.com/office/drawing/2014/main" id="{36C2F67A-EFF2-8746-42E9-227562ACB758}"/>
              </a:ext>
            </a:extLst>
          </p:cNvPr>
          <p:cNvSpPr/>
          <p:nvPr/>
        </p:nvSpPr>
        <p:spPr>
          <a:xfrm>
            <a:off x="10610455" y="1305880"/>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rPr>
              <a:t>VCC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8" name="圆角矩形 61">
            <a:extLst>
              <a:ext uri="{FF2B5EF4-FFF2-40B4-BE49-F238E27FC236}">
                <a16:creationId xmlns:a16="http://schemas.microsoft.com/office/drawing/2014/main" id="{C0244289-9974-3CF4-BFED-E1A326A7821A}"/>
              </a:ext>
            </a:extLst>
          </p:cNvPr>
          <p:cNvSpPr/>
          <p:nvPr/>
        </p:nvSpPr>
        <p:spPr>
          <a:xfrm>
            <a:off x="10610455" y="2736967"/>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rPr>
              <a:t>ISO_5V</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29" name="右箭头 13">
            <a:extLst>
              <a:ext uri="{FF2B5EF4-FFF2-40B4-BE49-F238E27FC236}">
                <a16:creationId xmlns:a16="http://schemas.microsoft.com/office/drawing/2014/main" id="{3695EE12-7042-348E-25AF-A886914D7E6F}"/>
              </a:ext>
            </a:extLst>
          </p:cNvPr>
          <p:cNvSpPr/>
          <p:nvPr/>
        </p:nvSpPr>
        <p:spPr>
          <a:xfrm>
            <a:off x="9689560" y="2693709"/>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5V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grpSp>
        <p:nvGrpSpPr>
          <p:cNvPr id="34" name="组合 33">
            <a:extLst>
              <a:ext uri="{FF2B5EF4-FFF2-40B4-BE49-F238E27FC236}">
                <a16:creationId xmlns:a16="http://schemas.microsoft.com/office/drawing/2014/main" id="{1D4222A5-C92D-2498-EFD1-8243008B58D5}"/>
              </a:ext>
            </a:extLst>
          </p:cNvPr>
          <p:cNvGrpSpPr/>
          <p:nvPr/>
        </p:nvGrpSpPr>
        <p:grpSpPr>
          <a:xfrm>
            <a:off x="226877" y="3883428"/>
            <a:ext cx="4028663" cy="2694844"/>
            <a:chOff x="226877" y="3996318"/>
            <a:chExt cx="4731203" cy="2581953"/>
          </a:xfrm>
        </p:grpSpPr>
        <p:sp>
          <p:nvSpPr>
            <p:cNvPr id="31" name="矩形 26">
              <a:extLst>
                <a:ext uri="{FF2B5EF4-FFF2-40B4-BE49-F238E27FC236}">
                  <a16:creationId xmlns:a16="http://schemas.microsoft.com/office/drawing/2014/main" id="{07F95FF8-0C78-3D8A-4A9E-90E91EF80BA9}"/>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A5ED415C-9AC7-34A0-9278-821BCBC471C2}"/>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MP4583</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48" name="文本框 47">
            <a:extLst>
              <a:ext uri="{FF2B5EF4-FFF2-40B4-BE49-F238E27FC236}">
                <a16:creationId xmlns:a16="http://schemas.microsoft.com/office/drawing/2014/main" id="{D61BF823-68A3-7E51-F8FE-3A739BEE18C7}"/>
              </a:ext>
            </a:extLst>
          </p:cNvPr>
          <p:cNvSpPr txBox="1"/>
          <p:nvPr/>
        </p:nvSpPr>
        <p:spPr>
          <a:xfrm>
            <a:off x="296202" y="4314404"/>
            <a:ext cx="4028663" cy="1754326"/>
          </a:xfrm>
          <a:prstGeom prst="rect">
            <a:avLst/>
          </a:prstGeom>
          <a:noFill/>
        </p:spPr>
        <p:txBody>
          <a:bodyPr wrap="square">
            <a:spAutoFit/>
          </a:bodyPr>
          <a:lstStyle/>
          <a:p>
            <a:r>
              <a:rPr lang="zh-CN" altLang="en-US" dirty="0"/>
              <a:t>● 宽压输入 </a:t>
            </a:r>
            <a:r>
              <a:rPr lang="en-US" altLang="zh-CN" dirty="0"/>
              <a:t>4.5V</a:t>
            </a:r>
            <a:r>
              <a:rPr lang="zh-CN" altLang="en-US" dirty="0"/>
              <a:t>～</a:t>
            </a:r>
            <a:r>
              <a:rPr lang="en-US" altLang="zh-CN" dirty="0"/>
              <a:t>100V</a:t>
            </a:r>
            <a:r>
              <a:rPr lang="zh-CN" altLang="en-US" dirty="0"/>
              <a:t>，输出 </a:t>
            </a:r>
            <a:r>
              <a:rPr lang="en-US" altLang="zh-CN" dirty="0"/>
              <a:t>3A</a:t>
            </a:r>
            <a:r>
              <a:rPr lang="zh-CN" altLang="en-US" dirty="0"/>
              <a:t>，</a:t>
            </a:r>
            <a:endParaRPr lang="en-US" altLang="zh-CN" dirty="0"/>
          </a:p>
          <a:p>
            <a:r>
              <a:rPr lang="zh-CN" altLang="en-US" dirty="0"/>
              <a:t>● 静态功耗 </a:t>
            </a:r>
            <a:r>
              <a:rPr lang="en-US" altLang="zh-CN" dirty="0"/>
              <a:t>8μA </a:t>
            </a:r>
          </a:p>
          <a:p>
            <a:r>
              <a:rPr lang="en-US" altLang="zh-CN" dirty="0"/>
              <a:t>● </a:t>
            </a:r>
            <a:r>
              <a:rPr lang="zh-CN" altLang="en-US" dirty="0"/>
              <a:t>集成 </a:t>
            </a:r>
            <a:r>
              <a:rPr lang="en-US" altLang="zh-CN" dirty="0"/>
              <a:t>MOSFET</a:t>
            </a:r>
            <a:r>
              <a:rPr lang="zh-CN" altLang="en-US" dirty="0"/>
              <a:t>，内置 </a:t>
            </a:r>
            <a:r>
              <a:rPr lang="en-US" altLang="zh-CN" dirty="0"/>
              <a:t>FCCM </a:t>
            </a:r>
            <a:r>
              <a:rPr lang="zh-CN" altLang="en-US" dirty="0"/>
              <a:t>模式</a:t>
            </a:r>
            <a:endParaRPr lang="en-US" altLang="zh-CN" dirty="0"/>
          </a:p>
          <a:p>
            <a:r>
              <a:rPr lang="zh-CN" altLang="en-US" dirty="0"/>
              <a:t>● 内置</a:t>
            </a:r>
            <a:r>
              <a:rPr lang="en-US" altLang="zh-CN" dirty="0"/>
              <a:t>OCP / SCP / OVP / OTP </a:t>
            </a:r>
            <a:r>
              <a:rPr lang="zh-CN" altLang="en-US" dirty="0"/>
              <a:t>四重保护 </a:t>
            </a:r>
            <a:endParaRPr lang="en-US" altLang="zh-CN" dirty="0"/>
          </a:p>
          <a:p>
            <a:r>
              <a:rPr lang="zh-CN" altLang="en-US" dirty="0"/>
              <a:t>● 内置环路补偿，外围精简</a:t>
            </a:r>
          </a:p>
        </p:txBody>
      </p:sp>
      <p:sp>
        <p:nvSpPr>
          <p:cNvPr id="49" name="AutoShape 2">
            <a:extLst>
              <a:ext uri="{FF2B5EF4-FFF2-40B4-BE49-F238E27FC236}">
                <a16:creationId xmlns:a16="http://schemas.microsoft.com/office/drawing/2014/main" id="{3524D454-F343-5C47-0624-936BE4B797C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2" name="组合 51">
            <a:extLst>
              <a:ext uri="{FF2B5EF4-FFF2-40B4-BE49-F238E27FC236}">
                <a16:creationId xmlns:a16="http://schemas.microsoft.com/office/drawing/2014/main" id="{C3D2B80A-C5B0-EE5F-61F9-5D4C87E497EB}"/>
              </a:ext>
            </a:extLst>
          </p:cNvPr>
          <p:cNvGrpSpPr/>
          <p:nvPr/>
        </p:nvGrpSpPr>
        <p:grpSpPr>
          <a:xfrm>
            <a:off x="6931720" y="3883428"/>
            <a:ext cx="4964078" cy="2694844"/>
            <a:chOff x="226877" y="3996318"/>
            <a:chExt cx="4731203" cy="2581953"/>
          </a:xfrm>
        </p:grpSpPr>
        <p:sp>
          <p:nvSpPr>
            <p:cNvPr id="53" name="矩形 26">
              <a:extLst>
                <a:ext uri="{FF2B5EF4-FFF2-40B4-BE49-F238E27FC236}">
                  <a16:creationId xmlns:a16="http://schemas.microsoft.com/office/drawing/2014/main" id="{7AFACD28-C396-8058-28DD-7CDDEA1E0DDF}"/>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54" name="文本框 85">
              <a:extLst>
                <a:ext uri="{FF2B5EF4-FFF2-40B4-BE49-F238E27FC236}">
                  <a16:creationId xmlns:a16="http://schemas.microsoft.com/office/drawing/2014/main" id="{D3863E3E-699B-3A82-8DE6-27EE1630A8DE}"/>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MP3632S</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56" name="文本框 55">
            <a:extLst>
              <a:ext uri="{FF2B5EF4-FFF2-40B4-BE49-F238E27FC236}">
                <a16:creationId xmlns:a16="http://schemas.microsoft.com/office/drawing/2014/main" id="{3E686FDF-D209-16D3-3FBB-1B052C3731D7}"/>
              </a:ext>
            </a:extLst>
          </p:cNvPr>
          <p:cNvSpPr txBox="1"/>
          <p:nvPr/>
        </p:nvSpPr>
        <p:spPr>
          <a:xfrm>
            <a:off x="6931720" y="4314404"/>
            <a:ext cx="4964078" cy="2031325"/>
          </a:xfrm>
          <a:prstGeom prst="rect">
            <a:avLst/>
          </a:prstGeom>
          <a:noFill/>
        </p:spPr>
        <p:txBody>
          <a:bodyPr wrap="square">
            <a:spAutoFit/>
          </a:bodyPr>
          <a:lstStyle/>
          <a:p>
            <a:r>
              <a:rPr lang="zh-CN" altLang="en-US" dirty="0"/>
              <a:t>● </a:t>
            </a:r>
            <a:r>
              <a:rPr lang="en-US" altLang="zh-CN" dirty="0"/>
              <a:t>EC LGA-10 </a:t>
            </a:r>
            <a:r>
              <a:rPr lang="zh-CN" altLang="en-US" dirty="0"/>
              <a:t>封装，仅 </a:t>
            </a:r>
            <a:r>
              <a:rPr lang="en-US" altLang="zh-CN" dirty="0"/>
              <a:t>3×3×1.45mm,</a:t>
            </a:r>
            <a:r>
              <a:rPr lang="zh-CN" altLang="en-US" dirty="0"/>
              <a:t>且集成了电感和部分电容</a:t>
            </a:r>
            <a:endParaRPr lang="en-US" altLang="zh-CN" dirty="0"/>
          </a:p>
          <a:p>
            <a:r>
              <a:rPr lang="zh-CN" altLang="en-US" dirty="0"/>
              <a:t>● </a:t>
            </a:r>
            <a:r>
              <a:rPr lang="en-US" altLang="zh-CN" dirty="0"/>
              <a:t>2.2MHz </a:t>
            </a:r>
            <a:r>
              <a:rPr lang="zh-CN" altLang="en-US" dirty="0"/>
              <a:t>高频 </a:t>
            </a:r>
            <a:r>
              <a:rPr lang="en-US" altLang="zh-CN" dirty="0"/>
              <a:t>COT </a:t>
            </a:r>
            <a:r>
              <a:rPr lang="zh-CN" altLang="en-US" dirty="0"/>
              <a:t>控制，快速负载瞬态响应</a:t>
            </a:r>
            <a:endParaRPr lang="en-US" altLang="zh-CN" dirty="0"/>
          </a:p>
          <a:p>
            <a:r>
              <a:rPr lang="zh-CN" altLang="en-US" dirty="0"/>
              <a:t>● 集成 </a:t>
            </a:r>
            <a:r>
              <a:rPr lang="en-US" altLang="zh-CN" dirty="0"/>
              <a:t>OCP</a:t>
            </a:r>
            <a:r>
              <a:rPr lang="zh-CN" altLang="en-US" dirty="0"/>
              <a:t>（打嗝模式）</a:t>
            </a:r>
            <a:r>
              <a:rPr lang="en-US" altLang="zh-CN" dirty="0"/>
              <a:t>/ OVP / 150°C </a:t>
            </a:r>
            <a:r>
              <a:rPr lang="zh-CN" altLang="en-US" dirty="0"/>
              <a:t>热关断三重保护</a:t>
            </a:r>
            <a:endParaRPr lang="en-US" altLang="zh-CN" dirty="0"/>
          </a:p>
          <a:p>
            <a:r>
              <a:rPr lang="zh-CN" altLang="en-US" dirty="0"/>
              <a:t>● 输出精度 </a:t>
            </a:r>
            <a:r>
              <a:rPr lang="en-US" altLang="zh-CN" dirty="0"/>
              <a:t>±0.5%</a:t>
            </a:r>
            <a:r>
              <a:rPr lang="zh-CN" altLang="en-US" dirty="0"/>
              <a:t>，负载</a:t>
            </a:r>
            <a:r>
              <a:rPr lang="en-US" altLang="zh-CN" dirty="0"/>
              <a:t>/</a:t>
            </a:r>
            <a:r>
              <a:rPr lang="zh-CN" altLang="en-US" dirty="0"/>
              <a:t>线性调整率均 </a:t>
            </a:r>
            <a:r>
              <a:rPr lang="en-US" altLang="zh-CN" dirty="0"/>
              <a:t>&lt;0.5%</a:t>
            </a:r>
          </a:p>
          <a:p>
            <a:r>
              <a:rPr lang="zh-CN" altLang="en-US" dirty="0"/>
              <a:t>●强制 </a:t>
            </a:r>
            <a:r>
              <a:rPr lang="en-US" altLang="zh-CN" dirty="0"/>
              <a:t>CCM </a:t>
            </a:r>
            <a:r>
              <a:rPr lang="zh-CN" altLang="en-US" dirty="0"/>
              <a:t>模式</a:t>
            </a:r>
          </a:p>
        </p:txBody>
      </p:sp>
      <p:pic>
        <p:nvPicPr>
          <p:cNvPr id="57" name="图片 56">
            <a:extLst>
              <a:ext uri="{FF2B5EF4-FFF2-40B4-BE49-F238E27FC236}">
                <a16:creationId xmlns:a16="http://schemas.microsoft.com/office/drawing/2014/main" id="{3A5BACE3-A82B-6B91-DC7C-A2550A272162}"/>
              </a:ext>
            </a:extLst>
          </p:cNvPr>
          <p:cNvPicPr>
            <a:picLocks noChangeAspect="1"/>
          </p:cNvPicPr>
          <p:nvPr/>
        </p:nvPicPr>
        <p:blipFill>
          <a:blip r:embed="rId7"/>
          <a:stretch>
            <a:fillRect/>
          </a:stretch>
        </p:blipFill>
        <p:spPr>
          <a:xfrm>
            <a:off x="4278555" y="4200384"/>
            <a:ext cx="2551198" cy="2259363"/>
          </a:xfrm>
          <a:prstGeom prst="rect">
            <a:avLst/>
          </a:prstGeom>
        </p:spPr>
      </p:pic>
    </p:spTree>
    <p:extLst>
      <p:ext uri="{BB962C8B-B14F-4D97-AF65-F5344CB8AC3E}">
        <p14:creationId xmlns:p14="http://schemas.microsoft.com/office/powerpoint/2010/main" val="302806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79064-ECF0-D655-517A-3188A7D40BFC}"/>
            </a:ext>
          </a:extLst>
        </p:cNvPr>
        <p:cNvGrpSpPr/>
        <p:nvPr/>
      </p:nvGrpSpPr>
      <p:grpSpPr>
        <a:xfrm>
          <a:off x="0" y="0"/>
          <a:ext cx="0" cy="0"/>
          <a:chOff x="0" y="0"/>
          <a:chExt cx="0" cy="0"/>
        </a:xfrm>
      </p:grpSpPr>
      <p:sp>
        <p:nvSpPr>
          <p:cNvPr id="30" name="矩形 29">
            <a:extLst>
              <a:ext uri="{FF2B5EF4-FFF2-40B4-BE49-F238E27FC236}">
                <a16:creationId xmlns:a16="http://schemas.microsoft.com/office/drawing/2014/main" id="{48F36709-4F2C-3590-4C24-48D9C9182D7E}"/>
              </a:ext>
            </a:extLst>
          </p:cNvPr>
          <p:cNvSpPr/>
          <p:nvPr/>
        </p:nvSpPr>
        <p:spPr>
          <a:xfrm>
            <a:off x="217806" y="800638"/>
            <a:ext cx="11663919"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7DCFA4BB-2104-C961-2E52-71AF7193E8DE}"/>
              </a:ext>
            </a:extLst>
          </p:cNvPr>
          <p:cNvSpPr/>
          <p:nvPr/>
        </p:nvSpPr>
        <p:spPr>
          <a:xfrm>
            <a:off x="7961607" y="800638"/>
            <a:ext cx="3919017" cy="292500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8D9C1941-567C-1A88-7AAA-3ABCDA3871A1}"/>
              </a:ext>
            </a:extLst>
          </p:cNvPr>
          <p:cNvSpPr/>
          <p:nvPr/>
        </p:nvSpPr>
        <p:spPr>
          <a:xfrm>
            <a:off x="7960507" y="2370512"/>
            <a:ext cx="2000757" cy="135767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a:extLst>
              <a:ext uri="{FF2B5EF4-FFF2-40B4-BE49-F238E27FC236}">
                <a16:creationId xmlns:a16="http://schemas.microsoft.com/office/drawing/2014/main" id="{FDF3BDA6-3532-F529-55AF-BDD3A0D10FD5}"/>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辅助电源 </a:t>
            </a:r>
            <a:r>
              <a:rPr lang="en-US" altLang="zh-CN" dirty="0">
                <a:solidFill>
                  <a:schemeClr val="bg1"/>
                </a:solidFill>
              </a:rPr>
              <a:t>MIE1W0505</a:t>
            </a:r>
            <a:r>
              <a:rPr lang="zh-CN" altLang="en-US" dirty="0">
                <a:solidFill>
                  <a:schemeClr val="bg1"/>
                </a:solidFill>
              </a:rPr>
              <a:t>、</a:t>
            </a:r>
            <a:r>
              <a:rPr lang="en-US" altLang="zh-CN" dirty="0">
                <a:solidFill>
                  <a:schemeClr val="bg1"/>
                </a:solidFill>
              </a:rPr>
              <a:t>MP20051DQ</a:t>
            </a:r>
            <a:endParaRPr dirty="0">
              <a:solidFill>
                <a:schemeClr val="bg1"/>
              </a:solidFill>
            </a:endParaRPr>
          </a:p>
        </p:txBody>
      </p:sp>
      <p:pic>
        <p:nvPicPr>
          <p:cNvPr id="8" name="图片 7">
            <a:extLst>
              <a:ext uri="{FF2B5EF4-FFF2-40B4-BE49-F238E27FC236}">
                <a16:creationId xmlns:a16="http://schemas.microsoft.com/office/drawing/2014/main" id="{7217F36B-252C-9E25-D2E7-E7EDC3FFF010}"/>
              </a:ext>
            </a:extLst>
          </p:cNvPr>
          <p:cNvPicPr>
            <a:picLocks noChangeAspect="1"/>
          </p:cNvPicPr>
          <p:nvPr/>
        </p:nvPicPr>
        <p:blipFill>
          <a:blip r:embed="rId3"/>
          <a:stretch>
            <a:fillRect/>
          </a:stretch>
        </p:blipFill>
        <p:spPr>
          <a:xfrm>
            <a:off x="5233335" y="656386"/>
            <a:ext cx="1365817" cy="1365817"/>
          </a:xfrm>
          <a:prstGeom prst="rect">
            <a:avLst/>
          </a:prstGeom>
        </p:spPr>
      </p:pic>
      <p:sp>
        <p:nvSpPr>
          <p:cNvPr id="14" name="文本框 13">
            <a:extLst>
              <a:ext uri="{FF2B5EF4-FFF2-40B4-BE49-F238E27FC236}">
                <a16:creationId xmlns:a16="http://schemas.microsoft.com/office/drawing/2014/main" id="{BDBCB212-BE44-3578-D817-6A7B66FC81E0}"/>
              </a:ext>
            </a:extLst>
          </p:cNvPr>
          <p:cNvSpPr txBox="1"/>
          <p:nvPr/>
        </p:nvSpPr>
        <p:spPr>
          <a:xfrm>
            <a:off x="4964472" y="1938708"/>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LDO MP20051DQ</a:t>
            </a:r>
            <a:endParaRPr lang="zh-CN" altLang="en-US" sz="1400" dirty="0">
              <a:latin typeface="微软雅黑" panose="020B0503020204020204" pitchFamily="34" charset="-122"/>
              <a:ea typeface="微软雅黑" panose="020B0503020204020204" pitchFamily="34" charset="-122"/>
            </a:endParaRPr>
          </a:p>
        </p:txBody>
      </p:sp>
      <p:pic>
        <p:nvPicPr>
          <p:cNvPr id="15" name="Picture 2">
            <a:extLst>
              <a:ext uri="{FF2B5EF4-FFF2-40B4-BE49-F238E27FC236}">
                <a16:creationId xmlns:a16="http://schemas.microsoft.com/office/drawing/2014/main" id="{228410D6-AEC5-2B65-6C33-143558200F7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507" r="23445"/>
          <a:stretch/>
        </p:blipFill>
        <p:spPr bwMode="auto">
          <a:xfrm>
            <a:off x="5325465" y="2261748"/>
            <a:ext cx="1038237" cy="1024784"/>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E65F38DC-E17A-1307-ED86-EDB5F33C01AE}"/>
              </a:ext>
            </a:extLst>
          </p:cNvPr>
          <p:cNvSpPr txBox="1"/>
          <p:nvPr/>
        </p:nvSpPr>
        <p:spPr>
          <a:xfrm>
            <a:off x="4964472" y="3160303"/>
            <a:ext cx="1725330" cy="523220"/>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rPr>
              <a:t>MIE1W0505</a:t>
            </a:r>
          </a:p>
          <a:p>
            <a:pPr indent="0" algn="ctr" fontAlgn="auto">
              <a:lnSpc>
                <a:spcPct val="100000"/>
              </a:lnSpc>
            </a:pPr>
            <a:r>
              <a:rPr lang="zh-CN" altLang="en-US" sz="1400" dirty="0">
                <a:latin typeface="微软雅黑" panose="020B0503020204020204" pitchFamily="34" charset="-122"/>
                <a:ea typeface="微软雅黑" panose="020B0503020204020204" pitchFamily="34" charset="-122"/>
              </a:rPr>
              <a:t>隔离电源</a:t>
            </a:r>
          </a:p>
        </p:txBody>
      </p:sp>
      <p:sp>
        <p:nvSpPr>
          <p:cNvPr id="26" name="右箭头 13">
            <a:extLst>
              <a:ext uri="{FF2B5EF4-FFF2-40B4-BE49-F238E27FC236}">
                <a16:creationId xmlns:a16="http://schemas.microsoft.com/office/drawing/2014/main" id="{324441A0-F055-B8C2-A7A8-39B3D67DB8EA}"/>
              </a:ext>
            </a:extLst>
          </p:cNvPr>
          <p:cNvSpPr/>
          <p:nvPr/>
        </p:nvSpPr>
        <p:spPr>
          <a:xfrm>
            <a:off x="6703709" y="1162277"/>
            <a:ext cx="1256797"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3.3V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29" name="右箭头 13">
            <a:extLst>
              <a:ext uri="{FF2B5EF4-FFF2-40B4-BE49-F238E27FC236}">
                <a16:creationId xmlns:a16="http://schemas.microsoft.com/office/drawing/2014/main" id="{622B2CDE-237E-782B-92AB-F7D7ED209AB8}"/>
              </a:ext>
            </a:extLst>
          </p:cNvPr>
          <p:cNvSpPr/>
          <p:nvPr/>
        </p:nvSpPr>
        <p:spPr>
          <a:xfrm>
            <a:off x="6689802" y="2557857"/>
            <a:ext cx="1271255"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ISO_5V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grpSp>
        <p:nvGrpSpPr>
          <p:cNvPr id="34" name="组合 33">
            <a:extLst>
              <a:ext uri="{FF2B5EF4-FFF2-40B4-BE49-F238E27FC236}">
                <a16:creationId xmlns:a16="http://schemas.microsoft.com/office/drawing/2014/main" id="{043BE0BB-2CB2-4E33-BED1-E4266C26D421}"/>
              </a:ext>
            </a:extLst>
          </p:cNvPr>
          <p:cNvGrpSpPr/>
          <p:nvPr/>
        </p:nvGrpSpPr>
        <p:grpSpPr>
          <a:xfrm>
            <a:off x="4325658" y="3875741"/>
            <a:ext cx="4028663" cy="2694844"/>
            <a:chOff x="226877" y="3996318"/>
            <a:chExt cx="4731203" cy="2581953"/>
          </a:xfrm>
        </p:grpSpPr>
        <p:sp>
          <p:nvSpPr>
            <p:cNvPr id="31" name="矩形 26">
              <a:extLst>
                <a:ext uri="{FF2B5EF4-FFF2-40B4-BE49-F238E27FC236}">
                  <a16:creationId xmlns:a16="http://schemas.microsoft.com/office/drawing/2014/main" id="{BF323283-E718-F7C3-177B-CCEB4BE2D785}"/>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29458F3D-ADD9-7E03-65D9-ACB9101A2AB1}"/>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MIE1W0505</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sp>
        <p:nvSpPr>
          <p:cNvPr id="49" name="AutoShape 2">
            <a:extLst>
              <a:ext uri="{FF2B5EF4-FFF2-40B4-BE49-F238E27FC236}">
                <a16:creationId xmlns:a16="http://schemas.microsoft.com/office/drawing/2014/main" id="{A07A1D26-CA3B-4F92-D9BF-C7FFBBC385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2" name="组合 51">
            <a:extLst>
              <a:ext uri="{FF2B5EF4-FFF2-40B4-BE49-F238E27FC236}">
                <a16:creationId xmlns:a16="http://schemas.microsoft.com/office/drawing/2014/main" id="{2312609A-763E-6E32-22F5-3056E38F37F8}"/>
              </a:ext>
            </a:extLst>
          </p:cNvPr>
          <p:cNvGrpSpPr/>
          <p:nvPr/>
        </p:nvGrpSpPr>
        <p:grpSpPr>
          <a:xfrm>
            <a:off x="8423056" y="3875741"/>
            <a:ext cx="3465965" cy="2694844"/>
            <a:chOff x="226877" y="3996318"/>
            <a:chExt cx="4731203" cy="2581953"/>
          </a:xfrm>
        </p:grpSpPr>
        <p:sp>
          <p:nvSpPr>
            <p:cNvPr id="53" name="矩形 26">
              <a:extLst>
                <a:ext uri="{FF2B5EF4-FFF2-40B4-BE49-F238E27FC236}">
                  <a16:creationId xmlns:a16="http://schemas.microsoft.com/office/drawing/2014/main" id="{5D3B8C59-352E-BC34-4DA1-4DD5E7CFE720}"/>
                </a:ext>
              </a:extLst>
            </p:cNvPr>
            <p:cNvSpPr/>
            <p:nvPr/>
          </p:nvSpPr>
          <p:spPr>
            <a:xfrm>
              <a:off x="226877" y="4365651"/>
              <a:ext cx="4730510" cy="2212620"/>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54" name="文本框 85">
              <a:extLst>
                <a:ext uri="{FF2B5EF4-FFF2-40B4-BE49-F238E27FC236}">
                  <a16:creationId xmlns:a16="http://schemas.microsoft.com/office/drawing/2014/main" id="{D3DDA77F-98EF-D93B-026C-AE5C5658DC06}"/>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MP20051DQ</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pic>
        <p:nvPicPr>
          <p:cNvPr id="6" name="图片 5">
            <a:extLst>
              <a:ext uri="{FF2B5EF4-FFF2-40B4-BE49-F238E27FC236}">
                <a16:creationId xmlns:a16="http://schemas.microsoft.com/office/drawing/2014/main" id="{151EBCB2-F378-30B2-3273-A89E672ED808}"/>
              </a:ext>
            </a:extLst>
          </p:cNvPr>
          <p:cNvPicPr>
            <a:picLocks noChangeAspect="1"/>
          </p:cNvPicPr>
          <p:nvPr/>
        </p:nvPicPr>
        <p:blipFill>
          <a:blip r:embed="rId5"/>
          <a:stretch>
            <a:fillRect/>
          </a:stretch>
        </p:blipFill>
        <p:spPr>
          <a:xfrm>
            <a:off x="308841" y="3725640"/>
            <a:ext cx="3744594" cy="2933613"/>
          </a:xfrm>
          <a:prstGeom prst="rect">
            <a:avLst/>
          </a:prstGeom>
        </p:spPr>
      </p:pic>
      <p:sp>
        <p:nvSpPr>
          <p:cNvPr id="11" name="文本框 10">
            <a:extLst>
              <a:ext uri="{FF2B5EF4-FFF2-40B4-BE49-F238E27FC236}">
                <a16:creationId xmlns:a16="http://schemas.microsoft.com/office/drawing/2014/main" id="{33D85573-2741-6D71-4363-3501F297C36A}"/>
              </a:ext>
            </a:extLst>
          </p:cNvPr>
          <p:cNvSpPr txBox="1"/>
          <p:nvPr/>
        </p:nvSpPr>
        <p:spPr>
          <a:xfrm>
            <a:off x="4359662" y="4260336"/>
            <a:ext cx="4028663" cy="2862322"/>
          </a:xfrm>
          <a:prstGeom prst="rect">
            <a:avLst/>
          </a:prstGeom>
          <a:noFill/>
        </p:spPr>
        <p:txBody>
          <a:bodyPr wrap="square">
            <a:spAutoFit/>
          </a:bodyPr>
          <a:lstStyle/>
          <a:p>
            <a:r>
              <a:rPr lang="zh-CN" altLang="en-US" dirty="0"/>
              <a:t>● </a:t>
            </a:r>
            <a:r>
              <a:rPr lang="en-US" altLang="zh-CN" dirty="0"/>
              <a:t>5V→5V </a:t>
            </a:r>
            <a:r>
              <a:rPr lang="zh-CN" altLang="en-US" dirty="0"/>
              <a:t>工况下可提供 ≥</a:t>
            </a:r>
            <a:r>
              <a:rPr lang="en-US" altLang="zh-CN" dirty="0"/>
              <a:t>200mA </a:t>
            </a:r>
            <a:r>
              <a:rPr lang="zh-CN" altLang="en-US" dirty="0"/>
              <a:t>负载电流</a:t>
            </a:r>
            <a:endParaRPr lang="en-US" altLang="zh-CN" dirty="0"/>
          </a:p>
          <a:p>
            <a:r>
              <a:rPr lang="zh-CN" altLang="en-US" dirty="0"/>
              <a:t>● 负载调整率 </a:t>
            </a:r>
            <a:r>
              <a:rPr lang="en-US" altLang="zh-CN" dirty="0"/>
              <a:t>0.5%</a:t>
            </a:r>
            <a:r>
              <a:rPr lang="zh-CN" altLang="en-US" dirty="0"/>
              <a:t>，线性调整率 </a:t>
            </a:r>
            <a:r>
              <a:rPr lang="en-US" altLang="zh-CN" dirty="0"/>
              <a:t>0.2%</a:t>
            </a:r>
          </a:p>
          <a:p>
            <a:r>
              <a:rPr lang="zh-CN" altLang="en-US" dirty="0"/>
              <a:t>● 内置连续短路保护 </a:t>
            </a:r>
            <a:r>
              <a:rPr lang="en-US" altLang="zh-CN" dirty="0"/>
              <a:t>SCP </a:t>
            </a:r>
            <a:r>
              <a:rPr lang="zh-CN" altLang="en-US" dirty="0"/>
              <a:t>和过温保护 </a:t>
            </a:r>
            <a:r>
              <a:rPr lang="en-US" altLang="zh-CN" dirty="0"/>
              <a:t>OTP</a:t>
            </a:r>
          </a:p>
          <a:p>
            <a:r>
              <a:rPr lang="zh-CN" altLang="en-US" dirty="0"/>
              <a:t>● 用于</a:t>
            </a:r>
            <a:r>
              <a:rPr lang="en-US" altLang="zh-CN" dirty="0"/>
              <a:t>CAN</a:t>
            </a:r>
            <a:r>
              <a:rPr lang="zh-CN" altLang="en-US" dirty="0"/>
              <a:t>通讯隔离，提高通讯质量与可靠性</a:t>
            </a:r>
          </a:p>
          <a:p>
            <a:endParaRPr lang="en-US" altLang="zh-CN" dirty="0"/>
          </a:p>
          <a:p>
            <a:endParaRPr lang="zh-CN" altLang="en-US" dirty="0"/>
          </a:p>
        </p:txBody>
      </p:sp>
      <p:sp>
        <p:nvSpPr>
          <p:cNvPr id="18" name="文本框 17">
            <a:extLst>
              <a:ext uri="{FF2B5EF4-FFF2-40B4-BE49-F238E27FC236}">
                <a16:creationId xmlns:a16="http://schemas.microsoft.com/office/drawing/2014/main" id="{D7229149-3E87-8301-5078-CF35F92E7311}"/>
              </a:ext>
            </a:extLst>
          </p:cNvPr>
          <p:cNvSpPr txBox="1"/>
          <p:nvPr/>
        </p:nvSpPr>
        <p:spPr>
          <a:xfrm>
            <a:off x="8422330" y="4245073"/>
            <a:ext cx="3466692" cy="3139321"/>
          </a:xfrm>
          <a:prstGeom prst="rect">
            <a:avLst/>
          </a:prstGeom>
          <a:noFill/>
        </p:spPr>
        <p:txBody>
          <a:bodyPr wrap="square">
            <a:spAutoFit/>
          </a:bodyPr>
          <a:lstStyle/>
          <a:p>
            <a:r>
              <a:rPr lang="zh-CN" altLang="en-US" dirty="0"/>
              <a:t>● </a:t>
            </a:r>
            <a:r>
              <a:rPr lang="en-US" altLang="zh-CN" b="0" i="0" dirty="0">
                <a:solidFill>
                  <a:srgbClr val="1A1C1F"/>
                </a:solidFill>
                <a:effectLst/>
                <a:latin typeface="-apple-system"/>
              </a:rPr>
              <a:t>1A </a:t>
            </a:r>
            <a:r>
              <a:rPr lang="zh-CN" altLang="en-US" b="0" i="0" dirty="0">
                <a:solidFill>
                  <a:srgbClr val="1A1C1F"/>
                </a:solidFill>
                <a:effectLst/>
                <a:latin typeface="-apple-system"/>
              </a:rPr>
              <a:t>负载下压差仅 </a:t>
            </a:r>
            <a:r>
              <a:rPr lang="en-US" altLang="zh-CN" b="0" i="0" dirty="0">
                <a:solidFill>
                  <a:srgbClr val="1A1C1F"/>
                </a:solidFill>
                <a:effectLst/>
                <a:latin typeface="-apple-system"/>
              </a:rPr>
              <a:t>140mV</a:t>
            </a:r>
          </a:p>
          <a:p>
            <a:r>
              <a:rPr lang="zh-CN" altLang="en-US" dirty="0"/>
              <a:t>● </a:t>
            </a:r>
            <a:r>
              <a:rPr lang="zh-CN" altLang="en-US" b="0" i="0" dirty="0">
                <a:solidFill>
                  <a:srgbClr val="1A1C1F"/>
                </a:solidFill>
                <a:effectLst/>
                <a:latin typeface="-apple-system"/>
              </a:rPr>
              <a:t>典型静态电流 </a:t>
            </a:r>
            <a:r>
              <a:rPr lang="en-US" altLang="zh-CN" b="0" i="0" dirty="0">
                <a:solidFill>
                  <a:srgbClr val="1A1C1F"/>
                </a:solidFill>
                <a:effectLst/>
                <a:latin typeface="-apple-system"/>
              </a:rPr>
              <a:t>110μA</a:t>
            </a:r>
          </a:p>
          <a:p>
            <a:r>
              <a:rPr lang="zh-CN" altLang="en-US" dirty="0"/>
              <a:t>● </a:t>
            </a:r>
            <a:r>
              <a:rPr lang="zh-CN" altLang="en-US" b="0" i="0" dirty="0">
                <a:solidFill>
                  <a:srgbClr val="1A1C1F"/>
                </a:solidFill>
                <a:effectLst/>
                <a:latin typeface="-apple-system"/>
              </a:rPr>
              <a:t>低噪声输出：</a:t>
            </a:r>
            <a:r>
              <a:rPr lang="en-US" altLang="zh-CN" b="0" i="0" dirty="0">
                <a:solidFill>
                  <a:srgbClr val="1A1C1F"/>
                </a:solidFill>
                <a:effectLst/>
                <a:latin typeface="-apple-system"/>
              </a:rPr>
              <a:t>13μVRMS</a:t>
            </a:r>
          </a:p>
          <a:p>
            <a:r>
              <a:rPr lang="zh-CN" altLang="en-US" dirty="0"/>
              <a:t>● </a:t>
            </a:r>
            <a:r>
              <a:rPr lang="en-US" altLang="zh-CN" b="0" i="0" dirty="0">
                <a:solidFill>
                  <a:srgbClr val="1A1C1F"/>
                </a:solidFill>
                <a:effectLst/>
                <a:latin typeface="-apple-system"/>
              </a:rPr>
              <a:t>QFN-8 3×3mm </a:t>
            </a:r>
            <a:r>
              <a:rPr lang="zh-CN" altLang="en-US" b="0" i="0" dirty="0">
                <a:solidFill>
                  <a:srgbClr val="1A1C1F"/>
                </a:solidFill>
                <a:effectLst/>
                <a:latin typeface="-apple-system"/>
              </a:rPr>
              <a:t>封装，适合小尺寸控制板</a:t>
            </a:r>
            <a:endParaRPr lang="en-US" altLang="zh-CN" b="0" i="0" dirty="0">
              <a:solidFill>
                <a:srgbClr val="1A1C1F"/>
              </a:solidFill>
              <a:effectLst/>
              <a:latin typeface="-apple-system"/>
            </a:endParaRPr>
          </a:p>
          <a:p>
            <a:r>
              <a:rPr lang="zh-CN" altLang="en-US" dirty="0"/>
              <a:t>● </a:t>
            </a:r>
            <a:r>
              <a:rPr lang="zh-CN" altLang="en-US" b="0" i="0" dirty="0">
                <a:solidFill>
                  <a:srgbClr val="1A1C1F"/>
                </a:solidFill>
                <a:effectLst/>
                <a:latin typeface="-apple-system"/>
              </a:rPr>
              <a:t>用于生成干净的 </a:t>
            </a:r>
            <a:r>
              <a:rPr lang="en-US" altLang="zh-CN" b="0" i="0" dirty="0">
                <a:solidFill>
                  <a:srgbClr val="1A1C1F"/>
                </a:solidFill>
                <a:effectLst/>
                <a:latin typeface="-apple-system"/>
              </a:rPr>
              <a:t>3.3V VCC</a:t>
            </a:r>
            <a:r>
              <a:rPr lang="zh-CN" altLang="en-US" b="0" i="0" dirty="0">
                <a:solidFill>
                  <a:srgbClr val="1A1C1F"/>
                </a:solidFill>
                <a:effectLst/>
                <a:latin typeface="-apple-system"/>
              </a:rPr>
              <a:t>，供 </a:t>
            </a:r>
            <a:r>
              <a:rPr lang="en-US" altLang="zh-CN" b="0" i="0" dirty="0">
                <a:solidFill>
                  <a:srgbClr val="1A1C1F"/>
                </a:solidFill>
                <a:effectLst/>
                <a:latin typeface="-apple-system"/>
              </a:rPr>
              <a:t>MCU</a:t>
            </a:r>
            <a:r>
              <a:rPr lang="zh-CN" altLang="en-US" b="0" i="0" dirty="0">
                <a:solidFill>
                  <a:srgbClr val="1A1C1F"/>
                </a:solidFill>
                <a:effectLst/>
                <a:latin typeface="-apple-system"/>
              </a:rPr>
              <a:t>、编码器和采样电路使用</a:t>
            </a:r>
          </a:p>
          <a:p>
            <a:endParaRPr lang="zh-CN" altLang="en-US" b="0" i="0" dirty="0">
              <a:solidFill>
                <a:srgbClr val="1A1C1F"/>
              </a:solidFill>
              <a:effectLst/>
              <a:latin typeface="-apple-system"/>
            </a:endParaRPr>
          </a:p>
          <a:p>
            <a:endParaRPr lang="zh-CN" altLang="en-US" dirty="0"/>
          </a:p>
          <a:p>
            <a:endParaRPr lang="en-US" altLang="zh-CN" dirty="0"/>
          </a:p>
          <a:p>
            <a:endParaRPr lang="zh-CN" altLang="en-US" dirty="0"/>
          </a:p>
        </p:txBody>
      </p:sp>
      <p:sp>
        <p:nvSpPr>
          <p:cNvPr id="20" name="文本框 19">
            <a:extLst>
              <a:ext uri="{FF2B5EF4-FFF2-40B4-BE49-F238E27FC236}">
                <a16:creationId xmlns:a16="http://schemas.microsoft.com/office/drawing/2014/main" id="{DEDB8709-B5FB-416B-338E-73E039373F1F}"/>
              </a:ext>
            </a:extLst>
          </p:cNvPr>
          <p:cNvSpPr txBox="1"/>
          <p:nvPr/>
        </p:nvSpPr>
        <p:spPr>
          <a:xfrm>
            <a:off x="8113074" y="3375746"/>
            <a:ext cx="1725330" cy="307777"/>
          </a:xfrm>
          <a:prstGeom prst="rect">
            <a:avLst/>
          </a:prstGeom>
          <a:noFill/>
        </p:spPr>
        <p:txBody>
          <a:bodyPr vert="horz" wrap="square" rtlCol="0">
            <a:spAutoFit/>
          </a:bodyPr>
          <a:lstStyle/>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CAN</a:t>
            </a:r>
            <a:r>
              <a:rPr lang="zh-CN" altLang="en-US" sz="1400" dirty="0">
                <a:latin typeface="微软雅黑" panose="020B0503020204020204" pitchFamily="34" charset="-122"/>
                <a:ea typeface="微软雅黑" panose="020B0503020204020204" pitchFamily="34" charset="-122"/>
                <a:sym typeface="+mn-ea"/>
              </a:rPr>
              <a:t>收发器</a:t>
            </a:r>
            <a:endParaRPr lang="zh-CN" altLang="en-US" sz="1400" dirty="0">
              <a:latin typeface="微软雅黑" panose="020B0503020204020204" pitchFamily="34" charset="-122"/>
              <a:ea typeface="微软雅黑" panose="020B0503020204020204" pitchFamily="34" charset="-122"/>
            </a:endParaRPr>
          </a:p>
        </p:txBody>
      </p:sp>
      <p:pic>
        <p:nvPicPr>
          <p:cNvPr id="23" name="图片 22">
            <a:extLst>
              <a:ext uri="{FF2B5EF4-FFF2-40B4-BE49-F238E27FC236}">
                <a16:creationId xmlns:a16="http://schemas.microsoft.com/office/drawing/2014/main" id="{FEC7392D-E0F3-55B8-F1A1-65DF7FF8FA09}"/>
              </a:ext>
            </a:extLst>
          </p:cNvPr>
          <p:cNvPicPr>
            <a:picLocks noChangeAspect="1"/>
          </p:cNvPicPr>
          <p:nvPr/>
        </p:nvPicPr>
        <p:blipFill>
          <a:blip r:embed="rId6"/>
          <a:stretch>
            <a:fillRect/>
          </a:stretch>
        </p:blipFill>
        <p:spPr>
          <a:xfrm>
            <a:off x="8447384" y="2408301"/>
            <a:ext cx="1055608" cy="1055608"/>
          </a:xfrm>
          <a:prstGeom prst="rect">
            <a:avLst/>
          </a:prstGeom>
        </p:spPr>
      </p:pic>
      <p:pic>
        <p:nvPicPr>
          <p:cNvPr id="24" name="图片 23">
            <a:extLst>
              <a:ext uri="{FF2B5EF4-FFF2-40B4-BE49-F238E27FC236}">
                <a16:creationId xmlns:a16="http://schemas.microsoft.com/office/drawing/2014/main" id="{A2428E48-2784-03E6-50BF-010CF7FFF0D9}"/>
              </a:ext>
            </a:extLst>
          </p:cNvPr>
          <p:cNvPicPr>
            <a:picLocks noChangeAspect="1"/>
          </p:cNvPicPr>
          <p:nvPr/>
        </p:nvPicPr>
        <p:blipFill>
          <a:blip r:embed="rId7"/>
          <a:stretch>
            <a:fillRect/>
          </a:stretch>
        </p:blipFill>
        <p:spPr>
          <a:xfrm>
            <a:off x="10054433" y="2316895"/>
            <a:ext cx="1416331" cy="1219807"/>
          </a:xfrm>
          <a:prstGeom prst="rect">
            <a:avLst/>
          </a:prstGeom>
        </p:spPr>
      </p:pic>
      <p:pic>
        <p:nvPicPr>
          <p:cNvPr id="33" name="Picture 2" descr="Microcontroller PNG transparent image download, size: 512x333px">
            <a:extLst>
              <a:ext uri="{FF2B5EF4-FFF2-40B4-BE49-F238E27FC236}">
                <a16:creationId xmlns:a16="http://schemas.microsoft.com/office/drawing/2014/main" id="{48426758-9691-8148-6CC9-EAF0956581B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52633" y="908617"/>
            <a:ext cx="1445111" cy="93988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A600A | High-Accuracy,">
            <a:extLst>
              <a:ext uri="{FF2B5EF4-FFF2-40B4-BE49-F238E27FC236}">
                <a16:creationId xmlns:a16="http://schemas.microsoft.com/office/drawing/2014/main" id="{CA1AD40B-6490-CD0D-7B32-4669AEA7946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97744" y="891723"/>
            <a:ext cx="2000757" cy="1125426"/>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6F84BD2D-2294-5529-1C86-70CB721405DC}"/>
              </a:ext>
            </a:extLst>
          </p:cNvPr>
          <p:cNvSpPr txBox="1"/>
          <p:nvPr/>
        </p:nvSpPr>
        <p:spPr>
          <a:xfrm>
            <a:off x="9899933" y="3409711"/>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电流传感器</a:t>
            </a:r>
            <a:endParaRPr lang="zh-CN" altLang="en-US" sz="1400"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0E08B0E1-D00D-5A23-649B-4D4F1F0674E0}"/>
              </a:ext>
            </a:extLst>
          </p:cNvPr>
          <p:cNvSpPr txBox="1"/>
          <p:nvPr/>
        </p:nvSpPr>
        <p:spPr>
          <a:xfrm>
            <a:off x="8112523" y="2039942"/>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控制器</a:t>
            </a:r>
            <a:endParaRPr lang="zh-CN" altLang="en-US" sz="1400" dirty="0">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C16196A1-CAA4-4C30-F682-F02B07B1280F}"/>
              </a:ext>
            </a:extLst>
          </p:cNvPr>
          <p:cNvSpPr txBox="1"/>
          <p:nvPr/>
        </p:nvSpPr>
        <p:spPr>
          <a:xfrm>
            <a:off x="9908484" y="2001529"/>
            <a:ext cx="1725330" cy="523220"/>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位置传感器</a:t>
            </a:r>
            <a:endParaRPr lang="en-US" altLang="zh-CN" sz="1400" dirty="0">
              <a:latin typeface="微软雅黑" panose="020B0503020204020204" pitchFamily="34" charset="-122"/>
              <a:ea typeface="微软雅黑" panose="020B0503020204020204" pitchFamily="34" charset="-122"/>
              <a:sym typeface="+mn-ea"/>
            </a:endParaRPr>
          </a:p>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MA600A</a:t>
            </a:r>
            <a:endParaRPr lang="zh-CN" altLang="en-US" sz="1400" dirty="0">
              <a:latin typeface="微软雅黑" panose="020B0503020204020204" pitchFamily="34" charset="-122"/>
              <a:ea typeface="微软雅黑" panose="020B0503020204020204" pitchFamily="34" charset="-122"/>
            </a:endParaRPr>
          </a:p>
        </p:txBody>
      </p:sp>
      <p:sp>
        <p:nvSpPr>
          <p:cNvPr id="42" name="任意多边形: 形状 41">
            <a:extLst>
              <a:ext uri="{FF2B5EF4-FFF2-40B4-BE49-F238E27FC236}">
                <a16:creationId xmlns:a16="http://schemas.microsoft.com/office/drawing/2014/main" id="{092621FA-7DDD-0095-E118-85CD4050E695}"/>
              </a:ext>
            </a:extLst>
          </p:cNvPr>
          <p:cNvSpPr/>
          <p:nvPr/>
        </p:nvSpPr>
        <p:spPr>
          <a:xfrm>
            <a:off x="3477342" y="1155441"/>
            <a:ext cx="1493428" cy="2064547"/>
          </a:xfrm>
          <a:custGeom>
            <a:avLst/>
            <a:gdLst>
              <a:gd name="connsiteX0" fmla="*/ 0 w 803275"/>
              <a:gd name="connsiteY0" fmla="*/ 617537 h 1470025"/>
              <a:gd name="connsiteX1" fmla="*/ 249237 w 803275"/>
              <a:gd name="connsiteY1" fmla="*/ 617537 h 1470025"/>
              <a:gd name="connsiteX2" fmla="*/ 249237 w 803275"/>
              <a:gd name="connsiteY2" fmla="*/ 388937 h 1470025"/>
              <a:gd name="connsiteX3" fmla="*/ 266700 w 803275"/>
              <a:gd name="connsiteY3" fmla="*/ 315912 h 1470025"/>
              <a:gd name="connsiteX4" fmla="*/ 277812 w 803275"/>
              <a:gd name="connsiteY4" fmla="*/ 260350 h 1470025"/>
              <a:gd name="connsiteX5" fmla="*/ 306387 w 803275"/>
              <a:gd name="connsiteY5" fmla="*/ 209550 h 1470025"/>
              <a:gd name="connsiteX6" fmla="*/ 334962 w 803275"/>
              <a:gd name="connsiteY6" fmla="*/ 171450 h 1470025"/>
              <a:gd name="connsiteX7" fmla="*/ 358775 w 803275"/>
              <a:gd name="connsiteY7" fmla="*/ 146050 h 1470025"/>
              <a:gd name="connsiteX8" fmla="*/ 385762 w 803275"/>
              <a:gd name="connsiteY8" fmla="*/ 127000 h 1470025"/>
              <a:gd name="connsiteX9" fmla="*/ 423862 w 803275"/>
              <a:gd name="connsiteY9" fmla="*/ 109537 h 1470025"/>
              <a:gd name="connsiteX10" fmla="*/ 438150 w 803275"/>
              <a:gd name="connsiteY10" fmla="*/ 100012 h 1470025"/>
              <a:gd name="connsiteX11" fmla="*/ 458787 w 803275"/>
              <a:gd name="connsiteY11" fmla="*/ 98425 h 1470025"/>
              <a:gd name="connsiteX12" fmla="*/ 485775 w 803275"/>
              <a:gd name="connsiteY12" fmla="*/ 96837 h 1470025"/>
              <a:gd name="connsiteX13" fmla="*/ 666750 w 803275"/>
              <a:gd name="connsiteY13" fmla="*/ 96837 h 1470025"/>
              <a:gd name="connsiteX14" fmla="*/ 666750 w 803275"/>
              <a:gd name="connsiteY14" fmla="*/ 0 h 1470025"/>
              <a:gd name="connsiteX15" fmla="*/ 803275 w 803275"/>
              <a:gd name="connsiteY15" fmla="*/ 184150 h 1470025"/>
              <a:gd name="connsiteX16" fmla="*/ 661987 w 803275"/>
              <a:gd name="connsiteY16" fmla="*/ 381000 h 1470025"/>
              <a:gd name="connsiteX17" fmla="*/ 661987 w 803275"/>
              <a:gd name="connsiteY17" fmla="*/ 280987 h 1470025"/>
              <a:gd name="connsiteX18" fmla="*/ 487362 w 803275"/>
              <a:gd name="connsiteY18" fmla="*/ 280987 h 1470025"/>
              <a:gd name="connsiteX19" fmla="*/ 454025 w 803275"/>
              <a:gd name="connsiteY19" fmla="*/ 293687 h 1470025"/>
              <a:gd name="connsiteX20" fmla="*/ 439737 w 803275"/>
              <a:gd name="connsiteY20" fmla="*/ 304800 h 1470025"/>
              <a:gd name="connsiteX21" fmla="*/ 428625 w 803275"/>
              <a:gd name="connsiteY21" fmla="*/ 314325 h 1470025"/>
              <a:gd name="connsiteX22" fmla="*/ 404812 w 803275"/>
              <a:gd name="connsiteY22" fmla="*/ 342900 h 1470025"/>
              <a:gd name="connsiteX23" fmla="*/ 392112 w 803275"/>
              <a:gd name="connsiteY23" fmla="*/ 387350 h 1470025"/>
              <a:gd name="connsiteX24" fmla="*/ 388937 w 803275"/>
              <a:gd name="connsiteY24" fmla="*/ 417512 h 1470025"/>
              <a:gd name="connsiteX25" fmla="*/ 388937 w 803275"/>
              <a:gd name="connsiteY25" fmla="*/ 1008062 h 1470025"/>
              <a:gd name="connsiteX26" fmla="*/ 388937 w 803275"/>
              <a:gd name="connsiteY26" fmla="*/ 1057275 h 1470025"/>
              <a:gd name="connsiteX27" fmla="*/ 390525 w 803275"/>
              <a:gd name="connsiteY27" fmla="*/ 1079500 h 1470025"/>
              <a:gd name="connsiteX28" fmla="*/ 393700 w 803275"/>
              <a:gd name="connsiteY28" fmla="*/ 1084262 h 1470025"/>
              <a:gd name="connsiteX29" fmla="*/ 398462 w 803275"/>
              <a:gd name="connsiteY29" fmla="*/ 1106487 h 1470025"/>
              <a:gd name="connsiteX30" fmla="*/ 409575 w 803275"/>
              <a:gd name="connsiteY30" fmla="*/ 1125537 h 1470025"/>
              <a:gd name="connsiteX31" fmla="*/ 417512 w 803275"/>
              <a:gd name="connsiteY31" fmla="*/ 1146175 h 1470025"/>
              <a:gd name="connsiteX32" fmla="*/ 428625 w 803275"/>
              <a:gd name="connsiteY32" fmla="*/ 1157287 h 1470025"/>
              <a:gd name="connsiteX33" fmla="*/ 446087 w 803275"/>
              <a:gd name="connsiteY33" fmla="*/ 1177925 h 1470025"/>
              <a:gd name="connsiteX34" fmla="*/ 479425 w 803275"/>
              <a:gd name="connsiteY34" fmla="*/ 1189037 h 1470025"/>
              <a:gd name="connsiteX35" fmla="*/ 665162 w 803275"/>
              <a:gd name="connsiteY35" fmla="*/ 1189037 h 1470025"/>
              <a:gd name="connsiteX36" fmla="*/ 665162 w 803275"/>
              <a:gd name="connsiteY36" fmla="*/ 1092200 h 1470025"/>
              <a:gd name="connsiteX37" fmla="*/ 801687 w 803275"/>
              <a:gd name="connsiteY37" fmla="*/ 1282700 h 1470025"/>
              <a:gd name="connsiteX38" fmla="*/ 666750 w 803275"/>
              <a:gd name="connsiteY38" fmla="*/ 1470025 h 1470025"/>
              <a:gd name="connsiteX39" fmla="*/ 666750 w 803275"/>
              <a:gd name="connsiteY39" fmla="*/ 1377950 h 1470025"/>
              <a:gd name="connsiteX40" fmla="*/ 463550 w 803275"/>
              <a:gd name="connsiteY40" fmla="*/ 1377950 h 1470025"/>
              <a:gd name="connsiteX41" fmla="*/ 425450 w 803275"/>
              <a:gd name="connsiteY41" fmla="*/ 1360487 h 1470025"/>
              <a:gd name="connsiteX42" fmla="*/ 411162 w 803275"/>
              <a:gd name="connsiteY42" fmla="*/ 1355725 h 1470025"/>
              <a:gd name="connsiteX43" fmla="*/ 388937 w 803275"/>
              <a:gd name="connsiteY43" fmla="*/ 1343025 h 1470025"/>
              <a:gd name="connsiteX44" fmla="*/ 369887 w 803275"/>
              <a:gd name="connsiteY44" fmla="*/ 1330325 h 1470025"/>
              <a:gd name="connsiteX45" fmla="*/ 355600 w 803275"/>
              <a:gd name="connsiteY45" fmla="*/ 1317625 h 1470025"/>
              <a:gd name="connsiteX46" fmla="*/ 342900 w 803275"/>
              <a:gd name="connsiteY46" fmla="*/ 1303337 h 1470025"/>
              <a:gd name="connsiteX47" fmla="*/ 333375 w 803275"/>
              <a:gd name="connsiteY47" fmla="*/ 1292225 h 1470025"/>
              <a:gd name="connsiteX48" fmla="*/ 322262 w 803275"/>
              <a:gd name="connsiteY48" fmla="*/ 1281112 h 1470025"/>
              <a:gd name="connsiteX49" fmla="*/ 314325 w 803275"/>
              <a:gd name="connsiteY49" fmla="*/ 1265237 h 1470025"/>
              <a:gd name="connsiteX50" fmla="*/ 303212 w 803275"/>
              <a:gd name="connsiteY50" fmla="*/ 1246187 h 1470025"/>
              <a:gd name="connsiteX51" fmla="*/ 284162 w 803275"/>
              <a:gd name="connsiteY51" fmla="*/ 1211262 h 1470025"/>
              <a:gd name="connsiteX52" fmla="*/ 273050 w 803275"/>
              <a:gd name="connsiteY52" fmla="*/ 1176337 h 1470025"/>
              <a:gd name="connsiteX53" fmla="*/ 265112 w 803275"/>
              <a:gd name="connsiteY53" fmla="*/ 1154112 h 1470025"/>
              <a:gd name="connsiteX54" fmla="*/ 260350 w 803275"/>
              <a:gd name="connsiteY54" fmla="*/ 1125537 h 1470025"/>
              <a:gd name="connsiteX55" fmla="*/ 250825 w 803275"/>
              <a:gd name="connsiteY55" fmla="*/ 1104900 h 1470025"/>
              <a:gd name="connsiteX56" fmla="*/ 250825 w 803275"/>
              <a:gd name="connsiteY56" fmla="*/ 1089025 h 1470025"/>
              <a:gd name="connsiteX57" fmla="*/ 250825 w 803275"/>
              <a:gd name="connsiteY57" fmla="*/ 835025 h 1470025"/>
              <a:gd name="connsiteX58" fmla="*/ 0 w 803275"/>
              <a:gd name="connsiteY58" fmla="*/ 835025 h 1470025"/>
              <a:gd name="connsiteX59" fmla="*/ 0 w 803275"/>
              <a:gd name="connsiteY59" fmla="*/ 617537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03275" h="1470025">
                <a:moveTo>
                  <a:pt x="0" y="617537"/>
                </a:moveTo>
                <a:lnTo>
                  <a:pt x="249237" y="617537"/>
                </a:lnTo>
                <a:lnTo>
                  <a:pt x="249237" y="388937"/>
                </a:lnTo>
                <a:lnTo>
                  <a:pt x="266700" y="315912"/>
                </a:lnTo>
                <a:lnTo>
                  <a:pt x="277812" y="260350"/>
                </a:lnTo>
                <a:lnTo>
                  <a:pt x="306387" y="209550"/>
                </a:lnTo>
                <a:lnTo>
                  <a:pt x="334962" y="171450"/>
                </a:lnTo>
                <a:lnTo>
                  <a:pt x="358775" y="146050"/>
                </a:lnTo>
                <a:lnTo>
                  <a:pt x="385762" y="127000"/>
                </a:lnTo>
                <a:lnTo>
                  <a:pt x="423862" y="109537"/>
                </a:lnTo>
                <a:lnTo>
                  <a:pt x="438150" y="100012"/>
                </a:lnTo>
                <a:lnTo>
                  <a:pt x="458787" y="98425"/>
                </a:lnTo>
                <a:lnTo>
                  <a:pt x="485775" y="96837"/>
                </a:lnTo>
                <a:lnTo>
                  <a:pt x="666750" y="96837"/>
                </a:lnTo>
                <a:lnTo>
                  <a:pt x="666750" y="0"/>
                </a:lnTo>
                <a:lnTo>
                  <a:pt x="803275" y="184150"/>
                </a:lnTo>
                <a:lnTo>
                  <a:pt x="661987" y="381000"/>
                </a:lnTo>
                <a:lnTo>
                  <a:pt x="661987" y="280987"/>
                </a:lnTo>
                <a:lnTo>
                  <a:pt x="487362" y="280987"/>
                </a:lnTo>
                <a:lnTo>
                  <a:pt x="454025" y="293687"/>
                </a:lnTo>
                <a:lnTo>
                  <a:pt x="439737" y="304800"/>
                </a:lnTo>
                <a:lnTo>
                  <a:pt x="428625" y="314325"/>
                </a:lnTo>
                <a:lnTo>
                  <a:pt x="404812" y="342900"/>
                </a:lnTo>
                <a:lnTo>
                  <a:pt x="392112" y="387350"/>
                </a:lnTo>
                <a:lnTo>
                  <a:pt x="388937" y="417512"/>
                </a:lnTo>
                <a:lnTo>
                  <a:pt x="388937" y="1008062"/>
                </a:lnTo>
                <a:lnTo>
                  <a:pt x="388937" y="1057275"/>
                </a:lnTo>
                <a:lnTo>
                  <a:pt x="390525" y="1079500"/>
                </a:lnTo>
                <a:lnTo>
                  <a:pt x="393700" y="1084262"/>
                </a:lnTo>
                <a:lnTo>
                  <a:pt x="398462" y="1106487"/>
                </a:lnTo>
                <a:lnTo>
                  <a:pt x="409575" y="1125537"/>
                </a:lnTo>
                <a:lnTo>
                  <a:pt x="417512" y="1146175"/>
                </a:lnTo>
                <a:lnTo>
                  <a:pt x="428625" y="1157287"/>
                </a:lnTo>
                <a:lnTo>
                  <a:pt x="446087" y="1177925"/>
                </a:lnTo>
                <a:lnTo>
                  <a:pt x="479425" y="1189037"/>
                </a:lnTo>
                <a:lnTo>
                  <a:pt x="665162" y="1189037"/>
                </a:lnTo>
                <a:lnTo>
                  <a:pt x="665162" y="1092200"/>
                </a:lnTo>
                <a:lnTo>
                  <a:pt x="801687" y="1282700"/>
                </a:lnTo>
                <a:lnTo>
                  <a:pt x="666750" y="1470025"/>
                </a:lnTo>
                <a:lnTo>
                  <a:pt x="666750" y="1377950"/>
                </a:lnTo>
                <a:lnTo>
                  <a:pt x="463550" y="1377950"/>
                </a:lnTo>
                <a:lnTo>
                  <a:pt x="425450" y="1360487"/>
                </a:lnTo>
                <a:lnTo>
                  <a:pt x="411162" y="1355725"/>
                </a:lnTo>
                <a:lnTo>
                  <a:pt x="388937" y="1343025"/>
                </a:lnTo>
                <a:lnTo>
                  <a:pt x="369887" y="1330325"/>
                </a:lnTo>
                <a:lnTo>
                  <a:pt x="355600" y="1317625"/>
                </a:lnTo>
                <a:lnTo>
                  <a:pt x="342900" y="1303337"/>
                </a:lnTo>
                <a:lnTo>
                  <a:pt x="333375" y="1292225"/>
                </a:lnTo>
                <a:lnTo>
                  <a:pt x="322262" y="1281112"/>
                </a:lnTo>
                <a:lnTo>
                  <a:pt x="314325" y="1265237"/>
                </a:lnTo>
                <a:lnTo>
                  <a:pt x="303212" y="1246187"/>
                </a:lnTo>
                <a:lnTo>
                  <a:pt x="284162" y="1211262"/>
                </a:lnTo>
                <a:lnTo>
                  <a:pt x="273050" y="1176337"/>
                </a:lnTo>
                <a:lnTo>
                  <a:pt x="265112" y="1154112"/>
                </a:lnTo>
                <a:lnTo>
                  <a:pt x="260350" y="1125537"/>
                </a:lnTo>
                <a:lnTo>
                  <a:pt x="250825" y="1104900"/>
                </a:lnTo>
                <a:lnTo>
                  <a:pt x="250825" y="1089025"/>
                </a:lnTo>
                <a:lnTo>
                  <a:pt x="250825" y="835025"/>
                </a:lnTo>
                <a:lnTo>
                  <a:pt x="0" y="835025"/>
                </a:lnTo>
                <a:lnTo>
                  <a:pt x="0" y="617537"/>
                </a:lnTo>
                <a:close/>
              </a:path>
            </a:pathLst>
          </a:cu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rgbClr val="FFFFFF"/>
              </a:solidFill>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E037505B-8DB1-7BA6-03C6-BC34C28CD21A}"/>
              </a:ext>
            </a:extLst>
          </p:cNvPr>
          <p:cNvSpPr txBox="1"/>
          <p:nvPr/>
        </p:nvSpPr>
        <p:spPr>
          <a:xfrm>
            <a:off x="4013309" y="2818632"/>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44" name="文本框 43">
            <a:extLst>
              <a:ext uri="{FF2B5EF4-FFF2-40B4-BE49-F238E27FC236}">
                <a16:creationId xmlns:a16="http://schemas.microsoft.com/office/drawing/2014/main" id="{D03FD4E6-D11B-0062-2D4A-E706FF1184B2}"/>
              </a:ext>
            </a:extLst>
          </p:cNvPr>
          <p:cNvSpPr txBox="1"/>
          <p:nvPr/>
        </p:nvSpPr>
        <p:spPr>
          <a:xfrm>
            <a:off x="4073128" y="1317799"/>
            <a:ext cx="1017280" cy="276999"/>
          </a:xfrm>
          <a:prstGeom prst="rect">
            <a:avLst/>
          </a:prstGeom>
          <a:noFill/>
        </p:spPr>
        <p:txBody>
          <a:bodyPr vert="horz" wrap="square" rtlCol="0" anchor="t">
            <a:spAutoFit/>
          </a:bodyPr>
          <a:lstStyle/>
          <a:p>
            <a:pPr algn="ctr"/>
            <a:r>
              <a:rPr lang="en-US" altLang="zh-CN" sz="1200" b="1" dirty="0">
                <a:solidFill>
                  <a:schemeClr val="bg1"/>
                </a:solidFill>
                <a:latin typeface="微软雅黑" panose="020B0503020204020204" pitchFamily="34" charset="-122"/>
                <a:ea typeface="微软雅黑" panose="020B0503020204020204" pitchFamily="34" charset="-122"/>
                <a:cs typeface="Times New Roman" panose="02020603050405020304" charset="0"/>
                <a:sym typeface="+mn-ea"/>
              </a:rPr>
              <a:t>5V</a:t>
            </a:r>
          </a:p>
        </p:txBody>
      </p:sp>
      <p:sp>
        <p:nvSpPr>
          <p:cNvPr id="45" name="圆角矩形 61">
            <a:extLst>
              <a:ext uri="{FF2B5EF4-FFF2-40B4-BE49-F238E27FC236}">
                <a16:creationId xmlns:a16="http://schemas.microsoft.com/office/drawing/2014/main" id="{62991476-D21B-7051-4843-068DE05114B8}"/>
              </a:ext>
            </a:extLst>
          </p:cNvPr>
          <p:cNvSpPr/>
          <p:nvPr/>
        </p:nvSpPr>
        <p:spPr>
          <a:xfrm>
            <a:off x="2173316" y="2033323"/>
            <a:ext cx="1101280" cy="324565"/>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5 Vdc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52327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A6D8C-C01B-4796-2A99-030B8633B85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D2A6C77-FCEB-DBEF-5E6F-E11BEC632316}"/>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驱动电路 </a:t>
            </a:r>
            <a:r>
              <a:rPr lang="en-US" altLang="zh-CN" dirty="0">
                <a:solidFill>
                  <a:schemeClr val="bg1"/>
                </a:solidFill>
              </a:rPr>
              <a:t>MP6539B</a:t>
            </a:r>
            <a:endParaRPr dirty="0">
              <a:solidFill>
                <a:schemeClr val="bg1"/>
              </a:solidFill>
            </a:endParaRPr>
          </a:p>
        </p:txBody>
      </p:sp>
      <p:pic>
        <p:nvPicPr>
          <p:cNvPr id="27" name="图片 26">
            <a:extLst>
              <a:ext uri="{FF2B5EF4-FFF2-40B4-BE49-F238E27FC236}">
                <a16:creationId xmlns:a16="http://schemas.microsoft.com/office/drawing/2014/main" id="{3033A39D-E587-FC41-5364-22F824BE7EAE}"/>
              </a:ext>
            </a:extLst>
          </p:cNvPr>
          <p:cNvPicPr>
            <a:picLocks noChangeAspect="1"/>
          </p:cNvPicPr>
          <p:nvPr/>
        </p:nvPicPr>
        <p:blipFill>
          <a:blip r:embed="rId3"/>
          <a:stretch>
            <a:fillRect/>
          </a:stretch>
        </p:blipFill>
        <p:spPr>
          <a:xfrm>
            <a:off x="1375388" y="2048046"/>
            <a:ext cx="7981973" cy="3785767"/>
          </a:xfrm>
          <a:prstGeom prst="rect">
            <a:avLst/>
          </a:prstGeom>
        </p:spPr>
      </p:pic>
      <p:grpSp>
        <p:nvGrpSpPr>
          <p:cNvPr id="56" name="组合 55">
            <a:extLst>
              <a:ext uri="{FF2B5EF4-FFF2-40B4-BE49-F238E27FC236}">
                <a16:creationId xmlns:a16="http://schemas.microsoft.com/office/drawing/2014/main" id="{83D2891B-26C6-9E9C-C3C5-F02A17CBC2F3}"/>
              </a:ext>
            </a:extLst>
          </p:cNvPr>
          <p:cNvGrpSpPr/>
          <p:nvPr/>
        </p:nvGrpSpPr>
        <p:grpSpPr>
          <a:xfrm>
            <a:off x="8656921" y="4383511"/>
            <a:ext cx="3311877" cy="2176749"/>
            <a:chOff x="4826283" y="4123669"/>
            <a:chExt cx="4359338" cy="2176749"/>
          </a:xfrm>
        </p:grpSpPr>
        <p:sp>
          <p:nvSpPr>
            <p:cNvPr id="57" name="矩形: 圆角 56">
              <a:extLst>
                <a:ext uri="{FF2B5EF4-FFF2-40B4-BE49-F238E27FC236}">
                  <a16:creationId xmlns:a16="http://schemas.microsoft.com/office/drawing/2014/main" id="{9949015F-A6FF-7B6D-7521-DC23E0AEA1D2}"/>
                </a:ext>
              </a:extLst>
            </p:cNvPr>
            <p:cNvSpPr/>
            <p:nvPr/>
          </p:nvSpPr>
          <p:spPr>
            <a:xfrm>
              <a:off x="4826283" y="4292463"/>
              <a:ext cx="4359338" cy="200795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57">
              <a:extLst>
                <a:ext uri="{FF2B5EF4-FFF2-40B4-BE49-F238E27FC236}">
                  <a16:creationId xmlns:a16="http://schemas.microsoft.com/office/drawing/2014/main" id="{1D2B24C3-AB0A-92D9-5BA9-C14BBA8A3619}"/>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内置保护与运放</a:t>
              </a:r>
            </a:p>
          </p:txBody>
        </p:sp>
        <p:sp>
          <p:nvSpPr>
            <p:cNvPr id="59" name="文本框 58">
              <a:extLst>
                <a:ext uri="{FF2B5EF4-FFF2-40B4-BE49-F238E27FC236}">
                  <a16:creationId xmlns:a16="http://schemas.microsoft.com/office/drawing/2014/main" id="{3339DCA1-F888-E432-C670-EB78CD981216}"/>
                </a:ext>
              </a:extLst>
            </p:cNvPr>
            <p:cNvSpPr txBox="1"/>
            <p:nvPr/>
          </p:nvSpPr>
          <p:spPr>
            <a:xfrm>
              <a:off x="4826283" y="4461257"/>
              <a:ext cx="4359338" cy="1754326"/>
            </a:xfrm>
            <a:prstGeom prst="rect">
              <a:avLst/>
            </a:prstGeom>
            <a:noFill/>
          </p:spPr>
          <p:txBody>
            <a:bodyPr wrap="square">
              <a:spAutoFit/>
            </a:bodyPr>
            <a:lstStyle/>
            <a:p>
              <a:r>
                <a:rPr lang="zh-CN" altLang="en-US" dirty="0"/>
                <a:t>● 内置</a:t>
              </a:r>
              <a:r>
                <a:rPr lang="en-US" altLang="zh-CN" dirty="0"/>
                <a:t>20 </a:t>
              </a:r>
              <a:r>
                <a:rPr lang="zh-CN" altLang="en-US" dirty="0"/>
                <a:t>倍电流采样放大器，通过</a:t>
              </a:r>
              <a:r>
                <a:rPr lang="en-US" altLang="zh-CN" dirty="0"/>
                <a:t>CSO</a:t>
              </a:r>
              <a:r>
                <a:rPr lang="zh-CN" altLang="en-US" dirty="0"/>
                <a:t>输出模拟电压</a:t>
              </a:r>
              <a:endParaRPr lang="en-US" altLang="zh-CN" dirty="0"/>
            </a:p>
            <a:p>
              <a:r>
                <a:rPr lang="zh-CN" altLang="en-US" dirty="0"/>
                <a:t>● 实际应用场景可以进一步节省空间和成本</a:t>
              </a:r>
              <a:endParaRPr lang="en-US" altLang="zh-CN" dirty="0"/>
            </a:p>
            <a:p>
              <a:r>
                <a:rPr lang="zh-CN" altLang="en-US" dirty="0"/>
                <a:t>● </a:t>
              </a:r>
              <a:r>
                <a:rPr lang="en-US" altLang="zh-CN" dirty="0"/>
                <a:t>VDD</a:t>
              </a:r>
              <a:r>
                <a:rPr lang="zh-CN" altLang="en-US" dirty="0"/>
                <a:t>欠压保护</a:t>
              </a:r>
              <a:r>
                <a:rPr lang="en-US" altLang="zh-CN" dirty="0"/>
                <a:t>UVLO</a:t>
              </a:r>
              <a:r>
                <a:rPr lang="zh-CN" altLang="en-US" dirty="0"/>
                <a:t>，过温保护</a:t>
              </a:r>
              <a:r>
                <a:rPr lang="en-US" altLang="zh-CN" dirty="0"/>
                <a:t>OTP</a:t>
              </a:r>
              <a:endParaRPr lang="zh-CN" altLang="en-US" dirty="0"/>
            </a:p>
          </p:txBody>
        </p:sp>
      </p:grpSp>
      <p:sp>
        <p:nvSpPr>
          <p:cNvPr id="60" name="矩形: 圆角 59">
            <a:extLst>
              <a:ext uri="{FF2B5EF4-FFF2-40B4-BE49-F238E27FC236}">
                <a16:creationId xmlns:a16="http://schemas.microsoft.com/office/drawing/2014/main" id="{56F0AFBD-7C1B-06C2-D287-09DF5CE33D36}"/>
              </a:ext>
            </a:extLst>
          </p:cNvPr>
          <p:cNvSpPr/>
          <p:nvPr/>
        </p:nvSpPr>
        <p:spPr>
          <a:xfrm>
            <a:off x="5549641" y="3797295"/>
            <a:ext cx="1257281" cy="1631189"/>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直接连接符 60">
            <a:extLst>
              <a:ext uri="{FF2B5EF4-FFF2-40B4-BE49-F238E27FC236}">
                <a16:creationId xmlns:a16="http://schemas.microsoft.com/office/drawing/2014/main" id="{3B52E6FB-B57F-5836-09D4-4DC5BF11A282}"/>
              </a:ext>
            </a:extLst>
          </p:cNvPr>
          <p:cNvCxnSpPr>
            <a:cxnSpLocks/>
          </p:cNvCxnSpPr>
          <p:nvPr/>
        </p:nvCxnSpPr>
        <p:spPr>
          <a:xfrm>
            <a:off x="6634480" y="3797295"/>
            <a:ext cx="5334318" cy="755010"/>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E400EEC1-74B6-59E4-170B-C49C48BB1600}"/>
              </a:ext>
            </a:extLst>
          </p:cNvPr>
          <p:cNvCxnSpPr>
            <a:cxnSpLocks/>
          </p:cNvCxnSpPr>
          <p:nvPr/>
        </p:nvCxnSpPr>
        <p:spPr>
          <a:xfrm>
            <a:off x="6634480" y="5428484"/>
            <a:ext cx="2067766" cy="1131776"/>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65" name="矩形: 圆角 64">
            <a:extLst>
              <a:ext uri="{FF2B5EF4-FFF2-40B4-BE49-F238E27FC236}">
                <a16:creationId xmlns:a16="http://schemas.microsoft.com/office/drawing/2014/main" id="{EE8F3260-D1C7-93F3-6754-6BA7DFD87447}"/>
              </a:ext>
            </a:extLst>
          </p:cNvPr>
          <p:cNvSpPr/>
          <p:nvPr/>
        </p:nvSpPr>
        <p:spPr>
          <a:xfrm>
            <a:off x="1943119" y="2349388"/>
            <a:ext cx="1257281" cy="676678"/>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a:extLst>
              <a:ext uri="{FF2B5EF4-FFF2-40B4-BE49-F238E27FC236}">
                <a16:creationId xmlns:a16="http://schemas.microsoft.com/office/drawing/2014/main" id="{29E58C1C-9E63-0A73-0130-78A9F95AF916}"/>
              </a:ext>
            </a:extLst>
          </p:cNvPr>
          <p:cNvGrpSpPr/>
          <p:nvPr/>
        </p:nvGrpSpPr>
        <p:grpSpPr>
          <a:xfrm>
            <a:off x="8569848" y="934367"/>
            <a:ext cx="3311877" cy="2368913"/>
            <a:chOff x="4826283" y="4123669"/>
            <a:chExt cx="4359338" cy="2368913"/>
          </a:xfrm>
        </p:grpSpPr>
        <p:sp>
          <p:nvSpPr>
            <p:cNvPr id="67" name="矩形: 圆角 66">
              <a:extLst>
                <a:ext uri="{FF2B5EF4-FFF2-40B4-BE49-F238E27FC236}">
                  <a16:creationId xmlns:a16="http://schemas.microsoft.com/office/drawing/2014/main" id="{99185395-270D-A7EA-AF53-686C8110C077}"/>
                </a:ext>
              </a:extLst>
            </p:cNvPr>
            <p:cNvSpPr/>
            <p:nvPr/>
          </p:nvSpPr>
          <p:spPr>
            <a:xfrm>
              <a:off x="4826283" y="4292464"/>
              <a:ext cx="4359338" cy="1649162"/>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a:extLst>
                <a:ext uri="{FF2B5EF4-FFF2-40B4-BE49-F238E27FC236}">
                  <a16:creationId xmlns:a16="http://schemas.microsoft.com/office/drawing/2014/main" id="{A7777D78-CDC3-6EEC-5299-3B132B5D3C72}"/>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驱动能力</a:t>
              </a:r>
            </a:p>
          </p:txBody>
        </p:sp>
        <p:sp>
          <p:nvSpPr>
            <p:cNvPr id="69" name="文本框 68">
              <a:extLst>
                <a:ext uri="{FF2B5EF4-FFF2-40B4-BE49-F238E27FC236}">
                  <a16:creationId xmlns:a16="http://schemas.microsoft.com/office/drawing/2014/main" id="{CABED3D9-B4F4-0FA6-19E0-496916EE8D8F}"/>
                </a:ext>
              </a:extLst>
            </p:cNvPr>
            <p:cNvSpPr txBox="1"/>
            <p:nvPr/>
          </p:nvSpPr>
          <p:spPr>
            <a:xfrm>
              <a:off x="4826283" y="4461257"/>
              <a:ext cx="4359338" cy="2031325"/>
            </a:xfrm>
            <a:prstGeom prst="rect">
              <a:avLst/>
            </a:prstGeom>
            <a:noFill/>
          </p:spPr>
          <p:txBody>
            <a:bodyPr wrap="square">
              <a:spAutoFit/>
            </a:bodyPr>
            <a:lstStyle/>
            <a:p>
              <a:r>
                <a:rPr lang="zh-CN" altLang="en-US" dirty="0"/>
                <a:t>● 集成三路半桥</a:t>
              </a:r>
              <a:r>
                <a:rPr lang="en-US" altLang="zh-CN" dirty="0"/>
                <a:t>NMOS</a:t>
              </a:r>
              <a:r>
                <a:rPr lang="zh-CN" altLang="en-US" dirty="0"/>
                <a:t>驱动</a:t>
              </a:r>
              <a:endParaRPr lang="en-US" altLang="zh-CN" dirty="0"/>
            </a:p>
            <a:p>
              <a:r>
                <a:rPr lang="zh-CN" altLang="en-US" b="0" i="0" dirty="0">
                  <a:solidFill>
                    <a:srgbClr val="1A1C1F"/>
                  </a:solidFill>
                  <a:effectLst/>
                  <a:latin typeface="-apple-system"/>
                </a:rPr>
                <a:t>内置 </a:t>
              </a:r>
              <a:r>
                <a:rPr lang="en-US" altLang="zh-CN" b="0" i="0" dirty="0">
                  <a:solidFill>
                    <a:srgbClr val="1A1C1F"/>
                  </a:solidFill>
                  <a:effectLst/>
                  <a:latin typeface="-apple-system"/>
                </a:rPr>
                <a:t>Charge Pump + Bootstrap</a:t>
              </a:r>
              <a:r>
                <a:rPr lang="zh-CN" altLang="en-US" b="0" i="0" dirty="0">
                  <a:solidFill>
                    <a:srgbClr val="1A1C1F"/>
                  </a:solidFill>
                  <a:effectLst/>
                  <a:latin typeface="-apple-system"/>
                </a:rPr>
                <a:t>，高边驱动可长时间维持</a:t>
              </a:r>
              <a:endParaRPr lang="en-US" altLang="zh-CN" b="0" i="0" dirty="0">
                <a:solidFill>
                  <a:srgbClr val="1A1C1F"/>
                </a:solidFill>
                <a:effectLst/>
                <a:latin typeface="-apple-system"/>
              </a:endParaRPr>
            </a:p>
            <a:p>
              <a:r>
                <a:rPr lang="zh-CN" altLang="en-US" dirty="0"/>
                <a:t>● </a:t>
              </a:r>
              <a:r>
                <a:rPr lang="zh-CN" altLang="en-US" b="0" i="0" dirty="0">
                  <a:solidFill>
                    <a:srgbClr val="1A1C1F"/>
                  </a:solidFill>
                  <a:effectLst/>
                  <a:latin typeface="-apple-system"/>
                </a:rPr>
                <a:t>栅极驱动能力：</a:t>
              </a:r>
              <a:r>
                <a:rPr lang="en-US" altLang="zh-CN" b="0" i="0" dirty="0">
                  <a:solidFill>
                    <a:srgbClr val="1A1C1F"/>
                  </a:solidFill>
                  <a:effectLst/>
                  <a:latin typeface="-apple-system"/>
                </a:rPr>
                <a:t>0.8A </a:t>
              </a:r>
              <a:r>
                <a:rPr lang="zh-CN" altLang="en-US" b="0" i="0" dirty="0">
                  <a:solidFill>
                    <a:srgbClr val="1A1C1F"/>
                  </a:solidFill>
                  <a:effectLst/>
                  <a:latin typeface="-apple-system"/>
                </a:rPr>
                <a:t>拉电流 </a:t>
              </a:r>
              <a:r>
                <a:rPr lang="en-US" altLang="zh-CN" b="0" i="0" dirty="0">
                  <a:solidFill>
                    <a:srgbClr val="1A1C1F"/>
                  </a:solidFill>
                  <a:effectLst/>
                  <a:latin typeface="-apple-system"/>
                </a:rPr>
                <a:t>/ 1A </a:t>
              </a:r>
              <a:r>
                <a:rPr lang="zh-CN" altLang="en-US" b="0" i="0" dirty="0">
                  <a:solidFill>
                    <a:srgbClr val="1A1C1F"/>
                  </a:solidFill>
                  <a:effectLst/>
                  <a:latin typeface="-apple-system"/>
                </a:rPr>
                <a:t>灌电流</a:t>
              </a:r>
            </a:p>
            <a:p>
              <a:endParaRPr lang="zh-CN" altLang="en-US" b="0" i="0" dirty="0">
                <a:solidFill>
                  <a:srgbClr val="1A1C1F"/>
                </a:solidFill>
                <a:effectLst/>
                <a:latin typeface="-apple-system"/>
              </a:endParaRPr>
            </a:p>
            <a:p>
              <a:endParaRPr lang="zh-CN" altLang="en-US" dirty="0"/>
            </a:p>
          </p:txBody>
        </p:sp>
      </p:grpSp>
      <p:sp>
        <p:nvSpPr>
          <p:cNvPr id="72" name="圆角矩形 61">
            <a:extLst>
              <a:ext uri="{FF2B5EF4-FFF2-40B4-BE49-F238E27FC236}">
                <a16:creationId xmlns:a16="http://schemas.microsoft.com/office/drawing/2014/main" id="{AF81B73F-C874-4906-F7CA-44BA4F65BA82}"/>
              </a:ext>
            </a:extLst>
          </p:cNvPr>
          <p:cNvSpPr/>
          <p:nvPr/>
        </p:nvSpPr>
        <p:spPr>
          <a:xfrm>
            <a:off x="108843" y="4412775"/>
            <a:ext cx="916325" cy="356904"/>
          </a:xfrm>
          <a:prstGeom prst="round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99" b="1" dirty="0">
                <a:solidFill>
                  <a:schemeClr val="bg1"/>
                </a:solidFill>
                <a:latin typeface="微软雅黑" panose="020B0503020204020204" pitchFamily="34" charset="-122"/>
                <a:ea typeface="微软雅黑" panose="020B0503020204020204" pitchFamily="34" charset="-122"/>
                <a:sym typeface="+mn-ea"/>
              </a:rPr>
              <a:t>12 Vdc</a:t>
            </a:r>
            <a:endParaRPr lang="zh-CN" altLang="en-US" sz="1599" b="1" dirty="0">
              <a:solidFill>
                <a:schemeClr val="bg1"/>
              </a:solidFill>
              <a:latin typeface="微软雅黑" panose="020B0503020204020204" pitchFamily="34" charset="-122"/>
              <a:ea typeface="微软雅黑" panose="020B0503020204020204" pitchFamily="34" charset="-122"/>
            </a:endParaRPr>
          </a:p>
        </p:txBody>
      </p:sp>
      <p:sp>
        <p:nvSpPr>
          <p:cNvPr id="73" name="右箭头 13">
            <a:extLst>
              <a:ext uri="{FF2B5EF4-FFF2-40B4-BE49-F238E27FC236}">
                <a16:creationId xmlns:a16="http://schemas.microsoft.com/office/drawing/2014/main" id="{E6FBDE2F-DD3C-45E7-1AFA-4D5D2A7704E4}"/>
              </a:ext>
            </a:extLst>
          </p:cNvPr>
          <p:cNvSpPr/>
          <p:nvPr/>
        </p:nvSpPr>
        <p:spPr>
          <a:xfrm>
            <a:off x="1147088" y="4374944"/>
            <a:ext cx="694052"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FFFFFF"/>
                </a:solidFill>
                <a:latin typeface="微软雅黑" panose="020B0503020204020204" pitchFamily="34" charset="-122"/>
                <a:ea typeface="微软雅黑" panose="020B0503020204020204" pitchFamily="34" charset="-122"/>
              </a:rPr>
              <a:t>12V</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cxnSp>
        <p:nvCxnSpPr>
          <p:cNvPr id="76" name="直接连接符 75">
            <a:extLst>
              <a:ext uri="{FF2B5EF4-FFF2-40B4-BE49-F238E27FC236}">
                <a16:creationId xmlns:a16="http://schemas.microsoft.com/office/drawing/2014/main" id="{00DA75CA-DB7C-43F2-B4E9-F38A629413C8}"/>
              </a:ext>
            </a:extLst>
          </p:cNvPr>
          <p:cNvCxnSpPr>
            <a:cxnSpLocks/>
          </p:cNvCxnSpPr>
          <p:nvPr/>
        </p:nvCxnSpPr>
        <p:spPr>
          <a:xfrm flipH="1">
            <a:off x="6512560" y="1148003"/>
            <a:ext cx="2144361" cy="113552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777E34E3-C6C3-75D9-F84B-950B6574322C}"/>
              </a:ext>
            </a:extLst>
          </p:cNvPr>
          <p:cNvCxnSpPr>
            <a:cxnSpLocks/>
          </p:cNvCxnSpPr>
          <p:nvPr/>
        </p:nvCxnSpPr>
        <p:spPr>
          <a:xfrm flipV="1">
            <a:off x="6512560" y="2752324"/>
            <a:ext cx="5369165" cy="1044971"/>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82" name="组合 81">
            <a:extLst>
              <a:ext uri="{FF2B5EF4-FFF2-40B4-BE49-F238E27FC236}">
                <a16:creationId xmlns:a16="http://schemas.microsoft.com/office/drawing/2014/main" id="{A18EA8A7-53AA-9B9E-696E-7DF4D88DCB55}"/>
              </a:ext>
            </a:extLst>
          </p:cNvPr>
          <p:cNvGrpSpPr/>
          <p:nvPr/>
        </p:nvGrpSpPr>
        <p:grpSpPr>
          <a:xfrm>
            <a:off x="295203" y="863589"/>
            <a:ext cx="3311877" cy="1419936"/>
            <a:chOff x="4826283" y="4123669"/>
            <a:chExt cx="4359338" cy="1419936"/>
          </a:xfrm>
        </p:grpSpPr>
        <p:sp>
          <p:nvSpPr>
            <p:cNvPr id="83" name="矩形: 圆角 82">
              <a:extLst>
                <a:ext uri="{FF2B5EF4-FFF2-40B4-BE49-F238E27FC236}">
                  <a16:creationId xmlns:a16="http://schemas.microsoft.com/office/drawing/2014/main" id="{4B76DA9A-2680-B9D9-3B3C-DF90F5363C9D}"/>
                </a:ext>
              </a:extLst>
            </p:cNvPr>
            <p:cNvSpPr/>
            <p:nvPr/>
          </p:nvSpPr>
          <p:spPr>
            <a:xfrm>
              <a:off x="4826283" y="4292464"/>
              <a:ext cx="4359338" cy="84721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圆角 83">
              <a:extLst>
                <a:ext uri="{FF2B5EF4-FFF2-40B4-BE49-F238E27FC236}">
                  <a16:creationId xmlns:a16="http://schemas.microsoft.com/office/drawing/2014/main" id="{6038AE98-BE43-E21C-4F0D-1729D72BB0CF}"/>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低功耗设计</a:t>
              </a:r>
            </a:p>
          </p:txBody>
        </p:sp>
        <p:sp>
          <p:nvSpPr>
            <p:cNvPr id="85" name="文本框 84">
              <a:extLst>
                <a:ext uri="{FF2B5EF4-FFF2-40B4-BE49-F238E27FC236}">
                  <a16:creationId xmlns:a16="http://schemas.microsoft.com/office/drawing/2014/main" id="{9FF8E346-10CB-6FC7-6E72-004BA6F6F9DB}"/>
                </a:ext>
              </a:extLst>
            </p:cNvPr>
            <p:cNvSpPr txBox="1"/>
            <p:nvPr/>
          </p:nvSpPr>
          <p:spPr>
            <a:xfrm>
              <a:off x="4826283" y="4461257"/>
              <a:ext cx="4359338" cy="1082348"/>
            </a:xfrm>
            <a:prstGeom prst="rect">
              <a:avLst/>
            </a:prstGeom>
            <a:noFill/>
          </p:spPr>
          <p:txBody>
            <a:bodyPr wrap="square">
              <a:spAutoFit/>
            </a:bodyPr>
            <a:lstStyle/>
            <a:p>
              <a:pPr algn="l">
                <a:lnSpc>
                  <a:spcPts val="1650"/>
                </a:lnSpc>
              </a:pPr>
              <a:r>
                <a:rPr lang="zh-CN" altLang="en-US" dirty="0"/>
                <a:t>● </a:t>
              </a:r>
              <a:r>
                <a:rPr lang="zh-CN" altLang="en-US" b="0" i="0" dirty="0">
                  <a:solidFill>
                    <a:srgbClr val="1A1C1F"/>
                  </a:solidFill>
                  <a:effectLst/>
                  <a:latin typeface="-apple-system"/>
                </a:rPr>
                <a:t>支持 </a:t>
              </a:r>
              <a:r>
                <a:rPr lang="en-US" altLang="zh-CN" b="0" i="0" dirty="0" err="1">
                  <a:solidFill>
                    <a:srgbClr val="1A1C1F"/>
                  </a:solidFill>
                  <a:effectLst/>
                  <a:latin typeface="-apple-system"/>
                </a:rPr>
                <a:t>nSLEEP</a:t>
              </a:r>
              <a:r>
                <a:rPr lang="en-US" altLang="zh-CN" b="0" i="0" dirty="0">
                  <a:solidFill>
                    <a:srgbClr val="1A1C1F"/>
                  </a:solidFill>
                  <a:effectLst/>
                  <a:latin typeface="-apple-system"/>
                </a:rPr>
                <a:t> </a:t>
              </a:r>
              <a:r>
                <a:rPr lang="zh-CN" altLang="en-US" b="0" i="0" dirty="0">
                  <a:solidFill>
                    <a:srgbClr val="1A1C1F"/>
                  </a:solidFill>
                  <a:effectLst/>
                  <a:latin typeface="-apple-system"/>
                </a:rPr>
                <a:t>低功耗休眠，休眠电流典型 </a:t>
              </a:r>
              <a:r>
                <a:rPr lang="en-US" altLang="zh-CN" b="0" i="0" dirty="0">
                  <a:solidFill>
                    <a:srgbClr val="1A1C1F"/>
                  </a:solidFill>
                  <a:effectLst/>
                  <a:latin typeface="-apple-system"/>
                </a:rPr>
                <a:t>2uA</a:t>
              </a:r>
            </a:p>
            <a:p>
              <a:endParaRPr lang="zh-CN" altLang="en-US" b="0" i="0" dirty="0">
                <a:solidFill>
                  <a:srgbClr val="1A1C1F"/>
                </a:solidFill>
                <a:effectLst/>
                <a:latin typeface="-apple-system"/>
              </a:endParaRPr>
            </a:p>
            <a:p>
              <a:endParaRPr lang="zh-CN" altLang="en-US" dirty="0"/>
            </a:p>
          </p:txBody>
        </p:sp>
      </p:grpSp>
      <p:cxnSp>
        <p:nvCxnSpPr>
          <p:cNvPr id="86" name="直接连接符 85">
            <a:extLst>
              <a:ext uri="{FF2B5EF4-FFF2-40B4-BE49-F238E27FC236}">
                <a16:creationId xmlns:a16="http://schemas.microsoft.com/office/drawing/2014/main" id="{FA973C93-06F3-B4C3-8E1F-6D5689C05C04}"/>
              </a:ext>
            </a:extLst>
          </p:cNvPr>
          <p:cNvCxnSpPr>
            <a:cxnSpLocks/>
          </p:cNvCxnSpPr>
          <p:nvPr/>
        </p:nvCxnSpPr>
        <p:spPr>
          <a:xfrm flipH="1">
            <a:off x="3200400" y="1876144"/>
            <a:ext cx="406680" cy="520565"/>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6E0495AF-1779-4348-56D9-4DC23FA356C0}"/>
              </a:ext>
            </a:extLst>
          </p:cNvPr>
          <p:cNvCxnSpPr>
            <a:cxnSpLocks/>
          </p:cNvCxnSpPr>
          <p:nvPr/>
        </p:nvCxnSpPr>
        <p:spPr>
          <a:xfrm flipH="1" flipV="1">
            <a:off x="310275" y="1858171"/>
            <a:ext cx="1640866" cy="53420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94" name="组合 93">
            <a:extLst>
              <a:ext uri="{FF2B5EF4-FFF2-40B4-BE49-F238E27FC236}">
                <a16:creationId xmlns:a16="http://schemas.microsoft.com/office/drawing/2014/main" id="{D67AA09D-A4F9-DF20-8E9C-E379A3105D2F}"/>
              </a:ext>
            </a:extLst>
          </p:cNvPr>
          <p:cNvGrpSpPr/>
          <p:nvPr/>
        </p:nvGrpSpPr>
        <p:grpSpPr>
          <a:xfrm>
            <a:off x="91863" y="5737430"/>
            <a:ext cx="3311877" cy="1016011"/>
            <a:chOff x="4826283" y="4123669"/>
            <a:chExt cx="4359338" cy="1016011"/>
          </a:xfrm>
        </p:grpSpPr>
        <p:sp>
          <p:nvSpPr>
            <p:cNvPr id="95" name="矩形: 圆角 94">
              <a:extLst>
                <a:ext uri="{FF2B5EF4-FFF2-40B4-BE49-F238E27FC236}">
                  <a16:creationId xmlns:a16="http://schemas.microsoft.com/office/drawing/2014/main" id="{AD683807-4F68-07BE-4025-18A749C5445E}"/>
                </a:ext>
              </a:extLst>
            </p:cNvPr>
            <p:cNvSpPr/>
            <p:nvPr/>
          </p:nvSpPr>
          <p:spPr>
            <a:xfrm>
              <a:off x="4826283" y="4292464"/>
              <a:ext cx="4359338" cy="84721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圆角 95">
              <a:extLst>
                <a:ext uri="{FF2B5EF4-FFF2-40B4-BE49-F238E27FC236}">
                  <a16:creationId xmlns:a16="http://schemas.microsoft.com/office/drawing/2014/main" id="{583EC173-6D8D-2201-9D76-F2932EC3ABB8}"/>
                </a:ext>
              </a:extLst>
            </p:cNvPr>
            <p:cNvSpPr/>
            <p:nvPr/>
          </p:nvSpPr>
          <p:spPr>
            <a:xfrm>
              <a:off x="5748254" y="4123669"/>
              <a:ext cx="2474069" cy="337588"/>
            </a:xfrm>
            <a:prstGeom prst="roundRect">
              <a:avLst/>
            </a:prstGeom>
            <a:solidFill>
              <a:srgbClr val="0070C0"/>
            </a:solidFill>
            <a:ln w="12700">
              <a:noFill/>
            </a:ln>
            <a:effectLst>
              <a:glow rad="635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死区设置</a:t>
              </a:r>
            </a:p>
          </p:txBody>
        </p:sp>
        <p:sp>
          <p:nvSpPr>
            <p:cNvPr id="97" name="文本框 96">
              <a:extLst>
                <a:ext uri="{FF2B5EF4-FFF2-40B4-BE49-F238E27FC236}">
                  <a16:creationId xmlns:a16="http://schemas.microsoft.com/office/drawing/2014/main" id="{1A2B2B2E-B64B-9C16-6836-44E89E9AD118}"/>
                </a:ext>
              </a:extLst>
            </p:cNvPr>
            <p:cNvSpPr txBox="1"/>
            <p:nvPr/>
          </p:nvSpPr>
          <p:spPr>
            <a:xfrm>
              <a:off x="4826283" y="4461257"/>
              <a:ext cx="4359338" cy="533479"/>
            </a:xfrm>
            <a:prstGeom prst="rect">
              <a:avLst/>
            </a:prstGeom>
            <a:noFill/>
          </p:spPr>
          <p:txBody>
            <a:bodyPr wrap="square">
              <a:spAutoFit/>
            </a:bodyPr>
            <a:lstStyle/>
            <a:p>
              <a:pPr algn="l">
                <a:lnSpc>
                  <a:spcPts val="1650"/>
                </a:lnSpc>
              </a:pPr>
              <a:r>
                <a:rPr lang="zh-CN" altLang="en-US" dirty="0"/>
                <a:t>● </a:t>
              </a:r>
              <a:r>
                <a:rPr lang="zh-CN" altLang="en-US" b="0" i="0" dirty="0">
                  <a:solidFill>
                    <a:srgbClr val="1A1C1F"/>
                  </a:solidFill>
                  <a:effectLst/>
                  <a:latin typeface="-apple-system"/>
                </a:rPr>
                <a:t>支持可调死区：</a:t>
              </a:r>
              <a:r>
                <a:rPr lang="en-US" altLang="zh-CN" b="0" i="0" dirty="0" err="1">
                  <a:solidFill>
                    <a:srgbClr val="1A1C1F"/>
                  </a:solidFill>
                  <a:effectLst/>
                  <a:latin typeface="ui-monospace"/>
                </a:rPr>
                <a:t>tDEAD</a:t>
              </a:r>
              <a:r>
                <a:rPr lang="en-US" altLang="zh-CN" b="0" i="0" dirty="0">
                  <a:solidFill>
                    <a:srgbClr val="1A1C1F"/>
                  </a:solidFill>
                  <a:effectLst/>
                  <a:latin typeface="ui-monospace"/>
                </a:rPr>
                <a:t>(us)=0.044×RDT(k</a:t>
              </a:r>
              <a:r>
                <a:rPr lang="el-GR" altLang="zh-CN" b="0" i="0" dirty="0">
                  <a:solidFill>
                    <a:srgbClr val="1A1C1F"/>
                  </a:solidFill>
                  <a:effectLst/>
                  <a:latin typeface="ui-monospace"/>
                </a:rPr>
                <a:t>Ω)+0.1</a:t>
              </a:r>
              <a:endParaRPr lang="el-GR" altLang="zh-CN" b="0" i="0" dirty="0">
                <a:solidFill>
                  <a:srgbClr val="1A1C1F"/>
                </a:solidFill>
                <a:effectLst/>
                <a:latin typeface="-apple-system"/>
              </a:endParaRPr>
            </a:p>
          </p:txBody>
        </p:sp>
      </p:grpSp>
      <p:sp>
        <p:nvSpPr>
          <p:cNvPr id="98" name="矩形: 圆角 97">
            <a:extLst>
              <a:ext uri="{FF2B5EF4-FFF2-40B4-BE49-F238E27FC236}">
                <a16:creationId xmlns:a16="http://schemas.microsoft.com/office/drawing/2014/main" id="{78E75B02-8396-593D-C839-826BBD468920}"/>
              </a:ext>
            </a:extLst>
          </p:cNvPr>
          <p:cNvSpPr/>
          <p:nvPr/>
        </p:nvSpPr>
        <p:spPr>
          <a:xfrm>
            <a:off x="1850250" y="3617714"/>
            <a:ext cx="821654" cy="676678"/>
          </a:xfrm>
          <a:prstGeom prst="round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9" name="直接连接符 98">
            <a:extLst>
              <a:ext uri="{FF2B5EF4-FFF2-40B4-BE49-F238E27FC236}">
                <a16:creationId xmlns:a16="http://schemas.microsoft.com/office/drawing/2014/main" id="{E044BFD2-9698-F2FD-605B-65BCCE93CA4C}"/>
              </a:ext>
            </a:extLst>
          </p:cNvPr>
          <p:cNvCxnSpPr>
            <a:cxnSpLocks/>
          </p:cNvCxnSpPr>
          <p:nvPr/>
        </p:nvCxnSpPr>
        <p:spPr>
          <a:xfrm flipH="1">
            <a:off x="91863" y="4294392"/>
            <a:ext cx="1758387" cy="163568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F39B1FDC-AACC-AA1A-DB46-F9CCFF9A6E70}"/>
              </a:ext>
            </a:extLst>
          </p:cNvPr>
          <p:cNvCxnSpPr>
            <a:cxnSpLocks/>
          </p:cNvCxnSpPr>
          <p:nvPr/>
        </p:nvCxnSpPr>
        <p:spPr>
          <a:xfrm flipH="1" flipV="1">
            <a:off x="2671903" y="4294392"/>
            <a:ext cx="731837" cy="1635682"/>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07" name="矩形: 圆角 106">
            <a:extLst>
              <a:ext uri="{FF2B5EF4-FFF2-40B4-BE49-F238E27FC236}">
                <a16:creationId xmlns:a16="http://schemas.microsoft.com/office/drawing/2014/main" id="{12A0D26E-968A-AC78-B4BB-67DC444F0C1C}"/>
              </a:ext>
            </a:extLst>
          </p:cNvPr>
          <p:cNvSpPr/>
          <p:nvPr/>
        </p:nvSpPr>
        <p:spPr>
          <a:xfrm>
            <a:off x="4763017" y="967513"/>
            <a:ext cx="1454904" cy="1096636"/>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8" name="图片 107">
            <a:extLst>
              <a:ext uri="{FF2B5EF4-FFF2-40B4-BE49-F238E27FC236}">
                <a16:creationId xmlns:a16="http://schemas.microsoft.com/office/drawing/2014/main" id="{BB081AF8-899D-AF77-9ED2-C6B14BE0C411}"/>
              </a:ext>
            </a:extLst>
          </p:cNvPr>
          <p:cNvPicPr>
            <a:picLocks noChangeAspect="1"/>
          </p:cNvPicPr>
          <p:nvPr/>
        </p:nvPicPr>
        <p:blipFill>
          <a:blip r:embed="rId4"/>
          <a:srcRect b="17428"/>
          <a:stretch/>
        </p:blipFill>
        <p:spPr>
          <a:xfrm>
            <a:off x="4763017" y="772020"/>
            <a:ext cx="1592539" cy="1314991"/>
          </a:xfrm>
          <a:prstGeom prst="rect">
            <a:avLst/>
          </a:prstGeom>
        </p:spPr>
      </p:pic>
    </p:spTree>
    <p:extLst>
      <p:ext uri="{BB962C8B-B14F-4D97-AF65-F5344CB8AC3E}">
        <p14:creationId xmlns:p14="http://schemas.microsoft.com/office/powerpoint/2010/main" val="2970387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8A0BE-ED60-43CB-9509-FBF77425C6A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0F99FF7-D122-C41C-063D-671C27892F76}"/>
              </a:ext>
            </a:extLst>
          </p:cNvPr>
          <p:cNvSpPr>
            <a:spLocks noGrp="1"/>
          </p:cNvSpPr>
          <p:nvPr/>
        </p:nvSpPr>
        <p:spPr>
          <a:xfrm>
            <a:off x="217807" y="203285"/>
            <a:ext cx="11663918" cy="521208"/>
          </a:xfrm>
          <a:prstGeom prst="rect">
            <a:avLst/>
          </a:prstGeom>
          <a:solidFill>
            <a:srgbClr val="0070C0"/>
          </a:solidFill>
          <a:ln>
            <a:solidFill>
              <a:srgbClr val="0070C0"/>
            </a:solidFill>
          </a:ln>
        </p:spPr>
        <p:txBody>
          <a:bodyPr>
            <a:normAutofit fontScale="59790" lnSpcReduction="20000"/>
          </a:bodyPr>
          <a:lstStyle>
            <a:lvl1pPr algn="l">
              <a:lnSpc>
                <a:spcPct val="130000"/>
              </a:lnSpc>
              <a:spcBef>
                <a:spcPts val="0"/>
              </a:spcBef>
              <a:buNone/>
              <a:defRPr sz="4400">
                <a:solidFill>
                  <a:schemeClr val="tx1"/>
                </a:solidFill>
                <a:latin typeface="Arial"/>
                <a:ea typeface="Arial"/>
                <a:cs typeface="Arial"/>
              </a:defRPr>
            </a:lvl1pPr>
          </a:lstStyle>
          <a:p>
            <a:r>
              <a:rPr dirty="0" err="1">
                <a:solidFill>
                  <a:schemeClr val="bg1"/>
                </a:solidFill>
              </a:rPr>
              <a:t>芯片选型</a:t>
            </a:r>
            <a:r>
              <a:rPr dirty="0">
                <a:solidFill>
                  <a:schemeClr val="bg1"/>
                </a:solidFill>
              </a:rPr>
              <a:t>——</a:t>
            </a:r>
            <a:r>
              <a:rPr lang="zh-CN" altLang="en-US" dirty="0">
                <a:solidFill>
                  <a:schemeClr val="bg1"/>
                </a:solidFill>
              </a:rPr>
              <a:t>位置传感器 </a:t>
            </a:r>
            <a:r>
              <a:rPr lang="en-US" altLang="zh-CN" dirty="0">
                <a:solidFill>
                  <a:schemeClr val="bg1"/>
                </a:solidFill>
              </a:rPr>
              <a:t>MA600A</a:t>
            </a:r>
            <a:endParaRPr dirty="0">
              <a:solidFill>
                <a:schemeClr val="bg1"/>
              </a:solidFill>
            </a:endParaRPr>
          </a:p>
        </p:txBody>
      </p:sp>
      <p:grpSp>
        <p:nvGrpSpPr>
          <p:cNvPr id="46" name="组合 45">
            <a:extLst>
              <a:ext uri="{FF2B5EF4-FFF2-40B4-BE49-F238E27FC236}">
                <a16:creationId xmlns:a16="http://schemas.microsoft.com/office/drawing/2014/main" id="{3F2731A7-590F-025C-0F27-4213645BCBF9}"/>
              </a:ext>
            </a:extLst>
          </p:cNvPr>
          <p:cNvGrpSpPr/>
          <p:nvPr/>
        </p:nvGrpSpPr>
        <p:grpSpPr>
          <a:xfrm>
            <a:off x="217807" y="3887675"/>
            <a:ext cx="4431123" cy="2802521"/>
            <a:chOff x="6176414" y="3572416"/>
            <a:chExt cx="4338655" cy="2361026"/>
          </a:xfrm>
        </p:grpSpPr>
        <p:pic>
          <p:nvPicPr>
            <p:cNvPr id="19" name="图片 18">
              <a:extLst>
                <a:ext uri="{FF2B5EF4-FFF2-40B4-BE49-F238E27FC236}">
                  <a16:creationId xmlns:a16="http://schemas.microsoft.com/office/drawing/2014/main" id="{7392E1D6-5834-3B4A-B4C1-55D0CE498D5B}"/>
                </a:ext>
              </a:extLst>
            </p:cNvPr>
            <p:cNvPicPr>
              <a:picLocks noChangeAspect="1"/>
            </p:cNvPicPr>
            <p:nvPr/>
          </p:nvPicPr>
          <p:blipFill>
            <a:blip r:embed="rId3"/>
            <a:stretch>
              <a:fillRect/>
            </a:stretch>
          </p:blipFill>
          <p:spPr>
            <a:xfrm>
              <a:off x="6362574" y="4426063"/>
              <a:ext cx="1680146" cy="1315266"/>
            </a:xfrm>
            <a:prstGeom prst="rect">
              <a:avLst/>
            </a:prstGeom>
          </p:spPr>
        </p:pic>
        <p:pic>
          <p:nvPicPr>
            <p:cNvPr id="21" name="图片 20">
              <a:extLst>
                <a:ext uri="{FF2B5EF4-FFF2-40B4-BE49-F238E27FC236}">
                  <a16:creationId xmlns:a16="http://schemas.microsoft.com/office/drawing/2014/main" id="{53E21848-CDC6-415E-7FBA-6075407C59C2}"/>
                </a:ext>
              </a:extLst>
            </p:cNvPr>
            <p:cNvPicPr>
              <a:picLocks noChangeAspect="1"/>
            </p:cNvPicPr>
            <p:nvPr/>
          </p:nvPicPr>
          <p:blipFill>
            <a:blip r:embed="rId4"/>
            <a:stretch>
              <a:fillRect/>
            </a:stretch>
          </p:blipFill>
          <p:spPr>
            <a:xfrm>
              <a:off x="8340675" y="4426064"/>
              <a:ext cx="2174394" cy="1315265"/>
            </a:xfrm>
            <a:prstGeom prst="rect">
              <a:avLst/>
            </a:prstGeom>
          </p:spPr>
        </p:pic>
        <p:cxnSp>
          <p:nvCxnSpPr>
            <p:cNvPr id="22" name="直接连接符 21">
              <a:extLst>
                <a:ext uri="{FF2B5EF4-FFF2-40B4-BE49-F238E27FC236}">
                  <a16:creationId xmlns:a16="http://schemas.microsoft.com/office/drawing/2014/main" id="{0C69AC37-2875-EC71-2F8B-3C9513DE5F38}"/>
                </a:ext>
              </a:extLst>
            </p:cNvPr>
            <p:cNvCxnSpPr>
              <a:cxnSpLocks/>
            </p:cNvCxnSpPr>
            <p:nvPr/>
          </p:nvCxnSpPr>
          <p:spPr>
            <a:xfrm flipV="1">
              <a:off x="8340357" y="4076988"/>
              <a:ext cx="0" cy="1737360"/>
            </a:xfrm>
            <a:prstGeom prst="line">
              <a:avLst/>
            </a:prstGeom>
            <a:ln w="12700">
              <a:solidFill>
                <a:srgbClr val="0070C0"/>
              </a:solidFill>
              <a:prstDash val="dash"/>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AA403560-A1FD-49E1-804F-AC19FABF2144}"/>
                </a:ext>
              </a:extLst>
            </p:cNvPr>
            <p:cNvGrpSpPr/>
            <p:nvPr/>
          </p:nvGrpSpPr>
          <p:grpSpPr>
            <a:xfrm>
              <a:off x="6176414" y="3572416"/>
              <a:ext cx="4328520" cy="2361026"/>
              <a:chOff x="226877" y="3996318"/>
              <a:chExt cx="4731203" cy="2262118"/>
            </a:xfrm>
          </p:grpSpPr>
          <p:sp>
            <p:nvSpPr>
              <p:cNvPr id="31" name="矩形 26">
                <a:extLst>
                  <a:ext uri="{FF2B5EF4-FFF2-40B4-BE49-F238E27FC236}">
                    <a16:creationId xmlns:a16="http://schemas.microsoft.com/office/drawing/2014/main" id="{1A4FB234-1EE0-1E85-EF46-60FFDD03CED7}"/>
                  </a:ext>
                </a:extLst>
              </p:cNvPr>
              <p:cNvSpPr/>
              <p:nvPr/>
            </p:nvSpPr>
            <p:spPr>
              <a:xfrm>
                <a:off x="226877" y="4365651"/>
                <a:ext cx="4730510" cy="1892785"/>
              </a:xfrm>
              <a:prstGeom prst="rect">
                <a:avLst/>
              </a:prstGeom>
              <a:noFill/>
              <a:ln w="63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Times New Roman" panose="02020603050405020304" pitchFamily="18" charset="0"/>
                  <a:ea typeface="方正黑体简体" panose="02000000000000000000"/>
                  <a:cs typeface="Times New Roman" panose="02020603050405020304" pitchFamily="18" charset="0"/>
                </a:endParaRPr>
              </a:p>
            </p:txBody>
          </p:sp>
          <p:sp>
            <p:nvSpPr>
              <p:cNvPr id="32" name="文本框 85">
                <a:extLst>
                  <a:ext uri="{FF2B5EF4-FFF2-40B4-BE49-F238E27FC236}">
                    <a16:creationId xmlns:a16="http://schemas.microsoft.com/office/drawing/2014/main" id="{480965D0-C6C6-FC91-F4DD-BE2BFBA37D46}"/>
                  </a:ext>
                </a:extLst>
              </p:cNvPr>
              <p:cNvSpPr txBox="1"/>
              <p:nvPr/>
            </p:nvSpPr>
            <p:spPr>
              <a:xfrm>
                <a:off x="227570" y="3996318"/>
                <a:ext cx="4730510" cy="353860"/>
              </a:xfrm>
              <a:prstGeom prst="rect">
                <a:avLst/>
              </a:prstGeom>
              <a:solidFill>
                <a:srgbClr val="0070C0"/>
              </a:solidFill>
            </p:spPr>
            <p:txBody>
              <a:bodyPr wrap="square" rtlCol="0">
                <a:spAutoFit/>
              </a:bodyPr>
              <a:lstStyle/>
              <a:p>
                <a:pPr algn="ctr"/>
                <a:r>
                  <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rPr>
                  <a:t>端轴式</a:t>
                </a: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On-axis | </a:t>
                </a:r>
                <a:r>
                  <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rPr>
                  <a:t>旁轴式</a:t>
                </a:r>
                <a:r>
                  <a:rPr lang="en-US" altLang="zh-CN" b="1" dirty="0">
                    <a:solidFill>
                      <a:prstClr val="white"/>
                    </a:solidFill>
                    <a:latin typeface="Times New Roman" panose="02020603050405020304" pitchFamily="18" charset="0"/>
                    <a:ea typeface="方正黑体简体" panose="02000000000000000000"/>
                    <a:cs typeface="Times New Roman" panose="02020603050405020304" pitchFamily="18" charset="0"/>
                  </a:rPr>
                  <a:t>Off-axis</a:t>
                </a:r>
                <a:endParaRPr lang="zh-CN" altLang="en-US" b="1" dirty="0">
                  <a:solidFill>
                    <a:prstClr val="white"/>
                  </a:solidFill>
                  <a:latin typeface="Times New Roman" panose="02020603050405020304" pitchFamily="18" charset="0"/>
                  <a:ea typeface="方正黑体简体" panose="02000000000000000000"/>
                  <a:cs typeface="Times New Roman" panose="02020603050405020304" pitchFamily="18" charset="0"/>
                </a:endParaRPr>
              </a:p>
            </p:txBody>
          </p:sp>
        </p:grpSp>
      </p:grpSp>
      <p:sp>
        <p:nvSpPr>
          <p:cNvPr id="58" name="矩形 57">
            <a:extLst>
              <a:ext uri="{FF2B5EF4-FFF2-40B4-BE49-F238E27FC236}">
                <a16:creationId xmlns:a16="http://schemas.microsoft.com/office/drawing/2014/main" id="{46568932-79A3-F6D5-4B2C-734203926506}"/>
              </a:ext>
            </a:extLst>
          </p:cNvPr>
          <p:cNvSpPr/>
          <p:nvPr/>
        </p:nvSpPr>
        <p:spPr>
          <a:xfrm>
            <a:off x="233679" y="843583"/>
            <a:ext cx="11648046" cy="29250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7" name="组合 66">
            <a:extLst>
              <a:ext uri="{FF2B5EF4-FFF2-40B4-BE49-F238E27FC236}">
                <a16:creationId xmlns:a16="http://schemas.microsoft.com/office/drawing/2014/main" id="{8C2581B7-E4AA-74E8-4E8B-2515C3EC4536}"/>
              </a:ext>
            </a:extLst>
          </p:cNvPr>
          <p:cNvGrpSpPr/>
          <p:nvPr/>
        </p:nvGrpSpPr>
        <p:grpSpPr>
          <a:xfrm>
            <a:off x="2458798" y="1222323"/>
            <a:ext cx="9432996" cy="1943827"/>
            <a:chOff x="79960" y="1240585"/>
            <a:chExt cx="9432996" cy="1943827"/>
          </a:xfrm>
        </p:grpSpPr>
        <p:pic>
          <p:nvPicPr>
            <p:cNvPr id="12" name="Picture 4" descr="MA600A | High-Accuracy,">
              <a:extLst>
                <a:ext uri="{FF2B5EF4-FFF2-40B4-BE49-F238E27FC236}">
                  <a16:creationId xmlns:a16="http://schemas.microsoft.com/office/drawing/2014/main" id="{E95F864E-0F61-BB6E-2C91-39A7A9D4DD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6081" y="1404168"/>
              <a:ext cx="2000757" cy="1125426"/>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EF2B7BEB-5827-B232-D2F6-7BCB8BDC0CC2}"/>
                </a:ext>
              </a:extLst>
            </p:cNvPr>
            <p:cNvSpPr txBox="1"/>
            <p:nvPr/>
          </p:nvSpPr>
          <p:spPr>
            <a:xfrm>
              <a:off x="3666420" y="2580704"/>
              <a:ext cx="1725330" cy="523220"/>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位置传感器</a:t>
              </a:r>
              <a:endParaRPr lang="en-US" altLang="zh-CN" sz="1400" dirty="0">
                <a:latin typeface="微软雅黑" panose="020B0503020204020204" pitchFamily="34" charset="-122"/>
                <a:ea typeface="微软雅黑" panose="020B0503020204020204" pitchFamily="34" charset="-122"/>
                <a:sym typeface="+mn-ea"/>
              </a:endParaRPr>
            </a:p>
            <a:p>
              <a:pPr indent="0" algn="ctr" fontAlgn="auto">
                <a:lnSpc>
                  <a:spcPct val="100000"/>
                </a:lnSpc>
              </a:pPr>
              <a:r>
                <a:rPr lang="en-US" altLang="zh-CN" sz="1400" dirty="0">
                  <a:latin typeface="微软雅黑" panose="020B0503020204020204" pitchFamily="34" charset="-122"/>
                  <a:ea typeface="微软雅黑" panose="020B0503020204020204" pitchFamily="34" charset="-122"/>
                  <a:sym typeface="+mn-ea"/>
                </a:rPr>
                <a:t>MA600A</a:t>
              </a:r>
              <a:endParaRPr lang="zh-CN" altLang="en-US" sz="14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032B17EC-8E3B-6DDD-CDF1-D9ECA1639BDD}"/>
                </a:ext>
              </a:extLst>
            </p:cNvPr>
            <p:cNvSpPr txBox="1"/>
            <p:nvPr/>
          </p:nvSpPr>
          <p:spPr>
            <a:xfrm>
              <a:off x="7787626" y="2757191"/>
              <a:ext cx="1725330" cy="307777"/>
            </a:xfrm>
            <a:prstGeom prst="rect">
              <a:avLst/>
            </a:prstGeom>
            <a:noFill/>
          </p:spPr>
          <p:txBody>
            <a:bodyPr vert="horz" wrap="square" rtlCol="0">
              <a:spAutoFit/>
            </a:bodyPr>
            <a:lstStyle/>
            <a:p>
              <a:pPr indent="0" algn="ctr" fontAlgn="auto">
                <a:lnSpc>
                  <a:spcPct val="100000"/>
                </a:lnSpc>
              </a:pPr>
              <a:r>
                <a:rPr lang="zh-CN" altLang="en-US" sz="1400" dirty="0">
                  <a:latin typeface="微软雅黑" panose="020B0503020204020204" pitchFamily="34" charset="-122"/>
                  <a:ea typeface="微软雅黑" panose="020B0503020204020204" pitchFamily="34" charset="-122"/>
                  <a:sym typeface="+mn-ea"/>
                </a:rPr>
                <a:t>控制器</a:t>
              </a:r>
              <a:endParaRPr lang="zh-CN" altLang="en-US" sz="1400" dirty="0">
                <a:latin typeface="微软雅黑" panose="020B0503020204020204" pitchFamily="34" charset="-122"/>
                <a:ea typeface="微软雅黑" panose="020B0503020204020204" pitchFamily="34" charset="-122"/>
              </a:endParaRPr>
            </a:p>
          </p:txBody>
        </p:sp>
        <p:pic>
          <p:nvPicPr>
            <p:cNvPr id="18" name="Picture 2" descr="Microcontroller PNG transparent image download, size: 512x333px">
              <a:extLst>
                <a:ext uri="{FF2B5EF4-FFF2-40B4-BE49-F238E27FC236}">
                  <a16:creationId xmlns:a16="http://schemas.microsoft.com/office/drawing/2014/main" id="{0D6B8FDD-6B2F-D7E2-BAB7-22F4B85477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77392" y="1766195"/>
              <a:ext cx="1445111" cy="939886"/>
            </a:xfrm>
            <a:prstGeom prst="rect">
              <a:avLst/>
            </a:prstGeom>
            <a:noFill/>
            <a:extLst>
              <a:ext uri="{909E8E84-426E-40DD-AFC4-6F175D3DCCD1}">
                <a14:hiddenFill xmlns:a14="http://schemas.microsoft.com/office/drawing/2010/main">
                  <a:solidFill>
                    <a:srgbClr val="FFFFFF"/>
                  </a:solidFill>
                </a14:hiddenFill>
              </a:ext>
            </a:extLst>
          </p:spPr>
        </p:pic>
        <p:pic>
          <p:nvPicPr>
            <p:cNvPr id="48" name="图片 47">
              <a:extLst>
                <a:ext uri="{FF2B5EF4-FFF2-40B4-BE49-F238E27FC236}">
                  <a16:creationId xmlns:a16="http://schemas.microsoft.com/office/drawing/2014/main" id="{19B6957C-1A6C-0FA0-71DF-870D9E59CE97}"/>
                </a:ext>
              </a:extLst>
            </p:cNvPr>
            <p:cNvPicPr>
              <a:picLocks noChangeAspect="1"/>
            </p:cNvPicPr>
            <p:nvPr/>
          </p:nvPicPr>
          <p:blipFill>
            <a:blip r:embed="rId7"/>
            <a:stretch>
              <a:fillRect/>
            </a:stretch>
          </p:blipFill>
          <p:spPr>
            <a:xfrm>
              <a:off x="79960" y="1240585"/>
              <a:ext cx="3134923" cy="1935595"/>
            </a:xfrm>
            <a:prstGeom prst="rect">
              <a:avLst/>
            </a:prstGeom>
          </p:spPr>
        </p:pic>
        <p:cxnSp>
          <p:nvCxnSpPr>
            <p:cNvPr id="50" name="直接连接符 49">
              <a:extLst>
                <a:ext uri="{FF2B5EF4-FFF2-40B4-BE49-F238E27FC236}">
                  <a16:creationId xmlns:a16="http://schemas.microsoft.com/office/drawing/2014/main" id="{0B02194F-D044-FAC8-9A73-D647A575C5CD}"/>
                </a:ext>
              </a:extLst>
            </p:cNvPr>
            <p:cNvCxnSpPr>
              <a:cxnSpLocks/>
            </p:cNvCxnSpPr>
            <p:nvPr/>
          </p:nvCxnSpPr>
          <p:spPr>
            <a:xfrm flipV="1">
              <a:off x="1807113" y="1353058"/>
              <a:ext cx="1784530" cy="556544"/>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51" name="矩形: 圆角 50">
              <a:extLst>
                <a:ext uri="{FF2B5EF4-FFF2-40B4-BE49-F238E27FC236}">
                  <a16:creationId xmlns:a16="http://schemas.microsoft.com/office/drawing/2014/main" id="{48DCC540-885F-E8EA-6ABB-98AF25E8CD8F}"/>
                </a:ext>
              </a:extLst>
            </p:cNvPr>
            <p:cNvSpPr/>
            <p:nvPr/>
          </p:nvSpPr>
          <p:spPr>
            <a:xfrm>
              <a:off x="3591643" y="1306975"/>
              <a:ext cx="1800107" cy="1869205"/>
            </a:xfrm>
            <a:prstGeom prst="roundRect">
              <a:avLst>
                <a:gd name="adj" fmla="val 323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a:extLst>
                <a:ext uri="{FF2B5EF4-FFF2-40B4-BE49-F238E27FC236}">
                  <a16:creationId xmlns:a16="http://schemas.microsoft.com/office/drawing/2014/main" id="{3809B6BC-C4F4-9587-F884-DCDFC42C56F7}"/>
                </a:ext>
              </a:extLst>
            </p:cNvPr>
            <p:cNvCxnSpPr>
              <a:cxnSpLocks/>
            </p:cNvCxnSpPr>
            <p:nvPr/>
          </p:nvCxnSpPr>
          <p:spPr>
            <a:xfrm>
              <a:off x="1807113" y="2361205"/>
              <a:ext cx="1792318" cy="814975"/>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56" name="右箭头 13">
              <a:extLst>
                <a:ext uri="{FF2B5EF4-FFF2-40B4-BE49-F238E27FC236}">
                  <a16:creationId xmlns:a16="http://schemas.microsoft.com/office/drawing/2014/main" id="{E8C43DB5-3932-4DD7-6D36-43012B1D262C}"/>
                </a:ext>
              </a:extLst>
            </p:cNvPr>
            <p:cNvSpPr/>
            <p:nvPr/>
          </p:nvSpPr>
          <p:spPr>
            <a:xfrm>
              <a:off x="5391750" y="2073139"/>
              <a:ext cx="2461588" cy="432566"/>
            </a:xfrm>
            <a:prstGeom prst="rightArrow">
              <a:avLst>
                <a:gd name="adj1" fmla="val 63528"/>
                <a:gd name="adj2" fmla="val 50000"/>
              </a:avLst>
            </a:prstGeom>
            <a:gradFill>
              <a:gsLst>
                <a:gs pos="19000">
                  <a:schemeClr val="bg2">
                    <a:lumMod val="60000"/>
                    <a:lumOff val="40000"/>
                  </a:schemeClr>
                </a:gs>
                <a:gs pos="0">
                  <a:schemeClr val="bg1">
                    <a:alpha val="0"/>
                  </a:schemeClr>
                </a:gs>
                <a:gs pos="100000">
                  <a:schemeClr val="bg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57" name="矩形: 圆角 56">
              <a:extLst>
                <a:ext uri="{FF2B5EF4-FFF2-40B4-BE49-F238E27FC236}">
                  <a16:creationId xmlns:a16="http://schemas.microsoft.com/office/drawing/2014/main" id="{FF401E92-3C3E-32B1-58F4-A935FE9DF651}"/>
                </a:ext>
              </a:extLst>
            </p:cNvPr>
            <p:cNvSpPr/>
            <p:nvPr/>
          </p:nvSpPr>
          <p:spPr>
            <a:xfrm>
              <a:off x="6299504" y="1315207"/>
              <a:ext cx="1086474" cy="1869205"/>
            </a:xfrm>
            <a:prstGeom prst="roundRect">
              <a:avLst>
                <a:gd name="adj" fmla="val 3237"/>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i="0" dirty="0">
                  <a:solidFill>
                    <a:srgbClr val="0070C0"/>
                  </a:solidFill>
                  <a:effectLst/>
                  <a:latin typeface="-apple-system"/>
                </a:rPr>
                <a:t>SPI</a:t>
              </a:r>
            </a:p>
            <a:p>
              <a:pPr algn="ctr"/>
              <a:r>
                <a:rPr lang="en-US" altLang="zh-CN" sz="2400" b="1" i="0" dirty="0">
                  <a:solidFill>
                    <a:srgbClr val="0070C0"/>
                  </a:solidFill>
                  <a:effectLst/>
                  <a:latin typeface="-apple-system"/>
                </a:rPr>
                <a:t>SSI</a:t>
              </a:r>
            </a:p>
            <a:p>
              <a:pPr algn="ctr"/>
              <a:r>
                <a:rPr lang="en-US" altLang="zh-CN" sz="2400" b="1" i="0" dirty="0">
                  <a:solidFill>
                    <a:srgbClr val="0070C0"/>
                  </a:solidFill>
                  <a:effectLst/>
                  <a:latin typeface="-apple-system"/>
                </a:rPr>
                <a:t>ABZ</a:t>
              </a:r>
            </a:p>
            <a:p>
              <a:pPr algn="ctr"/>
              <a:r>
                <a:rPr lang="en-US" altLang="zh-CN" sz="2400" b="1" i="0" dirty="0">
                  <a:solidFill>
                    <a:srgbClr val="0070C0"/>
                  </a:solidFill>
                  <a:effectLst/>
                  <a:latin typeface="-apple-system"/>
                </a:rPr>
                <a:t>UVW</a:t>
              </a:r>
            </a:p>
            <a:p>
              <a:pPr algn="ctr"/>
              <a:r>
                <a:rPr lang="en-US" altLang="zh-CN" sz="2400" b="1" i="0" dirty="0">
                  <a:solidFill>
                    <a:srgbClr val="0070C0"/>
                  </a:solidFill>
                  <a:effectLst/>
                  <a:latin typeface="-apple-system"/>
                </a:rPr>
                <a:t>PWM</a:t>
              </a:r>
              <a:endParaRPr lang="zh-CN" altLang="en-US" sz="2400" b="1" dirty="0">
                <a:solidFill>
                  <a:srgbClr val="0070C0"/>
                </a:solidFill>
              </a:endParaRPr>
            </a:p>
          </p:txBody>
        </p:sp>
      </p:grpSp>
      <p:graphicFrame>
        <p:nvGraphicFramePr>
          <p:cNvPr id="64" name="表格 63">
            <a:extLst>
              <a:ext uri="{FF2B5EF4-FFF2-40B4-BE49-F238E27FC236}">
                <a16:creationId xmlns:a16="http://schemas.microsoft.com/office/drawing/2014/main" id="{A35B2440-6F59-9644-DC35-6471170DB4D5}"/>
              </a:ext>
            </a:extLst>
          </p:cNvPr>
          <p:cNvGraphicFramePr>
            <a:graphicFrameLocks noGrp="1"/>
          </p:cNvGraphicFramePr>
          <p:nvPr>
            <p:extLst>
              <p:ext uri="{D42A27DB-BD31-4B8C-83A1-F6EECF244321}">
                <p14:modId xmlns:p14="http://schemas.microsoft.com/office/powerpoint/2010/main" val="3271390671"/>
              </p:ext>
            </p:extLst>
          </p:nvPr>
        </p:nvGraphicFramePr>
        <p:xfrm>
          <a:off x="4843329" y="4016466"/>
          <a:ext cx="7038396" cy="2615352"/>
        </p:xfrm>
        <a:graphic>
          <a:graphicData uri="http://schemas.openxmlformats.org/drawingml/2006/table">
            <a:tbl>
              <a:tblPr/>
              <a:tblGrid>
                <a:gridCol w="846271">
                  <a:extLst>
                    <a:ext uri="{9D8B030D-6E8A-4147-A177-3AD203B41FA5}">
                      <a16:colId xmlns:a16="http://schemas.microsoft.com/office/drawing/2014/main" val="1653874726"/>
                    </a:ext>
                  </a:extLst>
                </a:gridCol>
                <a:gridCol w="2672927">
                  <a:extLst>
                    <a:ext uri="{9D8B030D-6E8A-4147-A177-3AD203B41FA5}">
                      <a16:colId xmlns:a16="http://schemas.microsoft.com/office/drawing/2014/main" val="1429078919"/>
                    </a:ext>
                  </a:extLst>
                </a:gridCol>
                <a:gridCol w="1759599">
                  <a:extLst>
                    <a:ext uri="{9D8B030D-6E8A-4147-A177-3AD203B41FA5}">
                      <a16:colId xmlns:a16="http://schemas.microsoft.com/office/drawing/2014/main" val="1172800075"/>
                    </a:ext>
                  </a:extLst>
                </a:gridCol>
                <a:gridCol w="1759599">
                  <a:extLst>
                    <a:ext uri="{9D8B030D-6E8A-4147-A177-3AD203B41FA5}">
                      <a16:colId xmlns:a16="http://schemas.microsoft.com/office/drawing/2014/main" val="1314427879"/>
                    </a:ext>
                  </a:extLst>
                </a:gridCol>
              </a:tblGrid>
              <a:tr h="207749">
                <a:tc>
                  <a:txBody>
                    <a:bodyPr/>
                    <a:lstStyle/>
                    <a:p>
                      <a:pPr rtl="0"/>
                      <a:r>
                        <a:rPr lang="zh-CN" altLang="en-US" sz="1300" b="1">
                          <a:solidFill>
                            <a:srgbClr val="1F1F1F"/>
                          </a:solidFill>
                          <a:effectLst/>
                          <a:latin typeface="Google Sans Text"/>
                        </a:rPr>
                        <a:t>型号</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a:solidFill>
                            <a:srgbClr val="1F1F1F"/>
                          </a:solidFill>
                          <a:effectLst/>
                          <a:latin typeface="Google Sans Text"/>
                        </a:rPr>
                        <a:t>角度更新 </a:t>
                      </a:r>
                      <a:r>
                        <a:rPr lang="en-US" altLang="zh-CN" sz="1300" b="1">
                          <a:solidFill>
                            <a:srgbClr val="1F1F1F"/>
                          </a:solidFill>
                          <a:effectLst/>
                          <a:latin typeface="Google Sans Text"/>
                        </a:rPr>
                        <a:t>/ </a:t>
                      </a:r>
                      <a:r>
                        <a:rPr lang="zh-CN" altLang="en-US" sz="1300" b="1">
                          <a:solidFill>
                            <a:srgbClr val="1F1F1F"/>
                          </a:solidFill>
                          <a:effectLst/>
                          <a:latin typeface="Google Sans Text"/>
                        </a:rPr>
                        <a:t>延迟</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a:solidFill>
                            <a:srgbClr val="1F1F1F"/>
                          </a:solidFill>
                          <a:effectLst/>
                          <a:latin typeface="Google Sans Text"/>
                        </a:rPr>
                        <a:t>带宽</a:t>
                      </a:r>
                      <a:endParaRPr lang="zh-CN" alt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tc>
                  <a:txBody>
                    <a:bodyPr/>
                    <a:lstStyle/>
                    <a:p>
                      <a:pPr rtl="0"/>
                      <a:r>
                        <a:rPr lang="zh-CN" altLang="en-US" sz="1300" b="1" dirty="0">
                          <a:solidFill>
                            <a:srgbClr val="1F1F1F"/>
                          </a:solidFill>
                          <a:effectLst/>
                          <a:latin typeface="Google Sans Text"/>
                        </a:rPr>
                        <a:t>精度与校准</a:t>
                      </a:r>
                      <a:endParaRPr lang="zh-CN" altLang="en-US" sz="1300" dirty="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311418177"/>
                  </a:ext>
                </a:extLst>
              </a:tr>
              <a:tr h="538172">
                <a:tc>
                  <a:txBody>
                    <a:bodyPr/>
                    <a:lstStyle/>
                    <a:p>
                      <a:pPr rtl="0"/>
                      <a:r>
                        <a:rPr lang="en-US" sz="1300" b="1" dirty="0">
                          <a:solidFill>
                            <a:srgbClr val="0070C0"/>
                          </a:solidFill>
                          <a:effectLst/>
                          <a:latin typeface="Google Sans Text"/>
                        </a:rPr>
                        <a:t>MA600A</a:t>
                      </a:r>
                      <a:endParaRPr lang="en-US" sz="1300" dirty="0">
                        <a:solidFill>
                          <a:srgbClr val="0070C0"/>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0070C0"/>
                          </a:solidFill>
                          <a:effectLst/>
                          <a:latin typeface="Google Sans Text"/>
                        </a:rPr>
                        <a:t>刷新率 </a:t>
                      </a:r>
                      <a:r>
                        <a:rPr lang="en-US" altLang="zh-CN" sz="1300" dirty="0">
                          <a:solidFill>
                            <a:srgbClr val="0070C0"/>
                          </a:solidFill>
                          <a:effectLst/>
                          <a:latin typeface="Google Sans Text"/>
                        </a:rPr>
                        <a:t>800kHz</a:t>
                      </a:r>
                      <a:r>
                        <a:rPr lang="zh-CN" altLang="en-US" sz="1300" dirty="0">
                          <a:solidFill>
                            <a:srgbClr val="0070C0"/>
                          </a:solidFill>
                          <a:effectLst/>
                          <a:latin typeface="Google Sans Text"/>
                        </a:rPr>
                        <a:t>；默认滤波下延迟补偿后约 </a:t>
                      </a:r>
                      <a:r>
                        <a:rPr lang="en-US" altLang="zh-CN" sz="1300" dirty="0">
                          <a:solidFill>
                            <a:srgbClr val="0070C0"/>
                          </a:solidFill>
                          <a:effectLst/>
                          <a:latin typeface="Google Sans Text"/>
                        </a:rPr>
                        <a:t>±0.5us </a:t>
                      </a:r>
                      <a:r>
                        <a:rPr lang="zh-CN" altLang="en-US" sz="1300" dirty="0">
                          <a:solidFill>
                            <a:srgbClr val="0070C0"/>
                          </a:solidFill>
                          <a:effectLst/>
                          <a:latin typeface="Google Sans Text"/>
                        </a:rPr>
                        <a:t>量级</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0070C0"/>
                          </a:solidFill>
                          <a:effectLst/>
                          <a:latin typeface="Google Sans Text"/>
                        </a:rPr>
                        <a:t>默认 </a:t>
                      </a:r>
                      <a:r>
                        <a:rPr lang="en-US" altLang="zh-CN" sz="1300" dirty="0">
                          <a:solidFill>
                            <a:srgbClr val="0070C0"/>
                          </a:solidFill>
                          <a:effectLst/>
                          <a:latin typeface="Google Sans Text"/>
                        </a:rPr>
                        <a:t>12</a:t>
                      </a:r>
                      <a:r>
                        <a:rPr lang="en-US" sz="1300" dirty="0">
                          <a:solidFill>
                            <a:srgbClr val="0070C0"/>
                          </a:solidFill>
                          <a:effectLst/>
                          <a:latin typeface="Google Sans Text"/>
                        </a:rPr>
                        <a:t>kHz；</a:t>
                      </a:r>
                      <a:r>
                        <a:rPr lang="zh-CN" altLang="en-US" sz="1300" dirty="0">
                          <a:solidFill>
                            <a:srgbClr val="0070C0"/>
                          </a:solidFill>
                          <a:effectLst/>
                          <a:latin typeface="Google Sans Text"/>
                        </a:rPr>
                        <a:t>最高 </a:t>
                      </a:r>
                      <a:r>
                        <a:rPr lang="en-US" altLang="zh-CN" sz="1300" dirty="0">
                          <a:solidFill>
                            <a:srgbClr val="0070C0"/>
                          </a:solidFill>
                          <a:effectLst/>
                          <a:latin typeface="Google Sans Text"/>
                        </a:rPr>
                        <a:t>17</a:t>
                      </a:r>
                      <a:r>
                        <a:rPr lang="en-US" sz="1300" dirty="0">
                          <a:solidFill>
                            <a:srgbClr val="0070C0"/>
                          </a:solidFill>
                          <a:effectLst/>
                          <a:latin typeface="Google Sans Text"/>
                        </a:rPr>
                        <a:t>kHz</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en-US" sz="1300" dirty="0">
                          <a:solidFill>
                            <a:srgbClr val="0070C0"/>
                          </a:solidFill>
                          <a:effectLst/>
                          <a:latin typeface="Google Sans Text"/>
                        </a:rPr>
                        <a:t>INL &lt;0.6°；32</a:t>
                      </a:r>
                      <a:r>
                        <a:rPr lang="zh-CN" altLang="en-US" sz="1300" dirty="0">
                          <a:solidFill>
                            <a:srgbClr val="0070C0"/>
                          </a:solidFill>
                          <a:effectLst/>
                          <a:latin typeface="Google Sans Text"/>
                        </a:rPr>
                        <a:t>点校准后 </a:t>
                      </a:r>
                      <a:r>
                        <a:rPr lang="en-US" altLang="zh-CN" sz="1300" dirty="0">
                          <a:solidFill>
                            <a:srgbClr val="0070C0"/>
                          </a:solidFill>
                          <a:effectLst/>
                          <a:latin typeface="Google Sans Text"/>
                        </a:rPr>
                        <a:t>&lt;0.1°</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35722170"/>
                  </a:ext>
                </a:extLst>
              </a:tr>
              <a:tr h="538172">
                <a:tc>
                  <a:txBody>
                    <a:bodyPr/>
                    <a:lstStyle/>
                    <a:p>
                      <a:pPr rtl="0"/>
                      <a:r>
                        <a:rPr lang="en-US" sz="1300" b="1">
                          <a:solidFill>
                            <a:srgbClr val="1F1F1F"/>
                          </a:solidFill>
                          <a:effectLst/>
                          <a:latin typeface="Google Sans Text"/>
                        </a:rPr>
                        <a:t>AS5048A</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典型传播延迟约 </a:t>
                      </a:r>
                      <a:r>
                        <a:rPr lang="en-US" altLang="zh-CN" sz="1300" dirty="0">
                          <a:solidFill>
                            <a:srgbClr val="1F1F1F"/>
                          </a:solidFill>
                          <a:effectLst/>
                          <a:latin typeface="Google Sans Text"/>
                        </a:rPr>
                        <a:t>100</a:t>
                      </a:r>
                      <a:r>
                        <a:rPr lang="en-US" sz="1300" dirty="0">
                          <a:solidFill>
                            <a:srgbClr val="1F1F1F"/>
                          </a:solidFill>
                          <a:effectLst/>
                          <a:latin typeface="Google Sans Text"/>
                        </a:rPr>
                        <a:t>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采样约 </a:t>
                      </a:r>
                      <a:r>
                        <a:rPr lang="en-US" altLang="zh-CN" sz="1300">
                          <a:solidFill>
                            <a:srgbClr val="1F1F1F"/>
                          </a:solidFill>
                          <a:effectLst/>
                          <a:latin typeface="Google Sans Text"/>
                        </a:rPr>
                        <a:t>11.25</a:t>
                      </a:r>
                      <a:r>
                        <a:rPr lang="en-US" sz="1300">
                          <a:solidFill>
                            <a:srgbClr val="1F1F1F"/>
                          </a:solidFill>
                          <a:effectLst/>
                          <a:latin typeface="Google Sans Text"/>
                        </a:rPr>
                        <a:t>kHz</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典型精度 </a:t>
                      </a:r>
                      <a:r>
                        <a:rPr lang="en-US" altLang="zh-CN" sz="1300" dirty="0">
                          <a:solidFill>
                            <a:srgbClr val="1F1F1F"/>
                          </a:solidFill>
                          <a:effectLst/>
                          <a:latin typeface="Google Sans Text"/>
                        </a:rPr>
                        <a:t>0.5°</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75877961"/>
                  </a:ext>
                </a:extLst>
              </a:tr>
              <a:tr h="538761">
                <a:tc>
                  <a:txBody>
                    <a:bodyPr/>
                    <a:lstStyle/>
                    <a:p>
                      <a:pPr rtl="0"/>
                      <a:r>
                        <a:rPr lang="en-US" sz="1300" b="1">
                          <a:solidFill>
                            <a:srgbClr val="1F1F1F"/>
                          </a:solidFill>
                          <a:effectLst/>
                          <a:latin typeface="Google Sans Text"/>
                        </a:rPr>
                        <a:t>TLE5012B</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1F1F1F"/>
                          </a:solidFill>
                          <a:effectLst/>
                          <a:latin typeface="Google Sans Text"/>
                        </a:rPr>
                        <a:t>更新 </a:t>
                      </a:r>
                      <a:r>
                        <a:rPr lang="en-US" altLang="zh-CN" sz="1300" dirty="0">
                          <a:solidFill>
                            <a:srgbClr val="1F1F1F"/>
                          </a:solidFill>
                          <a:effectLst/>
                          <a:latin typeface="Google Sans Text"/>
                        </a:rPr>
                        <a:t>42.7us</a:t>
                      </a:r>
                      <a:r>
                        <a:rPr lang="zh-CN" altLang="en-US" sz="1300" dirty="0">
                          <a:solidFill>
                            <a:srgbClr val="1F1F1F"/>
                          </a:solidFill>
                          <a:effectLst/>
                          <a:latin typeface="Google Sans Text"/>
                        </a:rPr>
                        <a:t>；无预测时延迟约 </a:t>
                      </a:r>
                      <a:r>
                        <a:rPr lang="en-US" altLang="zh-CN" sz="1300" dirty="0">
                          <a:solidFill>
                            <a:srgbClr val="1F1F1F"/>
                          </a:solidFill>
                          <a:effectLst/>
                          <a:latin typeface="Google Sans Text"/>
                        </a:rPr>
                        <a:t>85-95us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a:solidFill>
                            <a:srgbClr val="1F1F1F"/>
                          </a:solidFill>
                          <a:effectLst/>
                          <a:latin typeface="Google Sans Text"/>
                        </a:rPr>
                        <a:t>依赖滤波配置</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tc>
                  <a:txBody>
                    <a:bodyPr/>
                    <a:lstStyle/>
                    <a:p>
                      <a:pPr rtl="0"/>
                      <a:r>
                        <a:rPr lang="zh-CN" altLang="en-US" sz="1300" dirty="0">
                          <a:solidFill>
                            <a:srgbClr val="1F1F1F"/>
                          </a:solidFill>
                          <a:effectLst/>
                          <a:latin typeface="Google Sans Text"/>
                        </a:rPr>
                        <a:t>典型电角度误差 </a:t>
                      </a:r>
                      <a:r>
                        <a:rPr lang="en-US" altLang="zh-CN" sz="1300" dirty="0">
                          <a:solidFill>
                            <a:srgbClr val="1F1F1F"/>
                          </a:solidFill>
                          <a:effectLst/>
                          <a:latin typeface="Google Sans Text"/>
                        </a:rPr>
                        <a:t>0.6° </a:t>
                      </a:r>
                      <a:r>
                        <a:rPr lang="zh-CN" altLang="en-US" sz="1300" dirty="0">
                          <a:solidFill>
                            <a:srgbClr val="1F1F1F"/>
                          </a:solidFill>
                          <a:effectLst/>
                          <a:latin typeface="Google Sans Text"/>
                        </a:rPr>
                        <a:t>起</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3753727"/>
                  </a:ext>
                </a:extLst>
              </a:tr>
              <a:tr h="538172">
                <a:tc>
                  <a:txBody>
                    <a:bodyPr/>
                    <a:lstStyle/>
                    <a:p>
                      <a:pPr rtl="0"/>
                      <a:r>
                        <a:rPr lang="en-US" sz="1300" b="1">
                          <a:solidFill>
                            <a:srgbClr val="1F1F1F"/>
                          </a:solidFill>
                          <a:effectLst/>
                          <a:latin typeface="Google Sans Text"/>
                        </a:rPr>
                        <a:t>MT6826S</a:t>
                      </a:r>
                      <a:endParaRPr lang="en-US" sz="1300">
                        <a:solidFill>
                          <a:srgbClr val="1F1F1F"/>
                        </a:solidFill>
                        <a:effectLst/>
                        <a:latin typeface="Google Sans Text"/>
                      </a:endParaRP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输出传播延迟约 </a:t>
                      </a:r>
                      <a:r>
                        <a:rPr lang="en-US" altLang="zh-CN" sz="1300">
                          <a:solidFill>
                            <a:srgbClr val="1F1F1F"/>
                          </a:solidFill>
                          <a:effectLst/>
                          <a:latin typeface="Google Sans Text"/>
                        </a:rPr>
                        <a:t>2-10us</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a:solidFill>
                            <a:srgbClr val="1F1F1F"/>
                          </a:solidFill>
                          <a:effectLst/>
                          <a:latin typeface="Google Sans Text"/>
                        </a:rPr>
                        <a:t>未突出 </a:t>
                      </a:r>
                      <a:r>
                        <a:rPr lang="en-US" altLang="zh-CN" sz="1300">
                          <a:solidFill>
                            <a:srgbClr val="1F1F1F"/>
                          </a:solidFill>
                          <a:effectLst/>
                          <a:latin typeface="Google Sans Text"/>
                        </a:rPr>
                        <a:t>10kHz </a:t>
                      </a:r>
                      <a:r>
                        <a:rPr lang="zh-CN" altLang="en-US" sz="1300">
                          <a:solidFill>
                            <a:srgbClr val="1F1F1F"/>
                          </a:solidFill>
                          <a:effectLst/>
                          <a:latin typeface="Google Sans Text"/>
                        </a:rPr>
                        <a:t>以上带宽</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tc>
                  <a:txBody>
                    <a:bodyPr/>
                    <a:lstStyle/>
                    <a:p>
                      <a:pPr rtl="0"/>
                      <a:r>
                        <a:rPr lang="zh-CN" altLang="en-US" sz="1300" dirty="0">
                          <a:solidFill>
                            <a:srgbClr val="1F1F1F"/>
                          </a:solidFill>
                          <a:effectLst/>
                          <a:latin typeface="Google Sans Text"/>
                        </a:rPr>
                        <a:t>工厂校准约 </a:t>
                      </a:r>
                      <a:r>
                        <a:rPr lang="en-US" altLang="zh-CN" sz="1300" dirty="0">
                          <a:solidFill>
                            <a:srgbClr val="1F1F1F"/>
                          </a:solidFill>
                          <a:effectLst/>
                          <a:latin typeface="Google Sans Text"/>
                        </a:rPr>
                        <a:t>0.5°</a:t>
                      </a:r>
                      <a:r>
                        <a:rPr lang="zh-CN" altLang="en-US" sz="1300" dirty="0">
                          <a:solidFill>
                            <a:srgbClr val="1F1F1F"/>
                          </a:solidFill>
                          <a:effectLst/>
                          <a:latin typeface="Google Sans Text"/>
                        </a:rPr>
                        <a:t>，用户校准可到 </a:t>
                      </a:r>
                      <a:r>
                        <a:rPr lang="en-US" altLang="zh-CN" sz="1300" dirty="0">
                          <a:solidFill>
                            <a:srgbClr val="1F1F1F"/>
                          </a:solidFill>
                          <a:effectLst/>
                          <a:latin typeface="Google Sans Text"/>
                        </a:rPr>
                        <a:t>0.1°</a:t>
                      </a:r>
                    </a:p>
                  </a:txBody>
                  <a:tcPr marL="67407" marR="67407" marT="44938" marB="44938" anchor="ctr">
                    <a:lnL w="7620" cap="flat" cmpd="sng" algn="ctr">
                      <a:solidFill>
                        <a:srgbClr val="C4C7C5"/>
                      </a:solidFill>
                      <a:prstDash val="solid"/>
                      <a:round/>
                      <a:headEnd type="none" w="med" len="med"/>
                      <a:tailEnd type="none" w="med" len="med"/>
                    </a:lnL>
                    <a:lnR w="7620" cap="flat" cmpd="sng" algn="ctr">
                      <a:solidFill>
                        <a:srgbClr val="C4C7C5"/>
                      </a:solidFill>
                      <a:prstDash val="solid"/>
                      <a:round/>
                      <a:headEnd type="none" w="med" len="med"/>
                      <a:tailEnd type="none" w="med" len="med"/>
                    </a:lnR>
                    <a:lnT w="7620" cap="flat" cmpd="sng" algn="ctr">
                      <a:solidFill>
                        <a:srgbClr val="C4C7C5"/>
                      </a:solidFill>
                      <a:prstDash val="solid"/>
                      <a:round/>
                      <a:headEnd type="none" w="med" len="med"/>
                      <a:tailEnd type="none" w="med" len="med"/>
                    </a:lnT>
                    <a:lnB w="7620" cap="flat" cmpd="sng" algn="ctr">
                      <a:solidFill>
                        <a:srgbClr val="C4C7C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07496464"/>
                  </a:ext>
                </a:extLst>
              </a:tr>
            </a:tbl>
          </a:graphicData>
        </a:graphic>
      </p:graphicFrame>
      <p:pic>
        <p:nvPicPr>
          <p:cNvPr id="71" name="图片 70">
            <a:extLst>
              <a:ext uri="{FF2B5EF4-FFF2-40B4-BE49-F238E27FC236}">
                <a16:creationId xmlns:a16="http://schemas.microsoft.com/office/drawing/2014/main" id="{FD482C89-64FE-85FB-0FD9-1B5FC581FFFC}"/>
              </a:ext>
            </a:extLst>
          </p:cNvPr>
          <p:cNvPicPr>
            <a:picLocks noChangeAspect="1"/>
          </p:cNvPicPr>
          <p:nvPr/>
        </p:nvPicPr>
        <p:blipFill>
          <a:blip r:embed="rId8"/>
          <a:stretch>
            <a:fillRect/>
          </a:stretch>
        </p:blipFill>
        <p:spPr>
          <a:xfrm>
            <a:off x="525257" y="1015328"/>
            <a:ext cx="2557050" cy="2394932"/>
          </a:xfrm>
          <a:prstGeom prst="rect">
            <a:avLst/>
          </a:prstGeom>
        </p:spPr>
      </p:pic>
    </p:spTree>
    <p:extLst>
      <p:ext uri="{BB962C8B-B14F-4D97-AF65-F5344CB8AC3E}">
        <p14:creationId xmlns:p14="http://schemas.microsoft.com/office/powerpoint/2010/main" val="3595624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87518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Layout——板框与四层叠层</a:t>
              </a:r>
            </a:p>
          </p:txBody>
        </p:sp>
      </p:grpSp>
      <p:sp>
        <p:nvSpPr>
          <p:cNvPr id="6" name="Rectangle 6"/>
          <p:cNvSpPr/>
          <p:nvPr/>
        </p:nvSpPr>
        <p:spPr>
          <a:xfrm>
            <a:off x="457200" y="1009650"/>
            <a:ext cx="6324600" cy="2952750"/>
          </a:xfrm>
          <a:prstGeom prst="rect">
            <a:avLst/>
          </a:prstGeom>
          <a:solidFill>
            <a:srgbClr val="F2F2F2"/>
          </a:solidFill>
          <a:ln w="9525">
            <a:solidFill>
              <a:srgbClr val="AFC7DD"/>
            </a:solidFill>
          </a:ln>
        </p:spPr>
      </p:sp>
      <p:grpSp>
        <p:nvGrpSpPr>
          <p:cNvPr id="17" name="Group 17"/>
          <p:cNvGrpSpPr/>
          <p:nvPr/>
        </p:nvGrpSpPr>
        <p:grpSpPr>
          <a:xfrm>
            <a:off x="6972300" y="1009650"/>
            <a:ext cx="4762500" cy="2952750"/>
            <a:chOff x="6972300" y="1009650"/>
            <a:chExt cx="4762500" cy="2952750"/>
          </a:xfrm>
        </p:grpSpPr>
        <p:sp>
          <p:nvSpPr>
            <p:cNvPr id="9" name="Rectangle 9"/>
            <p:cNvSpPr/>
            <p:nvPr/>
          </p:nvSpPr>
          <p:spPr>
            <a:xfrm>
              <a:off x="6972300" y="1009650"/>
              <a:ext cx="4762500" cy="2952750"/>
            </a:xfrm>
            <a:prstGeom prst="rect">
              <a:avLst/>
            </a:prstGeom>
            <a:solidFill>
              <a:srgbClr val="F2F2F2"/>
            </a:solidFill>
            <a:ln w="9525">
              <a:solidFill>
                <a:srgbClr val="AFC7DD"/>
              </a:solidFill>
            </a:ln>
          </p:spPr>
        </p:sp>
        <p:sp>
          <p:nvSpPr>
            <p:cNvPr id="10" name="Rectangle 10"/>
            <p:cNvSpPr/>
            <p:nvPr/>
          </p:nvSpPr>
          <p:spPr>
            <a:xfrm>
              <a:off x="6972300" y="1009650"/>
              <a:ext cx="4762500" cy="400050"/>
            </a:xfrm>
            <a:prstGeom prst="rect">
              <a:avLst/>
            </a:prstGeom>
            <a:solidFill>
              <a:srgbClr val="0070C0"/>
            </a:solidFill>
            <a:ln>
              <a:noFill/>
            </a:ln>
          </p:spPr>
        </p:sp>
        <p:sp>
          <p:nvSpPr>
            <p:cNvPr id="11" name="TextBox 11"/>
            <p:cNvSpPr txBox="1"/>
            <p:nvPr/>
          </p:nvSpPr>
          <p:spPr>
            <a:xfrm>
              <a:off x="8561701" y="1115854"/>
              <a:ext cx="1583698"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板框与工艺参数</a:t>
              </a:r>
            </a:p>
          </p:txBody>
        </p:sp>
        <p:sp>
          <p:nvSpPr>
            <p:cNvPr id="12" name="TextBox 12"/>
            <p:cNvSpPr txBox="1"/>
            <p:nvPr/>
          </p:nvSpPr>
          <p:spPr>
            <a:xfrm>
              <a:off x="7257098" y="1639729"/>
              <a:ext cx="3316415"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外形尺寸：约 49.23 × 42.86 mm</a:t>
              </a:r>
            </a:p>
          </p:txBody>
        </p:sp>
        <p:sp>
          <p:nvSpPr>
            <p:cNvPr id="13" name="TextBox 13"/>
            <p:cNvSpPr txBox="1"/>
            <p:nvPr/>
          </p:nvSpPr>
          <p:spPr>
            <a:xfrm>
              <a:off x="7257098" y="2039779"/>
              <a:ext cx="1867233"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板层结构：4 层板</a:t>
              </a:r>
            </a:p>
          </p:txBody>
        </p:sp>
        <p:sp>
          <p:nvSpPr>
            <p:cNvPr id="14" name="TextBox 14"/>
            <p:cNvSpPr txBox="1"/>
            <p:nvPr/>
          </p:nvSpPr>
          <p:spPr>
            <a:xfrm>
              <a:off x="7257098" y="2439829"/>
              <a:ext cx="2266283"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成品板厚：约 1.6 mm</a:t>
              </a:r>
            </a:p>
          </p:txBody>
        </p:sp>
        <p:sp>
          <p:nvSpPr>
            <p:cNvPr id="15" name="TextBox 15"/>
            <p:cNvSpPr txBox="1"/>
            <p:nvPr/>
          </p:nvSpPr>
          <p:spPr>
            <a:xfrm>
              <a:off x="7257098" y="2839879"/>
              <a:ext cx="2371296"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铜厚配置：外层约 1 oz</a:t>
              </a:r>
            </a:p>
          </p:txBody>
        </p:sp>
        <p:sp>
          <p:nvSpPr>
            <p:cNvPr id="16" name="TextBox 16"/>
            <p:cNvSpPr txBox="1"/>
            <p:nvPr/>
          </p:nvSpPr>
          <p:spPr>
            <a:xfrm>
              <a:off x="7257098" y="3239929"/>
              <a:ext cx="3557945" cy="320040"/>
            </a:xfrm>
            <a:prstGeom prst="rect">
              <a:avLst/>
            </a:prstGeom>
            <a:noFill/>
            <a:ln>
              <a:noFill/>
            </a:ln>
          </p:spPr>
          <p:txBody>
            <a:bodyPr wrap="none" lIns="0" tIns="0" rIns="0" bIns="0" anchor="t" anchorCtr="0">
              <a:spAutoFit/>
            </a:bodyPr>
            <a:lstStyle/>
            <a:p>
              <a:pPr algn="l"/>
              <a:r>
                <a:rPr lang="zh-CN" sz="1575" dirty="0">
                  <a:solidFill>
                    <a:srgbClr val="1A1C1F"/>
                  </a:solidFill>
                  <a:latin typeface="Arial"/>
                  <a:ea typeface="Microsoft YaHei"/>
                  <a:cs typeface="Arial"/>
                </a:rPr>
                <a:t>● 布局规模：116 个器件，311 个过孔</a:t>
              </a:r>
            </a:p>
          </p:txBody>
        </p:sp>
      </p:grpSp>
      <p:grpSp>
        <p:nvGrpSpPr>
          <p:cNvPr id="31" name="Group 31"/>
          <p:cNvGrpSpPr/>
          <p:nvPr/>
        </p:nvGrpSpPr>
        <p:grpSpPr>
          <a:xfrm>
            <a:off x="431482" y="4143851"/>
            <a:ext cx="11303318" cy="2142649"/>
            <a:chOff x="431482" y="4143851"/>
            <a:chExt cx="11303318" cy="2142649"/>
          </a:xfrm>
        </p:grpSpPr>
        <p:sp>
          <p:nvSpPr>
            <p:cNvPr id="18" name="TextBox 18"/>
            <p:cNvSpPr txBox="1"/>
            <p:nvPr/>
          </p:nvSpPr>
          <p:spPr>
            <a:xfrm>
              <a:off x="431482" y="4143851"/>
              <a:ext cx="1752648" cy="411480"/>
            </a:xfrm>
            <a:prstGeom prst="rect">
              <a:avLst/>
            </a:prstGeom>
            <a:noFill/>
            <a:ln>
              <a:noFill/>
            </a:ln>
          </p:spPr>
          <p:txBody>
            <a:bodyPr wrap="none" lIns="0" tIns="0" rIns="0" bIns="0" anchor="t" anchorCtr="0">
              <a:spAutoFit/>
            </a:bodyPr>
            <a:lstStyle/>
            <a:p>
              <a:pPr algn="l"/>
              <a:r>
                <a:rPr lang="zh-CN" sz="2025" b="1" dirty="0">
                  <a:solidFill>
                    <a:srgbClr val="005A9C"/>
                  </a:solidFill>
                  <a:latin typeface="Arial"/>
                  <a:ea typeface="Microsoft YaHei"/>
                  <a:cs typeface="Arial"/>
                </a:rPr>
                <a:t>四层叠层职责</a:t>
              </a:r>
            </a:p>
          </p:txBody>
        </p:sp>
        <p:sp>
          <p:nvSpPr>
            <p:cNvPr id="19" name="Rectangle 19"/>
            <p:cNvSpPr/>
            <p:nvPr/>
          </p:nvSpPr>
          <p:spPr>
            <a:xfrm>
              <a:off x="457200" y="4552950"/>
              <a:ext cx="11277600" cy="457200"/>
            </a:xfrm>
            <a:prstGeom prst="rect">
              <a:avLst/>
            </a:prstGeom>
            <a:solidFill>
              <a:srgbClr val="0070C0"/>
            </a:solidFill>
            <a:ln>
              <a:noFill/>
            </a:ln>
          </p:spPr>
        </p:sp>
        <p:sp>
          <p:nvSpPr>
            <p:cNvPr id="20" name="TextBox 20"/>
            <p:cNvSpPr txBox="1"/>
            <p:nvPr/>
          </p:nvSpPr>
          <p:spPr>
            <a:xfrm>
              <a:off x="684848" y="4687729"/>
              <a:ext cx="900062" cy="320040"/>
            </a:xfrm>
            <a:prstGeom prst="rect">
              <a:avLst/>
            </a:prstGeom>
            <a:noFill/>
            <a:ln>
              <a:noFill/>
            </a:ln>
          </p:spPr>
          <p:txBody>
            <a:bodyPr wrap="none" lIns="0" tIns="0" rIns="0" bIns="0" anchor="t" anchorCtr="0">
              <a:spAutoFit/>
            </a:bodyPr>
            <a:lstStyle/>
            <a:p>
              <a:pPr algn="l"/>
              <a:r>
                <a:rPr lang="zh-CN" sz="1575" b="1" dirty="0">
                  <a:solidFill>
                    <a:srgbClr val="FFFFFF"/>
                  </a:solidFill>
                  <a:latin typeface="Arial"/>
                  <a:ea typeface="Microsoft YaHei"/>
                  <a:cs typeface="Arial"/>
                </a:rPr>
                <a:t>L1 · Top</a:t>
              </a:r>
            </a:p>
          </p:txBody>
        </p:sp>
        <p:sp>
          <p:nvSpPr>
            <p:cNvPr id="21" name="TextBox 21"/>
            <p:cNvSpPr txBox="1"/>
            <p:nvPr/>
          </p:nvSpPr>
          <p:spPr>
            <a:xfrm>
              <a:off x="2362200" y="4695825"/>
              <a:ext cx="3838575"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器件布局、功率铜皮、栅极驱动与关键信号</a:t>
              </a:r>
            </a:p>
          </p:txBody>
        </p:sp>
        <p:sp>
          <p:nvSpPr>
            <p:cNvPr id="22" name="Rectangle 22"/>
            <p:cNvSpPr/>
            <p:nvPr/>
          </p:nvSpPr>
          <p:spPr>
            <a:xfrm>
              <a:off x="457200" y="5048250"/>
              <a:ext cx="11277600" cy="381000"/>
            </a:xfrm>
            <a:prstGeom prst="rect">
              <a:avLst/>
            </a:prstGeom>
            <a:solidFill>
              <a:srgbClr val="EDF8F4"/>
            </a:solidFill>
            <a:ln w="9525">
              <a:solidFill>
                <a:srgbClr val="AFC7DD"/>
              </a:solidFill>
            </a:ln>
          </p:spPr>
        </p:sp>
        <p:sp>
          <p:nvSpPr>
            <p:cNvPr id="23" name="TextBox 23"/>
            <p:cNvSpPr txBox="1"/>
            <p:nvPr/>
          </p:nvSpPr>
          <p:spPr>
            <a:xfrm>
              <a:off x="685800" y="5143500"/>
              <a:ext cx="857202" cy="304800"/>
            </a:xfrm>
            <a:prstGeom prst="rect">
              <a:avLst/>
            </a:prstGeom>
            <a:noFill/>
            <a:ln>
              <a:noFill/>
            </a:ln>
          </p:spPr>
          <p:txBody>
            <a:bodyPr wrap="none" lIns="0" tIns="0" rIns="0" bIns="0" anchor="t" anchorCtr="0">
              <a:spAutoFit/>
            </a:bodyPr>
            <a:lstStyle/>
            <a:p>
              <a:pPr algn="l"/>
              <a:r>
                <a:rPr lang="zh-CN" sz="1500" b="1" dirty="0">
                  <a:solidFill>
                    <a:srgbClr val="005A9C"/>
                  </a:solidFill>
                  <a:latin typeface="Arial"/>
                  <a:ea typeface="Microsoft YaHei"/>
                  <a:cs typeface="Arial"/>
                </a:rPr>
                <a:t>L2 · GND</a:t>
              </a:r>
            </a:p>
          </p:txBody>
        </p:sp>
        <p:sp>
          <p:nvSpPr>
            <p:cNvPr id="24" name="TextBox 24"/>
            <p:cNvSpPr txBox="1"/>
            <p:nvPr/>
          </p:nvSpPr>
          <p:spPr>
            <a:xfrm>
              <a:off x="2363152" y="5151596"/>
              <a:ext cx="5166836"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连续参考地平面，为采样、驱动和控制信号提供低阻回流路径</a:t>
              </a:r>
            </a:p>
          </p:txBody>
        </p:sp>
        <p:sp>
          <p:nvSpPr>
            <p:cNvPr id="25" name="Rectangle 25"/>
            <p:cNvSpPr/>
            <p:nvPr/>
          </p:nvSpPr>
          <p:spPr>
            <a:xfrm>
              <a:off x="457200" y="5467350"/>
              <a:ext cx="11277600" cy="381000"/>
            </a:xfrm>
            <a:prstGeom prst="rect">
              <a:avLst/>
            </a:prstGeom>
            <a:solidFill>
              <a:srgbClr val="FFF2F2"/>
            </a:solidFill>
            <a:ln w="9525">
              <a:solidFill>
                <a:srgbClr val="AFC7DD"/>
              </a:solidFill>
            </a:ln>
          </p:spPr>
        </p:sp>
        <p:sp>
          <p:nvSpPr>
            <p:cNvPr id="26" name="TextBox 26"/>
            <p:cNvSpPr txBox="1"/>
            <p:nvPr/>
          </p:nvSpPr>
          <p:spPr>
            <a:xfrm>
              <a:off x="685800" y="5562600"/>
              <a:ext cx="1130236" cy="304800"/>
            </a:xfrm>
            <a:prstGeom prst="rect">
              <a:avLst/>
            </a:prstGeom>
            <a:noFill/>
            <a:ln>
              <a:noFill/>
            </a:ln>
          </p:spPr>
          <p:txBody>
            <a:bodyPr wrap="none" lIns="0" tIns="0" rIns="0" bIns="0" anchor="t" anchorCtr="0">
              <a:spAutoFit/>
            </a:bodyPr>
            <a:lstStyle/>
            <a:p>
              <a:pPr algn="l"/>
              <a:r>
                <a:rPr lang="zh-CN" sz="1500" b="1" dirty="0">
                  <a:solidFill>
                    <a:srgbClr val="C00000"/>
                  </a:solidFill>
                  <a:latin typeface="Arial"/>
                  <a:ea typeface="Microsoft YaHei"/>
                  <a:cs typeface="Arial"/>
                </a:rPr>
                <a:t>L3 · Power</a:t>
              </a:r>
            </a:p>
          </p:txBody>
        </p:sp>
        <p:sp>
          <p:nvSpPr>
            <p:cNvPr id="27" name="TextBox 27"/>
            <p:cNvSpPr txBox="1"/>
            <p:nvPr/>
          </p:nvSpPr>
          <p:spPr>
            <a:xfrm>
              <a:off x="2363152" y="5570696"/>
              <a:ext cx="4026694"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电源分配与局部铜面，降低供电阻抗并辅助散热</a:t>
              </a:r>
            </a:p>
          </p:txBody>
        </p:sp>
        <p:sp>
          <p:nvSpPr>
            <p:cNvPr id="28" name="Rectangle 28"/>
            <p:cNvSpPr/>
            <p:nvPr/>
          </p:nvSpPr>
          <p:spPr>
            <a:xfrm>
              <a:off x="457200" y="5886450"/>
              <a:ext cx="11277600" cy="381000"/>
            </a:xfrm>
            <a:prstGeom prst="rect">
              <a:avLst/>
            </a:prstGeom>
            <a:solidFill>
              <a:srgbClr val="F2F2F2"/>
            </a:solidFill>
            <a:ln w="9525">
              <a:solidFill>
                <a:srgbClr val="AFC7DD"/>
              </a:solidFill>
            </a:ln>
          </p:spPr>
        </p:sp>
        <p:sp>
          <p:nvSpPr>
            <p:cNvPr id="29" name="TextBox 29"/>
            <p:cNvSpPr txBox="1"/>
            <p:nvPr/>
          </p:nvSpPr>
          <p:spPr>
            <a:xfrm>
              <a:off x="685800" y="5981700"/>
              <a:ext cx="1245751" cy="304800"/>
            </a:xfrm>
            <a:prstGeom prst="rect">
              <a:avLst/>
            </a:prstGeom>
            <a:noFill/>
            <a:ln>
              <a:noFill/>
            </a:ln>
          </p:spPr>
          <p:txBody>
            <a:bodyPr wrap="none" lIns="0" tIns="0" rIns="0" bIns="0" anchor="t" anchorCtr="0">
              <a:spAutoFit/>
            </a:bodyPr>
            <a:lstStyle/>
            <a:p>
              <a:pPr algn="l"/>
              <a:r>
                <a:rPr lang="zh-CN" sz="1500" b="1" dirty="0">
                  <a:solidFill>
                    <a:srgbClr val="005A9C"/>
                  </a:solidFill>
                  <a:latin typeface="Arial"/>
                  <a:ea typeface="Microsoft YaHei"/>
                  <a:cs typeface="Arial"/>
                </a:rPr>
                <a:t>L4 · Bottom</a:t>
              </a:r>
            </a:p>
          </p:txBody>
        </p:sp>
        <p:sp>
          <p:nvSpPr>
            <p:cNvPr id="30" name="TextBox 30"/>
            <p:cNvSpPr txBox="1"/>
            <p:nvPr/>
          </p:nvSpPr>
          <p:spPr>
            <a:xfrm>
              <a:off x="2363152" y="5989796"/>
              <a:ext cx="4568261"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MCU、驱动与低速控制信号，配合过孔完成上下层互连</a:t>
              </a:r>
            </a:p>
          </p:txBody>
        </p:sp>
      </p:grpSp>
      <p:grpSp>
        <p:nvGrpSpPr>
          <p:cNvPr id="34" name="Group 34"/>
          <p:cNvGrpSpPr/>
          <p:nvPr/>
        </p:nvGrpSpPr>
        <p:grpSpPr>
          <a:xfrm>
            <a:off x="444818" y="6514624"/>
            <a:ext cx="11302365" cy="198120"/>
            <a:chOff x="444818" y="6514624"/>
            <a:chExt cx="11302365" cy="198120"/>
          </a:xfrm>
        </p:grpSpPr>
        <p:sp>
          <p:nvSpPr>
            <p:cNvPr id="32" name="TextBox 32"/>
            <p:cNvSpPr txBox="1"/>
            <p:nvPr/>
          </p:nvSpPr>
          <p:spPr>
            <a:xfrm>
              <a:off x="444818" y="6514624"/>
              <a:ext cx="4055269"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紧凑板框下，通过完整地平面和独立电源层控制回流路径与供电阻抗。</a:t>
              </a:r>
            </a:p>
          </p:txBody>
        </p:sp>
        <p:sp>
          <p:nvSpPr>
            <p:cNvPr id="33" name="TextBox 33"/>
            <p:cNvSpPr txBox="1"/>
            <p:nvPr/>
          </p:nvSpPr>
          <p:spPr>
            <a:xfrm>
              <a:off x="11579400" y="6514624"/>
              <a:ext cx="167783" cy="198120"/>
            </a:xfrm>
            <a:prstGeom prst="rect">
              <a:avLst/>
            </a:prstGeom>
            <a:noFill/>
            <a:ln>
              <a:noFill/>
            </a:ln>
          </p:spPr>
          <p:txBody>
            <a:bodyPr wrap="none" lIns="0" tIns="0" rIns="0" bIns="0" anchor="t" anchorCtr="0">
              <a:spAutoFit/>
            </a:bodyPr>
            <a:lstStyle/>
            <a:p>
              <a:pPr algn="r"/>
              <a:r>
                <a:rPr lang="zh-CN" sz="975" dirty="0">
                  <a:solidFill>
                    <a:srgbClr val="5B6573"/>
                  </a:solidFill>
                  <a:latin typeface="Arial"/>
                  <a:ea typeface="Microsoft YaHei"/>
                  <a:cs typeface="Arial"/>
                </a:rPr>
                <a:t>02</a:t>
              </a:r>
            </a:p>
          </p:txBody>
        </p:sp>
      </p:grpSp>
      <p:grpSp>
        <p:nvGrpSpPr>
          <p:cNvPr id="35" name="Group 21">
            <a:extLst>
              <a:ext uri="{FF2B5EF4-FFF2-40B4-BE49-F238E27FC236}">
                <a16:creationId xmlns:a16="http://schemas.microsoft.com/office/drawing/2014/main" id="{C9A34308-0DA0-3615-1992-4B541E5D6806}"/>
              </a:ext>
            </a:extLst>
          </p:cNvPr>
          <p:cNvGrpSpPr/>
          <p:nvPr/>
        </p:nvGrpSpPr>
        <p:grpSpPr>
          <a:xfrm>
            <a:off x="457200" y="1021556"/>
            <a:ext cx="6324600" cy="2952750"/>
            <a:chOff x="457200" y="1009650"/>
            <a:chExt cx="6324600" cy="2952750"/>
          </a:xfrm>
        </p:grpSpPr>
        <p:sp>
          <p:nvSpPr>
            <p:cNvPr id="36" name="Rectangle 6">
              <a:extLst>
                <a:ext uri="{FF2B5EF4-FFF2-40B4-BE49-F238E27FC236}">
                  <a16:creationId xmlns:a16="http://schemas.microsoft.com/office/drawing/2014/main" id="{2E04427E-9FA5-B6A7-28E1-0CDAC98B781B}"/>
                </a:ext>
              </a:extLst>
            </p:cNvPr>
            <p:cNvSpPr/>
            <p:nvPr/>
          </p:nvSpPr>
          <p:spPr>
            <a:xfrm>
              <a:off x="457200" y="1009650"/>
              <a:ext cx="6324600" cy="2952750"/>
            </a:xfrm>
            <a:prstGeom prst="rect">
              <a:avLst/>
            </a:prstGeom>
            <a:solidFill>
              <a:srgbClr val="F2F2F2"/>
            </a:solidFill>
            <a:ln w="9525">
              <a:solidFill>
                <a:srgbClr val="AFC7DD"/>
              </a:solidFill>
            </a:ln>
          </p:spPr>
        </p:sp>
        <p:pic>
          <p:nvPicPr>
            <p:cNvPr id="37" name="Image 7">
              <a:extLst>
                <a:ext uri="{FF2B5EF4-FFF2-40B4-BE49-F238E27FC236}">
                  <a16:creationId xmlns:a16="http://schemas.microsoft.com/office/drawing/2014/main" id="{D19AA215-A497-8E0F-BEF5-35EAF7117B39}"/>
                </a:ext>
              </a:extLst>
            </p:cNvPr>
            <p:cNvPicPr>
              <a:picLocks noChangeAspect="1"/>
            </p:cNvPicPr>
            <p:nvPr/>
          </p:nvPicPr>
          <p:blipFill>
            <a:blip r:embed="rId3"/>
            <a:stretch>
              <a:fillRect/>
            </a:stretch>
          </p:blipFill>
          <p:spPr>
            <a:xfrm>
              <a:off x="856298" y="1085850"/>
              <a:ext cx="3640455" cy="2800350"/>
            </a:xfrm>
            <a:prstGeom prst="rect">
              <a:avLst/>
            </a:prstGeom>
          </p:spPr>
        </p:pic>
        <p:sp>
          <p:nvSpPr>
            <p:cNvPr id="38" name="Rectangle 8">
              <a:extLst>
                <a:ext uri="{FF2B5EF4-FFF2-40B4-BE49-F238E27FC236}">
                  <a16:creationId xmlns:a16="http://schemas.microsoft.com/office/drawing/2014/main" id="{81BA81B5-4FFA-2CF9-912D-63C0A59349D3}"/>
                </a:ext>
              </a:extLst>
            </p:cNvPr>
            <p:cNvSpPr/>
            <p:nvPr/>
          </p:nvSpPr>
          <p:spPr>
            <a:xfrm>
              <a:off x="4781550" y="1200150"/>
              <a:ext cx="1790700" cy="514350"/>
            </a:xfrm>
            <a:prstGeom prst="rect">
              <a:avLst/>
            </a:prstGeom>
            <a:solidFill>
              <a:srgbClr val="0070C0"/>
            </a:solidFill>
            <a:ln>
              <a:noFill/>
            </a:ln>
          </p:spPr>
        </p:sp>
        <p:sp>
          <p:nvSpPr>
            <p:cNvPr id="39" name="TextBox 9">
              <a:extLst>
                <a:ext uri="{FF2B5EF4-FFF2-40B4-BE49-F238E27FC236}">
                  <a16:creationId xmlns:a16="http://schemas.microsoft.com/office/drawing/2014/main" id="{F00E179D-F1B4-BCAB-1CF6-037D4CD54B74}"/>
                </a:ext>
              </a:extLst>
            </p:cNvPr>
            <p:cNvSpPr txBox="1"/>
            <p:nvPr/>
          </p:nvSpPr>
          <p:spPr>
            <a:xfrm>
              <a:off x="4936808" y="1291114"/>
              <a:ext cx="728622"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L1 · Top</a:t>
              </a:r>
            </a:p>
          </p:txBody>
        </p:sp>
        <p:sp>
          <p:nvSpPr>
            <p:cNvPr id="40" name="TextBox 10">
              <a:extLst>
                <a:ext uri="{FF2B5EF4-FFF2-40B4-BE49-F238E27FC236}">
                  <a16:creationId xmlns:a16="http://schemas.microsoft.com/office/drawing/2014/main" id="{2A2410D6-5ECC-BA3F-4B69-EE72AEA072A4}"/>
                </a:ext>
              </a:extLst>
            </p:cNvPr>
            <p:cNvSpPr txBox="1"/>
            <p:nvPr/>
          </p:nvSpPr>
          <p:spPr>
            <a:xfrm>
              <a:off x="4939665" y="1515428"/>
              <a:ext cx="1286828" cy="213360"/>
            </a:xfrm>
            <a:prstGeom prst="rect">
              <a:avLst/>
            </a:prstGeom>
            <a:noFill/>
            <a:ln>
              <a:noFill/>
            </a:ln>
          </p:spPr>
          <p:txBody>
            <a:bodyPr wrap="none" lIns="0" tIns="0" rIns="0" bIns="0" anchor="t" anchorCtr="0">
              <a:spAutoFit/>
            </a:bodyPr>
            <a:lstStyle/>
            <a:p>
              <a:pPr algn="l"/>
              <a:r>
                <a:rPr lang="zh-CN" sz="1050" dirty="0">
                  <a:solidFill>
                    <a:srgbClr val="FFFFFF"/>
                  </a:solidFill>
                  <a:latin typeface="Arial"/>
                  <a:ea typeface="Microsoft YaHei"/>
                  <a:cs typeface="Arial"/>
                </a:rPr>
                <a:t>真实顶层铜皮与走线</a:t>
              </a:r>
            </a:p>
          </p:txBody>
        </p:sp>
        <p:sp>
          <p:nvSpPr>
            <p:cNvPr id="41" name="Rectangle 11">
              <a:extLst>
                <a:ext uri="{FF2B5EF4-FFF2-40B4-BE49-F238E27FC236}">
                  <a16:creationId xmlns:a16="http://schemas.microsoft.com/office/drawing/2014/main" id="{896BE9EA-3580-F237-D85E-113A82BAC20D}"/>
                </a:ext>
              </a:extLst>
            </p:cNvPr>
            <p:cNvSpPr/>
            <p:nvPr/>
          </p:nvSpPr>
          <p:spPr>
            <a:xfrm>
              <a:off x="4781550" y="1847850"/>
              <a:ext cx="1790700" cy="514350"/>
            </a:xfrm>
            <a:prstGeom prst="rect">
              <a:avLst/>
            </a:prstGeom>
            <a:solidFill>
              <a:srgbClr val="EDF8F4"/>
            </a:solidFill>
            <a:ln w="9525">
              <a:solidFill>
                <a:srgbClr val="00A36C"/>
              </a:solidFill>
            </a:ln>
          </p:spPr>
        </p:sp>
        <p:sp>
          <p:nvSpPr>
            <p:cNvPr id="42" name="TextBox 12">
              <a:extLst>
                <a:ext uri="{FF2B5EF4-FFF2-40B4-BE49-F238E27FC236}">
                  <a16:creationId xmlns:a16="http://schemas.microsoft.com/office/drawing/2014/main" id="{9977AD20-EE85-CC3D-FD9D-4B8FB8689ADA}"/>
                </a:ext>
              </a:extLst>
            </p:cNvPr>
            <p:cNvSpPr txBox="1"/>
            <p:nvPr/>
          </p:nvSpPr>
          <p:spPr>
            <a:xfrm>
              <a:off x="4936808" y="1938814"/>
              <a:ext cx="728622" cy="259080"/>
            </a:xfrm>
            <a:prstGeom prst="rect">
              <a:avLst/>
            </a:prstGeom>
            <a:noFill/>
            <a:ln>
              <a:noFill/>
            </a:ln>
          </p:spPr>
          <p:txBody>
            <a:bodyPr wrap="none" lIns="0" tIns="0" rIns="0" bIns="0" anchor="t" anchorCtr="0">
              <a:spAutoFit/>
            </a:bodyPr>
            <a:lstStyle/>
            <a:p>
              <a:pPr algn="l"/>
              <a:r>
                <a:rPr lang="zh-CN" sz="1275" b="1" dirty="0">
                  <a:solidFill>
                    <a:srgbClr val="005A9C"/>
                  </a:solidFill>
                  <a:latin typeface="Arial"/>
                  <a:ea typeface="Microsoft YaHei"/>
                  <a:cs typeface="Arial"/>
                </a:rPr>
                <a:t>L2 · GND</a:t>
              </a:r>
            </a:p>
          </p:txBody>
        </p:sp>
        <p:sp>
          <p:nvSpPr>
            <p:cNvPr id="43" name="TextBox 13">
              <a:extLst>
                <a:ext uri="{FF2B5EF4-FFF2-40B4-BE49-F238E27FC236}">
                  <a16:creationId xmlns:a16="http://schemas.microsoft.com/office/drawing/2014/main" id="{EC1F2676-AB93-3513-F4EF-237AA08B7176}"/>
                </a:ext>
              </a:extLst>
            </p:cNvPr>
            <p:cNvSpPr txBox="1"/>
            <p:nvPr/>
          </p:nvSpPr>
          <p:spPr>
            <a:xfrm>
              <a:off x="4939665" y="2163128"/>
              <a:ext cx="1146810"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连续地平面与过孔</a:t>
              </a:r>
            </a:p>
          </p:txBody>
        </p:sp>
        <p:sp>
          <p:nvSpPr>
            <p:cNvPr id="44" name="Rectangle 14">
              <a:extLst>
                <a:ext uri="{FF2B5EF4-FFF2-40B4-BE49-F238E27FC236}">
                  <a16:creationId xmlns:a16="http://schemas.microsoft.com/office/drawing/2014/main" id="{45CE92B8-1A8C-DB9D-0900-B59CBF815833}"/>
                </a:ext>
              </a:extLst>
            </p:cNvPr>
            <p:cNvSpPr/>
            <p:nvPr/>
          </p:nvSpPr>
          <p:spPr>
            <a:xfrm>
              <a:off x="4781550" y="2495550"/>
              <a:ext cx="1790700" cy="514350"/>
            </a:xfrm>
            <a:prstGeom prst="rect">
              <a:avLst/>
            </a:prstGeom>
            <a:solidFill>
              <a:srgbClr val="FFF2F2"/>
            </a:solidFill>
            <a:ln w="9525">
              <a:solidFill>
                <a:srgbClr val="C00000"/>
              </a:solidFill>
            </a:ln>
          </p:spPr>
        </p:sp>
        <p:sp>
          <p:nvSpPr>
            <p:cNvPr id="45" name="TextBox 15">
              <a:extLst>
                <a:ext uri="{FF2B5EF4-FFF2-40B4-BE49-F238E27FC236}">
                  <a16:creationId xmlns:a16="http://schemas.microsoft.com/office/drawing/2014/main" id="{0AA816D0-D0F3-3C3B-DFBD-30D240868C45}"/>
                </a:ext>
              </a:extLst>
            </p:cNvPr>
            <p:cNvSpPr txBox="1"/>
            <p:nvPr/>
          </p:nvSpPr>
          <p:spPr>
            <a:xfrm>
              <a:off x="4936808" y="2586514"/>
              <a:ext cx="960701" cy="259080"/>
            </a:xfrm>
            <a:prstGeom prst="rect">
              <a:avLst/>
            </a:prstGeom>
            <a:noFill/>
            <a:ln>
              <a:noFill/>
            </a:ln>
          </p:spPr>
          <p:txBody>
            <a:bodyPr wrap="none" lIns="0" tIns="0" rIns="0" bIns="0" anchor="t" anchorCtr="0">
              <a:spAutoFit/>
            </a:bodyPr>
            <a:lstStyle/>
            <a:p>
              <a:pPr algn="l"/>
              <a:r>
                <a:rPr lang="zh-CN" sz="1275" b="1" dirty="0">
                  <a:solidFill>
                    <a:srgbClr val="C00000"/>
                  </a:solidFill>
                  <a:latin typeface="Arial"/>
                  <a:ea typeface="Microsoft YaHei"/>
                  <a:cs typeface="Arial"/>
                </a:rPr>
                <a:t>L3 · Power</a:t>
              </a:r>
            </a:p>
          </p:txBody>
        </p:sp>
        <p:sp>
          <p:nvSpPr>
            <p:cNvPr id="46" name="TextBox 16">
              <a:extLst>
                <a:ext uri="{FF2B5EF4-FFF2-40B4-BE49-F238E27FC236}">
                  <a16:creationId xmlns:a16="http://schemas.microsoft.com/office/drawing/2014/main" id="{6176AD29-CEF2-D956-865D-3D1C11BFECB1}"/>
                </a:ext>
              </a:extLst>
            </p:cNvPr>
            <p:cNvSpPr txBox="1"/>
            <p:nvPr/>
          </p:nvSpPr>
          <p:spPr>
            <a:xfrm>
              <a:off x="4939665" y="2810828"/>
              <a:ext cx="1286828"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实际电源铺铜与分区</a:t>
              </a:r>
            </a:p>
          </p:txBody>
        </p:sp>
        <p:sp>
          <p:nvSpPr>
            <p:cNvPr id="47" name="Rectangle 17">
              <a:extLst>
                <a:ext uri="{FF2B5EF4-FFF2-40B4-BE49-F238E27FC236}">
                  <a16:creationId xmlns:a16="http://schemas.microsoft.com/office/drawing/2014/main" id="{C4CC897F-361F-A4EE-E27D-06D2E1351EBD}"/>
                </a:ext>
              </a:extLst>
            </p:cNvPr>
            <p:cNvSpPr/>
            <p:nvPr/>
          </p:nvSpPr>
          <p:spPr>
            <a:xfrm>
              <a:off x="4781550" y="3143250"/>
              <a:ext cx="1790700" cy="514350"/>
            </a:xfrm>
            <a:prstGeom prst="rect">
              <a:avLst/>
            </a:prstGeom>
            <a:solidFill>
              <a:srgbClr val="FFFFFF"/>
            </a:solidFill>
            <a:ln w="9525">
              <a:solidFill>
                <a:srgbClr val="AFC7DD"/>
              </a:solidFill>
            </a:ln>
          </p:spPr>
        </p:sp>
        <p:sp>
          <p:nvSpPr>
            <p:cNvPr id="48" name="TextBox 18">
              <a:extLst>
                <a:ext uri="{FF2B5EF4-FFF2-40B4-BE49-F238E27FC236}">
                  <a16:creationId xmlns:a16="http://schemas.microsoft.com/office/drawing/2014/main" id="{47FE6D71-D5B0-E09B-8DD6-82FC7DC641BB}"/>
                </a:ext>
              </a:extLst>
            </p:cNvPr>
            <p:cNvSpPr txBox="1"/>
            <p:nvPr/>
          </p:nvSpPr>
          <p:spPr>
            <a:xfrm>
              <a:off x="4936808" y="3234214"/>
              <a:ext cx="1058888" cy="259080"/>
            </a:xfrm>
            <a:prstGeom prst="rect">
              <a:avLst/>
            </a:prstGeom>
            <a:noFill/>
            <a:ln>
              <a:noFill/>
            </a:ln>
          </p:spPr>
          <p:txBody>
            <a:bodyPr wrap="none" lIns="0" tIns="0" rIns="0" bIns="0" anchor="t" anchorCtr="0">
              <a:spAutoFit/>
            </a:bodyPr>
            <a:lstStyle/>
            <a:p>
              <a:pPr algn="l"/>
              <a:r>
                <a:rPr lang="zh-CN" sz="1275" b="1" dirty="0">
                  <a:solidFill>
                    <a:srgbClr val="005A9C"/>
                  </a:solidFill>
                  <a:latin typeface="Arial"/>
                  <a:ea typeface="Microsoft YaHei"/>
                  <a:cs typeface="Arial"/>
                </a:rPr>
                <a:t>L4 · Bottom</a:t>
              </a:r>
            </a:p>
          </p:txBody>
        </p:sp>
        <p:sp>
          <p:nvSpPr>
            <p:cNvPr id="49" name="TextBox 19">
              <a:extLst>
                <a:ext uri="{FF2B5EF4-FFF2-40B4-BE49-F238E27FC236}">
                  <a16:creationId xmlns:a16="http://schemas.microsoft.com/office/drawing/2014/main" id="{4850BB8F-5443-3B89-2FE9-65B2F8E75306}"/>
                </a:ext>
              </a:extLst>
            </p:cNvPr>
            <p:cNvSpPr txBox="1"/>
            <p:nvPr/>
          </p:nvSpPr>
          <p:spPr>
            <a:xfrm>
              <a:off x="4939665" y="3458528"/>
              <a:ext cx="1286828" cy="213360"/>
            </a:xfrm>
            <a:prstGeom prst="rect">
              <a:avLst/>
            </a:prstGeom>
            <a:noFill/>
            <a:ln>
              <a:noFill/>
            </a:ln>
          </p:spPr>
          <p:txBody>
            <a:bodyPr wrap="none" lIns="0" tIns="0" rIns="0" bIns="0" anchor="t" anchorCtr="0">
              <a:spAutoFit/>
            </a:bodyPr>
            <a:lstStyle/>
            <a:p>
              <a:pPr algn="l"/>
              <a:r>
                <a:rPr lang="zh-CN" sz="1050" dirty="0">
                  <a:solidFill>
                    <a:srgbClr val="1A1C1F"/>
                  </a:solidFill>
                  <a:latin typeface="Arial"/>
                  <a:ea typeface="Microsoft YaHei"/>
                  <a:cs typeface="Arial"/>
                </a:rPr>
                <a:t>真实底层布线与铜面</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400"/>
                                        <p:tgtEl>
                                          <p:spTgt spid="17"/>
                                        </p:tgtEl>
                                      </p:cBhvr>
                                    </p:animEffect>
                                  </p:childTnLst>
                                </p:cTn>
                              </p:par>
                            </p:childTnLst>
                          </p:cTn>
                        </p:par>
                        <p:par>
                          <p:cTn id="8" fill="hold">
                            <p:stCondLst>
                              <p:cond delay="400"/>
                            </p:stCondLst>
                            <p:childTnLst>
                              <p:par>
                                <p:cTn id="9" presetID="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slide(fromBottom)">
                                      <p:cBhvr>
                                        <p:cTn id="11" dur="400"/>
                                        <p:tgtEl>
                                          <p:spTgt spid="31"/>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1" grpId="0"/>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379504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Layout——功能分区</a:t>
              </a:r>
            </a:p>
          </p:txBody>
        </p:sp>
      </p:grpSp>
      <p:grpSp>
        <p:nvGrpSpPr>
          <p:cNvPr id="18" name="Group 18"/>
          <p:cNvGrpSpPr/>
          <p:nvPr/>
        </p:nvGrpSpPr>
        <p:grpSpPr>
          <a:xfrm>
            <a:off x="457200" y="1009650"/>
            <a:ext cx="6724650" cy="5143500"/>
            <a:chOff x="457200" y="1009650"/>
            <a:chExt cx="6724650" cy="5143500"/>
          </a:xfrm>
        </p:grpSpPr>
        <p:sp>
          <p:nvSpPr>
            <p:cNvPr id="6" name="Rectangle 6"/>
            <p:cNvSpPr/>
            <p:nvPr/>
          </p:nvSpPr>
          <p:spPr>
            <a:xfrm>
              <a:off x="457200" y="1009650"/>
              <a:ext cx="6724650" cy="5143500"/>
            </a:xfrm>
            <a:prstGeom prst="rect">
              <a:avLst/>
            </a:prstGeom>
            <a:solidFill>
              <a:srgbClr val="F2F2F2"/>
            </a:solidFill>
            <a:ln w="9525">
              <a:solidFill>
                <a:srgbClr val="AFC7DD"/>
              </a:solidFill>
            </a:ln>
          </p:spPr>
        </p:sp>
        <p:pic>
          <p:nvPicPr>
            <p:cNvPr id="7" name="Image 7"/>
            <p:cNvPicPr>
              <a:picLocks noChangeAspect="1"/>
            </p:cNvPicPr>
            <p:nvPr/>
          </p:nvPicPr>
          <p:blipFill>
            <a:blip r:embed="rId3"/>
            <a:stretch>
              <a:fillRect/>
            </a:stretch>
          </p:blipFill>
          <p:spPr>
            <a:xfrm>
              <a:off x="590550" y="1294209"/>
              <a:ext cx="6457950" cy="4574381"/>
            </a:xfrm>
            <a:prstGeom prst="rect">
              <a:avLst/>
            </a:prstGeom>
          </p:spPr>
        </p:pic>
        <p:sp>
          <p:nvSpPr>
            <p:cNvPr id="8" name="Ellipse 8"/>
            <p:cNvSpPr/>
            <p:nvPr/>
          </p:nvSpPr>
          <p:spPr>
            <a:xfrm>
              <a:off x="3248025" y="3295650"/>
              <a:ext cx="361950" cy="361950"/>
            </a:xfrm>
            <a:prstGeom prst="ellipse">
              <a:avLst/>
            </a:prstGeom>
            <a:solidFill>
              <a:srgbClr val="0070C0"/>
            </a:solidFill>
            <a:ln>
              <a:noFill/>
            </a:ln>
          </p:spPr>
        </p:sp>
        <p:sp>
          <p:nvSpPr>
            <p:cNvPr id="9" name="TextBox 9"/>
            <p:cNvSpPr txBox="1"/>
            <p:nvPr/>
          </p:nvSpPr>
          <p:spPr>
            <a:xfrm>
              <a:off x="3359874" y="33975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0" name="Ellipse 10"/>
            <p:cNvSpPr/>
            <p:nvPr/>
          </p:nvSpPr>
          <p:spPr>
            <a:xfrm>
              <a:off x="1647825" y="2162175"/>
              <a:ext cx="361950" cy="361950"/>
            </a:xfrm>
            <a:prstGeom prst="ellipse">
              <a:avLst/>
            </a:prstGeom>
            <a:solidFill>
              <a:srgbClr val="0070C0"/>
            </a:solidFill>
            <a:ln>
              <a:noFill/>
            </a:ln>
          </p:spPr>
        </p:sp>
        <p:sp>
          <p:nvSpPr>
            <p:cNvPr id="11" name="TextBox 11"/>
            <p:cNvSpPr txBox="1"/>
            <p:nvPr/>
          </p:nvSpPr>
          <p:spPr>
            <a:xfrm>
              <a:off x="1759674" y="22640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12" name="Ellipse 12"/>
            <p:cNvSpPr/>
            <p:nvPr/>
          </p:nvSpPr>
          <p:spPr>
            <a:xfrm>
              <a:off x="3990975" y="4743450"/>
              <a:ext cx="361950" cy="361950"/>
            </a:xfrm>
            <a:prstGeom prst="ellipse">
              <a:avLst/>
            </a:prstGeom>
            <a:solidFill>
              <a:srgbClr val="0070C0"/>
            </a:solidFill>
            <a:ln>
              <a:noFill/>
            </a:ln>
          </p:spPr>
        </p:sp>
        <p:sp>
          <p:nvSpPr>
            <p:cNvPr id="13" name="TextBox 13"/>
            <p:cNvSpPr txBox="1"/>
            <p:nvPr/>
          </p:nvSpPr>
          <p:spPr>
            <a:xfrm>
              <a:off x="4102824" y="48453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14" name="Ellipse 14"/>
            <p:cNvSpPr/>
            <p:nvPr/>
          </p:nvSpPr>
          <p:spPr>
            <a:xfrm>
              <a:off x="2600325" y="4314825"/>
              <a:ext cx="361950" cy="361950"/>
            </a:xfrm>
            <a:prstGeom prst="ellipse">
              <a:avLst/>
            </a:prstGeom>
            <a:solidFill>
              <a:srgbClr val="0070C0"/>
            </a:solidFill>
            <a:ln>
              <a:noFill/>
            </a:ln>
          </p:spPr>
        </p:sp>
        <p:sp>
          <p:nvSpPr>
            <p:cNvPr id="15" name="TextBox 15"/>
            <p:cNvSpPr txBox="1"/>
            <p:nvPr/>
          </p:nvSpPr>
          <p:spPr>
            <a:xfrm>
              <a:off x="2712174" y="44167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16" name="Ellipse 16"/>
            <p:cNvSpPr/>
            <p:nvPr/>
          </p:nvSpPr>
          <p:spPr>
            <a:xfrm>
              <a:off x="5581650" y="3009900"/>
              <a:ext cx="361950" cy="361950"/>
            </a:xfrm>
            <a:prstGeom prst="ellipse">
              <a:avLst/>
            </a:prstGeom>
            <a:solidFill>
              <a:srgbClr val="0070C0"/>
            </a:solidFill>
            <a:ln>
              <a:noFill/>
            </a:ln>
          </p:spPr>
        </p:sp>
        <p:sp>
          <p:nvSpPr>
            <p:cNvPr id="17" name="TextBox 17"/>
            <p:cNvSpPr txBox="1"/>
            <p:nvPr/>
          </p:nvSpPr>
          <p:spPr>
            <a:xfrm>
              <a:off x="5693499" y="31118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grpSp>
      <p:grpSp>
        <p:nvGrpSpPr>
          <p:cNvPr id="51" name="Group 51"/>
          <p:cNvGrpSpPr/>
          <p:nvPr/>
        </p:nvGrpSpPr>
        <p:grpSpPr>
          <a:xfrm>
            <a:off x="7372350" y="1009650"/>
            <a:ext cx="4880420" cy="5143500"/>
            <a:chOff x="7372350" y="1009650"/>
            <a:chExt cx="4880420" cy="5143500"/>
          </a:xfrm>
        </p:grpSpPr>
        <p:sp>
          <p:nvSpPr>
            <p:cNvPr id="19" name="Rectangle 19"/>
            <p:cNvSpPr/>
            <p:nvPr/>
          </p:nvSpPr>
          <p:spPr>
            <a:xfrm>
              <a:off x="7372350" y="1009650"/>
              <a:ext cx="4362450" cy="5143500"/>
            </a:xfrm>
            <a:prstGeom prst="rect">
              <a:avLst/>
            </a:prstGeom>
            <a:solidFill>
              <a:srgbClr val="FFFFFF"/>
            </a:solidFill>
            <a:ln w="9525">
              <a:solidFill>
                <a:srgbClr val="AFC7DD"/>
              </a:solidFill>
            </a:ln>
          </p:spPr>
        </p:sp>
        <p:grpSp>
          <p:nvGrpSpPr>
            <p:cNvPr id="24" name="Group 24"/>
            <p:cNvGrpSpPr/>
            <p:nvPr/>
          </p:nvGrpSpPr>
          <p:grpSpPr>
            <a:xfrm>
              <a:off x="7505700" y="1230154"/>
              <a:ext cx="4066985" cy="567690"/>
              <a:chOff x="7505700" y="1230154"/>
              <a:chExt cx="4066985" cy="567690"/>
            </a:xfrm>
          </p:grpSpPr>
          <p:sp>
            <p:nvSpPr>
              <p:cNvPr id="20" name="Ellipse 20"/>
              <p:cNvSpPr/>
              <p:nvPr/>
            </p:nvSpPr>
            <p:spPr>
              <a:xfrm>
                <a:off x="7505700" y="1238250"/>
                <a:ext cx="381000" cy="381000"/>
              </a:xfrm>
              <a:prstGeom prst="ellipse">
                <a:avLst/>
              </a:prstGeom>
              <a:solidFill>
                <a:srgbClr val="0070C0"/>
              </a:solidFill>
              <a:ln>
                <a:noFill/>
              </a:ln>
            </p:spPr>
          </p:sp>
          <p:sp>
            <p:nvSpPr>
              <p:cNvPr id="21" name="TextBox 21"/>
              <p:cNvSpPr txBox="1"/>
              <p:nvPr/>
            </p:nvSpPr>
            <p:spPr>
              <a:xfrm>
                <a:off x="7627074" y="13496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22" name="TextBox 22"/>
              <p:cNvSpPr txBox="1"/>
              <p:nvPr/>
            </p:nvSpPr>
            <p:spPr>
              <a:xfrm>
                <a:off x="8000048" y="1230154"/>
                <a:ext cx="158369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磁编码器中心区</a:t>
                </a:r>
              </a:p>
            </p:txBody>
          </p:sp>
          <p:sp>
            <p:nvSpPr>
              <p:cNvPr id="23" name="TextBox 23"/>
              <p:cNvSpPr txBox="1"/>
              <p:nvPr/>
            </p:nvSpPr>
            <p:spPr>
              <a:xfrm>
                <a:off x="8003858" y="1538764"/>
                <a:ext cx="3568827"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MA600A 对准电机轴心，周围限制高电流器件。</a:t>
                </a:r>
              </a:p>
            </p:txBody>
          </p:sp>
        </p:grpSp>
        <p:sp>
          <p:nvSpPr>
            <p:cNvPr id="25" name="Line 25"/>
            <p:cNvSpPr/>
            <p:nvPr/>
          </p:nvSpPr>
          <p:spPr>
            <a:xfrm>
              <a:off x="7562850" y="1876425"/>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30" name="Group 30"/>
            <p:cNvGrpSpPr/>
            <p:nvPr/>
          </p:nvGrpSpPr>
          <p:grpSpPr>
            <a:xfrm>
              <a:off x="7505700" y="2077879"/>
              <a:ext cx="4322017" cy="567690"/>
              <a:chOff x="7505700" y="2077879"/>
              <a:chExt cx="4322017" cy="567690"/>
            </a:xfrm>
          </p:grpSpPr>
          <p:sp>
            <p:nvSpPr>
              <p:cNvPr id="26" name="Ellipse 26"/>
              <p:cNvSpPr/>
              <p:nvPr/>
            </p:nvSpPr>
            <p:spPr>
              <a:xfrm>
                <a:off x="7505700" y="2085975"/>
                <a:ext cx="381000" cy="381000"/>
              </a:xfrm>
              <a:prstGeom prst="ellipse">
                <a:avLst/>
              </a:prstGeom>
              <a:solidFill>
                <a:srgbClr val="0070C0"/>
              </a:solidFill>
              <a:ln>
                <a:noFill/>
              </a:ln>
            </p:spPr>
          </p:sp>
          <p:sp>
            <p:nvSpPr>
              <p:cNvPr id="27" name="TextBox 27"/>
              <p:cNvSpPr txBox="1"/>
              <p:nvPr/>
            </p:nvSpPr>
            <p:spPr>
              <a:xfrm>
                <a:off x="7627074" y="21974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8" name="TextBox 28"/>
              <p:cNvSpPr txBox="1"/>
              <p:nvPr/>
            </p:nvSpPr>
            <p:spPr>
              <a:xfrm>
                <a:off x="8000048" y="2077879"/>
                <a:ext cx="1142643"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三相功率区</a:t>
                </a:r>
              </a:p>
            </p:txBody>
          </p:sp>
          <p:sp>
            <p:nvSpPr>
              <p:cNvPr id="29" name="TextBox 29"/>
              <p:cNvSpPr txBox="1"/>
              <p:nvPr/>
            </p:nvSpPr>
            <p:spPr>
              <a:xfrm>
                <a:off x="8003858" y="2386489"/>
                <a:ext cx="3823859"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六颗 MOSFET 沿板边展开，缩短相线与散热路径。</a:t>
                </a:r>
              </a:p>
            </p:txBody>
          </p:sp>
        </p:grpSp>
        <p:sp>
          <p:nvSpPr>
            <p:cNvPr id="31" name="Line 31"/>
            <p:cNvSpPr/>
            <p:nvPr/>
          </p:nvSpPr>
          <p:spPr>
            <a:xfrm>
              <a:off x="7562850" y="2724150"/>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36" name="Group 36"/>
            <p:cNvGrpSpPr/>
            <p:nvPr/>
          </p:nvGrpSpPr>
          <p:grpSpPr>
            <a:xfrm>
              <a:off x="7505700" y="2925604"/>
              <a:ext cx="4747070" cy="567690"/>
              <a:chOff x="7505700" y="2925604"/>
              <a:chExt cx="4747070" cy="567690"/>
            </a:xfrm>
          </p:grpSpPr>
          <p:sp>
            <p:nvSpPr>
              <p:cNvPr id="32" name="Ellipse 32"/>
              <p:cNvSpPr/>
              <p:nvPr/>
            </p:nvSpPr>
            <p:spPr>
              <a:xfrm>
                <a:off x="7505700" y="2933700"/>
                <a:ext cx="381000" cy="381000"/>
              </a:xfrm>
              <a:prstGeom prst="ellipse">
                <a:avLst/>
              </a:prstGeom>
              <a:solidFill>
                <a:srgbClr val="0070C0"/>
              </a:solidFill>
              <a:ln>
                <a:noFill/>
              </a:ln>
            </p:spPr>
          </p:sp>
          <p:sp>
            <p:nvSpPr>
              <p:cNvPr id="33" name="TextBox 33"/>
              <p:cNvSpPr txBox="1"/>
              <p:nvPr/>
            </p:nvSpPr>
            <p:spPr>
              <a:xfrm>
                <a:off x="7627074" y="304514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34" name="TextBox 34"/>
              <p:cNvSpPr txBox="1"/>
              <p:nvPr/>
            </p:nvSpPr>
            <p:spPr>
              <a:xfrm>
                <a:off x="8000048" y="2925604"/>
                <a:ext cx="1750479" cy="242374"/>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驱动与控制区</a:t>
                </a:r>
                <a:r>
                  <a:rPr lang="en-US" altLang="zh-CN" sz="1575" b="1" dirty="0">
                    <a:solidFill>
                      <a:srgbClr val="005A9C"/>
                    </a:solidFill>
                    <a:latin typeface="Arial"/>
                    <a:ea typeface="Microsoft YaHei"/>
                    <a:cs typeface="Arial"/>
                  </a:rPr>
                  <a:t>(</a:t>
                </a:r>
                <a:r>
                  <a:rPr lang="zh-CN" altLang="en-US" sz="1575" b="1" dirty="0">
                    <a:solidFill>
                      <a:srgbClr val="005A9C"/>
                    </a:solidFill>
                    <a:latin typeface="Arial"/>
                    <a:ea typeface="Microsoft YaHei"/>
                    <a:cs typeface="Arial"/>
                  </a:rPr>
                  <a:t>背面</a:t>
                </a:r>
                <a:r>
                  <a:rPr lang="en-US" altLang="zh-CN" sz="1575" b="1" dirty="0">
                    <a:solidFill>
                      <a:srgbClr val="005A9C"/>
                    </a:solidFill>
                    <a:latin typeface="Arial"/>
                    <a:ea typeface="Microsoft YaHei"/>
                    <a:cs typeface="Arial"/>
                  </a:rPr>
                  <a:t>)</a:t>
                </a:r>
                <a:endParaRPr lang="zh-CN" sz="1575" b="1" dirty="0">
                  <a:solidFill>
                    <a:srgbClr val="005A9C"/>
                  </a:solidFill>
                  <a:latin typeface="Arial"/>
                  <a:ea typeface="Microsoft YaHei"/>
                  <a:cs typeface="Arial"/>
                </a:endParaRPr>
              </a:p>
            </p:txBody>
          </p:sp>
          <p:sp>
            <p:nvSpPr>
              <p:cNvPr id="35" name="TextBox 35"/>
              <p:cNvSpPr txBox="1"/>
              <p:nvPr/>
            </p:nvSpPr>
            <p:spPr>
              <a:xfrm>
                <a:off x="8003858" y="3234214"/>
                <a:ext cx="4248912"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MP6539B 靠近功率级，STM32G431 集中管理控制信号。</a:t>
                </a:r>
              </a:p>
            </p:txBody>
          </p:sp>
        </p:grpSp>
        <p:sp>
          <p:nvSpPr>
            <p:cNvPr id="37" name="Line 37"/>
            <p:cNvSpPr/>
            <p:nvPr/>
          </p:nvSpPr>
          <p:spPr>
            <a:xfrm>
              <a:off x="7562850" y="3571875"/>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42" name="Group 42"/>
            <p:cNvGrpSpPr/>
            <p:nvPr/>
          </p:nvGrpSpPr>
          <p:grpSpPr>
            <a:xfrm>
              <a:off x="7505700" y="3773329"/>
              <a:ext cx="4551546" cy="567690"/>
              <a:chOff x="7505700" y="3773329"/>
              <a:chExt cx="4551546" cy="567690"/>
            </a:xfrm>
          </p:grpSpPr>
          <p:sp>
            <p:nvSpPr>
              <p:cNvPr id="38" name="Ellipse 38"/>
              <p:cNvSpPr/>
              <p:nvPr/>
            </p:nvSpPr>
            <p:spPr>
              <a:xfrm>
                <a:off x="7505700" y="3781425"/>
                <a:ext cx="381000" cy="381000"/>
              </a:xfrm>
              <a:prstGeom prst="ellipse">
                <a:avLst/>
              </a:prstGeom>
              <a:solidFill>
                <a:srgbClr val="0070C0"/>
              </a:solidFill>
              <a:ln>
                <a:noFill/>
              </a:ln>
            </p:spPr>
          </p:sp>
          <p:sp>
            <p:nvSpPr>
              <p:cNvPr id="39" name="TextBox 39"/>
              <p:cNvSpPr txBox="1"/>
              <p:nvPr/>
            </p:nvSpPr>
            <p:spPr>
              <a:xfrm>
                <a:off x="7627074" y="389286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40" name="TextBox 40"/>
              <p:cNvSpPr txBox="1"/>
              <p:nvPr/>
            </p:nvSpPr>
            <p:spPr>
              <a:xfrm>
                <a:off x="8000048" y="3773329"/>
                <a:ext cx="158369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三相电流采样区</a:t>
                </a:r>
              </a:p>
            </p:txBody>
          </p:sp>
          <p:sp>
            <p:nvSpPr>
              <p:cNvPr id="41" name="TextBox 41"/>
              <p:cNvSpPr txBox="1"/>
              <p:nvPr/>
            </p:nvSpPr>
            <p:spPr>
              <a:xfrm>
                <a:off x="8003858" y="4081939"/>
                <a:ext cx="4053388" cy="259080"/>
              </a:xfrm>
              <a:prstGeom prst="rect">
                <a:avLst/>
              </a:prstGeom>
              <a:noFill/>
              <a:ln>
                <a:noFill/>
              </a:ln>
            </p:spPr>
            <p:txBody>
              <a:bodyPr wrap="none" lIns="0" tIns="0" rIns="0" bIns="0" anchor="t" anchorCtr="0">
                <a:spAutoFit/>
              </a:bodyPr>
              <a:lstStyle/>
              <a:p>
                <a:pPr algn="l"/>
                <a:r>
                  <a:rPr lang="zh-CN" sz="1275" dirty="0">
                    <a:solidFill>
                      <a:srgbClr val="5B6573"/>
                    </a:solidFill>
                    <a:latin typeface="Arial"/>
                    <a:ea typeface="Microsoft YaHei"/>
                    <a:cs typeface="Arial"/>
                  </a:rPr>
                  <a:t>10 mΩ 分流电阻与 INA240 就近布置，控制采样环路。</a:t>
                </a:r>
              </a:p>
            </p:txBody>
          </p:sp>
        </p:grpSp>
        <p:sp>
          <p:nvSpPr>
            <p:cNvPr id="43" name="Line 43"/>
            <p:cNvSpPr/>
            <p:nvPr/>
          </p:nvSpPr>
          <p:spPr>
            <a:xfrm>
              <a:off x="7562850" y="4419600"/>
              <a:ext cx="3962400" cy="9525"/>
            </a:xfrm>
            <a:custGeom>
              <a:avLst/>
              <a:gdLst/>
              <a:ahLst/>
              <a:cxnLst/>
              <a:rect l="l" t="t" r="r" b="b"/>
              <a:pathLst>
                <a:path w="3962400" h="9525">
                  <a:moveTo>
                    <a:pt x="0" y="0"/>
                  </a:moveTo>
                  <a:lnTo>
                    <a:pt x="3962400" y="0"/>
                  </a:lnTo>
                </a:path>
              </a:pathLst>
            </a:custGeom>
            <a:noFill/>
            <a:ln w="9525">
              <a:solidFill>
                <a:srgbClr val="AFC7DD"/>
              </a:solidFill>
            </a:ln>
          </p:spPr>
        </p:sp>
        <p:grpSp>
          <p:nvGrpSpPr>
            <p:cNvPr id="48" name="Group 48"/>
            <p:cNvGrpSpPr/>
            <p:nvPr/>
          </p:nvGrpSpPr>
          <p:grpSpPr>
            <a:xfrm>
              <a:off x="7505700" y="4621054"/>
              <a:ext cx="3445193" cy="824865"/>
              <a:chOff x="7505700" y="4621054"/>
              <a:chExt cx="3445193" cy="824865"/>
            </a:xfrm>
          </p:grpSpPr>
          <p:sp>
            <p:nvSpPr>
              <p:cNvPr id="44" name="Ellipse 44"/>
              <p:cNvSpPr/>
              <p:nvPr/>
            </p:nvSpPr>
            <p:spPr>
              <a:xfrm>
                <a:off x="7505700" y="4629150"/>
                <a:ext cx="381000" cy="381000"/>
              </a:xfrm>
              <a:prstGeom prst="ellipse">
                <a:avLst/>
              </a:prstGeom>
              <a:solidFill>
                <a:srgbClr val="0070C0"/>
              </a:solidFill>
              <a:ln>
                <a:noFill/>
              </a:ln>
            </p:spPr>
          </p:sp>
          <p:sp>
            <p:nvSpPr>
              <p:cNvPr id="45" name="TextBox 45"/>
              <p:cNvSpPr txBox="1"/>
              <p:nvPr/>
            </p:nvSpPr>
            <p:spPr>
              <a:xfrm>
                <a:off x="7627074" y="4740592"/>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sp>
            <p:nvSpPr>
              <p:cNvPr id="46" name="TextBox 46"/>
              <p:cNvSpPr txBox="1"/>
              <p:nvPr/>
            </p:nvSpPr>
            <p:spPr>
              <a:xfrm>
                <a:off x="8000048" y="4621054"/>
                <a:ext cx="2024753"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辅助电源与隔离通信</a:t>
                </a:r>
              </a:p>
            </p:txBody>
          </p:sp>
          <p:sp>
            <p:nvSpPr>
              <p:cNvPr id="47" name="TextBox 47"/>
              <p:cNvSpPr txBox="1"/>
              <p:nvPr/>
            </p:nvSpPr>
            <p:spPr>
              <a:xfrm>
                <a:off x="8003858" y="4929664"/>
                <a:ext cx="2947035" cy="516255"/>
              </a:xfrm>
              <a:prstGeom prst="rect">
                <a:avLst/>
              </a:prstGeom>
              <a:noFill/>
              <a:ln>
                <a:noFill/>
              </a:ln>
            </p:spPr>
            <p:txBody>
              <a:bodyPr wrap="square" lIns="0" tIns="0" rIns="0" bIns="0" anchor="t" anchorCtr="0"/>
              <a:lstStyle/>
              <a:p>
                <a:pPr algn="l">
                  <a:lnSpc>
                    <a:spcPts val="2025"/>
                  </a:lnSpc>
                </a:pPr>
                <a:r>
                  <a:rPr lang="zh-CN" sz="1275" dirty="0">
                    <a:solidFill>
                      <a:srgbClr val="5B6573"/>
                    </a:solidFill>
                    <a:latin typeface="Arial"/>
                    <a:ea typeface="Microsoft YaHei"/>
                    <a:cs typeface="Arial"/>
                  </a:rPr>
                  <a:t>DC-DC、隔离电源与 CAN 接口靠近板边，便于电源入口和外部总线连接。</a:t>
                </a:r>
              </a:p>
            </p:txBody>
          </p:sp>
        </p:grpSp>
        <p:sp>
          <p:nvSpPr>
            <p:cNvPr id="49" name="Rectangle 49"/>
            <p:cNvSpPr/>
            <p:nvPr/>
          </p:nvSpPr>
          <p:spPr>
            <a:xfrm>
              <a:off x="7562850" y="5543550"/>
              <a:ext cx="3962400" cy="400050"/>
            </a:xfrm>
            <a:prstGeom prst="rect">
              <a:avLst/>
            </a:prstGeom>
            <a:solidFill>
              <a:srgbClr val="EDF8F4"/>
            </a:solidFill>
            <a:ln>
              <a:noFill/>
            </a:ln>
          </p:spPr>
        </p:sp>
        <p:sp>
          <p:nvSpPr>
            <p:cNvPr id="50" name="TextBox 50"/>
            <p:cNvSpPr txBox="1"/>
            <p:nvPr/>
          </p:nvSpPr>
          <p:spPr>
            <a:xfrm>
              <a:off x="7385590" y="5663089"/>
              <a:ext cx="4316920" cy="259080"/>
            </a:xfrm>
            <a:prstGeom prst="rect">
              <a:avLst/>
            </a:prstGeom>
            <a:noFill/>
            <a:ln>
              <a:noFill/>
            </a:ln>
          </p:spPr>
          <p:txBody>
            <a:bodyPr wrap="none" lIns="0" tIns="0" rIns="0" bIns="0" anchor="t" anchorCtr="0">
              <a:spAutoFit/>
            </a:bodyPr>
            <a:lstStyle/>
            <a:p>
              <a:pPr algn="ctr"/>
              <a:r>
                <a:rPr lang="zh-CN" sz="1275" b="1" dirty="0">
                  <a:solidFill>
                    <a:srgbClr val="005A9C"/>
                  </a:solidFill>
                  <a:latin typeface="Arial"/>
                  <a:ea typeface="Microsoft YaHei"/>
                  <a:cs typeface="Arial"/>
                </a:rPr>
                <a:t>分区原则：缩短大电流环路，隔离敏感采样与通信边界</a:t>
              </a:r>
            </a:p>
          </p:txBody>
        </p:sp>
      </p:grpSp>
      <p:grpSp>
        <p:nvGrpSpPr>
          <p:cNvPr id="54" name="Group 54"/>
          <p:cNvGrpSpPr/>
          <p:nvPr/>
        </p:nvGrpSpPr>
        <p:grpSpPr>
          <a:xfrm>
            <a:off x="444818" y="6514624"/>
            <a:ext cx="11302365" cy="198120"/>
            <a:chOff x="444818" y="6514624"/>
            <a:chExt cx="11302365" cy="198120"/>
          </a:xfrm>
        </p:grpSpPr>
        <p:sp>
          <p:nvSpPr>
            <p:cNvPr id="52" name="TextBox 52"/>
            <p:cNvSpPr txBox="1"/>
            <p:nvPr/>
          </p:nvSpPr>
          <p:spPr>
            <a:xfrm>
              <a:off x="444818" y="6514624"/>
              <a:ext cx="4737854"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编号位置为功能区域示意，最终汇报时可替换为 PCB 软件中的高分辨率分区截图。</a:t>
              </a:r>
            </a:p>
          </p:txBody>
        </p:sp>
        <p:sp>
          <p:nvSpPr>
            <p:cNvPr id="53" name="TextBox 53"/>
            <p:cNvSpPr txBox="1"/>
            <p:nvPr/>
          </p:nvSpPr>
          <p:spPr>
            <a:xfrm>
              <a:off x="11579400" y="6514624"/>
              <a:ext cx="167783" cy="198120"/>
            </a:xfrm>
            <a:prstGeom prst="rect">
              <a:avLst/>
            </a:prstGeom>
            <a:noFill/>
            <a:ln>
              <a:noFill/>
            </a:ln>
          </p:spPr>
          <p:txBody>
            <a:bodyPr wrap="none" lIns="0" tIns="0" rIns="0" bIns="0" anchor="t" anchorCtr="0">
              <a:spAutoFit/>
            </a:bodyPr>
            <a:lstStyle/>
            <a:p>
              <a:pPr algn="r"/>
              <a:r>
                <a:rPr lang="zh-CN" sz="975" dirty="0">
                  <a:solidFill>
                    <a:srgbClr val="5B6573"/>
                  </a:solidFill>
                  <a:latin typeface="Arial"/>
                  <a:ea typeface="Microsoft YaHei"/>
                  <a:cs typeface="Arial"/>
                </a:rPr>
                <a:t>03</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image">
                                      <p:cBhvr>
                                        <p:cTn id="7" dur="400"/>
                                        <p:tgtEl>
                                          <p:spTgt spid="1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559527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Layout——功率回路与栅极回路</a:t>
              </a:r>
            </a:p>
          </p:txBody>
        </p:sp>
      </p:grpSp>
      <p:grpSp>
        <p:nvGrpSpPr>
          <p:cNvPr id="30" name="Group 30"/>
          <p:cNvGrpSpPr/>
          <p:nvPr/>
        </p:nvGrpSpPr>
        <p:grpSpPr>
          <a:xfrm>
            <a:off x="457200" y="1028700"/>
            <a:ext cx="6705600" cy="2743200"/>
            <a:chOff x="457200" y="1028700"/>
            <a:chExt cx="6705600" cy="2743200"/>
          </a:xfrm>
        </p:grpSpPr>
        <p:sp>
          <p:nvSpPr>
            <p:cNvPr id="6" name="Rectangle 6"/>
            <p:cNvSpPr/>
            <p:nvPr/>
          </p:nvSpPr>
          <p:spPr>
            <a:xfrm>
              <a:off x="457200" y="1028700"/>
              <a:ext cx="6705600" cy="2743200"/>
            </a:xfrm>
            <a:prstGeom prst="rect">
              <a:avLst/>
            </a:prstGeom>
            <a:solidFill>
              <a:srgbClr val="F2F2F2"/>
            </a:solidFill>
            <a:ln w="9525">
              <a:solidFill>
                <a:srgbClr val="AFC7DD"/>
              </a:solidFill>
            </a:ln>
          </p:spPr>
        </p:sp>
        <p:sp>
          <p:nvSpPr>
            <p:cNvPr id="7" name="Rectangle 7"/>
            <p:cNvSpPr/>
            <p:nvPr/>
          </p:nvSpPr>
          <p:spPr>
            <a:xfrm>
              <a:off x="457200" y="1028700"/>
              <a:ext cx="6705600" cy="381000"/>
            </a:xfrm>
            <a:prstGeom prst="rect">
              <a:avLst/>
            </a:prstGeom>
            <a:solidFill>
              <a:srgbClr val="0070C0"/>
            </a:solidFill>
            <a:ln>
              <a:noFill/>
            </a:ln>
          </p:spPr>
        </p:sp>
        <p:sp>
          <p:nvSpPr>
            <p:cNvPr id="8" name="TextBox 8"/>
            <p:cNvSpPr txBox="1"/>
            <p:nvPr/>
          </p:nvSpPr>
          <p:spPr>
            <a:xfrm>
              <a:off x="3018151" y="1125379"/>
              <a:ext cx="1583698"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主功率电流环路</a:t>
              </a:r>
            </a:p>
          </p:txBody>
        </p:sp>
        <p:sp>
          <p:nvSpPr>
            <p:cNvPr id="9" name="Rectangle 9"/>
            <p:cNvSpPr/>
            <p:nvPr/>
          </p:nvSpPr>
          <p:spPr>
            <a:xfrm>
              <a:off x="723900" y="2038350"/>
              <a:ext cx="1066800" cy="590550"/>
            </a:xfrm>
            <a:prstGeom prst="rect">
              <a:avLst/>
            </a:prstGeom>
            <a:solidFill>
              <a:srgbClr val="FFFFFF"/>
            </a:solidFill>
            <a:ln w="19050">
              <a:solidFill>
                <a:srgbClr val="0070C0"/>
              </a:solidFill>
            </a:ln>
          </p:spPr>
        </p:sp>
        <p:sp>
          <p:nvSpPr>
            <p:cNvPr id="10" name="TextBox 10"/>
            <p:cNvSpPr txBox="1"/>
            <p:nvPr/>
          </p:nvSpPr>
          <p:spPr>
            <a:xfrm>
              <a:off x="838480" y="2140268"/>
              <a:ext cx="837640"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48 V 输入</a:t>
              </a:r>
            </a:p>
          </p:txBody>
        </p:sp>
        <p:sp>
          <p:nvSpPr>
            <p:cNvPr id="11" name="TextBox 11"/>
            <p:cNvSpPr txBox="1"/>
            <p:nvPr/>
          </p:nvSpPr>
          <p:spPr>
            <a:xfrm>
              <a:off x="942975" y="2383631"/>
              <a:ext cx="628650"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母线电容</a:t>
              </a:r>
            </a:p>
          </p:txBody>
        </p:sp>
        <p:sp>
          <p:nvSpPr>
            <p:cNvPr id="12" name="Rectangle 12"/>
            <p:cNvSpPr/>
            <p:nvPr/>
          </p:nvSpPr>
          <p:spPr>
            <a:xfrm>
              <a:off x="2324100" y="1885950"/>
              <a:ext cx="1352550" cy="895350"/>
            </a:xfrm>
            <a:prstGeom prst="rect">
              <a:avLst/>
            </a:prstGeom>
            <a:solidFill>
              <a:srgbClr val="FFFFFF"/>
            </a:solidFill>
            <a:ln w="19050">
              <a:solidFill>
                <a:srgbClr val="C00000"/>
              </a:solidFill>
            </a:ln>
          </p:spPr>
        </p:sp>
        <p:sp>
          <p:nvSpPr>
            <p:cNvPr id="13" name="TextBox 13"/>
            <p:cNvSpPr txBox="1"/>
            <p:nvPr/>
          </p:nvSpPr>
          <p:spPr>
            <a:xfrm>
              <a:off x="2416159" y="2045018"/>
              <a:ext cx="1168432" cy="274320"/>
            </a:xfrm>
            <a:prstGeom prst="rect">
              <a:avLst/>
            </a:prstGeom>
            <a:noFill/>
            <a:ln>
              <a:noFill/>
            </a:ln>
          </p:spPr>
          <p:txBody>
            <a:bodyPr wrap="none" lIns="0" tIns="0" rIns="0" bIns="0" anchor="t" anchorCtr="0">
              <a:spAutoFit/>
            </a:bodyPr>
            <a:lstStyle/>
            <a:p>
              <a:pPr algn="ctr"/>
              <a:r>
                <a:rPr lang="zh-CN" sz="1350" b="1" dirty="0">
                  <a:solidFill>
                    <a:srgbClr val="C00000"/>
                  </a:solidFill>
                  <a:latin typeface="Arial"/>
                  <a:ea typeface="Microsoft YaHei"/>
                  <a:cs typeface="Arial"/>
                </a:rPr>
                <a:t>半桥 MOSFET</a:t>
              </a:r>
            </a:p>
          </p:txBody>
        </p:sp>
        <p:sp>
          <p:nvSpPr>
            <p:cNvPr id="14" name="TextBox 14"/>
            <p:cNvSpPr txBox="1"/>
            <p:nvPr/>
          </p:nvSpPr>
          <p:spPr>
            <a:xfrm>
              <a:off x="2573084" y="2327910"/>
              <a:ext cx="854583" cy="243840"/>
            </a:xfrm>
            <a:prstGeom prst="rect">
              <a:avLst/>
            </a:prstGeom>
            <a:noFill/>
            <a:ln>
              <a:noFill/>
            </a:ln>
          </p:spPr>
          <p:txBody>
            <a:bodyPr wrap="none" lIns="0" tIns="0" rIns="0" bIns="0" anchor="t" anchorCtr="0">
              <a:spAutoFit/>
            </a:bodyPr>
            <a:lstStyle/>
            <a:p>
              <a:pPr algn="ctr"/>
              <a:r>
                <a:rPr lang="zh-CN" sz="1200" dirty="0">
                  <a:solidFill>
                    <a:srgbClr val="5B6573"/>
                  </a:solidFill>
                  <a:latin typeface="Arial"/>
                  <a:ea typeface="Microsoft YaHei"/>
                  <a:cs typeface="Arial"/>
                </a:rPr>
                <a:t>高侧 + 低侧</a:t>
              </a:r>
            </a:p>
          </p:txBody>
        </p:sp>
        <p:sp>
          <p:nvSpPr>
            <p:cNvPr id="15" name="Rectangle 15"/>
            <p:cNvSpPr/>
            <p:nvPr/>
          </p:nvSpPr>
          <p:spPr>
            <a:xfrm>
              <a:off x="4210050" y="2038350"/>
              <a:ext cx="1066800" cy="590550"/>
            </a:xfrm>
            <a:prstGeom prst="rect">
              <a:avLst/>
            </a:prstGeom>
            <a:solidFill>
              <a:srgbClr val="FFFFFF"/>
            </a:solidFill>
            <a:ln w="19050">
              <a:solidFill>
                <a:srgbClr val="0070C0"/>
              </a:solidFill>
            </a:ln>
          </p:spPr>
        </p:sp>
        <p:sp>
          <p:nvSpPr>
            <p:cNvPr id="16" name="TextBox 16"/>
            <p:cNvSpPr txBox="1"/>
            <p:nvPr/>
          </p:nvSpPr>
          <p:spPr>
            <a:xfrm>
              <a:off x="4348258" y="2149792"/>
              <a:ext cx="790384"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相线输出</a:t>
              </a:r>
            </a:p>
          </p:txBody>
        </p:sp>
        <p:sp>
          <p:nvSpPr>
            <p:cNvPr id="17" name="TextBox 17"/>
            <p:cNvSpPr txBox="1"/>
            <p:nvPr/>
          </p:nvSpPr>
          <p:spPr>
            <a:xfrm>
              <a:off x="4417874" y="2393156"/>
              <a:ext cx="651153"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U / V / W</a:t>
              </a:r>
            </a:p>
          </p:txBody>
        </p:sp>
        <p:sp>
          <p:nvSpPr>
            <p:cNvPr id="18" name="Rectangle 18"/>
            <p:cNvSpPr/>
            <p:nvPr/>
          </p:nvSpPr>
          <p:spPr>
            <a:xfrm>
              <a:off x="5810250" y="2038350"/>
              <a:ext cx="1066800" cy="590550"/>
            </a:xfrm>
            <a:prstGeom prst="rect">
              <a:avLst/>
            </a:prstGeom>
            <a:solidFill>
              <a:srgbClr val="FFFFFF"/>
            </a:solidFill>
            <a:ln w="19050">
              <a:solidFill>
                <a:srgbClr val="0070C0"/>
              </a:solidFill>
            </a:ln>
          </p:spPr>
        </p:sp>
        <p:sp>
          <p:nvSpPr>
            <p:cNvPr id="19" name="TextBox 19"/>
            <p:cNvSpPr txBox="1"/>
            <p:nvPr/>
          </p:nvSpPr>
          <p:spPr>
            <a:xfrm>
              <a:off x="5948458" y="2149792"/>
              <a:ext cx="790384"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分流电阻</a:t>
              </a:r>
            </a:p>
          </p:txBody>
        </p:sp>
        <p:sp>
          <p:nvSpPr>
            <p:cNvPr id="20" name="TextBox 20"/>
            <p:cNvSpPr txBox="1"/>
            <p:nvPr/>
          </p:nvSpPr>
          <p:spPr>
            <a:xfrm>
              <a:off x="6126837" y="2393156"/>
              <a:ext cx="433626" cy="228600"/>
            </a:xfrm>
            <a:prstGeom prst="rect">
              <a:avLst/>
            </a:prstGeom>
            <a:noFill/>
            <a:ln>
              <a:noFill/>
            </a:ln>
          </p:spPr>
          <p:txBody>
            <a:bodyPr wrap="none" lIns="0" tIns="0" rIns="0" bIns="0" anchor="t" anchorCtr="0">
              <a:spAutoFit/>
            </a:bodyPr>
            <a:lstStyle/>
            <a:p>
              <a:pPr algn="ctr"/>
              <a:r>
                <a:rPr lang="zh-CN" sz="1125" dirty="0">
                  <a:solidFill>
                    <a:srgbClr val="5B6573"/>
                  </a:solidFill>
                  <a:latin typeface="Arial"/>
                  <a:ea typeface="Microsoft YaHei"/>
                  <a:cs typeface="Arial"/>
                </a:rPr>
                <a:t>10 mΩ</a:t>
              </a:r>
            </a:p>
          </p:txBody>
        </p:sp>
        <p:sp>
          <p:nvSpPr>
            <p:cNvPr id="21" name="Line 21"/>
            <p:cNvSpPr/>
            <p:nvPr/>
          </p:nvSpPr>
          <p:spPr>
            <a:xfrm>
              <a:off x="179070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2" name="Polygon 22"/>
            <p:cNvSpPr/>
            <p:nvPr/>
          </p:nvSpPr>
          <p:spPr>
            <a:xfrm>
              <a:off x="219075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3" name="Line 23"/>
            <p:cNvSpPr/>
            <p:nvPr/>
          </p:nvSpPr>
          <p:spPr>
            <a:xfrm>
              <a:off x="367665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4" name="Polygon 24"/>
            <p:cNvSpPr/>
            <p:nvPr/>
          </p:nvSpPr>
          <p:spPr>
            <a:xfrm>
              <a:off x="407670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5" name="Line 25"/>
            <p:cNvSpPr/>
            <p:nvPr/>
          </p:nvSpPr>
          <p:spPr>
            <a:xfrm>
              <a:off x="5276850" y="2333625"/>
              <a:ext cx="533400" cy="9525"/>
            </a:xfrm>
            <a:custGeom>
              <a:avLst/>
              <a:gdLst/>
              <a:ahLst/>
              <a:cxnLst/>
              <a:rect l="l" t="t" r="r" b="b"/>
              <a:pathLst>
                <a:path w="533400" h="9525">
                  <a:moveTo>
                    <a:pt x="0" y="0"/>
                  </a:moveTo>
                  <a:lnTo>
                    <a:pt x="533400" y="0"/>
                  </a:lnTo>
                </a:path>
              </a:pathLst>
            </a:custGeom>
            <a:noFill/>
            <a:ln w="47625">
              <a:solidFill>
                <a:srgbClr val="C00000"/>
              </a:solidFill>
            </a:ln>
          </p:spPr>
        </p:sp>
        <p:sp>
          <p:nvSpPr>
            <p:cNvPr id="26" name="Polygon 26"/>
            <p:cNvSpPr/>
            <p:nvPr/>
          </p:nvSpPr>
          <p:spPr>
            <a:xfrm>
              <a:off x="5676900" y="2257425"/>
              <a:ext cx="133350" cy="152400"/>
            </a:xfrm>
            <a:custGeom>
              <a:avLst/>
              <a:gdLst/>
              <a:ahLst/>
              <a:cxnLst/>
              <a:rect l="l" t="t" r="r" b="b"/>
              <a:pathLst>
                <a:path w="133350" h="152400">
                  <a:moveTo>
                    <a:pt x="133350" y="76200"/>
                  </a:moveTo>
                  <a:lnTo>
                    <a:pt x="0" y="0"/>
                  </a:lnTo>
                  <a:lnTo>
                    <a:pt x="0" y="152400"/>
                  </a:lnTo>
                  <a:close/>
                </a:path>
              </a:pathLst>
            </a:custGeom>
            <a:solidFill>
              <a:srgbClr val="C00000"/>
            </a:solidFill>
            <a:ln>
              <a:noFill/>
            </a:ln>
          </p:spPr>
        </p:sp>
        <p:sp>
          <p:nvSpPr>
            <p:cNvPr id="27" name="Freeform 27"/>
            <p:cNvSpPr/>
            <p:nvPr/>
          </p:nvSpPr>
          <p:spPr>
            <a:xfrm>
              <a:off x="1257300" y="2628900"/>
              <a:ext cx="5086350" cy="533400"/>
            </a:xfrm>
            <a:custGeom>
              <a:avLst/>
              <a:gdLst/>
              <a:ahLst/>
              <a:cxnLst/>
              <a:rect l="l" t="t" r="r" b="b"/>
              <a:pathLst>
                <a:path w="5086350" h="533400">
                  <a:moveTo>
                    <a:pt x="5086350" y="0"/>
                  </a:moveTo>
                  <a:lnTo>
                    <a:pt x="5086350" y="533400"/>
                  </a:lnTo>
                  <a:lnTo>
                    <a:pt x="0" y="533400"/>
                  </a:lnTo>
                  <a:lnTo>
                    <a:pt x="0" y="0"/>
                  </a:lnTo>
                </a:path>
              </a:pathLst>
            </a:custGeom>
            <a:noFill/>
            <a:ln w="47625">
              <a:solidFill>
                <a:srgbClr val="C00000"/>
              </a:solidFill>
            </a:ln>
          </p:spPr>
        </p:sp>
        <p:sp>
          <p:nvSpPr>
            <p:cNvPr id="28" name="Polygon 28"/>
            <p:cNvSpPr/>
            <p:nvPr/>
          </p:nvSpPr>
          <p:spPr>
            <a:xfrm>
              <a:off x="1181100" y="2628900"/>
              <a:ext cx="152400" cy="133350"/>
            </a:xfrm>
            <a:custGeom>
              <a:avLst/>
              <a:gdLst/>
              <a:ahLst/>
              <a:cxnLst/>
              <a:rect l="l" t="t" r="r" b="b"/>
              <a:pathLst>
                <a:path w="152400" h="133350">
                  <a:moveTo>
                    <a:pt x="76200" y="0"/>
                  </a:moveTo>
                  <a:lnTo>
                    <a:pt x="0" y="133350"/>
                  </a:lnTo>
                  <a:lnTo>
                    <a:pt x="152400" y="133350"/>
                  </a:lnTo>
                  <a:close/>
                </a:path>
              </a:pathLst>
            </a:custGeom>
            <a:solidFill>
              <a:srgbClr val="C00000"/>
            </a:solidFill>
            <a:ln>
              <a:noFill/>
            </a:ln>
          </p:spPr>
        </p:sp>
        <p:sp>
          <p:nvSpPr>
            <p:cNvPr id="29" name="TextBox 29"/>
            <p:cNvSpPr txBox="1"/>
            <p:nvPr/>
          </p:nvSpPr>
          <p:spPr>
            <a:xfrm>
              <a:off x="1919323" y="3358039"/>
              <a:ext cx="3781354" cy="259080"/>
            </a:xfrm>
            <a:prstGeom prst="rect">
              <a:avLst/>
            </a:prstGeom>
            <a:noFill/>
            <a:ln>
              <a:noFill/>
            </a:ln>
          </p:spPr>
          <p:txBody>
            <a:bodyPr wrap="none" lIns="0" tIns="0" rIns="0" bIns="0" anchor="t" anchorCtr="0">
              <a:spAutoFit/>
            </a:bodyPr>
            <a:lstStyle/>
            <a:p>
              <a:pPr algn="ctr"/>
              <a:r>
                <a:rPr lang="zh-CN" sz="1275" b="1" dirty="0">
                  <a:solidFill>
                    <a:srgbClr val="C00000"/>
                  </a:solidFill>
                  <a:latin typeface="Arial"/>
                  <a:ea typeface="Microsoft YaHei"/>
                  <a:cs typeface="Arial"/>
                </a:rPr>
                <a:t>环路面积越小，母线尖峰与开关噪声越容易控制</a:t>
              </a:r>
            </a:p>
          </p:txBody>
        </p:sp>
      </p:grpSp>
      <p:grpSp>
        <p:nvGrpSpPr>
          <p:cNvPr id="39" name="Group 39"/>
          <p:cNvGrpSpPr/>
          <p:nvPr/>
        </p:nvGrpSpPr>
        <p:grpSpPr>
          <a:xfrm>
            <a:off x="7353300" y="1028700"/>
            <a:ext cx="4381500" cy="2743200"/>
            <a:chOff x="7353300" y="1028700"/>
            <a:chExt cx="4381500" cy="2743200"/>
          </a:xfrm>
        </p:grpSpPr>
        <p:sp>
          <p:nvSpPr>
            <p:cNvPr id="31" name="Rectangle 31"/>
            <p:cNvSpPr/>
            <p:nvPr/>
          </p:nvSpPr>
          <p:spPr>
            <a:xfrm>
              <a:off x="7353300" y="1028700"/>
              <a:ext cx="4381500" cy="2743200"/>
            </a:xfrm>
            <a:prstGeom prst="rect">
              <a:avLst/>
            </a:prstGeom>
            <a:solidFill>
              <a:srgbClr val="FFFFFF"/>
            </a:solidFill>
            <a:ln w="9525">
              <a:solidFill>
                <a:srgbClr val="AFC7DD"/>
              </a:solidFill>
            </a:ln>
          </p:spPr>
        </p:sp>
        <p:sp>
          <p:nvSpPr>
            <p:cNvPr id="32" name="Rectangle 32"/>
            <p:cNvSpPr/>
            <p:nvPr/>
          </p:nvSpPr>
          <p:spPr>
            <a:xfrm>
              <a:off x="7353300" y="1028700"/>
              <a:ext cx="4381500" cy="381000"/>
            </a:xfrm>
            <a:prstGeom prst="rect">
              <a:avLst/>
            </a:prstGeom>
            <a:solidFill>
              <a:srgbClr val="0070C0"/>
            </a:solidFill>
            <a:ln>
              <a:noFill/>
            </a:ln>
          </p:spPr>
        </p:sp>
        <p:sp>
          <p:nvSpPr>
            <p:cNvPr id="33" name="TextBox 33"/>
            <p:cNvSpPr txBox="1"/>
            <p:nvPr/>
          </p:nvSpPr>
          <p:spPr>
            <a:xfrm>
              <a:off x="8531673" y="1125379"/>
              <a:ext cx="2024753"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按参考图复核本项目</a:t>
              </a:r>
            </a:p>
          </p:txBody>
        </p:sp>
        <p:sp>
          <p:nvSpPr>
            <p:cNvPr id="34" name="TextBox 34"/>
            <p:cNvSpPr txBox="1"/>
            <p:nvPr/>
          </p:nvSpPr>
          <p:spPr>
            <a:xfrm>
              <a:off x="7601902" y="1608296"/>
              <a:ext cx="3428119"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半桥上下管相邻，开关节点铜皮短而宽</a:t>
              </a:r>
            </a:p>
          </p:txBody>
        </p:sp>
        <p:sp>
          <p:nvSpPr>
            <p:cNvPr id="35" name="TextBox 35"/>
            <p:cNvSpPr txBox="1"/>
            <p:nvPr/>
          </p:nvSpPr>
          <p:spPr>
            <a:xfrm>
              <a:off x="7601902" y="1979771"/>
              <a:ext cx="3618143"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母线电容贴近功率级，回流不穿过控制地</a:t>
              </a:r>
            </a:p>
          </p:txBody>
        </p:sp>
        <p:sp>
          <p:nvSpPr>
            <p:cNvPr id="36" name="TextBox 36"/>
            <p:cNvSpPr txBox="1"/>
            <p:nvPr/>
          </p:nvSpPr>
          <p:spPr>
            <a:xfrm>
              <a:off x="7601902" y="2351246"/>
              <a:ext cx="3095577"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CBOOT / VDD 去耦贴近驱动器引脚</a:t>
              </a:r>
            </a:p>
          </p:txBody>
        </p:sp>
        <p:sp>
          <p:nvSpPr>
            <p:cNvPr id="37" name="TextBox 37"/>
            <p:cNvSpPr txBox="1"/>
            <p:nvPr/>
          </p:nvSpPr>
          <p:spPr>
            <a:xfrm>
              <a:off x="7601902" y="2722721"/>
              <a:ext cx="4074200"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Gate 与 Source 回流并行，减少栅极环路面积</a:t>
              </a:r>
            </a:p>
          </p:txBody>
        </p:sp>
        <p:sp>
          <p:nvSpPr>
            <p:cNvPr id="38" name="TextBox 38"/>
            <p:cNvSpPr txBox="1"/>
            <p:nvPr/>
          </p:nvSpPr>
          <p:spPr>
            <a:xfrm>
              <a:off x="7601902" y="3094196"/>
              <a:ext cx="3428119"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高压功率走线与低压信号走线保持分离</a:t>
              </a:r>
            </a:p>
          </p:txBody>
        </p:sp>
      </p:grpSp>
      <p:grpSp>
        <p:nvGrpSpPr>
          <p:cNvPr id="50" name="Group 50"/>
          <p:cNvGrpSpPr/>
          <p:nvPr/>
        </p:nvGrpSpPr>
        <p:grpSpPr>
          <a:xfrm>
            <a:off x="457200" y="3962400"/>
            <a:ext cx="5334000" cy="2247900"/>
            <a:chOff x="457200" y="3962400"/>
            <a:chExt cx="5334000" cy="2247900"/>
          </a:xfrm>
        </p:grpSpPr>
        <p:sp>
          <p:nvSpPr>
            <p:cNvPr id="40" name="Rectangle 40"/>
            <p:cNvSpPr/>
            <p:nvPr/>
          </p:nvSpPr>
          <p:spPr>
            <a:xfrm>
              <a:off x="457200" y="3962400"/>
              <a:ext cx="5334000" cy="2247900"/>
            </a:xfrm>
            <a:prstGeom prst="rect">
              <a:avLst/>
            </a:prstGeom>
            <a:solidFill>
              <a:srgbClr val="FFFFFF"/>
            </a:solidFill>
            <a:ln w="9525">
              <a:solidFill>
                <a:srgbClr val="AFC7DD"/>
              </a:solidFill>
            </a:ln>
          </p:spPr>
        </p:sp>
        <p:sp>
          <p:nvSpPr>
            <p:cNvPr id="41" name="Rectangle 41"/>
            <p:cNvSpPr/>
            <p:nvPr/>
          </p:nvSpPr>
          <p:spPr>
            <a:xfrm>
              <a:off x="457200" y="3962400"/>
              <a:ext cx="5334000" cy="342900"/>
            </a:xfrm>
            <a:prstGeom prst="rect">
              <a:avLst/>
            </a:prstGeom>
            <a:solidFill>
              <a:srgbClr val="0070C0"/>
            </a:solidFill>
            <a:ln>
              <a:noFill/>
            </a:ln>
          </p:spPr>
        </p:sp>
        <p:sp>
          <p:nvSpPr>
            <p:cNvPr id="42" name="TextBox 42"/>
            <p:cNvSpPr txBox="1"/>
            <p:nvPr/>
          </p:nvSpPr>
          <p:spPr>
            <a:xfrm>
              <a:off x="1469998" y="4046696"/>
              <a:ext cx="3308404"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MPS 官方参考：MP6532 Demo Board</a:t>
              </a:r>
            </a:p>
          </p:txBody>
        </p:sp>
        <p:pic>
          <p:nvPicPr>
            <p:cNvPr id="43" name="Image 43"/>
            <p:cNvPicPr>
              <a:picLocks noChangeAspect="1"/>
            </p:cNvPicPr>
            <p:nvPr/>
          </p:nvPicPr>
          <p:blipFill>
            <a:blip r:embed="rId3"/>
            <a:stretch>
              <a:fillRect/>
            </a:stretch>
          </p:blipFill>
          <p:spPr>
            <a:xfrm>
              <a:off x="1101077" y="4400550"/>
              <a:ext cx="2236496" cy="1562100"/>
            </a:xfrm>
            <a:prstGeom prst="rect">
              <a:avLst/>
            </a:prstGeom>
          </p:spPr>
        </p:pic>
        <p:sp>
          <p:nvSpPr>
            <p:cNvPr id="44" name="TextBox 44"/>
            <p:cNvSpPr txBox="1"/>
            <p:nvPr/>
          </p:nvSpPr>
          <p:spPr>
            <a:xfrm>
              <a:off x="3985260" y="4499610"/>
              <a:ext cx="534543"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关注点</a:t>
              </a:r>
            </a:p>
          </p:txBody>
        </p:sp>
        <p:sp>
          <p:nvSpPr>
            <p:cNvPr id="45" name="TextBox 45"/>
            <p:cNvSpPr txBox="1"/>
            <p:nvPr/>
          </p:nvSpPr>
          <p:spPr>
            <a:xfrm>
              <a:off x="3986212" y="4793456"/>
              <a:ext cx="1206222"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上下管连接极短</a:t>
              </a:r>
            </a:p>
          </p:txBody>
        </p:sp>
        <p:sp>
          <p:nvSpPr>
            <p:cNvPr id="46" name="TextBox 46"/>
            <p:cNvSpPr txBox="1"/>
            <p:nvPr/>
          </p:nvSpPr>
          <p:spPr>
            <a:xfrm>
              <a:off x="3986212" y="507920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大电流路径宽铜皮</a:t>
              </a:r>
            </a:p>
          </p:txBody>
        </p:sp>
        <p:sp>
          <p:nvSpPr>
            <p:cNvPr id="47" name="TextBox 47"/>
            <p:cNvSpPr txBox="1"/>
            <p:nvPr/>
          </p:nvSpPr>
          <p:spPr>
            <a:xfrm>
              <a:off x="3986212" y="5364956"/>
              <a:ext cx="1228725"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去耦靠近驱动 IC</a:t>
              </a:r>
            </a:p>
          </p:txBody>
        </p:sp>
        <p:sp>
          <p:nvSpPr>
            <p:cNvPr id="48" name="TextBox 48"/>
            <p:cNvSpPr txBox="1"/>
            <p:nvPr/>
          </p:nvSpPr>
          <p:spPr>
            <a:xfrm>
              <a:off x="3986212" y="565070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功率地避开信号地</a:t>
              </a:r>
            </a:p>
          </p:txBody>
        </p:sp>
        <p:sp>
          <p:nvSpPr>
            <p:cNvPr id="49" name="TextBox 49"/>
            <p:cNvSpPr txBox="1"/>
            <p:nvPr/>
          </p:nvSpPr>
          <p:spPr>
            <a:xfrm>
              <a:off x="597218" y="5990749"/>
              <a:ext cx="1669471"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来源：MPS AN111 Figure 10</a:t>
              </a:r>
            </a:p>
          </p:txBody>
        </p:sp>
      </p:grpSp>
      <p:grpSp>
        <p:nvGrpSpPr>
          <p:cNvPr id="61" name="Group 61"/>
          <p:cNvGrpSpPr/>
          <p:nvPr/>
        </p:nvGrpSpPr>
        <p:grpSpPr>
          <a:xfrm>
            <a:off x="5981700" y="3962400"/>
            <a:ext cx="5753100" cy="2247900"/>
            <a:chOff x="5981700" y="3962400"/>
            <a:chExt cx="5753100" cy="2247900"/>
          </a:xfrm>
        </p:grpSpPr>
        <p:sp>
          <p:nvSpPr>
            <p:cNvPr id="51" name="Rectangle 51"/>
            <p:cNvSpPr/>
            <p:nvPr/>
          </p:nvSpPr>
          <p:spPr>
            <a:xfrm>
              <a:off x="5981700" y="3962400"/>
              <a:ext cx="5753100" cy="2247900"/>
            </a:xfrm>
            <a:prstGeom prst="rect">
              <a:avLst/>
            </a:prstGeom>
            <a:solidFill>
              <a:srgbClr val="FFFFFF"/>
            </a:solidFill>
            <a:ln w="9525">
              <a:solidFill>
                <a:srgbClr val="AFC7DD"/>
              </a:solidFill>
            </a:ln>
          </p:spPr>
        </p:sp>
        <p:sp>
          <p:nvSpPr>
            <p:cNvPr id="52" name="Rectangle 52"/>
            <p:cNvSpPr/>
            <p:nvPr/>
          </p:nvSpPr>
          <p:spPr>
            <a:xfrm>
              <a:off x="5981700" y="3962400"/>
              <a:ext cx="5753100" cy="342900"/>
            </a:xfrm>
            <a:prstGeom prst="rect">
              <a:avLst/>
            </a:prstGeom>
            <a:solidFill>
              <a:srgbClr val="0070C0"/>
            </a:solidFill>
            <a:ln>
              <a:noFill/>
            </a:ln>
          </p:spPr>
        </p:sp>
        <p:sp>
          <p:nvSpPr>
            <p:cNvPr id="53" name="TextBox 53"/>
            <p:cNvSpPr txBox="1"/>
            <p:nvPr/>
          </p:nvSpPr>
          <p:spPr>
            <a:xfrm>
              <a:off x="7303810" y="4046696"/>
              <a:ext cx="3108879"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TI 官方参考：Bootstrap 元件布局</a:t>
              </a:r>
            </a:p>
          </p:txBody>
        </p:sp>
        <p:pic>
          <p:nvPicPr>
            <p:cNvPr id="54" name="Image 54"/>
            <p:cNvPicPr>
              <a:picLocks noChangeAspect="1"/>
            </p:cNvPicPr>
            <p:nvPr/>
          </p:nvPicPr>
          <p:blipFill>
            <a:blip r:embed="rId4"/>
            <a:srcRect l="9519" t="6843" r="11972" b="21984"/>
            <a:stretch/>
          </p:blipFill>
          <p:spPr>
            <a:xfrm>
              <a:off x="6126837" y="4584851"/>
              <a:ext cx="3786330" cy="1314941"/>
            </a:xfrm>
            <a:prstGeom prst="rect">
              <a:avLst/>
            </a:prstGeom>
          </p:spPr>
        </p:pic>
        <p:sp>
          <p:nvSpPr>
            <p:cNvPr id="55" name="TextBox 55"/>
            <p:cNvSpPr txBox="1"/>
            <p:nvPr/>
          </p:nvSpPr>
          <p:spPr>
            <a:xfrm>
              <a:off x="9986010" y="4499610"/>
              <a:ext cx="534543" cy="243840"/>
            </a:xfrm>
            <a:prstGeom prst="rect">
              <a:avLst/>
            </a:prstGeom>
            <a:noFill/>
            <a:ln>
              <a:noFill/>
            </a:ln>
          </p:spPr>
          <p:txBody>
            <a:bodyPr wrap="none" lIns="0" tIns="0" rIns="0" bIns="0" anchor="t" anchorCtr="0">
              <a:spAutoFit/>
            </a:bodyPr>
            <a:lstStyle/>
            <a:p>
              <a:pPr algn="l"/>
              <a:r>
                <a:rPr lang="zh-CN" sz="1200" b="1" dirty="0">
                  <a:solidFill>
                    <a:srgbClr val="C00000"/>
                  </a:solidFill>
                  <a:latin typeface="Arial"/>
                  <a:ea typeface="Microsoft YaHei"/>
                  <a:cs typeface="Arial"/>
                </a:rPr>
                <a:t>关注点</a:t>
              </a:r>
            </a:p>
          </p:txBody>
        </p:sp>
        <p:sp>
          <p:nvSpPr>
            <p:cNvPr id="56" name="TextBox 56"/>
            <p:cNvSpPr txBox="1"/>
            <p:nvPr/>
          </p:nvSpPr>
          <p:spPr>
            <a:xfrm>
              <a:off x="9986962" y="4793456"/>
              <a:ext cx="1461254"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CBOOT 紧贴 HO/HS</a:t>
              </a:r>
            </a:p>
          </p:txBody>
        </p:sp>
        <p:sp>
          <p:nvSpPr>
            <p:cNvPr id="57" name="TextBox 57"/>
            <p:cNvSpPr txBox="1"/>
            <p:nvPr/>
          </p:nvSpPr>
          <p:spPr>
            <a:xfrm>
              <a:off x="9986962" y="5079206"/>
              <a:ext cx="1281232"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CVDD 紧贴供电脚</a:t>
              </a:r>
            </a:p>
          </p:txBody>
        </p:sp>
        <p:sp>
          <p:nvSpPr>
            <p:cNvPr id="58" name="TextBox 58"/>
            <p:cNvSpPr txBox="1"/>
            <p:nvPr/>
          </p:nvSpPr>
          <p:spPr>
            <a:xfrm>
              <a:off x="9986962" y="5364956"/>
              <a:ext cx="135624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高峰值充电路径短</a:t>
              </a:r>
            </a:p>
          </p:txBody>
        </p:sp>
        <p:sp>
          <p:nvSpPr>
            <p:cNvPr id="59" name="TextBox 59"/>
            <p:cNvSpPr txBox="1"/>
            <p:nvPr/>
          </p:nvSpPr>
          <p:spPr>
            <a:xfrm>
              <a:off x="9986962" y="5650706"/>
              <a:ext cx="1438751" cy="228600"/>
            </a:xfrm>
            <a:prstGeom prst="rect">
              <a:avLst/>
            </a:prstGeom>
            <a:noFill/>
            <a:ln>
              <a:noFill/>
            </a:ln>
          </p:spPr>
          <p:txBody>
            <a:bodyPr wrap="none" lIns="0" tIns="0" rIns="0" bIns="0" anchor="t" anchorCtr="0">
              <a:spAutoFit/>
            </a:bodyPr>
            <a:lstStyle/>
            <a:p>
              <a:pPr algn="l"/>
              <a:r>
                <a:rPr lang="zh-CN" sz="1125" dirty="0">
                  <a:solidFill>
                    <a:srgbClr val="1A1C1F"/>
                  </a:solidFill>
                  <a:latin typeface="Arial"/>
                  <a:ea typeface="Microsoft YaHei"/>
                  <a:cs typeface="Arial"/>
                </a:rPr>
                <a:t>● 高压/低压走线分离</a:t>
              </a:r>
            </a:p>
          </p:txBody>
        </p:sp>
      </p:grpSp>
      <p:grpSp>
        <p:nvGrpSpPr>
          <p:cNvPr id="64" name="Group 64"/>
          <p:cNvGrpSpPr/>
          <p:nvPr/>
        </p:nvGrpSpPr>
        <p:grpSpPr>
          <a:xfrm>
            <a:off x="444818" y="6514624"/>
            <a:ext cx="11302365" cy="198120"/>
            <a:chOff x="444818" y="6514624"/>
            <a:chExt cx="11302365" cy="198120"/>
          </a:xfrm>
        </p:grpSpPr>
        <p:sp>
          <p:nvSpPr>
            <p:cNvPr id="62" name="TextBox 62"/>
            <p:cNvSpPr txBox="1"/>
            <p:nvPr/>
          </p:nvSpPr>
          <p:spPr>
            <a:xfrm>
              <a:off x="444818" y="6514624"/>
              <a:ext cx="5836491" cy="198120"/>
            </a:xfrm>
            <a:prstGeom prst="rect">
              <a:avLst/>
            </a:prstGeom>
            <a:noFill/>
            <a:ln>
              <a:noFill/>
            </a:ln>
          </p:spPr>
          <p:txBody>
            <a:bodyPr wrap="none" lIns="0" tIns="0" rIns="0" bIns="0" anchor="t" anchorCtr="0">
              <a:spAutoFit/>
            </a:bodyPr>
            <a:lstStyle/>
            <a:p>
              <a:pPr algn="l"/>
              <a:r>
                <a:rPr lang="zh-CN" sz="975" dirty="0">
                  <a:solidFill>
                    <a:srgbClr val="5B6573"/>
                  </a:solidFill>
                  <a:latin typeface="Arial"/>
                  <a:ea typeface="Microsoft YaHei"/>
                  <a:cs typeface="Arial"/>
                </a:rPr>
                <a:t>本页使用官方参考图说明原则，后续应对当前 PCB 的功率级、Bootstrap、Gate 回路进行逐项复核。</a:t>
              </a:r>
            </a:p>
          </p:txBody>
        </p:sp>
        <p:sp>
          <p:nvSpPr>
            <p:cNvPr id="63" name="TextBox 63"/>
            <p:cNvSpPr txBox="1"/>
            <p:nvPr/>
          </p:nvSpPr>
          <p:spPr>
            <a:xfrm>
              <a:off x="11579400" y="6514624"/>
              <a:ext cx="167783" cy="198120"/>
            </a:xfrm>
            <a:prstGeom prst="rect">
              <a:avLst/>
            </a:prstGeom>
            <a:noFill/>
            <a:ln>
              <a:noFill/>
            </a:ln>
          </p:spPr>
          <p:txBody>
            <a:bodyPr wrap="none" lIns="0" tIns="0" rIns="0" bIns="0" anchor="t" anchorCtr="0">
              <a:spAutoFit/>
            </a:bodyPr>
            <a:lstStyle/>
            <a:p>
              <a:pPr algn="r"/>
              <a:r>
                <a:rPr lang="zh-CN" sz="975" dirty="0">
                  <a:solidFill>
                    <a:srgbClr val="5B6573"/>
                  </a:solidFill>
                  <a:latin typeface="Arial"/>
                  <a:ea typeface="Microsoft YaHei"/>
                  <a:cs typeface="Arial"/>
                </a:rPr>
                <a:t>04</a:t>
              </a:r>
            </a:p>
          </p:txBody>
        </p:sp>
      </p:grpSp>
      <p:sp>
        <p:nvSpPr>
          <p:cNvPr id="65" name="矩形 64">
            <a:extLst>
              <a:ext uri="{FF2B5EF4-FFF2-40B4-BE49-F238E27FC236}">
                <a16:creationId xmlns:a16="http://schemas.microsoft.com/office/drawing/2014/main" id="{79CF32A1-D592-6885-5558-2272CE22F18A}"/>
              </a:ext>
            </a:extLst>
          </p:cNvPr>
          <p:cNvSpPr/>
          <p:nvPr/>
        </p:nvSpPr>
        <p:spPr>
          <a:xfrm>
            <a:off x="7476251" y="5086350"/>
            <a:ext cx="438390" cy="1071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400"/>
                                        <p:tgtEl>
                                          <p:spTgt spid="30"/>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slide(fromBottom)">
                                      <p:cBhvr>
                                        <p:cTn id="11" dur="400"/>
                                        <p:tgtEl>
                                          <p:spTgt spid="3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image">
                                      <p:cBhvr>
                                        <p:cTn id="15" dur="400"/>
                                        <p:tgtEl>
                                          <p:spTgt spid="50"/>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9" grpId="0"/>
      <p:bldP spid="50" grpId="0"/>
      <p:bldP spid="6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51513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Layout——三相电流采样</a:t>
              </a:r>
            </a:p>
          </p:txBody>
        </p:sp>
      </p:grpSp>
      <p:grpSp>
        <p:nvGrpSpPr>
          <p:cNvPr id="25" name="Group 25"/>
          <p:cNvGrpSpPr/>
          <p:nvPr/>
        </p:nvGrpSpPr>
        <p:grpSpPr>
          <a:xfrm>
            <a:off x="457200" y="1028700"/>
            <a:ext cx="11277600" cy="1809750"/>
            <a:chOff x="457200" y="1028700"/>
            <a:chExt cx="11277600" cy="1809750"/>
          </a:xfrm>
        </p:grpSpPr>
        <p:sp>
          <p:nvSpPr>
            <p:cNvPr id="6" name="Rectangle 6"/>
            <p:cNvSpPr/>
            <p:nvPr/>
          </p:nvSpPr>
          <p:spPr>
            <a:xfrm>
              <a:off x="457200" y="1028700"/>
              <a:ext cx="11277600" cy="1809750"/>
            </a:xfrm>
            <a:prstGeom prst="rect">
              <a:avLst/>
            </a:prstGeom>
            <a:solidFill>
              <a:srgbClr val="F2F2F2"/>
            </a:solidFill>
            <a:ln w="9525">
              <a:solidFill>
                <a:srgbClr val="AFC7DD"/>
              </a:solidFill>
            </a:ln>
          </p:spPr>
        </p:sp>
        <p:sp>
          <p:nvSpPr>
            <p:cNvPr id="7" name="Rectangle 7"/>
            <p:cNvSpPr/>
            <p:nvPr/>
          </p:nvSpPr>
          <p:spPr>
            <a:xfrm>
              <a:off x="742950" y="1504950"/>
              <a:ext cx="2038350" cy="876300"/>
            </a:xfrm>
            <a:prstGeom prst="rect">
              <a:avLst/>
            </a:prstGeom>
            <a:solidFill>
              <a:srgbClr val="FFFFFF"/>
            </a:solidFill>
            <a:ln w="19050">
              <a:solidFill>
                <a:srgbClr val="0070C0"/>
              </a:solidFill>
            </a:ln>
          </p:spPr>
        </p:sp>
        <p:sp>
          <p:nvSpPr>
            <p:cNvPr id="8" name="TextBox 8"/>
            <p:cNvSpPr txBox="1"/>
            <p:nvPr/>
          </p:nvSpPr>
          <p:spPr>
            <a:xfrm>
              <a:off x="1080540" y="1639729"/>
              <a:ext cx="1363170"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三相分流电阻</a:t>
              </a:r>
            </a:p>
          </p:txBody>
        </p:sp>
        <p:sp>
          <p:nvSpPr>
            <p:cNvPr id="9" name="TextBox 9"/>
            <p:cNvSpPr txBox="1"/>
            <p:nvPr/>
          </p:nvSpPr>
          <p:spPr>
            <a:xfrm>
              <a:off x="745855" y="1959292"/>
              <a:ext cx="203254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R10 / R11 / R12 · 10 mΩ</a:t>
              </a:r>
            </a:p>
          </p:txBody>
        </p:sp>
        <p:sp>
          <p:nvSpPr>
            <p:cNvPr id="10" name="Line 10"/>
            <p:cNvSpPr/>
            <p:nvPr/>
          </p:nvSpPr>
          <p:spPr>
            <a:xfrm>
              <a:off x="27813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11" name="Polygon 11"/>
            <p:cNvSpPr/>
            <p:nvPr/>
          </p:nvSpPr>
          <p:spPr>
            <a:xfrm>
              <a:off x="32004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12" name="Rectangle 12"/>
            <p:cNvSpPr/>
            <p:nvPr/>
          </p:nvSpPr>
          <p:spPr>
            <a:xfrm>
              <a:off x="3333750" y="1504950"/>
              <a:ext cx="2038350" cy="876300"/>
            </a:xfrm>
            <a:prstGeom prst="rect">
              <a:avLst/>
            </a:prstGeom>
            <a:solidFill>
              <a:srgbClr val="FFFFFF"/>
            </a:solidFill>
            <a:ln w="19050">
              <a:solidFill>
                <a:srgbClr val="0070C0"/>
              </a:solidFill>
            </a:ln>
          </p:spPr>
        </p:sp>
        <p:sp>
          <p:nvSpPr>
            <p:cNvPr id="13" name="TextBox 13"/>
            <p:cNvSpPr txBox="1"/>
            <p:nvPr/>
          </p:nvSpPr>
          <p:spPr>
            <a:xfrm>
              <a:off x="3875328" y="1639729"/>
              <a:ext cx="955194"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INA240A1</a:t>
              </a:r>
            </a:p>
          </p:txBody>
        </p:sp>
        <p:sp>
          <p:nvSpPr>
            <p:cNvPr id="14" name="TextBox 14"/>
            <p:cNvSpPr txBox="1"/>
            <p:nvPr/>
          </p:nvSpPr>
          <p:spPr>
            <a:xfrm>
              <a:off x="3854220" y="1959292"/>
              <a:ext cx="99741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增益 20 V/V</a:t>
              </a:r>
            </a:p>
          </p:txBody>
        </p:sp>
        <p:sp>
          <p:nvSpPr>
            <p:cNvPr id="15" name="Line 15"/>
            <p:cNvSpPr/>
            <p:nvPr/>
          </p:nvSpPr>
          <p:spPr>
            <a:xfrm>
              <a:off x="53721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16" name="Polygon 16"/>
            <p:cNvSpPr/>
            <p:nvPr/>
          </p:nvSpPr>
          <p:spPr>
            <a:xfrm>
              <a:off x="57912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17" name="Rectangle 17"/>
            <p:cNvSpPr/>
            <p:nvPr/>
          </p:nvSpPr>
          <p:spPr>
            <a:xfrm>
              <a:off x="5924550" y="1504950"/>
              <a:ext cx="2038350" cy="876300"/>
            </a:xfrm>
            <a:prstGeom prst="rect">
              <a:avLst/>
            </a:prstGeom>
            <a:solidFill>
              <a:srgbClr val="FFFFFF"/>
            </a:solidFill>
            <a:ln w="19050">
              <a:solidFill>
                <a:srgbClr val="0070C0"/>
              </a:solidFill>
            </a:ln>
          </p:spPr>
        </p:sp>
        <p:sp>
          <p:nvSpPr>
            <p:cNvPr id="18" name="TextBox 18"/>
            <p:cNvSpPr txBox="1"/>
            <p:nvPr/>
          </p:nvSpPr>
          <p:spPr>
            <a:xfrm>
              <a:off x="6295219" y="1639729"/>
              <a:ext cx="1297012"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输出 RC 滤波</a:t>
              </a:r>
            </a:p>
          </p:txBody>
        </p:sp>
        <p:sp>
          <p:nvSpPr>
            <p:cNvPr id="19" name="TextBox 19"/>
            <p:cNvSpPr txBox="1"/>
            <p:nvPr/>
          </p:nvSpPr>
          <p:spPr>
            <a:xfrm>
              <a:off x="5913953" y="1959292"/>
              <a:ext cx="2059543"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抑制开关尖峰与 ADC 混叠</a:t>
              </a:r>
            </a:p>
          </p:txBody>
        </p:sp>
        <p:sp>
          <p:nvSpPr>
            <p:cNvPr id="20" name="Line 20"/>
            <p:cNvSpPr/>
            <p:nvPr/>
          </p:nvSpPr>
          <p:spPr>
            <a:xfrm>
              <a:off x="7962900" y="1943100"/>
              <a:ext cx="552450" cy="9525"/>
            </a:xfrm>
            <a:custGeom>
              <a:avLst/>
              <a:gdLst/>
              <a:ahLst/>
              <a:cxnLst/>
              <a:rect l="l" t="t" r="r" b="b"/>
              <a:pathLst>
                <a:path w="552450" h="9525">
                  <a:moveTo>
                    <a:pt x="0" y="0"/>
                  </a:moveTo>
                  <a:lnTo>
                    <a:pt x="552450" y="0"/>
                  </a:lnTo>
                </a:path>
              </a:pathLst>
            </a:custGeom>
            <a:noFill/>
            <a:ln w="38100">
              <a:solidFill>
                <a:srgbClr val="0070C0"/>
              </a:solidFill>
            </a:ln>
          </p:spPr>
        </p:sp>
        <p:sp>
          <p:nvSpPr>
            <p:cNvPr id="21" name="Polygon 21"/>
            <p:cNvSpPr/>
            <p:nvPr/>
          </p:nvSpPr>
          <p:spPr>
            <a:xfrm>
              <a:off x="8382000" y="1866900"/>
              <a:ext cx="133350" cy="152400"/>
            </a:xfrm>
            <a:custGeom>
              <a:avLst/>
              <a:gdLst/>
              <a:ahLst/>
              <a:cxnLst/>
              <a:rect l="l" t="t" r="r" b="b"/>
              <a:pathLst>
                <a:path w="133350" h="152400">
                  <a:moveTo>
                    <a:pt x="133350" y="76200"/>
                  </a:moveTo>
                  <a:lnTo>
                    <a:pt x="0" y="0"/>
                  </a:lnTo>
                  <a:lnTo>
                    <a:pt x="0" y="152400"/>
                  </a:lnTo>
                  <a:close/>
                </a:path>
              </a:pathLst>
            </a:custGeom>
            <a:solidFill>
              <a:srgbClr val="0070C0"/>
            </a:solidFill>
            <a:ln>
              <a:noFill/>
            </a:ln>
          </p:spPr>
        </p:sp>
        <p:sp>
          <p:nvSpPr>
            <p:cNvPr id="22" name="Rectangle 22"/>
            <p:cNvSpPr/>
            <p:nvPr/>
          </p:nvSpPr>
          <p:spPr>
            <a:xfrm>
              <a:off x="8515350" y="1504950"/>
              <a:ext cx="2933700" cy="876300"/>
            </a:xfrm>
            <a:prstGeom prst="rect">
              <a:avLst/>
            </a:prstGeom>
            <a:solidFill>
              <a:srgbClr val="FFFFFF"/>
            </a:solidFill>
            <a:ln w="19050">
              <a:solidFill>
                <a:srgbClr val="0070C0"/>
              </a:solidFill>
            </a:ln>
          </p:spPr>
        </p:sp>
        <p:sp>
          <p:nvSpPr>
            <p:cNvPr id="23" name="TextBox 23"/>
            <p:cNvSpPr txBox="1"/>
            <p:nvPr/>
          </p:nvSpPr>
          <p:spPr>
            <a:xfrm>
              <a:off x="9179325" y="1639729"/>
              <a:ext cx="1605751" cy="320040"/>
            </a:xfrm>
            <a:prstGeom prst="rect">
              <a:avLst/>
            </a:prstGeom>
            <a:noFill/>
            <a:ln>
              <a:noFill/>
            </a:ln>
          </p:spPr>
          <p:txBody>
            <a:bodyPr wrap="none" lIns="0" tIns="0" rIns="0" bIns="0" anchor="t" anchorCtr="0">
              <a:spAutoFit/>
            </a:bodyPr>
            <a:lstStyle/>
            <a:p>
              <a:pPr algn="ctr"/>
              <a:r>
                <a:rPr lang="zh-CN" sz="1575" b="1" dirty="0">
                  <a:solidFill>
                    <a:srgbClr val="005A9C"/>
                  </a:solidFill>
                  <a:latin typeface="Arial"/>
                  <a:ea typeface="Microsoft YaHei"/>
                  <a:cs typeface="Arial"/>
                </a:rPr>
                <a:t>STM32G431 ADC</a:t>
              </a:r>
            </a:p>
          </p:txBody>
        </p:sp>
        <p:sp>
          <p:nvSpPr>
            <p:cNvPr id="24" name="TextBox 24"/>
            <p:cNvSpPr txBox="1"/>
            <p:nvPr/>
          </p:nvSpPr>
          <p:spPr>
            <a:xfrm>
              <a:off x="8844415" y="1959292"/>
              <a:ext cx="2275570" cy="274320"/>
            </a:xfrm>
            <a:prstGeom prst="rect">
              <a:avLst/>
            </a:prstGeom>
            <a:noFill/>
            <a:ln>
              <a:noFill/>
            </a:ln>
          </p:spPr>
          <p:txBody>
            <a:bodyPr wrap="none" lIns="0" tIns="0" rIns="0" bIns="0" anchor="t" anchorCtr="0">
              <a:spAutoFit/>
            </a:bodyPr>
            <a:lstStyle/>
            <a:p>
              <a:pPr algn="ctr"/>
              <a:r>
                <a:rPr lang="zh-CN" sz="1350" dirty="0">
                  <a:solidFill>
                    <a:srgbClr val="5B6573"/>
                  </a:solidFill>
                  <a:latin typeface="Arial"/>
                  <a:ea typeface="Microsoft YaHei"/>
                  <a:cs typeface="Arial"/>
                </a:rPr>
                <a:t>同步采样并进入 FOC 电流环</a:t>
              </a:r>
            </a:p>
          </p:txBody>
        </p:sp>
      </p:grpSp>
      <p:grpSp>
        <p:nvGrpSpPr>
          <p:cNvPr id="36" name="Group 36"/>
          <p:cNvGrpSpPr/>
          <p:nvPr/>
        </p:nvGrpSpPr>
        <p:grpSpPr>
          <a:xfrm>
            <a:off x="457200" y="3009900"/>
            <a:ext cx="5200650" cy="3105150"/>
            <a:chOff x="457200" y="3009900"/>
            <a:chExt cx="5200650" cy="3105150"/>
          </a:xfrm>
        </p:grpSpPr>
        <p:sp>
          <p:nvSpPr>
            <p:cNvPr id="26" name="Rectangle 26"/>
            <p:cNvSpPr/>
            <p:nvPr/>
          </p:nvSpPr>
          <p:spPr>
            <a:xfrm>
              <a:off x="457200" y="3009900"/>
              <a:ext cx="5200650" cy="3105150"/>
            </a:xfrm>
            <a:prstGeom prst="rect">
              <a:avLst/>
            </a:prstGeom>
            <a:solidFill>
              <a:srgbClr val="FFFFFF"/>
            </a:solidFill>
            <a:ln w="9525">
              <a:solidFill>
                <a:srgbClr val="AFC7DD"/>
              </a:solidFill>
            </a:ln>
          </p:spPr>
        </p:sp>
        <p:sp>
          <p:nvSpPr>
            <p:cNvPr id="27" name="Rectangle 27"/>
            <p:cNvSpPr/>
            <p:nvPr/>
          </p:nvSpPr>
          <p:spPr>
            <a:xfrm>
              <a:off x="457200" y="3009900"/>
              <a:ext cx="5200650" cy="400050"/>
            </a:xfrm>
            <a:prstGeom prst="rect">
              <a:avLst/>
            </a:prstGeom>
            <a:solidFill>
              <a:srgbClr val="0070C0"/>
            </a:solidFill>
            <a:ln>
              <a:noFill/>
            </a:ln>
          </p:spPr>
        </p:sp>
        <p:sp>
          <p:nvSpPr>
            <p:cNvPr id="28" name="TextBox 28"/>
            <p:cNvSpPr txBox="1"/>
            <p:nvPr/>
          </p:nvSpPr>
          <p:spPr>
            <a:xfrm>
              <a:off x="2375940" y="3116104"/>
              <a:ext cx="1363170"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采样布局要点</a:t>
              </a:r>
            </a:p>
          </p:txBody>
        </p:sp>
        <p:sp>
          <p:nvSpPr>
            <p:cNvPr id="29" name="TextBox 29"/>
            <p:cNvSpPr txBox="1"/>
            <p:nvPr/>
          </p:nvSpPr>
          <p:spPr>
            <a:xfrm>
              <a:off x="724852" y="3656171"/>
              <a:ext cx="3124081"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分流电阻两端采用 Kelvin 四线取样</a:t>
              </a:r>
            </a:p>
          </p:txBody>
        </p:sp>
        <p:sp>
          <p:nvSpPr>
            <p:cNvPr id="30" name="TextBox 30"/>
            <p:cNvSpPr txBox="1"/>
            <p:nvPr/>
          </p:nvSpPr>
          <p:spPr>
            <a:xfrm>
              <a:off x="724852" y="4037171"/>
              <a:ext cx="4055197"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IN+ / IN− 成对、等长并避开 SHx 与 Gate 节点</a:t>
              </a:r>
            </a:p>
          </p:txBody>
        </p:sp>
        <p:sp>
          <p:nvSpPr>
            <p:cNvPr id="31" name="TextBox 31"/>
            <p:cNvSpPr txBox="1"/>
            <p:nvPr/>
          </p:nvSpPr>
          <p:spPr>
            <a:xfrm>
              <a:off x="724852" y="4418171"/>
              <a:ext cx="3684651"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INA240 紧靠分流电阻，缩小差分采样环路</a:t>
              </a:r>
            </a:p>
          </p:txBody>
        </p:sp>
        <p:sp>
          <p:nvSpPr>
            <p:cNvPr id="32" name="TextBox 32"/>
            <p:cNvSpPr txBox="1"/>
            <p:nvPr/>
          </p:nvSpPr>
          <p:spPr>
            <a:xfrm>
              <a:off x="724852" y="4799171"/>
              <a:ext cx="2734532"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0.1 μF 去耦电容紧贴电源引脚</a:t>
              </a:r>
            </a:p>
          </p:txBody>
        </p:sp>
        <p:sp>
          <p:nvSpPr>
            <p:cNvPr id="33" name="TextBox 33"/>
            <p:cNvSpPr txBox="1"/>
            <p:nvPr/>
          </p:nvSpPr>
          <p:spPr>
            <a:xfrm>
              <a:off x="724852" y="5180171"/>
              <a:ext cx="3798665" cy="289560"/>
            </a:xfrm>
            <a:prstGeom prst="rect">
              <a:avLst/>
            </a:prstGeom>
            <a:noFill/>
            <a:ln>
              <a:noFill/>
            </a:ln>
          </p:spPr>
          <p:txBody>
            <a:bodyPr wrap="none" lIns="0" tIns="0" rIns="0" bIns="0" anchor="t" anchorCtr="0">
              <a:spAutoFit/>
            </a:bodyPr>
            <a:lstStyle/>
            <a:p>
              <a:pPr algn="l"/>
              <a:r>
                <a:rPr lang="zh-CN" sz="1425" dirty="0">
                  <a:solidFill>
                    <a:srgbClr val="1A1C1F"/>
                  </a:solidFill>
                  <a:latin typeface="Arial"/>
                  <a:ea typeface="Microsoft YaHei"/>
                  <a:cs typeface="Arial"/>
                </a:rPr>
                <a:t>● 输出滤波器靠近 ADC，走线参考连续地平面</a:t>
              </a:r>
            </a:p>
          </p:txBody>
        </p:sp>
        <p:sp>
          <p:nvSpPr>
            <p:cNvPr id="34" name="Rectangle 34"/>
            <p:cNvSpPr/>
            <p:nvPr/>
          </p:nvSpPr>
          <p:spPr>
            <a:xfrm>
              <a:off x="742950" y="5543550"/>
              <a:ext cx="4629150" cy="381000"/>
            </a:xfrm>
            <a:prstGeom prst="rect">
              <a:avLst/>
            </a:prstGeom>
            <a:solidFill>
              <a:srgbClr val="EDF8F4"/>
            </a:solidFill>
            <a:ln>
              <a:noFill/>
            </a:ln>
          </p:spPr>
        </p:sp>
        <p:sp>
          <p:nvSpPr>
            <p:cNvPr id="35" name="TextBox 35"/>
            <p:cNvSpPr txBox="1"/>
            <p:nvPr/>
          </p:nvSpPr>
          <p:spPr>
            <a:xfrm>
              <a:off x="1466758" y="5645468"/>
              <a:ext cx="3181533" cy="274320"/>
            </a:xfrm>
            <a:prstGeom prst="rect">
              <a:avLst/>
            </a:prstGeom>
            <a:noFill/>
            <a:ln>
              <a:noFill/>
            </a:ln>
          </p:spPr>
          <p:txBody>
            <a:bodyPr wrap="none" lIns="0" tIns="0" rIns="0" bIns="0" anchor="t" anchorCtr="0">
              <a:spAutoFit/>
            </a:bodyPr>
            <a:lstStyle/>
            <a:p>
              <a:pPr algn="ctr"/>
              <a:r>
                <a:rPr lang="zh-CN" sz="1350" b="1" dirty="0">
                  <a:solidFill>
                    <a:srgbClr val="005A9C"/>
                  </a:solidFill>
                  <a:latin typeface="Arial"/>
                  <a:ea typeface="Microsoft YaHei"/>
                  <a:cs typeface="Arial"/>
                </a:rPr>
                <a:t>采样比例：10 mΩ × 20 V/V = 0.2 V/A</a:t>
              </a:r>
            </a:p>
          </p:txBody>
        </p:sp>
      </p:grpSp>
      <p:sp>
        <p:nvSpPr>
          <p:cNvPr id="37" name="Rectangle 37"/>
          <p:cNvSpPr/>
          <p:nvPr/>
        </p:nvSpPr>
        <p:spPr>
          <a:xfrm>
            <a:off x="5848350" y="3009900"/>
            <a:ext cx="5886450" cy="3105150"/>
          </a:xfrm>
          <a:prstGeom prst="rect">
            <a:avLst/>
          </a:prstGeom>
          <a:solidFill>
            <a:srgbClr val="FFF2F2"/>
          </a:solidFill>
          <a:ln w="19050">
            <a:solidFill>
              <a:srgbClr val="C00000"/>
            </a:solidFill>
            <a:custDash>
              <a:ds d="500000" sp="400000"/>
            </a:custDash>
          </a:ln>
        </p:spPr>
        <p:txBody>
          <a:bodyPr/>
          <a:lstStyle/>
          <a:p>
            <a:endParaRPr lang="zh-CN" altLang="en-US"/>
          </a:p>
        </p:txBody>
      </p:sp>
      <p:pic>
        <p:nvPicPr>
          <p:cNvPr id="47" name="图片 46">
            <a:extLst>
              <a:ext uri="{FF2B5EF4-FFF2-40B4-BE49-F238E27FC236}">
                <a16:creationId xmlns:a16="http://schemas.microsoft.com/office/drawing/2014/main" id="{6E387CF9-84A0-285A-F6C6-6606AD40FC29}"/>
              </a:ext>
            </a:extLst>
          </p:cNvPr>
          <p:cNvPicPr>
            <a:picLocks noChangeAspect="1"/>
          </p:cNvPicPr>
          <p:nvPr/>
        </p:nvPicPr>
        <p:blipFill>
          <a:blip r:embed="rId3"/>
          <a:stretch>
            <a:fillRect/>
          </a:stretch>
        </p:blipFill>
        <p:spPr>
          <a:xfrm>
            <a:off x="5924550" y="3074720"/>
            <a:ext cx="3750780" cy="2982703"/>
          </a:xfrm>
          <a:prstGeom prst="rect">
            <a:avLst/>
          </a:prstGeom>
        </p:spPr>
      </p:pic>
      <p:sp>
        <p:nvSpPr>
          <p:cNvPr id="49" name="椭圆 48">
            <a:extLst>
              <a:ext uri="{FF2B5EF4-FFF2-40B4-BE49-F238E27FC236}">
                <a16:creationId xmlns:a16="http://schemas.microsoft.com/office/drawing/2014/main" id="{40DCCA3C-1F9F-CF4E-66DF-D2A6F371C057}"/>
              </a:ext>
            </a:extLst>
          </p:cNvPr>
          <p:cNvSpPr/>
          <p:nvPr/>
        </p:nvSpPr>
        <p:spPr>
          <a:xfrm>
            <a:off x="8085207" y="4562475"/>
            <a:ext cx="593585" cy="57150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a:extLst>
              <a:ext uri="{FF2B5EF4-FFF2-40B4-BE49-F238E27FC236}">
                <a16:creationId xmlns:a16="http://schemas.microsoft.com/office/drawing/2014/main" id="{3F6A9FE1-220B-2BCE-5454-38225CFD8746}"/>
              </a:ext>
            </a:extLst>
          </p:cNvPr>
          <p:cNvSpPr/>
          <p:nvPr/>
        </p:nvSpPr>
        <p:spPr>
          <a:xfrm>
            <a:off x="7264174" y="3173576"/>
            <a:ext cx="773144" cy="744379"/>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65074124-B720-F840-15A5-1EAFD91C19EB}"/>
              </a:ext>
            </a:extLst>
          </p:cNvPr>
          <p:cNvSpPr txBox="1"/>
          <p:nvPr/>
        </p:nvSpPr>
        <p:spPr>
          <a:xfrm>
            <a:off x="9675330" y="3158013"/>
            <a:ext cx="2135670" cy="2504532"/>
          </a:xfrm>
          <a:prstGeom prst="rect">
            <a:avLst/>
          </a:prstGeom>
          <a:noFill/>
        </p:spPr>
        <p:txBody>
          <a:bodyPr wrap="square">
            <a:spAutoFit/>
          </a:bodyPr>
          <a:lstStyle/>
          <a:p>
            <a:r>
              <a:rPr lang="zh-CN" altLang="en-US" sz="1425" dirty="0">
                <a:solidFill>
                  <a:srgbClr val="1A1C1F"/>
                </a:solidFill>
                <a:latin typeface="Arial"/>
                <a:ea typeface="Microsoft YaHei"/>
                <a:cs typeface="Arial"/>
              </a:rPr>
              <a:t>电流采样 </a:t>
            </a:r>
            <a:r>
              <a:rPr lang="en-US" altLang="zh-CN" sz="1425" dirty="0">
                <a:solidFill>
                  <a:srgbClr val="1A1C1F"/>
                </a:solidFill>
                <a:latin typeface="Arial"/>
                <a:ea typeface="Microsoft YaHei"/>
                <a:cs typeface="Arial"/>
              </a:rPr>
              <a:t>VS </a:t>
            </a:r>
            <a:r>
              <a:rPr lang="zh-CN" altLang="en-US" sz="1425" dirty="0">
                <a:solidFill>
                  <a:srgbClr val="1A1C1F"/>
                </a:solidFill>
                <a:latin typeface="Arial"/>
                <a:ea typeface="Microsoft YaHei"/>
                <a:cs typeface="Arial"/>
              </a:rPr>
              <a:t>与 </a:t>
            </a:r>
            <a:r>
              <a:rPr lang="en-US" altLang="zh-CN" sz="1425" dirty="0">
                <a:solidFill>
                  <a:srgbClr val="1A1C1F"/>
                </a:solidFill>
                <a:latin typeface="Arial"/>
                <a:ea typeface="Microsoft YaHei"/>
                <a:cs typeface="Arial"/>
              </a:rPr>
              <a:t>GND </a:t>
            </a:r>
            <a:r>
              <a:rPr lang="zh-CN" altLang="en-US" sz="1425" dirty="0">
                <a:solidFill>
                  <a:srgbClr val="1A1C1F"/>
                </a:solidFill>
                <a:latin typeface="Arial"/>
                <a:ea typeface="Microsoft YaHei"/>
                <a:cs typeface="Arial"/>
              </a:rPr>
              <a:t>之间放置 </a:t>
            </a:r>
            <a:r>
              <a:rPr lang="en-US" altLang="zh-CN" sz="1425" dirty="0">
                <a:solidFill>
                  <a:srgbClr val="1A1C1F"/>
                </a:solidFill>
                <a:latin typeface="Arial"/>
                <a:ea typeface="Microsoft YaHei"/>
                <a:cs typeface="Arial"/>
              </a:rPr>
              <a:t>0.1 </a:t>
            </a:r>
            <a:r>
              <a:rPr lang="en-US" altLang="zh-CN" sz="1425" dirty="0" err="1">
                <a:solidFill>
                  <a:srgbClr val="1A1C1F"/>
                </a:solidFill>
                <a:latin typeface="Arial"/>
                <a:ea typeface="Microsoft YaHei"/>
                <a:cs typeface="Arial"/>
              </a:rPr>
              <a:t>μF</a:t>
            </a:r>
            <a:r>
              <a:rPr lang="en-US" altLang="zh-CN" sz="1425" dirty="0">
                <a:solidFill>
                  <a:srgbClr val="1A1C1F"/>
                </a:solidFill>
                <a:latin typeface="Arial"/>
                <a:ea typeface="Microsoft YaHei"/>
                <a:cs typeface="Arial"/>
              </a:rPr>
              <a:t> </a:t>
            </a:r>
            <a:r>
              <a:rPr lang="zh-CN" altLang="en-US" sz="1425" dirty="0">
                <a:solidFill>
                  <a:srgbClr val="1A1C1F"/>
                </a:solidFill>
                <a:latin typeface="Arial"/>
                <a:ea typeface="Microsoft YaHei"/>
                <a:cs typeface="Arial"/>
              </a:rPr>
              <a:t>去耦电容，尽量贴近芯片电源引脚，回流路径短且直接接入参考地平面，滤除电源噪声。</a:t>
            </a:r>
            <a:endParaRPr lang="en-US" altLang="zh-CN" sz="1425" dirty="0">
              <a:solidFill>
                <a:srgbClr val="1A1C1F"/>
              </a:solidFill>
              <a:latin typeface="Arial"/>
              <a:ea typeface="Microsoft YaHei"/>
              <a:cs typeface="Arial"/>
            </a:endParaRPr>
          </a:p>
          <a:p>
            <a:endParaRPr lang="en-US" altLang="zh-CN" sz="1425" dirty="0">
              <a:solidFill>
                <a:srgbClr val="1A1C1F"/>
              </a:solidFill>
              <a:latin typeface="Arial"/>
              <a:ea typeface="Microsoft YaHei"/>
              <a:cs typeface="Arial"/>
            </a:endParaRPr>
          </a:p>
          <a:p>
            <a:endParaRPr lang="en-US" altLang="zh-CN" sz="1425" dirty="0">
              <a:solidFill>
                <a:srgbClr val="1A1C1F"/>
              </a:solidFill>
              <a:latin typeface="Arial"/>
              <a:ea typeface="Microsoft YaHei"/>
              <a:cs typeface="Arial"/>
            </a:endParaRPr>
          </a:p>
          <a:p>
            <a:r>
              <a:rPr lang="en-US" altLang="zh-CN" sz="1425" dirty="0">
                <a:solidFill>
                  <a:srgbClr val="1A1C1F"/>
                </a:solidFill>
                <a:latin typeface="Arial"/>
                <a:ea typeface="Microsoft YaHei"/>
                <a:cs typeface="Arial"/>
              </a:rPr>
              <a:t>Kelvin</a:t>
            </a:r>
            <a:r>
              <a:rPr lang="zh-CN" altLang="en-US" sz="1425" dirty="0">
                <a:solidFill>
                  <a:srgbClr val="1A1C1F"/>
                </a:solidFill>
                <a:latin typeface="Arial"/>
                <a:ea typeface="Microsoft YaHei"/>
                <a:cs typeface="Arial"/>
              </a:rPr>
              <a:t>采样连接，避免功率铜皮和焊盘压降进入采样结果。</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left)">
                                      <p:cBhvr>
                                        <p:cTn id="11"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5235226"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Layout——编码器与隔离通信</a:t>
              </a:r>
            </a:p>
          </p:txBody>
        </p:sp>
      </p:grpSp>
      <p:sp>
        <p:nvSpPr>
          <p:cNvPr id="6" name="Rectangle 6"/>
          <p:cNvSpPr/>
          <p:nvPr/>
        </p:nvSpPr>
        <p:spPr>
          <a:xfrm>
            <a:off x="457200" y="1028700"/>
            <a:ext cx="5467350" cy="5124450"/>
          </a:xfrm>
          <a:prstGeom prst="rect">
            <a:avLst/>
          </a:prstGeom>
          <a:solidFill>
            <a:srgbClr val="FFFFFF"/>
          </a:solidFill>
          <a:ln w="9525">
            <a:solidFill>
              <a:srgbClr val="AFC7DD"/>
            </a:solidFill>
          </a:ln>
        </p:spPr>
      </p:sp>
      <p:sp>
        <p:nvSpPr>
          <p:cNvPr id="7" name="Rectangle 7"/>
          <p:cNvSpPr/>
          <p:nvPr/>
        </p:nvSpPr>
        <p:spPr>
          <a:xfrm>
            <a:off x="457200" y="1028700"/>
            <a:ext cx="5467350" cy="419100"/>
          </a:xfrm>
          <a:prstGeom prst="rect">
            <a:avLst/>
          </a:prstGeom>
          <a:solidFill>
            <a:srgbClr val="0070C0"/>
          </a:solidFill>
          <a:ln>
            <a:noFill/>
          </a:ln>
        </p:spPr>
      </p:sp>
      <p:sp>
        <p:nvSpPr>
          <p:cNvPr id="8" name="TextBox 8"/>
          <p:cNvSpPr txBox="1"/>
          <p:nvPr/>
        </p:nvSpPr>
        <p:spPr>
          <a:xfrm>
            <a:off x="2090287" y="1144429"/>
            <a:ext cx="2201175"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MA600A 磁编码器布局</a:t>
            </a:r>
          </a:p>
        </p:txBody>
      </p:sp>
      <p:sp>
        <p:nvSpPr>
          <p:cNvPr id="14" name="TextBox 14"/>
          <p:cNvSpPr txBox="1"/>
          <p:nvPr/>
        </p:nvSpPr>
        <p:spPr>
          <a:xfrm>
            <a:off x="725805" y="41119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传感器中心与电机轴心对齐，减少偏心角误差</a:t>
            </a:r>
          </a:p>
        </p:txBody>
      </p:sp>
      <p:sp>
        <p:nvSpPr>
          <p:cNvPr id="15" name="TextBox 15"/>
          <p:cNvSpPr txBox="1"/>
          <p:nvPr/>
        </p:nvSpPr>
        <p:spPr>
          <a:xfrm>
            <a:off x="725805" y="44548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大电流铜皮与开关节点远离传感器及磁钢区域</a:t>
            </a:r>
          </a:p>
        </p:txBody>
      </p:sp>
      <p:sp>
        <p:nvSpPr>
          <p:cNvPr id="16" name="TextBox 16"/>
          <p:cNvSpPr txBox="1"/>
          <p:nvPr/>
        </p:nvSpPr>
        <p:spPr>
          <a:xfrm>
            <a:off x="725805" y="4797742"/>
            <a:ext cx="4324902" cy="207749"/>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电容等磁性敏感器件距芯片中心至少 5 mm</a:t>
            </a:r>
            <a:r>
              <a:rPr lang="en-US" altLang="zh-CN" sz="1350" dirty="0">
                <a:solidFill>
                  <a:srgbClr val="1A1C1F"/>
                </a:solidFill>
                <a:latin typeface="Arial"/>
                <a:ea typeface="Microsoft YaHei"/>
                <a:cs typeface="Arial"/>
              </a:rPr>
              <a:t>,</a:t>
            </a:r>
            <a:r>
              <a:rPr lang="zh-CN" altLang="en-US" sz="1350">
                <a:solidFill>
                  <a:srgbClr val="1A1C1F"/>
                </a:solidFill>
                <a:latin typeface="Arial"/>
                <a:ea typeface="Microsoft YaHei"/>
                <a:cs typeface="Arial"/>
              </a:rPr>
              <a:t>丝印已标出</a:t>
            </a:r>
            <a:endParaRPr lang="zh-CN" sz="1350" dirty="0">
              <a:solidFill>
                <a:srgbClr val="1A1C1F"/>
              </a:solidFill>
              <a:latin typeface="Arial"/>
              <a:ea typeface="Microsoft YaHei"/>
              <a:cs typeface="Arial"/>
            </a:endParaRPr>
          </a:p>
        </p:txBody>
      </p:sp>
      <p:sp>
        <p:nvSpPr>
          <p:cNvPr id="17" name="TextBox 17"/>
          <p:cNvSpPr txBox="1"/>
          <p:nvPr/>
        </p:nvSpPr>
        <p:spPr>
          <a:xfrm>
            <a:off x="725805" y="5140642"/>
            <a:ext cx="42288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SPI 线短且参考完整地，可预留 200 Ω / 10 pF 滤波</a:t>
            </a:r>
          </a:p>
        </p:txBody>
      </p:sp>
      <p:sp>
        <p:nvSpPr>
          <p:cNvPr id="18" name="Rectangle 18"/>
          <p:cNvSpPr/>
          <p:nvPr/>
        </p:nvSpPr>
        <p:spPr>
          <a:xfrm>
            <a:off x="742950" y="5638800"/>
            <a:ext cx="4686300" cy="323850"/>
          </a:xfrm>
          <a:prstGeom prst="rect">
            <a:avLst/>
          </a:prstGeom>
          <a:solidFill>
            <a:srgbClr val="EDF8F4"/>
          </a:solidFill>
          <a:ln>
            <a:noFill/>
          </a:ln>
        </p:spPr>
      </p:sp>
      <p:sp>
        <p:nvSpPr>
          <p:cNvPr id="19" name="TextBox 19"/>
          <p:cNvSpPr txBox="1"/>
          <p:nvPr/>
        </p:nvSpPr>
        <p:spPr>
          <a:xfrm>
            <a:off x="1547217" y="5728335"/>
            <a:ext cx="3077766" cy="184666"/>
          </a:xfrm>
          <a:prstGeom prst="rect">
            <a:avLst/>
          </a:prstGeom>
          <a:noFill/>
          <a:ln>
            <a:noFill/>
          </a:ln>
        </p:spPr>
        <p:txBody>
          <a:bodyPr wrap="none" lIns="0" tIns="0" rIns="0" bIns="0" anchor="t" anchorCtr="0">
            <a:spAutoFit/>
          </a:bodyPr>
          <a:lstStyle/>
          <a:p>
            <a:pPr algn="ctr"/>
            <a:r>
              <a:rPr lang="zh-CN" sz="1200" b="1" dirty="0">
                <a:solidFill>
                  <a:srgbClr val="005A9C"/>
                </a:solidFill>
                <a:latin typeface="Arial"/>
                <a:ea typeface="Microsoft YaHei"/>
                <a:cs typeface="Arial"/>
              </a:rPr>
              <a:t>保证角度反馈稳定，降低电流环与位置环抖动</a:t>
            </a:r>
          </a:p>
        </p:txBody>
      </p:sp>
      <p:sp>
        <p:nvSpPr>
          <p:cNvPr id="21" name="Rectangle 21"/>
          <p:cNvSpPr/>
          <p:nvPr/>
        </p:nvSpPr>
        <p:spPr>
          <a:xfrm>
            <a:off x="6115050" y="1028700"/>
            <a:ext cx="5619750" cy="5124450"/>
          </a:xfrm>
          <a:prstGeom prst="rect">
            <a:avLst/>
          </a:prstGeom>
          <a:solidFill>
            <a:srgbClr val="FFFFFF"/>
          </a:solidFill>
          <a:ln w="9525">
            <a:solidFill>
              <a:srgbClr val="AFC7DD"/>
            </a:solidFill>
          </a:ln>
        </p:spPr>
      </p:sp>
      <p:sp>
        <p:nvSpPr>
          <p:cNvPr id="22" name="Rectangle 22"/>
          <p:cNvSpPr/>
          <p:nvPr/>
        </p:nvSpPr>
        <p:spPr>
          <a:xfrm>
            <a:off x="6115050" y="1028700"/>
            <a:ext cx="5619750" cy="419100"/>
          </a:xfrm>
          <a:prstGeom prst="rect">
            <a:avLst/>
          </a:prstGeom>
          <a:solidFill>
            <a:srgbClr val="0070C0"/>
          </a:solidFill>
          <a:ln>
            <a:noFill/>
          </a:ln>
        </p:spPr>
      </p:sp>
      <p:sp>
        <p:nvSpPr>
          <p:cNvPr id="23" name="TextBox 23"/>
          <p:cNvSpPr txBox="1"/>
          <p:nvPr/>
        </p:nvSpPr>
        <p:spPr>
          <a:xfrm>
            <a:off x="7322637" y="1144429"/>
            <a:ext cx="3204576"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MIE1W0505 + ISO1042 隔离通信</a:t>
            </a:r>
          </a:p>
        </p:txBody>
      </p:sp>
      <p:sp>
        <p:nvSpPr>
          <p:cNvPr id="31" name="TextBox 31"/>
          <p:cNvSpPr txBox="1"/>
          <p:nvPr/>
        </p:nvSpPr>
        <p:spPr>
          <a:xfrm>
            <a:off x="6383655" y="4111942"/>
            <a:ext cx="3940778"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隔离电源与收发器靠近放置，缩短 ISO_5V 回路</a:t>
            </a:r>
          </a:p>
        </p:txBody>
      </p:sp>
      <p:sp>
        <p:nvSpPr>
          <p:cNvPr id="32" name="TextBox 32"/>
          <p:cNvSpPr txBox="1"/>
          <p:nvPr/>
        </p:nvSpPr>
        <p:spPr>
          <a:xfrm>
            <a:off x="6383655" y="4454842"/>
            <a:ext cx="34277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隔离边界上下层保持净空，禁止铜皮跨越</a:t>
            </a:r>
          </a:p>
        </p:txBody>
      </p:sp>
      <p:sp>
        <p:nvSpPr>
          <p:cNvPr id="33" name="TextBox 33"/>
          <p:cNvSpPr txBox="1"/>
          <p:nvPr/>
        </p:nvSpPr>
        <p:spPr>
          <a:xfrm>
            <a:off x="6383655" y="4797742"/>
            <a:ext cx="3760756"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CANH / CANL 成对布线并靠近接口与终端器件</a:t>
            </a:r>
          </a:p>
        </p:txBody>
      </p:sp>
      <p:sp>
        <p:nvSpPr>
          <p:cNvPr id="34" name="TextBox 34"/>
          <p:cNvSpPr txBox="1"/>
          <p:nvPr/>
        </p:nvSpPr>
        <p:spPr>
          <a:xfrm>
            <a:off x="6383655" y="5140642"/>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控制地与总线地分区明确，降低外部共模干扰</a:t>
            </a:r>
          </a:p>
        </p:txBody>
      </p:sp>
      <p:sp>
        <p:nvSpPr>
          <p:cNvPr id="35" name="Rectangle 35"/>
          <p:cNvSpPr/>
          <p:nvPr/>
        </p:nvSpPr>
        <p:spPr>
          <a:xfrm>
            <a:off x="6400800" y="5638800"/>
            <a:ext cx="4838700" cy="323850"/>
          </a:xfrm>
          <a:prstGeom prst="rect">
            <a:avLst/>
          </a:prstGeom>
          <a:solidFill>
            <a:srgbClr val="EDF8F4"/>
          </a:solidFill>
          <a:ln>
            <a:noFill/>
          </a:ln>
        </p:spPr>
      </p:sp>
      <p:sp>
        <p:nvSpPr>
          <p:cNvPr id="36" name="TextBox 36"/>
          <p:cNvSpPr txBox="1"/>
          <p:nvPr/>
        </p:nvSpPr>
        <p:spPr>
          <a:xfrm>
            <a:off x="7127378" y="5728335"/>
            <a:ext cx="3385542" cy="184666"/>
          </a:xfrm>
          <a:prstGeom prst="rect">
            <a:avLst/>
          </a:prstGeom>
          <a:noFill/>
          <a:ln>
            <a:noFill/>
          </a:ln>
        </p:spPr>
        <p:txBody>
          <a:bodyPr wrap="none" lIns="0" tIns="0" rIns="0" bIns="0" anchor="t" anchorCtr="0">
            <a:spAutoFit/>
          </a:bodyPr>
          <a:lstStyle/>
          <a:p>
            <a:pPr algn="ctr"/>
            <a:r>
              <a:rPr lang="zh-CN" sz="1200" b="1" dirty="0">
                <a:solidFill>
                  <a:srgbClr val="005A9C"/>
                </a:solidFill>
                <a:latin typeface="Arial"/>
                <a:ea typeface="Microsoft YaHei"/>
                <a:cs typeface="Arial"/>
              </a:rPr>
              <a:t>将电机功率噪声限制在本地，保护控制与通信链路</a:t>
            </a:r>
          </a:p>
        </p:txBody>
      </p:sp>
      <p:grpSp>
        <p:nvGrpSpPr>
          <p:cNvPr id="43" name="组合 42">
            <a:extLst>
              <a:ext uri="{FF2B5EF4-FFF2-40B4-BE49-F238E27FC236}">
                <a16:creationId xmlns:a16="http://schemas.microsoft.com/office/drawing/2014/main" id="{11D557DC-7B48-97CE-B600-EB29356AA3EB}"/>
              </a:ext>
            </a:extLst>
          </p:cNvPr>
          <p:cNvGrpSpPr/>
          <p:nvPr/>
        </p:nvGrpSpPr>
        <p:grpSpPr>
          <a:xfrm>
            <a:off x="6788132" y="1775694"/>
            <a:ext cx="3754979" cy="2029304"/>
            <a:chOff x="6750524" y="1516380"/>
            <a:chExt cx="3754979" cy="2029304"/>
          </a:xfrm>
        </p:grpSpPr>
        <p:sp>
          <p:nvSpPr>
            <p:cNvPr id="27" name="TextBox 27"/>
            <p:cNvSpPr txBox="1"/>
            <p:nvPr/>
          </p:nvSpPr>
          <p:spPr>
            <a:xfrm>
              <a:off x="6750524" y="2105025"/>
              <a:ext cx="668179" cy="304800"/>
            </a:xfrm>
            <a:prstGeom prst="rect">
              <a:avLst/>
            </a:prstGeom>
            <a:noFill/>
            <a:ln>
              <a:noFill/>
            </a:ln>
          </p:spPr>
          <p:txBody>
            <a:bodyPr wrap="none" lIns="0" tIns="0" rIns="0" bIns="0" anchor="t" anchorCtr="0">
              <a:spAutoFit/>
            </a:bodyPr>
            <a:lstStyle/>
            <a:p>
              <a:pPr algn="ctr"/>
              <a:r>
                <a:rPr lang="zh-CN" sz="1500" b="1" dirty="0">
                  <a:solidFill>
                    <a:srgbClr val="005A9C"/>
                  </a:solidFill>
                  <a:latin typeface="Arial"/>
                  <a:ea typeface="Microsoft YaHei"/>
                  <a:cs typeface="Arial"/>
                </a:rPr>
                <a:t>控制侧</a:t>
              </a:r>
            </a:p>
          </p:txBody>
        </p:sp>
        <p:sp>
          <p:nvSpPr>
            <p:cNvPr id="28" name="TextBox 28"/>
            <p:cNvSpPr txBox="1"/>
            <p:nvPr/>
          </p:nvSpPr>
          <p:spPr>
            <a:xfrm>
              <a:off x="9837324" y="2105025"/>
              <a:ext cx="668179" cy="304800"/>
            </a:xfrm>
            <a:prstGeom prst="rect">
              <a:avLst/>
            </a:prstGeom>
            <a:noFill/>
            <a:ln>
              <a:noFill/>
            </a:ln>
          </p:spPr>
          <p:txBody>
            <a:bodyPr wrap="none" lIns="0" tIns="0" rIns="0" bIns="0" anchor="t" anchorCtr="0">
              <a:spAutoFit/>
            </a:bodyPr>
            <a:lstStyle/>
            <a:p>
              <a:pPr algn="ctr"/>
              <a:r>
                <a:rPr lang="zh-CN" sz="1500" b="1" dirty="0">
                  <a:solidFill>
                    <a:srgbClr val="005A9C"/>
                  </a:solidFill>
                  <a:latin typeface="Arial"/>
                  <a:ea typeface="Microsoft YaHei"/>
                  <a:cs typeface="Arial"/>
                </a:rPr>
                <a:t>总线侧</a:t>
              </a:r>
            </a:p>
          </p:txBody>
        </p:sp>
        <p:pic>
          <p:nvPicPr>
            <p:cNvPr id="42" name="图片 41">
              <a:extLst>
                <a:ext uri="{FF2B5EF4-FFF2-40B4-BE49-F238E27FC236}">
                  <a16:creationId xmlns:a16="http://schemas.microsoft.com/office/drawing/2014/main" id="{444FE928-1DDF-3818-6B77-603AA522E42C}"/>
                </a:ext>
              </a:extLst>
            </p:cNvPr>
            <p:cNvPicPr>
              <a:picLocks noChangeAspect="1"/>
            </p:cNvPicPr>
            <p:nvPr/>
          </p:nvPicPr>
          <p:blipFill>
            <a:blip r:embed="rId3"/>
            <a:srcRect r="28375"/>
            <a:stretch/>
          </p:blipFill>
          <p:spPr>
            <a:xfrm rot="5400000">
              <a:off x="7707296" y="1441611"/>
              <a:ext cx="1888332" cy="2319814"/>
            </a:xfrm>
            <a:prstGeom prst="rect">
              <a:avLst/>
            </a:prstGeom>
          </p:spPr>
        </p:pic>
        <p:sp>
          <p:nvSpPr>
            <p:cNvPr id="25" name="Line 25"/>
            <p:cNvSpPr/>
            <p:nvPr/>
          </p:nvSpPr>
          <p:spPr>
            <a:xfrm>
              <a:off x="8419070" y="1516380"/>
              <a:ext cx="57843" cy="2029301"/>
            </a:xfrm>
            <a:custGeom>
              <a:avLst/>
              <a:gdLst/>
              <a:ahLst/>
              <a:cxnLst/>
              <a:rect l="l" t="t" r="r" b="b"/>
              <a:pathLst>
                <a:path w="9525" h="857250">
                  <a:moveTo>
                    <a:pt x="0" y="0"/>
                  </a:moveTo>
                  <a:lnTo>
                    <a:pt x="0" y="857250"/>
                  </a:lnTo>
                </a:path>
              </a:pathLst>
            </a:custGeom>
            <a:noFill/>
            <a:ln w="28575">
              <a:solidFill>
                <a:srgbClr val="C00000"/>
              </a:solidFill>
              <a:custDash>
                <a:ds d="333333" sp="266666"/>
              </a:custDash>
            </a:ln>
          </p:spPr>
        </p:sp>
      </p:grpSp>
      <p:pic>
        <p:nvPicPr>
          <p:cNvPr id="44" name="图片 43">
            <a:extLst>
              <a:ext uri="{FF2B5EF4-FFF2-40B4-BE49-F238E27FC236}">
                <a16:creationId xmlns:a16="http://schemas.microsoft.com/office/drawing/2014/main" id="{8C4336AC-803C-F748-BB93-58B320A6DA01}"/>
              </a:ext>
            </a:extLst>
          </p:cNvPr>
          <p:cNvPicPr>
            <a:picLocks noChangeAspect="1"/>
          </p:cNvPicPr>
          <p:nvPr/>
        </p:nvPicPr>
        <p:blipFill>
          <a:blip r:embed="rId4"/>
          <a:stretch>
            <a:fillRect/>
          </a:stretch>
        </p:blipFill>
        <p:spPr>
          <a:xfrm>
            <a:off x="1476292" y="1634966"/>
            <a:ext cx="2556565" cy="2331720"/>
          </a:xfrm>
          <a:prstGeom prst="rect">
            <a:avLst/>
          </a:prstGeom>
        </p:spPr>
      </p:pic>
      <p:sp>
        <p:nvSpPr>
          <p:cNvPr id="10" name="Ellipse 10"/>
          <p:cNvSpPr/>
          <p:nvPr/>
        </p:nvSpPr>
        <p:spPr>
          <a:xfrm>
            <a:off x="2164025" y="2243461"/>
            <a:ext cx="990600" cy="990600"/>
          </a:xfrm>
          <a:prstGeom prst="ellipse">
            <a:avLst/>
          </a:prstGeom>
          <a:noFill/>
          <a:ln w="19050">
            <a:solidFill>
              <a:srgbClr val="FF0000"/>
            </a:solidFill>
            <a:custDash>
              <a:ds d="400000" sp="300000"/>
            </a:custDash>
          </a:ln>
        </p:spPr>
      </p:sp>
      <p:sp>
        <p:nvSpPr>
          <p:cNvPr id="11" name="Ellipse 11"/>
          <p:cNvSpPr/>
          <p:nvPr/>
        </p:nvSpPr>
        <p:spPr>
          <a:xfrm>
            <a:off x="2564075" y="2643511"/>
            <a:ext cx="190500" cy="190500"/>
          </a:xfrm>
          <a:prstGeom prst="ellipse">
            <a:avLst/>
          </a:prstGeom>
          <a:solidFill>
            <a:srgbClr val="FF0000"/>
          </a:solidFill>
          <a:ln>
            <a:solidFill>
              <a:srgbClr val="FF0000"/>
            </a:solid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6721178-A5E7-E70E-AD2A-7915043E9662}"/>
              </a:ext>
            </a:extLst>
          </p:cNvPr>
          <p:cNvSpPr/>
          <p:nvPr/>
        </p:nvSpPr>
        <p:spPr>
          <a:xfrm>
            <a:off x="685800" y="1219200"/>
            <a:ext cx="6248400" cy="24638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457200" y="266700"/>
            <a:ext cx="11277600" cy="657225"/>
            <a:chOff x="457200" y="266700"/>
            <a:chExt cx="11277600" cy="657225"/>
          </a:xfrm>
        </p:grpSpPr>
        <p:sp>
          <p:nvSpPr>
            <p:cNvPr id="3" name="Rectangle 3"/>
            <p:cNvSpPr/>
            <p:nvPr/>
          </p:nvSpPr>
          <p:spPr>
            <a:xfrm>
              <a:off x="457200" y="266700"/>
              <a:ext cx="11277600" cy="590550"/>
            </a:xfrm>
            <a:prstGeom prst="rect">
              <a:avLst/>
            </a:prstGeom>
            <a:solidFill>
              <a:srgbClr val="0070C0"/>
            </a:solidFill>
            <a:ln>
              <a:noFill/>
            </a:ln>
          </p:spPr>
        </p:sp>
        <p:sp>
          <p:nvSpPr>
            <p:cNvPr id="4" name="TextBox 4"/>
            <p:cNvSpPr txBox="1"/>
            <p:nvPr/>
          </p:nvSpPr>
          <p:spPr>
            <a:xfrm>
              <a:off x="613410" y="375285"/>
              <a:ext cx="4875181" cy="548640"/>
            </a:xfrm>
            <a:prstGeom prst="rect">
              <a:avLst/>
            </a:prstGeom>
            <a:noFill/>
            <a:ln>
              <a:noFill/>
            </a:ln>
          </p:spPr>
          <p:txBody>
            <a:bodyPr wrap="none" lIns="0" tIns="0" rIns="0" bIns="0" anchor="t" anchorCtr="0">
              <a:spAutoFit/>
            </a:bodyPr>
            <a:lstStyle/>
            <a:p>
              <a:pPr algn="l"/>
              <a:r>
                <a:rPr lang="zh-CN" sz="2700" dirty="0">
                  <a:solidFill>
                    <a:srgbClr val="FFFFFF"/>
                  </a:solidFill>
                  <a:latin typeface="Arial"/>
                  <a:ea typeface="Microsoft YaHei"/>
                  <a:cs typeface="Arial"/>
                </a:rPr>
                <a:t>PCB Layout——散热与设计检查</a:t>
              </a:r>
            </a:p>
          </p:txBody>
        </p:sp>
      </p:grpSp>
      <p:grpSp>
        <p:nvGrpSpPr>
          <p:cNvPr id="15" name="Group 15"/>
          <p:cNvGrpSpPr/>
          <p:nvPr/>
        </p:nvGrpSpPr>
        <p:grpSpPr>
          <a:xfrm>
            <a:off x="457200" y="1028700"/>
            <a:ext cx="6438900" cy="5124450"/>
            <a:chOff x="457200" y="1028700"/>
            <a:chExt cx="6438900" cy="5124450"/>
          </a:xfrm>
        </p:grpSpPr>
        <p:sp>
          <p:nvSpPr>
            <p:cNvPr id="6" name="Rectangle 6"/>
            <p:cNvSpPr/>
            <p:nvPr/>
          </p:nvSpPr>
          <p:spPr>
            <a:xfrm>
              <a:off x="457200" y="1028700"/>
              <a:ext cx="6438900" cy="5124450"/>
            </a:xfrm>
            <a:prstGeom prst="rect">
              <a:avLst/>
            </a:prstGeom>
            <a:solidFill>
              <a:srgbClr val="F2F2F2"/>
            </a:solidFill>
            <a:ln w="9525">
              <a:solidFill>
                <a:srgbClr val="AFC7DD"/>
              </a:solidFill>
            </a:ln>
          </p:spPr>
        </p:sp>
        <p:sp>
          <p:nvSpPr>
            <p:cNvPr id="7" name="Rectangle 7"/>
            <p:cNvSpPr/>
            <p:nvPr/>
          </p:nvSpPr>
          <p:spPr>
            <a:xfrm>
              <a:off x="666750" y="1257300"/>
              <a:ext cx="6019800" cy="2400300"/>
            </a:xfrm>
            <a:prstGeom prst="rect">
              <a:avLst/>
            </a:prstGeom>
            <a:solidFill>
              <a:srgbClr val="FFFFFF"/>
            </a:solidFill>
            <a:ln w="9525">
              <a:solidFill>
                <a:srgbClr val="AFC7DD"/>
              </a:solidFill>
            </a:ln>
          </p:spPr>
        </p:sp>
        <p:sp>
          <p:nvSpPr>
            <p:cNvPr id="9" name="Rectangle 9"/>
            <p:cNvSpPr/>
            <p:nvPr/>
          </p:nvSpPr>
          <p:spPr>
            <a:xfrm>
              <a:off x="666750" y="3829050"/>
              <a:ext cx="6019800" cy="2076450"/>
            </a:xfrm>
            <a:prstGeom prst="rect">
              <a:avLst/>
            </a:prstGeom>
            <a:solidFill>
              <a:srgbClr val="FFFFFF"/>
            </a:solidFill>
            <a:ln w="9525">
              <a:solidFill>
                <a:srgbClr val="AFC7DD"/>
              </a:solidFill>
            </a:ln>
          </p:spPr>
        </p:sp>
        <p:sp>
          <p:nvSpPr>
            <p:cNvPr id="10" name="TextBox 10"/>
            <p:cNvSpPr txBox="1"/>
            <p:nvPr/>
          </p:nvSpPr>
          <p:spPr>
            <a:xfrm>
              <a:off x="854392" y="4023836"/>
              <a:ext cx="1492996" cy="350520"/>
            </a:xfrm>
            <a:prstGeom prst="rect">
              <a:avLst/>
            </a:prstGeom>
            <a:noFill/>
            <a:ln>
              <a:noFill/>
            </a:ln>
          </p:spPr>
          <p:txBody>
            <a:bodyPr wrap="none" lIns="0" tIns="0" rIns="0" bIns="0" anchor="t" anchorCtr="0">
              <a:spAutoFit/>
            </a:bodyPr>
            <a:lstStyle/>
            <a:p>
              <a:pPr algn="l"/>
              <a:r>
                <a:rPr lang="zh-CN" sz="1725" b="1" dirty="0">
                  <a:solidFill>
                    <a:srgbClr val="005A9C"/>
                  </a:solidFill>
                  <a:latin typeface="Arial"/>
                  <a:ea typeface="Microsoft YaHei"/>
                  <a:cs typeface="Arial"/>
                </a:rPr>
                <a:t>散热路径设计</a:t>
              </a:r>
            </a:p>
          </p:txBody>
        </p:sp>
        <p:sp>
          <p:nvSpPr>
            <p:cNvPr id="11" name="TextBox 11"/>
            <p:cNvSpPr txBox="1"/>
            <p:nvPr/>
          </p:nvSpPr>
          <p:spPr>
            <a:xfrm>
              <a:off x="859155" y="4464368"/>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MOSFET 与分流电阻采用大面积铜皮扩散热量</a:t>
              </a:r>
            </a:p>
          </p:txBody>
        </p:sp>
        <p:sp>
          <p:nvSpPr>
            <p:cNvPr id="12" name="TextBox 12"/>
            <p:cNvSpPr txBox="1"/>
            <p:nvPr/>
          </p:nvSpPr>
          <p:spPr>
            <a:xfrm>
              <a:off x="859155" y="4807268"/>
              <a:ext cx="342771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上下层通过并联过孔导热，降低局部热点</a:t>
              </a:r>
            </a:p>
          </p:txBody>
        </p:sp>
        <p:sp>
          <p:nvSpPr>
            <p:cNvPr id="13" name="TextBox 13"/>
            <p:cNvSpPr txBox="1"/>
            <p:nvPr/>
          </p:nvSpPr>
          <p:spPr>
            <a:xfrm>
              <a:off x="859155" y="5150168"/>
              <a:ext cx="3787759"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功率器件沿板边布置，便于接触外壳或结构件</a:t>
              </a:r>
            </a:p>
          </p:txBody>
        </p:sp>
        <p:sp>
          <p:nvSpPr>
            <p:cNvPr id="14" name="TextBox 14"/>
            <p:cNvSpPr txBox="1"/>
            <p:nvPr/>
          </p:nvSpPr>
          <p:spPr>
            <a:xfrm>
              <a:off x="859155" y="5493068"/>
              <a:ext cx="4147804" cy="274320"/>
            </a:xfrm>
            <a:prstGeom prst="rect">
              <a:avLst/>
            </a:prstGeom>
            <a:noFill/>
            <a:ln>
              <a:noFill/>
            </a:ln>
          </p:spPr>
          <p:txBody>
            <a:bodyPr wrap="none" lIns="0" tIns="0" rIns="0" bIns="0" anchor="t" anchorCtr="0">
              <a:spAutoFit/>
            </a:bodyPr>
            <a:lstStyle/>
            <a:p>
              <a:pPr algn="l"/>
              <a:r>
                <a:rPr lang="zh-CN" sz="1350" dirty="0">
                  <a:solidFill>
                    <a:srgbClr val="1A1C1F"/>
                  </a:solidFill>
                  <a:latin typeface="Arial"/>
                  <a:ea typeface="Microsoft YaHei"/>
                  <a:cs typeface="Arial"/>
                </a:rPr>
                <a:t>● 温升测试后再确定铜厚、过孔数量与外壳导热方案</a:t>
              </a:r>
            </a:p>
          </p:txBody>
        </p:sp>
      </p:grpSp>
      <p:grpSp>
        <p:nvGrpSpPr>
          <p:cNvPr id="50" name="Group 50"/>
          <p:cNvGrpSpPr/>
          <p:nvPr/>
        </p:nvGrpSpPr>
        <p:grpSpPr>
          <a:xfrm>
            <a:off x="7086600" y="1028700"/>
            <a:ext cx="4648200" cy="5124450"/>
            <a:chOff x="7086600" y="1028700"/>
            <a:chExt cx="4648200" cy="5124450"/>
          </a:xfrm>
        </p:grpSpPr>
        <p:sp>
          <p:nvSpPr>
            <p:cNvPr id="16" name="Rectangle 16"/>
            <p:cNvSpPr/>
            <p:nvPr/>
          </p:nvSpPr>
          <p:spPr>
            <a:xfrm>
              <a:off x="7086600" y="1028700"/>
              <a:ext cx="4648200" cy="5124450"/>
            </a:xfrm>
            <a:prstGeom prst="rect">
              <a:avLst/>
            </a:prstGeom>
            <a:solidFill>
              <a:srgbClr val="FFFFFF"/>
            </a:solidFill>
            <a:ln w="9525">
              <a:solidFill>
                <a:srgbClr val="AFC7DD"/>
              </a:solidFill>
            </a:ln>
          </p:spPr>
        </p:sp>
        <p:sp>
          <p:nvSpPr>
            <p:cNvPr id="17" name="Rectangle 17"/>
            <p:cNvSpPr/>
            <p:nvPr/>
          </p:nvSpPr>
          <p:spPr>
            <a:xfrm>
              <a:off x="7086600" y="1028700"/>
              <a:ext cx="4648200" cy="419100"/>
            </a:xfrm>
            <a:prstGeom prst="rect">
              <a:avLst/>
            </a:prstGeom>
            <a:solidFill>
              <a:srgbClr val="0070C0"/>
            </a:solidFill>
            <a:ln>
              <a:noFill/>
            </a:ln>
          </p:spPr>
        </p:sp>
        <p:sp>
          <p:nvSpPr>
            <p:cNvPr id="18" name="TextBox 18"/>
            <p:cNvSpPr txBox="1"/>
            <p:nvPr/>
          </p:nvSpPr>
          <p:spPr>
            <a:xfrm>
              <a:off x="8337678" y="1144429"/>
              <a:ext cx="2146043"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PCB Layout 设计检查</a:t>
              </a:r>
            </a:p>
          </p:txBody>
        </p:sp>
        <p:grpSp>
          <p:nvGrpSpPr>
            <p:cNvPr id="23" name="Group 23"/>
            <p:cNvGrpSpPr/>
            <p:nvPr/>
          </p:nvGrpSpPr>
          <p:grpSpPr>
            <a:xfrm>
              <a:off x="7296150" y="1668304"/>
              <a:ext cx="3448050" cy="541496"/>
              <a:chOff x="7296150" y="1668304"/>
              <a:chExt cx="3448050" cy="541496"/>
            </a:xfrm>
          </p:grpSpPr>
          <p:sp>
            <p:nvSpPr>
              <p:cNvPr id="19" name="Ellipse 19"/>
              <p:cNvSpPr/>
              <p:nvPr/>
            </p:nvSpPr>
            <p:spPr>
              <a:xfrm>
                <a:off x="7296150" y="1695450"/>
                <a:ext cx="381000" cy="381000"/>
              </a:xfrm>
              <a:prstGeom prst="ellipse">
                <a:avLst/>
              </a:prstGeom>
              <a:solidFill>
                <a:srgbClr val="00A36C"/>
              </a:solidFill>
              <a:ln>
                <a:noFill/>
              </a:ln>
            </p:spPr>
          </p:sp>
          <p:sp>
            <p:nvSpPr>
              <p:cNvPr id="20" name="TextBox 20"/>
              <p:cNvSpPr txBox="1"/>
              <p:nvPr/>
            </p:nvSpPr>
            <p:spPr>
              <a:xfrm>
                <a:off x="7402162" y="17840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21" name="TextBox 21"/>
              <p:cNvSpPr txBox="1"/>
              <p:nvPr/>
            </p:nvSpPr>
            <p:spPr>
              <a:xfrm>
                <a:off x="7828598" y="16683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功率路径</a:t>
                </a:r>
              </a:p>
            </p:txBody>
          </p:sp>
          <p:sp>
            <p:nvSpPr>
              <p:cNvPr id="22" name="TextBox 22"/>
              <p:cNvSpPr txBox="1"/>
              <p:nvPr/>
            </p:nvSpPr>
            <p:spPr>
              <a:xfrm>
                <a:off x="7833360" y="1965960"/>
                <a:ext cx="291084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母线、半桥、相线与分流电阻环路短且宽</a:t>
                </a:r>
              </a:p>
            </p:txBody>
          </p:sp>
        </p:grpSp>
        <p:sp>
          <p:nvSpPr>
            <p:cNvPr id="24" name="Line 24"/>
            <p:cNvSpPr/>
            <p:nvPr/>
          </p:nvSpPr>
          <p:spPr>
            <a:xfrm>
              <a:off x="7372350" y="23241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29" name="Group 29"/>
            <p:cNvGrpSpPr/>
            <p:nvPr/>
          </p:nvGrpSpPr>
          <p:grpSpPr>
            <a:xfrm>
              <a:off x="7296150" y="2506504"/>
              <a:ext cx="3288030" cy="541496"/>
              <a:chOff x="7296150" y="2506504"/>
              <a:chExt cx="3288030" cy="541496"/>
            </a:xfrm>
          </p:grpSpPr>
          <p:sp>
            <p:nvSpPr>
              <p:cNvPr id="25" name="Ellipse 25"/>
              <p:cNvSpPr/>
              <p:nvPr/>
            </p:nvSpPr>
            <p:spPr>
              <a:xfrm>
                <a:off x="7296150" y="2533650"/>
                <a:ext cx="381000" cy="381000"/>
              </a:xfrm>
              <a:prstGeom prst="ellipse">
                <a:avLst/>
              </a:prstGeom>
              <a:solidFill>
                <a:srgbClr val="00A36C"/>
              </a:solidFill>
              <a:ln>
                <a:noFill/>
              </a:ln>
            </p:spPr>
          </p:sp>
          <p:sp>
            <p:nvSpPr>
              <p:cNvPr id="26" name="TextBox 26"/>
              <p:cNvSpPr txBox="1"/>
              <p:nvPr/>
            </p:nvSpPr>
            <p:spPr>
              <a:xfrm>
                <a:off x="7402162" y="26222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27" name="TextBox 27"/>
              <p:cNvSpPr txBox="1"/>
              <p:nvPr/>
            </p:nvSpPr>
            <p:spPr>
              <a:xfrm>
                <a:off x="7828598" y="25065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回流路径</a:t>
                </a:r>
              </a:p>
            </p:txBody>
          </p:sp>
          <p:sp>
            <p:nvSpPr>
              <p:cNvPr id="28" name="TextBox 28"/>
              <p:cNvSpPr txBox="1"/>
              <p:nvPr/>
            </p:nvSpPr>
            <p:spPr>
              <a:xfrm>
                <a:off x="7833360" y="2804160"/>
                <a:ext cx="275082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驱动、采样与控制信号均有连续地参考</a:t>
                </a:r>
              </a:p>
            </p:txBody>
          </p:sp>
        </p:grpSp>
        <p:sp>
          <p:nvSpPr>
            <p:cNvPr id="30" name="Line 30"/>
            <p:cNvSpPr/>
            <p:nvPr/>
          </p:nvSpPr>
          <p:spPr>
            <a:xfrm>
              <a:off x="7372350" y="31623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35" name="Group 35"/>
            <p:cNvGrpSpPr/>
            <p:nvPr/>
          </p:nvGrpSpPr>
          <p:grpSpPr>
            <a:xfrm>
              <a:off x="7296150" y="3344704"/>
              <a:ext cx="3448050" cy="541496"/>
              <a:chOff x="7296150" y="3344704"/>
              <a:chExt cx="3448050" cy="541496"/>
            </a:xfrm>
          </p:grpSpPr>
          <p:sp>
            <p:nvSpPr>
              <p:cNvPr id="31" name="Ellipse 31"/>
              <p:cNvSpPr/>
              <p:nvPr/>
            </p:nvSpPr>
            <p:spPr>
              <a:xfrm>
                <a:off x="7296150" y="3371850"/>
                <a:ext cx="381000" cy="381000"/>
              </a:xfrm>
              <a:prstGeom prst="ellipse">
                <a:avLst/>
              </a:prstGeom>
              <a:solidFill>
                <a:srgbClr val="00A36C"/>
              </a:solidFill>
              <a:ln>
                <a:noFill/>
              </a:ln>
            </p:spPr>
          </p:sp>
          <p:sp>
            <p:nvSpPr>
              <p:cNvPr id="32" name="TextBox 32"/>
              <p:cNvSpPr txBox="1"/>
              <p:nvPr/>
            </p:nvSpPr>
            <p:spPr>
              <a:xfrm>
                <a:off x="7402162" y="34604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33" name="TextBox 33"/>
              <p:cNvSpPr txBox="1"/>
              <p:nvPr/>
            </p:nvSpPr>
            <p:spPr>
              <a:xfrm>
                <a:off x="7828598" y="3344704"/>
                <a:ext cx="701588"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热路径</a:t>
                </a:r>
              </a:p>
            </p:txBody>
          </p:sp>
          <p:sp>
            <p:nvSpPr>
              <p:cNvPr id="34" name="TextBox 34"/>
              <p:cNvSpPr txBox="1"/>
              <p:nvPr/>
            </p:nvSpPr>
            <p:spPr>
              <a:xfrm>
                <a:off x="7833360" y="3642360"/>
                <a:ext cx="291084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铜皮、导热过孔与结构散热形成连续通道</a:t>
                </a:r>
              </a:p>
            </p:txBody>
          </p:sp>
        </p:grpSp>
        <p:sp>
          <p:nvSpPr>
            <p:cNvPr id="36" name="Line 36"/>
            <p:cNvSpPr/>
            <p:nvPr/>
          </p:nvSpPr>
          <p:spPr>
            <a:xfrm>
              <a:off x="7372350" y="40005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41" name="Group 41"/>
            <p:cNvGrpSpPr/>
            <p:nvPr/>
          </p:nvGrpSpPr>
          <p:grpSpPr>
            <a:xfrm>
              <a:off x="7296150" y="4182904"/>
              <a:ext cx="3664077" cy="541496"/>
              <a:chOff x="7296150" y="4182904"/>
              <a:chExt cx="3664077" cy="541496"/>
            </a:xfrm>
          </p:grpSpPr>
          <p:sp>
            <p:nvSpPr>
              <p:cNvPr id="37" name="Ellipse 37"/>
              <p:cNvSpPr/>
              <p:nvPr/>
            </p:nvSpPr>
            <p:spPr>
              <a:xfrm>
                <a:off x="7296150" y="4210050"/>
                <a:ext cx="381000" cy="381000"/>
              </a:xfrm>
              <a:prstGeom prst="ellipse">
                <a:avLst/>
              </a:prstGeom>
              <a:solidFill>
                <a:srgbClr val="00A36C"/>
              </a:solidFill>
              <a:ln>
                <a:noFill/>
              </a:ln>
            </p:spPr>
          </p:sp>
          <p:sp>
            <p:nvSpPr>
              <p:cNvPr id="38" name="TextBox 38"/>
              <p:cNvSpPr txBox="1"/>
              <p:nvPr/>
            </p:nvSpPr>
            <p:spPr>
              <a:xfrm>
                <a:off x="7402162" y="42986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39" name="TextBox 39"/>
              <p:cNvSpPr txBox="1"/>
              <p:nvPr/>
            </p:nvSpPr>
            <p:spPr>
              <a:xfrm>
                <a:off x="7828598" y="41829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敏感信号</a:t>
                </a:r>
              </a:p>
            </p:txBody>
          </p:sp>
          <p:sp>
            <p:nvSpPr>
              <p:cNvPr id="40" name="TextBox 40"/>
              <p:cNvSpPr txBox="1"/>
              <p:nvPr/>
            </p:nvSpPr>
            <p:spPr>
              <a:xfrm>
                <a:off x="7833360" y="4480560"/>
                <a:ext cx="3126867"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电流采样、编码器与 SPI 避开高 dv/dt 节点</a:t>
                </a:r>
              </a:p>
            </p:txBody>
          </p:sp>
        </p:grpSp>
        <p:sp>
          <p:nvSpPr>
            <p:cNvPr id="42" name="Line 42"/>
            <p:cNvSpPr/>
            <p:nvPr/>
          </p:nvSpPr>
          <p:spPr>
            <a:xfrm>
              <a:off x="7372350" y="4838700"/>
              <a:ext cx="4095750" cy="9525"/>
            </a:xfrm>
            <a:custGeom>
              <a:avLst/>
              <a:gdLst/>
              <a:ahLst/>
              <a:cxnLst/>
              <a:rect l="l" t="t" r="r" b="b"/>
              <a:pathLst>
                <a:path w="4095750" h="9525">
                  <a:moveTo>
                    <a:pt x="0" y="0"/>
                  </a:moveTo>
                  <a:lnTo>
                    <a:pt x="4095750" y="0"/>
                  </a:lnTo>
                </a:path>
              </a:pathLst>
            </a:custGeom>
            <a:noFill/>
            <a:ln w="9525">
              <a:solidFill>
                <a:srgbClr val="AFC7DD"/>
              </a:solidFill>
            </a:ln>
          </p:spPr>
        </p:sp>
        <p:grpSp>
          <p:nvGrpSpPr>
            <p:cNvPr id="47" name="Group 47"/>
            <p:cNvGrpSpPr/>
            <p:nvPr/>
          </p:nvGrpSpPr>
          <p:grpSpPr>
            <a:xfrm>
              <a:off x="7296150" y="5021104"/>
              <a:ext cx="3608070" cy="541496"/>
              <a:chOff x="7296150" y="5021104"/>
              <a:chExt cx="3608070" cy="541496"/>
            </a:xfrm>
          </p:grpSpPr>
          <p:sp>
            <p:nvSpPr>
              <p:cNvPr id="43" name="Ellipse 43"/>
              <p:cNvSpPr/>
              <p:nvPr/>
            </p:nvSpPr>
            <p:spPr>
              <a:xfrm>
                <a:off x="7296150" y="5048250"/>
                <a:ext cx="381000" cy="381000"/>
              </a:xfrm>
              <a:prstGeom prst="ellipse">
                <a:avLst/>
              </a:prstGeom>
              <a:solidFill>
                <a:srgbClr val="00A36C"/>
              </a:solidFill>
              <a:ln>
                <a:noFill/>
              </a:ln>
            </p:spPr>
          </p:sp>
          <p:sp>
            <p:nvSpPr>
              <p:cNvPr id="44" name="TextBox 44"/>
              <p:cNvSpPr txBox="1"/>
              <p:nvPr/>
            </p:nvSpPr>
            <p:spPr>
              <a:xfrm>
                <a:off x="7402162" y="5136832"/>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t>
                </a:r>
              </a:p>
            </p:txBody>
          </p:sp>
          <p:sp>
            <p:nvSpPr>
              <p:cNvPr id="45" name="TextBox 45"/>
              <p:cNvSpPr txBox="1"/>
              <p:nvPr/>
            </p:nvSpPr>
            <p:spPr>
              <a:xfrm>
                <a:off x="7828598" y="5021104"/>
                <a:ext cx="922115" cy="320040"/>
              </a:xfrm>
              <a:prstGeom prst="rect">
                <a:avLst/>
              </a:prstGeom>
              <a:noFill/>
              <a:ln>
                <a:noFill/>
              </a:ln>
            </p:spPr>
            <p:txBody>
              <a:bodyPr wrap="none" lIns="0" tIns="0" rIns="0" bIns="0" anchor="t" anchorCtr="0">
                <a:spAutoFit/>
              </a:bodyPr>
              <a:lstStyle/>
              <a:p>
                <a:pPr algn="l"/>
                <a:r>
                  <a:rPr lang="zh-CN" sz="1575" b="1" dirty="0">
                    <a:solidFill>
                      <a:srgbClr val="005A9C"/>
                    </a:solidFill>
                    <a:latin typeface="Arial"/>
                    <a:ea typeface="Microsoft YaHei"/>
                    <a:cs typeface="Arial"/>
                  </a:rPr>
                  <a:t>隔离边界</a:t>
                </a:r>
              </a:p>
            </p:txBody>
          </p:sp>
          <p:sp>
            <p:nvSpPr>
              <p:cNvPr id="46" name="TextBox 46"/>
              <p:cNvSpPr txBox="1"/>
              <p:nvPr/>
            </p:nvSpPr>
            <p:spPr>
              <a:xfrm>
                <a:off x="7833360" y="5318760"/>
                <a:ext cx="3070860" cy="243840"/>
              </a:xfrm>
              <a:prstGeom prst="rect">
                <a:avLst/>
              </a:prstGeom>
              <a:noFill/>
              <a:ln>
                <a:noFill/>
              </a:ln>
            </p:spPr>
            <p:txBody>
              <a:bodyPr wrap="none" lIns="0" tIns="0" rIns="0" bIns="0" anchor="t" anchorCtr="0">
                <a:spAutoFit/>
              </a:bodyPr>
              <a:lstStyle/>
              <a:p>
                <a:pPr algn="l"/>
                <a:r>
                  <a:rPr lang="zh-CN" sz="1200" dirty="0">
                    <a:solidFill>
                      <a:srgbClr val="5B6573"/>
                    </a:solidFill>
                    <a:latin typeface="Arial"/>
                    <a:ea typeface="Microsoft YaHei"/>
                    <a:cs typeface="Arial"/>
                  </a:rPr>
                  <a:t>隔离净空完整，控制地与总线地无铜皮跨接</a:t>
                </a:r>
              </a:p>
            </p:txBody>
          </p:sp>
        </p:grpSp>
        <p:sp>
          <p:nvSpPr>
            <p:cNvPr id="48" name="Rectangle 48"/>
            <p:cNvSpPr/>
            <p:nvPr/>
          </p:nvSpPr>
          <p:spPr>
            <a:xfrm>
              <a:off x="7372350" y="5695950"/>
              <a:ext cx="4095750" cy="266700"/>
            </a:xfrm>
            <a:prstGeom prst="rect">
              <a:avLst/>
            </a:prstGeom>
            <a:solidFill>
              <a:srgbClr val="EDF8F4"/>
            </a:solidFill>
            <a:ln>
              <a:noFill/>
            </a:ln>
          </p:spPr>
        </p:sp>
        <p:sp>
          <p:nvSpPr>
            <p:cNvPr id="49" name="TextBox 49"/>
            <p:cNvSpPr txBox="1"/>
            <p:nvPr/>
          </p:nvSpPr>
          <p:spPr>
            <a:xfrm>
              <a:off x="7358182" y="5765006"/>
              <a:ext cx="4124087" cy="228600"/>
            </a:xfrm>
            <a:prstGeom prst="rect">
              <a:avLst/>
            </a:prstGeom>
            <a:noFill/>
            <a:ln>
              <a:noFill/>
            </a:ln>
          </p:spPr>
          <p:txBody>
            <a:bodyPr wrap="none" lIns="0" tIns="0" rIns="0" bIns="0" anchor="t" anchorCtr="0">
              <a:spAutoFit/>
            </a:bodyPr>
            <a:lstStyle/>
            <a:p>
              <a:pPr algn="ctr"/>
              <a:r>
                <a:rPr lang="zh-CN" sz="1125" b="1" dirty="0">
                  <a:solidFill>
                    <a:srgbClr val="005A9C"/>
                  </a:solidFill>
                  <a:latin typeface="Arial"/>
                  <a:ea typeface="Microsoft YaHei"/>
                  <a:cs typeface="Arial"/>
                </a:rPr>
                <a:t>下一步：结合温升、母线尖峰和电流采样波形完成实板验证</a:t>
              </a:r>
            </a:p>
          </p:txBody>
        </p:sp>
      </p:grpSp>
      <p:sp>
        <p:nvSpPr>
          <p:cNvPr id="52" name="TextBox 52"/>
          <p:cNvSpPr txBox="1"/>
          <p:nvPr/>
        </p:nvSpPr>
        <p:spPr>
          <a:xfrm>
            <a:off x="11579400" y="6514624"/>
            <a:ext cx="167783" cy="198120"/>
          </a:xfrm>
          <a:prstGeom prst="rect">
            <a:avLst/>
          </a:prstGeom>
          <a:noFill/>
          <a:ln>
            <a:noFill/>
          </a:ln>
        </p:spPr>
        <p:txBody>
          <a:bodyPr wrap="none" lIns="0" tIns="0" rIns="0" bIns="0" anchor="t" anchorCtr="0">
            <a:spAutoFit/>
          </a:bodyPr>
          <a:lstStyle/>
          <a:p>
            <a:pPr algn="r"/>
            <a:r>
              <a:rPr lang="zh-CN" sz="975" dirty="0">
                <a:solidFill>
                  <a:srgbClr val="5B6573"/>
                </a:solidFill>
                <a:latin typeface="Arial"/>
                <a:ea typeface="Microsoft YaHei"/>
                <a:cs typeface="Arial"/>
              </a:rPr>
              <a:t>07</a:t>
            </a:r>
          </a:p>
        </p:txBody>
      </p:sp>
      <p:sp>
        <p:nvSpPr>
          <p:cNvPr id="54" name="TextBox 12">
            <a:extLst>
              <a:ext uri="{FF2B5EF4-FFF2-40B4-BE49-F238E27FC236}">
                <a16:creationId xmlns:a16="http://schemas.microsoft.com/office/drawing/2014/main" id="{60A45534-1EBB-43E5-EAC9-ABB63D2BEF51}"/>
              </a:ext>
            </a:extLst>
          </p:cNvPr>
          <p:cNvSpPr txBox="1"/>
          <p:nvPr/>
        </p:nvSpPr>
        <p:spPr>
          <a:xfrm>
            <a:off x="2459971" y="2425999"/>
            <a:ext cx="2433358" cy="265457"/>
          </a:xfrm>
          <a:prstGeom prst="rect">
            <a:avLst/>
          </a:prstGeom>
          <a:noFill/>
          <a:ln>
            <a:noFill/>
          </a:ln>
        </p:spPr>
        <p:txBody>
          <a:bodyPr wrap="none" lIns="0" tIns="0" rIns="0" bIns="0" anchor="t" anchorCtr="0">
            <a:spAutoFit/>
          </a:bodyPr>
          <a:lstStyle/>
          <a:p>
            <a:pPr algn="ctr"/>
            <a:r>
              <a:rPr lang="zh-CN" altLang="en-US" sz="1725" b="1" dirty="0">
                <a:solidFill>
                  <a:srgbClr val="C00000"/>
                </a:solidFill>
                <a:latin typeface="Arial"/>
                <a:ea typeface="Microsoft YaHei"/>
                <a:cs typeface="Arial"/>
              </a:rPr>
              <a:t>这里测个热成像图放上去</a:t>
            </a:r>
            <a:endParaRPr lang="zh-CN" sz="1725" b="1" dirty="0">
              <a:solidFill>
                <a:srgbClr val="C00000"/>
              </a:solidFill>
              <a:latin typeface="Arial"/>
              <a:ea typeface="Microsoft YaHei"/>
              <a:cs typeface="Arial"/>
            </a:endParaRPr>
          </a:p>
        </p:txBody>
      </p:sp>
      <p:pic>
        <p:nvPicPr>
          <p:cNvPr id="53" name="图片 52">
            <a:extLst>
              <a:ext uri="{FF2B5EF4-FFF2-40B4-BE49-F238E27FC236}">
                <a16:creationId xmlns:a16="http://schemas.microsoft.com/office/drawing/2014/main" id="{FCA3D644-4765-35B4-C6A1-AB05C21C539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336752" y="1295400"/>
            <a:ext cx="2946495" cy="2286000"/>
          </a:xfrm>
          <a:prstGeom prst="rect">
            <a:avLst/>
          </a:prstGeom>
        </p:spPr>
      </p:pic>
      <p:sp>
        <p:nvSpPr>
          <p:cNvPr id="55" name="文本框 54">
            <a:extLst>
              <a:ext uri="{FF2B5EF4-FFF2-40B4-BE49-F238E27FC236}">
                <a16:creationId xmlns:a16="http://schemas.microsoft.com/office/drawing/2014/main" id="{98DFFA6C-CE60-AF0F-3837-69037075AE68}"/>
              </a:ext>
            </a:extLst>
          </p:cNvPr>
          <p:cNvSpPr txBox="1"/>
          <p:nvPr/>
        </p:nvSpPr>
        <p:spPr>
          <a:xfrm>
            <a:off x="889000" y="3302000"/>
            <a:ext cx="5842000" cy="261610"/>
          </a:xfrm>
          <a:prstGeom prst="rect">
            <a:avLst/>
          </a:prstGeom>
          <a:noFill/>
        </p:spPr>
        <p:txBody>
          <a:bodyPr vert="horz" wrap="square" lIns="76200" tIns="38100" rIns="76200" bIns="38100" rtlCol="0">
            <a:spAutoFit/>
          </a:bodyPr>
          <a:lstStyle/>
          <a:p>
            <a:pPr algn="ctr"/>
            <a:r>
              <a:rPr lang="en-US" altLang="zh-CN" sz="1200" b="1">
                <a:solidFill>
                  <a:srgbClr val="FFFFFF"/>
                </a:solidFill>
                <a:latin typeface="Microsoft YaHei" panose="020B0503020204020204" pitchFamily="34" charset="-122"/>
                <a:ea typeface="Microsoft YaHei" panose="020B0503020204020204" pitchFamily="34" charset="-122"/>
              </a:rPr>
              <a:t>180 W </a:t>
            </a:r>
            <a:r>
              <a:rPr lang="zh-CN" altLang="en-US" sz="1200" b="1">
                <a:solidFill>
                  <a:srgbClr val="FFFFFF"/>
                </a:solidFill>
                <a:latin typeface="Microsoft YaHei" panose="020B0503020204020204" pitchFamily="34" charset="-122"/>
                <a:ea typeface="Microsoft YaHei" panose="020B0503020204020204" pitchFamily="34" charset="-122"/>
              </a:rPr>
              <a:t>连续带载 </a:t>
            </a:r>
            <a:r>
              <a:rPr lang="en-US" altLang="zh-CN" sz="1200" b="1">
                <a:solidFill>
                  <a:srgbClr val="FFFFFF"/>
                </a:solidFill>
                <a:latin typeface="Microsoft YaHei" panose="020B0503020204020204" pitchFamily="34" charset="-122"/>
                <a:ea typeface="Microsoft YaHei" panose="020B0503020204020204" pitchFamily="34" charset="-122"/>
              </a:rPr>
              <a:t>8 min</a:t>
            </a:r>
            <a:r>
              <a:rPr lang="zh-CN" altLang="en-US" sz="1200" b="1">
                <a:solidFill>
                  <a:srgbClr val="FFFFFF"/>
                </a:solidFill>
                <a:latin typeface="Microsoft YaHei" panose="020B0503020204020204" pitchFamily="34" charset="-122"/>
                <a:ea typeface="Microsoft YaHei" panose="020B0503020204020204" pitchFamily="34" charset="-122"/>
              </a:rPr>
              <a:t>：热点约 </a:t>
            </a:r>
            <a:r>
              <a:rPr lang="en-US" altLang="zh-CN" sz="1200" b="1">
                <a:solidFill>
                  <a:srgbClr val="FFFFFF"/>
                </a:solidFill>
                <a:latin typeface="Microsoft YaHei" panose="020B0503020204020204" pitchFamily="34" charset="-122"/>
                <a:ea typeface="Microsoft YaHei" panose="020B0503020204020204" pitchFamily="34" charset="-122"/>
              </a:rPr>
              <a:t>82.6 °C</a:t>
            </a:r>
            <a:endParaRPr lang="zh-CN" altLang="en-US" sz="1200" b="1">
              <a:solidFill>
                <a:srgbClr val="FFFFFF"/>
              </a:solidFill>
              <a:latin typeface="Microsoft YaHei" panose="020B0503020204020204" pitchFamily="34" charset="-122"/>
              <a:ea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slide(fromBottom)">
                                      <p:cBhvr>
                                        <p:cTn id="11"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6E35FDA-9C30-37FA-F897-A1792DEDF5C3}"/>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53E2B0B0-EE52-E6A5-74E2-6E10EA128BD6}"/>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从器件级到系统级的验证矩阵</a:t>
            </a:r>
          </a:p>
        </p:txBody>
      </p:sp>
      <p:sp>
        <p:nvSpPr>
          <p:cNvPr id="4" name="文本框 3">
            <a:extLst>
              <a:ext uri="{FF2B5EF4-FFF2-40B4-BE49-F238E27FC236}">
                <a16:creationId xmlns:a16="http://schemas.microsoft.com/office/drawing/2014/main" id="{29FE89BB-DD01-CBD3-F437-1527D4478AAA}"/>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08</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34B8B823-A72C-A953-F0A0-6D76ECE58B63}"/>
              </a:ext>
            </a:extLst>
          </p:cNvPr>
          <p:cNvSpPr txBox="1"/>
          <p:nvPr/>
        </p:nvSpPr>
        <p:spPr>
          <a:xfrm>
            <a:off x="660400" y="990600"/>
            <a:ext cx="10871200" cy="338554"/>
          </a:xfrm>
          <a:prstGeom prst="rect">
            <a:avLst/>
          </a:prstGeom>
          <a:noFill/>
        </p:spPr>
        <p:txBody>
          <a:bodyPr vert="horz" wrap="square" lIns="76200" tIns="38100" rIns="76200" bIns="38100" rtlCol="0">
            <a:spAutoFit/>
          </a:bodyPr>
          <a:lstStyle/>
          <a:p>
            <a:pPr algn="ctr"/>
            <a:r>
              <a:rPr lang="zh-CN" altLang="en-US" sz="1700" b="1">
                <a:solidFill>
                  <a:srgbClr val="005A9C"/>
                </a:solidFill>
                <a:latin typeface="Microsoft YaHei" panose="020B0503020204020204" pitchFamily="34" charset="-122"/>
                <a:ea typeface="Microsoft YaHei" panose="020B0503020204020204" pitchFamily="34" charset="-122"/>
              </a:rPr>
              <a:t>验证链路：电源稳定性 → 开关可靠性 → 采样准确性 → 闭环控制 → 连续输出与热稳定</a:t>
            </a:r>
          </a:p>
        </p:txBody>
      </p:sp>
      <p:sp>
        <p:nvSpPr>
          <p:cNvPr id="6" name="矩形 5">
            <a:extLst>
              <a:ext uri="{FF2B5EF4-FFF2-40B4-BE49-F238E27FC236}">
                <a16:creationId xmlns:a16="http://schemas.microsoft.com/office/drawing/2014/main" id="{CB155BCE-3BD1-74B7-1C11-5C9DED4F0A12}"/>
              </a:ext>
            </a:extLst>
          </p:cNvPr>
          <p:cNvSpPr/>
          <p:nvPr/>
        </p:nvSpPr>
        <p:spPr>
          <a:xfrm>
            <a:off x="685800" y="1422400"/>
            <a:ext cx="10820400" cy="4521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0C90BB2A-EDA4-1FF4-2E2C-DCCAAD4E26C9}"/>
              </a:ext>
            </a:extLst>
          </p:cNvPr>
          <p:cNvSpPr/>
          <p:nvPr/>
        </p:nvSpPr>
        <p:spPr>
          <a:xfrm>
            <a:off x="685800" y="1422400"/>
            <a:ext cx="108204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DA376C6E-FC6E-644F-1C6D-031978770106}"/>
              </a:ext>
            </a:extLst>
          </p:cNvPr>
          <p:cNvSpPr txBox="1"/>
          <p:nvPr/>
        </p:nvSpPr>
        <p:spPr>
          <a:xfrm>
            <a:off x="787400" y="1447800"/>
            <a:ext cx="106172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测试项目与证据状态</a:t>
            </a:r>
          </a:p>
        </p:txBody>
      </p:sp>
      <p:sp>
        <p:nvSpPr>
          <p:cNvPr id="9" name="矩形 8">
            <a:extLst>
              <a:ext uri="{FF2B5EF4-FFF2-40B4-BE49-F238E27FC236}">
                <a16:creationId xmlns:a16="http://schemas.microsoft.com/office/drawing/2014/main" id="{39C52CE3-90F0-F60D-8C29-7F7133ABA57F}"/>
              </a:ext>
            </a:extLst>
          </p:cNvPr>
          <p:cNvSpPr/>
          <p:nvPr/>
        </p:nvSpPr>
        <p:spPr>
          <a:xfrm>
            <a:off x="838200" y="1917700"/>
            <a:ext cx="10515600" cy="533400"/>
          </a:xfrm>
          <a:prstGeom prst="rect">
            <a:avLst/>
          </a:prstGeom>
          <a:solidFill>
            <a:srgbClr val="F7F8FA"/>
          </a:solidFill>
          <a:ln w="0">
            <a:solidFill>
              <a:srgbClr val="F7F8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2EC538A-670F-3445-8BC5-52ED054D9964}"/>
              </a:ext>
            </a:extLst>
          </p:cNvPr>
          <p:cNvSpPr txBox="1"/>
          <p:nvPr/>
        </p:nvSpPr>
        <p:spPr>
          <a:xfrm>
            <a:off x="990600" y="1993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辅助电源</a:t>
            </a:r>
          </a:p>
        </p:txBody>
      </p:sp>
      <p:sp>
        <p:nvSpPr>
          <p:cNvPr id="11" name="文本框 10">
            <a:extLst>
              <a:ext uri="{FF2B5EF4-FFF2-40B4-BE49-F238E27FC236}">
                <a16:creationId xmlns:a16="http://schemas.microsoft.com/office/drawing/2014/main" id="{CA573A83-ACE0-4958-7EB5-5F6B299269E3}"/>
              </a:ext>
            </a:extLst>
          </p:cNvPr>
          <p:cNvSpPr txBox="1"/>
          <p:nvPr/>
        </p:nvSpPr>
        <p:spPr>
          <a:xfrm>
            <a:off x="2794000" y="1993900"/>
            <a:ext cx="6604000" cy="307777"/>
          </a:xfrm>
          <a:prstGeom prst="rect">
            <a:avLst/>
          </a:prstGeom>
          <a:noFill/>
        </p:spPr>
        <p:txBody>
          <a:bodyPr vert="horz" wrap="square" lIns="76200" tIns="38100" rIns="76200" bIns="38100" rtlCol="0">
            <a:spAutoFit/>
          </a:bodyPr>
          <a:lstStyle/>
          <a:p>
            <a:r>
              <a:rPr lang="en-US" altLang="zh-CN" sz="1500">
                <a:solidFill>
                  <a:srgbClr val="1A1C1F"/>
                </a:solidFill>
                <a:latin typeface="Microsoft YaHei" panose="020B0503020204020204" pitchFamily="34" charset="-122"/>
                <a:ea typeface="Microsoft YaHei" panose="020B0503020204020204" pitchFamily="34" charset="-122"/>
              </a:rPr>
              <a:t>40-56 V </a:t>
            </a:r>
            <a:r>
              <a:rPr lang="zh-CN" altLang="en-US" sz="1500">
                <a:solidFill>
                  <a:srgbClr val="1A1C1F"/>
                </a:solidFill>
                <a:latin typeface="Microsoft YaHei" panose="020B0503020204020204" pitchFamily="34" charset="-122"/>
                <a:ea typeface="Microsoft YaHei" panose="020B0503020204020204" pitchFamily="34" charset="-122"/>
              </a:rPr>
              <a:t>宽输入运行</a:t>
            </a:r>
          </a:p>
        </p:txBody>
      </p:sp>
      <p:sp>
        <p:nvSpPr>
          <p:cNvPr id="12" name="矩形: 圆角 11">
            <a:extLst>
              <a:ext uri="{FF2B5EF4-FFF2-40B4-BE49-F238E27FC236}">
                <a16:creationId xmlns:a16="http://schemas.microsoft.com/office/drawing/2014/main" id="{D8D275C4-5BB3-8594-088D-6A66810252A1}"/>
              </a:ext>
            </a:extLst>
          </p:cNvPr>
          <p:cNvSpPr/>
          <p:nvPr/>
        </p:nvSpPr>
        <p:spPr>
          <a:xfrm>
            <a:off x="10210800" y="2019300"/>
            <a:ext cx="736600" cy="279400"/>
          </a:xfrm>
          <a:prstGeom prst="roundRect">
            <a:avLst/>
          </a:prstGeom>
          <a:solidFill>
            <a:srgbClr val="00AA78"/>
          </a:solidFill>
          <a:ln w="0">
            <a:solidFill>
              <a:srgbClr val="00A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2339598-F442-F73E-620F-BB72C3B16A64}"/>
              </a:ext>
            </a:extLst>
          </p:cNvPr>
          <p:cNvSpPr txBox="1"/>
          <p:nvPr/>
        </p:nvSpPr>
        <p:spPr>
          <a:xfrm>
            <a:off x="10236200" y="2032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已完成</a:t>
            </a:r>
          </a:p>
        </p:txBody>
      </p:sp>
      <p:sp>
        <p:nvSpPr>
          <p:cNvPr id="14" name="文本框 13">
            <a:extLst>
              <a:ext uri="{FF2B5EF4-FFF2-40B4-BE49-F238E27FC236}">
                <a16:creationId xmlns:a16="http://schemas.microsoft.com/office/drawing/2014/main" id="{78B7F708-0E85-1711-8E0F-C22A28C7A419}"/>
              </a:ext>
            </a:extLst>
          </p:cNvPr>
          <p:cNvSpPr txBox="1"/>
          <p:nvPr/>
        </p:nvSpPr>
        <p:spPr>
          <a:xfrm>
            <a:off x="990600" y="2628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功率级</a:t>
            </a:r>
          </a:p>
        </p:txBody>
      </p:sp>
      <p:sp>
        <p:nvSpPr>
          <p:cNvPr id="15" name="文本框 14">
            <a:extLst>
              <a:ext uri="{FF2B5EF4-FFF2-40B4-BE49-F238E27FC236}">
                <a16:creationId xmlns:a16="http://schemas.microsoft.com/office/drawing/2014/main" id="{7E8DBA5F-112B-BE9C-9898-9E3E687EB1C5}"/>
              </a:ext>
            </a:extLst>
          </p:cNvPr>
          <p:cNvSpPr txBox="1"/>
          <p:nvPr/>
        </p:nvSpPr>
        <p:spPr>
          <a:xfrm>
            <a:off x="2794000" y="2628900"/>
            <a:ext cx="6604000" cy="307777"/>
          </a:xfrm>
          <a:prstGeom prst="rect">
            <a:avLst/>
          </a:prstGeom>
          <a:noFill/>
        </p:spPr>
        <p:txBody>
          <a:bodyPr vert="horz" wrap="square" lIns="76200" tIns="38100" rIns="76200" bIns="38100" rtlCol="0">
            <a:spAutoFit/>
          </a:bodyPr>
          <a:lstStyle/>
          <a:p>
            <a:r>
              <a:rPr lang="zh-CN" altLang="en-US" sz="1500">
                <a:solidFill>
                  <a:srgbClr val="1A1C1F"/>
                </a:solidFill>
                <a:latin typeface="Microsoft YaHei" panose="020B0503020204020204" pitchFamily="34" charset="-122"/>
                <a:ea typeface="Microsoft YaHei" panose="020B0503020204020204" pitchFamily="34" charset="-122"/>
              </a:rPr>
              <a:t>双脉冲、</a:t>
            </a:r>
            <a:r>
              <a:rPr lang="en-US" altLang="zh-CN" sz="1500">
                <a:solidFill>
                  <a:srgbClr val="1A1C1F"/>
                </a:solidFill>
                <a:latin typeface="Microsoft YaHei" panose="020B0503020204020204" pitchFamily="34" charset="-122"/>
                <a:ea typeface="Microsoft YaHei" panose="020B0503020204020204" pitchFamily="34" charset="-122"/>
              </a:rPr>
              <a:t>VDS </a:t>
            </a:r>
            <a:r>
              <a:rPr lang="zh-CN" altLang="en-US" sz="1500">
                <a:solidFill>
                  <a:srgbClr val="1A1C1F"/>
                </a:solidFill>
                <a:latin typeface="Microsoft YaHei" panose="020B0503020204020204" pitchFamily="34" charset="-122"/>
                <a:ea typeface="Microsoft YaHei" panose="020B0503020204020204" pitchFamily="34" charset="-122"/>
              </a:rPr>
              <a:t>尖峰与开关损耗</a:t>
            </a:r>
          </a:p>
        </p:txBody>
      </p:sp>
      <p:sp>
        <p:nvSpPr>
          <p:cNvPr id="16" name="矩形: 圆角 15">
            <a:extLst>
              <a:ext uri="{FF2B5EF4-FFF2-40B4-BE49-F238E27FC236}">
                <a16:creationId xmlns:a16="http://schemas.microsoft.com/office/drawing/2014/main" id="{AABC6104-CA27-1E6A-9BB7-CF80E3947B37}"/>
              </a:ext>
            </a:extLst>
          </p:cNvPr>
          <p:cNvSpPr/>
          <p:nvPr/>
        </p:nvSpPr>
        <p:spPr>
          <a:xfrm>
            <a:off x="10210800" y="2654300"/>
            <a:ext cx="736600" cy="279400"/>
          </a:xfrm>
          <a:prstGeom prst="roundRect">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94177BC3-59EA-4BA1-6CEB-34496B8B0CFA}"/>
              </a:ext>
            </a:extLst>
          </p:cNvPr>
          <p:cNvSpPr txBox="1"/>
          <p:nvPr/>
        </p:nvSpPr>
        <p:spPr>
          <a:xfrm>
            <a:off x="10236200" y="2667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待补波形</a:t>
            </a:r>
          </a:p>
        </p:txBody>
      </p:sp>
      <p:sp>
        <p:nvSpPr>
          <p:cNvPr id="18" name="矩形 17">
            <a:extLst>
              <a:ext uri="{FF2B5EF4-FFF2-40B4-BE49-F238E27FC236}">
                <a16:creationId xmlns:a16="http://schemas.microsoft.com/office/drawing/2014/main" id="{B33627A1-B8EA-42F7-5142-B8BC057E823D}"/>
              </a:ext>
            </a:extLst>
          </p:cNvPr>
          <p:cNvSpPr/>
          <p:nvPr/>
        </p:nvSpPr>
        <p:spPr>
          <a:xfrm>
            <a:off x="838200" y="3187700"/>
            <a:ext cx="10515600" cy="533400"/>
          </a:xfrm>
          <a:prstGeom prst="rect">
            <a:avLst/>
          </a:prstGeom>
          <a:solidFill>
            <a:srgbClr val="F7F8FA"/>
          </a:solidFill>
          <a:ln w="0">
            <a:solidFill>
              <a:srgbClr val="F7F8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8BEF3804-1A17-C9EB-6DAE-A7E4B2BF9568}"/>
              </a:ext>
            </a:extLst>
          </p:cNvPr>
          <p:cNvSpPr txBox="1"/>
          <p:nvPr/>
        </p:nvSpPr>
        <p:spPr>
          <a:xfrm>
            <a:off x="990600" y="3263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栅极驱动</a:t>
            </a:r>
          </a:p>
        </p:txBody>
      </p:sp>
      <p:sp>
        <p:nvSpPr>
          <p:cNvPr id="20" name="文本框 19">
            <a:extLst>
              <a:ext uri="{FF2B5EF4-FFF2-40B4-BE49-F238E27FC236}">
                <a16:creationId xmlns:a16="http://schemas.microsoft.com/office/drawing/2014/main" id="{AA991B66-86FB-353A-8D23-66BAA31D869B}"/>
              </a:ext>
            </a:extLst>
          </p:cNvPr>
          <p:cNvSpPr txBox="1"/>
          <p:nvPr/>
        </p:nvSpPr>
        <p:spPr>
          <a:xfrm>
            <a:off x="2794000" y="3263900"/>
            <a:ext cx="6604000" cy="307777"/>
          </a:xfrm>
          <a:prstGeom prst="rect">
            <a:avLst/>
          </a:prstGeom>
          <a:noFill/>
        </p:spPr>
        <p:txBody>
          <a:bodyPr vert="horz" wrap="square" lIns="76200" tIns="38100" rIns="76200" bIns="38100" rtlCol="0">
            <a:spAutoFit/>
          </a:bodyPr>
          <a:lstStyle/>
          <a:p>
            <a:r>
              <a:rPr lang="zh-CN" altLang="en-US" sz="1500">
                <a:solidFill>
                  <a:srgbClr val="1A1C1F"/>
                </a:solidFill>
                <a:latin typeface="Microsoft YaHei" panose="020B0503020204020204" pitchFamily="34" charset="-122"/>
                <a:ea typeface="Microsoft YaHei" panose="020B0503020204020204" pitchFamily="34" charset="-122"/>
              </a:rPr>
              <a:t>互补 </a:t>
            </a:r>
            <a:r>
              <a:rPr lang="en-US" altLang="zh-CN" sz="1500">
                <a:solidFill>
                  <a:srgbClr val="1A1C1F"/>
                </a:solidFill>
                <a:latin typeface="Microsoft YaHei" panose="020B0503020204020204" pitchFamily="34" charset="-122"/>
                <a:ea typeface="Microsoft YaHei" panose="020B0503020204020204" pitchFamily="34" charset="-122"/>
              </a:rPr>
              <a:t>PWM</a:t>
            </a:r>
            <a:r>
              <a:rPr lang="zh-CN" altLang="en-US" sz="1500">
                <a:solidFill>
                  <a:srgbClr val="1A1C1F"/>
                </a:solidFill>
                <a:latin typeface="Microsoft YaHei" panose="020B0503020204020204" pitchFamily="34" charset="-122"/>
                <a:ea typeface="Microsoft YaHei" panose="020B0503020204020204" pitchFamily="34" charset="-122"/>
              </a:rPr>
              <a:t>、死区与米勒平台</a:t>
            </a:r>
          </a:p>
        </p:txBody>
      </p:sp>
      <p:sp>
        <p:nvSpPr>
          <p:cNvPr id="21" name="矩形: 圆角 20">
            <a:extLst>
              <a:ext uri="{FF2B5EF4-FFF2-40B4-BE49-F238E27FC236}">
                <a16:creationId xmlns:a16="http://schemas.microsoft.com/office/drawing/2014/main" id="{486FC873-D3B6-DA84-4F86-1BDAF3E5734A}"/>
              </a:ext>
            </a:extLst>
          </p:cNvPr>
          <p:cNvSpPr/>
          <p:nvPr/>
        </p:nvSpPr>
        <p:spPr>
          <a:xfrm>
            <a:off x="10210800" y="3289300"/>
            <a:ext cx="736600" cy="279400"/>
          </a:xfrm>
          <a:prstGeom prst="roundRect">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6CF14380-56EF-2878-161E-E47727A7C426}"/>
              </a:ext>
            </a:extLst>
          </p:cNvPr>
          <p:cNvSpPr txBox="1"/>
          <p:nvPr/>
        </p:nvSpPr>
        <p:spPr>
          <a:xfrm>
            <a:off x="10236200" y="3302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待补波形</a:t>
            </a:r>
          </a:p>
        </p:txBody>
      </p:sp>
      <p:sp>
        <p:nvSpPr>
          <p:cNvPr id="23" name="文本框 22">
            <a:extLst>
              <a:ext uri="{FF2B5EF4-FFF2-40B4-BE49-F238E27FC236}">
                <a16:creationId xmlns:a16="http://schemas.microsoft.com/office/drawing/2014/main" id="{6873EC0E-CFFB-DD5B-E425-86BE3AF5F256}"/>
              </a:ext>
            </a:extLst>
          </p:cNvPr>
          <p:cNvSpPr txBox="1"/>
          <p:nvPr/>
        </p:nvSpPr>
        <p:spPr>
          <a:xfrm>
            <a:off x="990600" y="3898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电流采样</a:t>
            </a:r>
          </a:p>
        </p:txBody>
      </p:sp>
      <p:sp>
        <p:nvSpPr>
          <p:cNvPr id="24" name="文本框 23">
            <a:extLst>
              <a:ext uri="{FF2B5EF4-FFF2-40B4-BE49-F238E27FC236}">
                <a16:creationId xmlns:a16="http://schemas.microsoft.com/office/drawing/2014/main" id="{995E0C20-28CB-5B72-5219-3B80836600FF}"/>
              </a:ext>
            </a:extLst>
          </p:cNvPr>
          <p:cNvSpPr txBox="1"/>
          <p:nvPr/>
        </p:nvSpPr>
        <p:spPr>
          <a:xfrm>
            <a:off x="2794000" y="3898900"/>
            <a:ext cx="6604000" cy="307777"/>
          </a:xfrm>
          <a:prstGeom prst="rect">
            <a:avLst/>
          </a:prstGeom>
          <a:noFill/>
        </p:spPr>
        <p:txBody>
          <a:bodyPr vert="horz" wrap="square" lIns="76200" tIns="38100" rIns="76200" bIns="38100" rtlCol="0">
            <a:spAutoFit/>
          </a:bodyPr>
          <a:lstStyle/>
          <a:p>
            <a:r>
              <a:rPr lang="zh-CN" altLang="en-US" sz="1500">
                <a:solidFill>
                  <a:srgbClr val="1A1C1F"/>
                </a:solidFill>
                <a:latin typeface="Microsoft YaHei" panose="020B0503020204020204" pitchFamily="34" charset="-122"/>
                <a:ea typeface="Microsoft YaHei" panose="020B0503020204020204" pitchFamily="34" charset="-122"/>
              </a:rPr>
              <a:t>零漂、增益、三相一致性与同步采样</a:t>
            </a:r>
          </a:p>
        </p:txBody>
      </p:sp>
      <p:sp>
        <p:nvSpPr>
          <p:cNvPr id="25" name="矩形: 圆角 24">
            <a:extLst>
              <a:ext uri="{FF2B5EF4-FFF2-40B4-BE49-F238E27FC236}">
                <a16:creationId xmlns:a16="http://schemas.microsoft.com/office/drawing/2014/main" id="{C5D0FFE5-8D9B-8850-BE45-FEFF5E43EB09}"/>
              </a:ext>
            </a:extLst>
          </p:cNvPr>
          <p:cNvSpPr/>
          <p:nvPr/>
        </p:nvSpPr>
        <p:spPr>
          <a:xfrm>
            <a:off x="10210800" y="3924300"/>
            <a:ext cx="736600" cy="279400"/>
          </a:xfrm>
          <a:prstGeom prst="roundRect">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374CD1DB-756A-6272-76AA-9578CB224F57}"/>
              </a:ext>
            </a:extLst>
          </p:cNvPr>
          <p:cNvSpPr txBox="1"/>
          <p:nvPr/>
        </p:nvSpPr>
        <p:spPr>
          <a:xfrm>
            <a:off x="10236200" y="3937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待补波形</a:t>
            </a:r>
          </a:p>
        </p:txBody>
      </p:sp>
      <p:sp>
        <p:nvSpPr>
          <p:cNvPr id="27" name="矩形 26">
            <a:extLst>
              <a:ext uri="{FF2B5EF4-FFF2-40B4-BE49-F238E27FC236}">
                <a16:creationId xmlns:a16="http://schemas.microsoft.com/office/drawing/2014/main" id="{C572A1D6-7EB9-A2C0-3489-0A2880F4695B}"/>
              </a:ext>
            </a:extLst>
          </p:cNvPr>
          <p:cNvSpPr/>
          <p:nvPr/>
        </p:nvSpPr>
        <p:spPr>
          <a:xfrm>
            <a:off x="838200" y="4457700"/>
            <a:ext cx="10515600" cy="533400"/>
          </a:xfrm>
          <a:prstGeom prst="rect">
            <a:avLst/>
          </a:prstGeom>
          <a:solidFill>
            <a:srgbClr val="F7F8FA"/>
          </a:solidFill>
          <a:ln w="0">
            <a:solidFill>
              <a:srgbClr val="F7F8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73F0981F-D7CB-0F81-0E68-F33C67E1AFCA}"/>
              </a:ext>
            </a:extLst>
          </p:cNvPr>
          <p:cNvSpPr txBox="1"/>
          <p:nvPr/>
        </p:nvSpPr>
        <p:spPr>
          <a:xfrm>
            <a:off x="990600" y="4533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控制性能</a:t>
            </a:r>
          </a:p>
        </p:txBody>
      </p:sp>
      <p:sp>
        <p:nvSpPr>
          <p:cNvPr id="29" name="文本框 28">
            <a:extLst>
              <a:ext uri="{FF2B5EF4-FFF2-40B4-BE49-F238E27FC236}">
                <a16:creationId xmlns:a16="http://schemas.microsoft.com/office/drawing/2014/main" id="{4F01F113-6F7C-3152-84EC-A711232A9B51}"/>
              </a:ext>
            </a:extLst>
          </p:cNvPr>
          <p:cNvSpPr txBox="1"/>
          <p:nvPr/>
        </p:nvSpPr>
        <p:spPr>
          <a:xfrm>
            <a:off x="2794000" y="4533900"/>
            <a:ext cx="6604000" cy="307777"/>
          </a:xfrm>
          <a:prstGeom prst="rect">
            <a:avLst/>
          </a:prstGeom>
          <a:noFill/>
        </p:spPr>
        <p:txBody>
          <a:bodyPr vert="horz" wrap="square" lIns="76200" tIns="38100" rIns="76200" bIns="38100" rtlCol="0">
            <a:spAutoFit/>
          </a:bodyPr>
          <a:lstStyle/>
          <a:p>
            <a:r>
              <a:rPr lang="zh-CN" altLang="en-US" sz="1500">
                <a:solidFill>
                  <a:srgbClr val="1A1C1F"/>
                </a:solidFill>
                <a:latin typeface="Microsoft YaHei" panose="020B0503020204020204" pitchFamily="34" charset="-122"/>
                <a:ea typeface="Microsoft YaHei" panose="020B0503020204020204" pitchFamily="34" charset="-122"/>
              </a:rPr>
              <a:t>启停、速度与位置闭环</a:t>
            </a:r>
          </a:p>
        </p:txBody>
      </p:sp>
      <p:sp>
        <p:nvSpPr>
          <p:cNvPr id="30" name="矩形: 圆角 29">
            <a:extLst>
              <a:ext uri="{FF2B5EF4-FFF2-40B4-BE49-F238E27FC236}">
                <a16:creationId xmlns:a16="http://schemas.microsoft.com/office/drawing/2014/main" id="{5319251A-CB90-4AF5-937A-B51A7F0344C0}"/>
              </a:ext>
            </a:extLst>
          </p:cNvPr>
          <p:cNvSpPr/>
          <p:nvPr/>
        </p:nvSpPr>
        <p:spPr>
          <a:xfrm>
            <a:off x="10210800" y="4559300"/>
            <a:ext cx="736600" cy="279400"/>
          </a:xfrm>
          <a:prstGeom prst="roundRect">
            <a:avLst/>
          </a:prstGeom>
          <a:solidFill>
            <a:srgbClr val="00AA78"/>
          </a:solidFill>
          <a:ln w="0">
            <a:solidFill>
              <a:srgbClr val="00A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CDC076EB-B620-22D7-98AD-8F6AA0BBE730}"/>
              </a:ext>
            </a:extLst>
          </p:cNvPr>
          <p:cNvSpPr txBox="1"/>
          <p:nvPr/>
        </p:nvSpPr>
        <p:spPr>
          <a:xfrm>
            <a:off x="10236200" y="4572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已完成</a:t>
            </a:r>
          </a:p>
        </p:txBody>
      </p:sp>
      <p:sp>
        <p:nvSpPr>
          <p:cNvPr id="32" name="文本框 31">
            <a:extLst>
              <a:ext uri="{FF2B5EF4-FFF2-40B4-BE49-F238E27FC236}">
                <a16:creationId xmlns:a16="http://schemas.microsoft.com/office/drawing/2014/main" id="{EDFBC3FC-6B70-82E9-8A39-DA0DC44B51FB}"/>
              </a:ext>
            </a:extLst>
          </p:cNvPr>
          <p:cNvSpPr txBox="1"/>
          <p:nvPr/>
        </p:nvSpPr>
        <p:spPr>
          <a:xfrm>
            <a:off x="990600" y="5168900"/>
            <a:ext cx="1625600" cy="323165"/>
          </a:xfrm>
          <a:prstGeom prst="rect">
            <a:avLst/>
          </a:prstGeom>
          <a:noFill/>
        </p:spPr>
        <p:txBody>
          <a:bodyPr vert="horz" wrap="square" lIns="76200" tIns="38100" rIns="76200" bIns="38100" rtlCol="0">
            <a:spAutoFit/>
          </a:bodyPr>
          <a:lstStyle/>
          <a:p>
            <a:r>
              <a:rPr lang="zh-CN" altLang="en-US" sz="1600" b="1">
                <a:solidFill>
                  <a:srgbClr val="005A9C"/>
                </a:solidFill>
                <a:latin typeface="Microsoft YaHei" panose="020B0503020204020204" pitchFamily="34" charset="-122"/>
                <a:ea typeface="Microsoft YaHei" panose="020B0503020204020204" pitchFamily="34" charset="-122"/>
              </a:rPr>
              <a:t>热与负载</a:t>
            </a:r>
          </a:p>
        </p:txBody>
      </p:sp>
      <p:sp>
        <p:nvSpPr>
          <p:cNvPr id="33" name="文本框 32">
            <a:extLst>
              <a:ext uri="{FF2B5EF4-FFF2-40B4-BE49-F238E27FC236}">
                <a16:creationId xmlns:a16="http://schemas.microsoft.com/office/drawing/2014/main" id="{E85581B6-916E-56A2-712A-B698D61001C2}"/>
              </a:ext>
            </a:extLst>
          </p:cNvPr>
          <p:cNvSpPr txBox="1"/>
          <p:nvPr/>
        </p:nvSpPr>
        <p:spPr>
          <a:xfrm>
            <a:off x="2794000" y="5168900"/>
            <a:ext cx="6604000" cy="307777"/>
          </a:xfrm>
          <a:prstGeom prst="rect">
            <a:avLst/>
          </a:prstGeom>
          <a:noFill/>
        </p:spPr>
        <p:txBody>
          <a:bodyPr vert="horz" wrap="square" lIns="76200" tIns="38100" rIns="76200" bIns="38100" rtlCol="0">
            <a:spAutoFit/>
          </a:bodyPr>
          <a:lstStyle/>
          <a:p>
            <a:r>
              <a:rPr lang="en-US" altLang="zh-CN" sz="1500">
                <a:solidFill>
                  <a:srgbClr val="1A1C1F"/>
                </a:solidFill>
                <a:latin typeface="Microsoft YaHei" panose="020B0503020204020204" pitchFamily="34" charset="-122"/>
                <a:ea typeface="Microsoft YaHei" panose="020B0503020204020204" pitchFamily="34" charset="-122"/>
              </a:rPr>
              <a:t>180 W </a:t>
            </a:r>
            <a:r>
              <a:rPr lang="zh-CN" altLang="en-US" sz="1500">
                <a:solidFill>
                  <a:srgbClr val="1A1C1F"/>
                </a:solidFill>
                <a:latin typeface="Microsoft YaHei" panose="020B0503020204020204" pitchFamily="34" charset="-122"/>
                <a:ea typeface="Microsoft YaHei" panose="020B0503020204020204" pitchFamily="34" charset="-122"/>
              </a:rPr>
              <a:t>连续带载与温升热像</a:t>
            </a:r>
          </a:p>
        </p:txBody>
      </p:sp>
      <p:sp>
        <p:nvSpPr>
          <p:cNvPr id="34" name="矩形: 圆角 33">
            <a:extLst>
              <a:ext uri="{FF2B5EF4-FFF2-40B4-BE49-F238E27FC236}">
                <a16:creationId xmlns:a16="http://schemas.microsoft.com/office/drawing/2014/main" id="{759C7BE4-E44F-33D1-E911-C1014802FC37}"/>
              </a:ext>
            </a:extLst>
          </p:cNvPr>
          <p:cNvSpPr/>
          <p:nvPr/>
        </p:nvSpPr>
        <p:spPr>
          <a:xfrm>
            <a:off x="10210800" y="5194300"/>
            <a:ext cx="736600" cy="279400"/>
          </a:xfrm>
          <a:prstGeom prst="roundRect">
            <a:avLst/>
          </a:prstGeom>
          <a:solidFill>
            <a:srgbClr val="00AA78"/>
          </a:solidFill>
          <a:ln w="0">
            <a:solidFill>
              <a:srgbClr val="00AA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23DDDE63-A7C5-D434-0B9F-0CDF260DB9E2}"/>
              </a:ext>
            </a:extLst>
          </p:cNvPr>
          <p:cNvSpPr txBox="1"/>
          <p:nvPr/>
        </p:nvSpPr>
        <p:spPr>
          <a:xfrm>
            <a:off x="10236200" y="5207000"/>
            <a:ext cx="685800" cy="230832"/>
          </a:xfrm>
          <a:prstGeom prst="rect">
            <a:avLst/>
          </a:prstGeom>
          <a:noFill/>
        </p:spPr>
        <p:txBody>
          <a:bodyPr vert="horz" wrap="square" lIns="76200" tIns="38100" rIns="76200" bIns="38100" rtlCol="0">
            <a:spAutoFit/>
          </a:bodyPr>
          <a:lstStyle/>
          <a:p>
            <a:pPr algn="ctr"/>
            <a:r>
              <a:rPr lang="zh-CN" altLang="en-US" sz="1000" b="1">
                <a:solidFill>
                  <a:srgbClr val="FFFFFF"/>
                </a:solidFill>
                <a:latin typeface="Microsoft YaHei" panose="020B0503020204020204" pitchFamily="34" charset="-122"/>
                <a:ea typeface="Microsoft YaHei" panose="020B0503020204020204" pitchFamily="34" charset="-122"/>
              </a:rPr>
              <a:t>已完成</a:t>
            </a:r>
          </a:p>
        </p:txBody>
      </p:sp>
      <p:sp>
        <p:nvSpPr>
          <p:cNvPr id="36" name="文本框 35">
            <a:extLst>
              <a:ext uri="{FF2B5EF4-FFF2-40B4-BE49-F238E27FC236}">
                <a16:creationId xmlns:a16="http://schemas.microsoft.com/office/drawing/2014/main" id="{284083F9-050E-570A-BEBF-88E427DD62B1}"/>
              </a:ext>
            </a:extLst>
          </p:cNvPr>
          <p:cNvSpPr txBox="1"/>
          <p:nvPr/>
        </p:nvSpPr>
        <p:spPr>
          <a:xfrm>
            <a:off x="889000" y="6121400"/>
            <a:ext cx="10414000" cy="276999"/>
          </a:xfrm>
          <a:prstGeom prst="rect">
            <a:avLst/>
          </a:prstGeom>
          <a:noFill/>
        </p:spPr>
        <p:txBody>
          <a:bodyPr vert="horz" wrap="square" lIns="76200" tIns="38100" rIns="76200" bIns="38100" rtlCol="0">
            <a:spAutoFit/>
          </a:bodyPr>
          <a:lstStyle/>
          <a:p>
            <a:pPr algn="ctr"/>
            <a:r>
              <a:rPr lang="zh-CN" altLang="en-US" sz="1300">
                <a:solidFill>
                  <a:srgbClr val="5C6877"/>
                </a:solidFill>
                <a:latin typeface="Microsoft YaHei" panose="020B0503020204020204" pitchFamily="34" charset="-122"/>
                <a:ea typeface="Microsoft YaHei" panose="020B0503020204020204" pitchFamily="34" charset="-122"/>
              </a:rPr>
              <a:t>结论口径：已有素材直接给出实测结果；缺少原始示波器截图的项目只给测试方法与判据。</a:t>
            </a:r>
          </a:p>
        </p:txBody>
      </p:sp>
    </p:spTree>
    <p:extLst>
      <p:ext uri="{BB962C8B-B14F-4D97-AF65-F5344CB8AC3E}">
        <p14:creationId xmlns:p14="http://schemas.microsoft.com/office/powerpoint/2010/main" val="1746237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3AAFDF0-D705-A0AF-236F-7A6B44883D2B}"/>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76EC778-D96E-18ED-E13E-61A5DD84E74D}"/>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辅助电源与宽压输入</a:t>
            </a:r>
          </a:p>
        </p:txBody>
      </p:sp>
      <p:sp>
        <p:nvSpPr>
          <p:cNvPr id="4" name="文本框 3">
            <a:extLst>
              <a:ext uri="{FF2B5EF4-FFF2-40B4-BE49-F238E27FC236}">
                <a16:creationId xmlns:a16="http://schemas.microsoft.com/office/drawing/2014/main" id="{AA0407E3-BC2E-9CCD-B215-F4470A9DE367}"/>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09</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74709DD6-07F5-1ADE-CFCF-519403EB6877}"/>
              </a:ext>
            </a:extLst>
          </p:cNvPr>
          <p:cNvSpPr/>
          <p:nvPr/>
        </p:nvSpPr>
        <p:spPr>
          <a:xfrm>
            <a:off x="685800" y="1041400"/>
            <a:ext cx="7112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29BF6EB-90EB-C521-2041-8CBDDFEFEA03}"/>
              </a:ext>
            </a:extLst>
          </p:cNvPr>
          <p:cNvSpPr/>
          <p:nvPr/>
        </p:nvSpPr>
        <p:spPr>
          <a:xfrm>
            <a:off x="685800" y="1041400"/>
            <a:ext cx="7112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8163EA87-4AC2-0DA9-87C9-6BCF5A198026}"/>
              </a:ext>
            </a:extLst>
          </p:cNvPr>
          <p:cNvSpPr txBox="1"/>
          <p:nvPr/>
        </p:nvSpPr>
        <p:spPr>
          <a:xfrm>
            <a:off x="787400" y="1066800"/>
            <a:ext cx="6908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实测场景 </a:t>
            </a:r>
            <a:r>
              <a:rPr lang="en-US" altLang="zh-CN" sz="1700" b="1">
                <a:solidFill>
                  <a:srgbClr val="FFFFFF"/>
                </a:solidFill>
                <a:latin typeface="Microsoft YaHei" panose="020B0503020204020204" pitchFamily="34" charset="-122"/>
                <a:ea typeface="Microsoft YaHei" panose="020B0503020204020204" pitchFamily="34" charset="-122"/>
              </a:rPr>
              <a:t>· </a:t>
            </a:r>
            <a:r>
              <a:rPr lang="zh-CN" altLang="en-US" sz="1700" b="1">
                <a:solidFill>
                  <a:srgbClr val="FFFFFF"/>
                </a:solidFill>
                <a:latin typeface="Microsoft YaHei" panose="020B0503020204020204" pitchFamily="34" charset="-122"/>
                <a:ea typeface="Microsoft YaHei" panose="020B0503020204020204" pitchFamily="34" charset="-122"/>
              </a:rPr>
              <a:t>输入电压范围测试</a:t>
            </a:r>
          </a:p>
        </p:txBody>
      </p:sp>
      <p:pic>
        <p:nvPicPr>
          <p:cNvPr id="9" name="图片 8">
            <a:extLst>
              <a:ext uri="{FF2B5EF4-FFF2-40B4-BE49-F238E27FC236}">
                <a16:creationId xmlns:a16="http://schemas.microsoft.com/office/drawing/2014/main" id="{28D145ED-14DF-B6A5-CBDC-AB8F9FC4E45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63600" y="1566863"/>
            <a:ext cx="6756400" cy="3800475"/>
          </a:xfrm>
          <a:prstGeom prst="rect">
            <a:avLst/>
          </a:prstGeom>
        </p:spPr>
      </p:pic>
      <p:sp>
        <p:nvSpPr>
          <p:cNvPr id="10" name="文本框 9">
            <a:extLst>
              <a:ext uri="{FF2B5EF4-FFF2-40B4-BE49-F238E27FC236}">
                <a16:creationId xmlns:a16="http://schemas.microsoft.com/office/drawing/2014/main" id="{47BB0654-1150-9A94-AA46-A061B1CC17F9}"/>
              </a:ext>
            </a:extLst>
          </p:cNvPr>
          <p:cNvSpPr txBox="1"/>
          <p:nvPr/>
        </p:nvSpPr>
        <p:spPr>
          <a:xfrm>
            <a:off x="914400" y="5435600"/>
            <a:ext cx="6604000" cy="246221"/>
          </a:xfrm>
          <a:prstGeom prst="rect">
            <a:avLst/>
          </a:prstGeom>
          <a:noFill/>
        </p:spPr>
        <p:txBody>
          <a:bodyPr vert="horz" wrap="square" lIns="76200" tIns="38100" rIns="76200" bIns="38100" rtlCol="0">
            <a:spAutoFit/>
          </a:bodyPr>
          <a:lstStyle/>
          <a:p>
            <a:pPr algn="ctr"/>
            <a:r>
              <a:rPr lang="zh-CN" altLang="en-US" sz="1100">
                <a:solidFill>
                  <a:srgbClr val="5C6877"/>
                </a:solidFill>
                <a:latin typeface="Microsoft YaHei" panose="020B0503020204020204" pitchFamily="34" charset="-122"/>
                <a:ea typeface="Microsoft YaHei" panose="020B0503020204020204" pitchFamily="34" charset="-122"/>
              </a:rPr>
              <a:t>视频证据：</a:t>
            </a:r>
            <a:r>
              <a:rPr lang="en-US" altLang="zh-CN" sz="1100">
                <a:solidFill>
                  <a:srgbClr val="5C6877"/>
                </a:solidFill>
                <a:latin typeface="Microsoft YaHei" panose="020B0503020204020204" pitchFamily="34" charset="-122"/>
                <a:ea typeface="Microsoft YaHei" panose="020B0503020204020204" pitchFamily="34" charset="-122"/>
              </a:rPr>
              <a:t>Test1 Power Supply Input Voltage Range Test</a:t>
            </a:r>
            <a:endParaRPr lang="zh-CN" altLang="en-US" sz="1100">
              <a:solidFill>
                <a:srgbClr val="5C6877"/>
              </a:solidFill>
              <a:latin typeface="Microsoft YaHei" panose="020B0503020204020204" pitchFamily="34" charset="-122"/>
              <a:ea typeface="Microsoft YaHei" panose="020B0503020204020204" pitchFamily="34" charset="-122"/>
            </a:endParaRPr>
          </a:p>
        </p:txBody>
      </p:sp>
      <p:sp>
        <p:nvSpPr>
          <p:cNvPr id="11" name="矩形 10">
            <a:extLst>
              <a:ext uri="{FF2B5EF4-FFF2-40B4-BE49-F238E27FC236}">
                <a16:creationId xmlns:a16="http://schemas.microsoft.com/office/drawing/2014/main" id="{6D47815F-6B64-D2EE-A6D9-E7022C0EA4B8}"/>
              </a:ext>
            </a:extLst>
          </p:cNvPr>
          <p:cNvSpPr/>
          <p:nvPr/>
        </p:nvSpPr>
        <p:spPr>
          <a:xfrm>
            <a:off x="8077200" y="1041400"/>
            <a:ext cx="3429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552C2E1F-05F1-80EF-A7A6-AAE65B55F629}"/>
              </a:ext>
            </a:extLst>
          </p:cNvPr>
          <p:cNvSpPr/>
          <p:nvPr/>
        </p:nvSpPr>
        <p:spPr>
          <a:xfrm>
            <a:off x="8077200" y="1041400"/>
            <a:ext cx="3429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08054CD-49C1-A28E-1F09-0A8F2B7F8546}"/>
              </a:ext>
            </a:extLst>
          </p:cNvPr>
          <p:cNvSpPr txBox="1"/>
          <p:nvPr/>
        </p:nvSpPr>
        <p:spPr>
          <a:xfrm>
            <a:off x="8178800" y="1066800"/>
            <a:ext cx="3225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验证结果</a:t>
            </a:r>
          </a:p>
        </p:txBody>
      </p:sp>
      <p:sp>
        <p:nvSpPr>
          <p:cNvPr id="14" name="文本框 13">
            <a:extLst>
              <a:ext uri="{FF2B5EF4-FFF2-40B4-BE49-F238E27FC236}">
                <a16:creationId xmlns:a16="http://schemas.microsoft.com/office/drawing/2014/main" id="{7A805427-5AC8-0C66-5B9B-B465C4D2A04D}"/>
              </a:ext>
            </a:extLst>
          </p:cNvPr>
          <p:cNvSpPr txBox="1"/>
          <p:nvPr/>
        </p:nvSpPr>
        <p:spPr>
          <a:xfrm>
            <a:off x="8382000" y="1638300"/>
            <a:ext cx="2794000" cy="600164"/>
          </a:xfrm>
          <a:prstGeom prst="rect">
            <a:avLst/>
          </a:prstGeom>
          <a:noFill/>
        </p:spPr>
        <p:txBody>
          <a:bodyPr vert="horz" wrap="square" lIns="76200" tIns="38100" rIns="76200" bIns="38100" rtlCol="0">
            <a:spAutoFit/>
          </a:bodyPr>
          <a:lstStyle/>
          <a:p>
            <a:pPr algn="ctr"/>
            <a:r>
              <a:rPr lang="en-US" altLang="zh-CN" sz="3400" b="1">
                <a:solidFill>
                  <a:srgbClr val="005A9C"/>
                </a:solidFill>
                <a:latin typeface="Microsoft YaHei" panose="020B0503020204020204" pitchFamily="34" charset="-122"/>
                <a:ea typeface="Microsoft YaHei" panose="020B0503020204020204" pitchFamily="34" charset="-122"/>
              </a:rPr>
              <a:t>40-56 V</a:t>
            </a:r>
            <a:endParaRPr lang="zh-CN" altLang="en-US" sz="3400" b="1">
              <a:solidFill>
                <a:srgbClr val="005A9C"/>
              </a:solidFill>
              <a:latin typeface="Microsoft YaHei" panose="020B0503020204020204" pitchFamily="34" charset="-122"/>
              <a:ea typeface="Microsoft YaHei" panose="020B0503020204020204" pitchFamily="34" charset="-122"/>
            </a:endParaRPr>
          </a:p>
        </p:txBody>
      </p:sp>
      <p:sp>
        <p:nvSpPr>
          <p:cNvPr id="15" name="文本框 14">
            <a:extLst>
              <a:ext uri="{FF2B5EF4-FFF2-40B4-BE49-F238E27FC236}">
                <a16:creationId xmlns:a16="http://schemas.microsoft.com/office/drawing/2014/main" id="{010E3155-C036-7C04-E712-CD55E0299747}"/>
              </a:ext>
            </a:extLst>
          </p:cNvPr>
          <p:cNvSpPr txBox="1"/>
          <p:nvPr/>
        </p:nvSpPr>
        <p:spPr>
          <a:xfrm>
            <a:off x="8331200" y="2260600"/>
            <a:ext cx="2921000" cy="338554"/>
          </a:xfrm>
          <a:prstGeom prst="rect">
            <a:avLst/>
          </a:prstGeom>
          <a:noFill/>
        </p:spPr>
        <p:txBody>
          <a:bodyPr vert="horz" wrap="square" lIns="76200" tIns="38100" rIns="76200" bIns="38100" rtlCol="0">
            <a:spAutoFit/>
          </a:bodyPr>
          <a:lstStyle/>
          <a:p>
            <a:pPr algn="ctr"/>
            <a:r>
              <a:rPr lang="zh-CN" altLang="en-US" sz="1700" b="1">
                <a:solidFill>
                  <a:srgbClr val="1A1C1F"/>
                </a:solidFill>
                <a:latin typeface="Microsoft YaHei" panose="020B0503020204020204" pitchFamily="34" charset="-122"/>
                <a:ea typeface="Microsoft YaHei" panose="020B0503020204020204" pitchFamily="34" charset="-122"/>
              </a:rPr>
              <a:t>宽输入范围稳定运行</a:t>
            </a:r>
          </a:p>
        </p:txBody>
      </p:sp>
      <p:sp>
        <p:nvSpPr>
          <p:cNvPr id="16" name="文本框 15">
            <a:extLst>
              <a:ext uri="{FF2B5EF4-FFF2-40B4-BE49-F238E27FC236}">
                <a16:creationId xmlns:a16="http://schemas.microsoft.com/office/drawing/2014/main" id="{049B05A5-863A-523F-58B5-BB7E9F9CD311}"/>
              </a:ext>
            </a:extLst>
          </p:cNvPr>
          <p:cNvSpPr txBox="1"/>
          <p:nvPr/>
        </p:nvSpPr>
        <p:spPr>
          <a:xfrm>
            <a:off x="8369300" y="2844800"/>
            <a:ext cx="2844800" cy="1461939"/>
          </a:xfrm>
          <a:prstGeom prst="rect">
            <a:avLst/>
          </a:prstGeom>
          <a:noFill/>
        </p:spPr>
        <p:txBody>
          <a:bodyPr vert="horz" wrap="square" lIns="76200" tIns="38100" rIns="76200" bIns="38100" rtlCol="0">
            <a:spAutoFit/>
          </a:bodyPr>
          <a:lstStyle/>
          <a:p>
            <a:r>
              <a:rPr lang="zh-CN" altLang="en-US" sz="1500">
                <a:solidFill>
                  <a:srgbClr val="1A1C1F"/>
                </a:solidFill>
                <a:latin typeface="Microsoft YaHei" panose="020B0503020204020204" pitchFamily="34" charset="-122"/>
                <a:ea typeface="Microsoft YaHei" panose="020B0503020204020204" pitchFamily="34" charset="-122"/>
              </a:rPr>
              <a:t>● 覆盖 </a:t>
            </a:r>
            <a:r>
              <a:rPr lang="en-US" altLang="zh-CN" sz="1500">
                <a:solidFill>
                  <a:srgbClr val="1A1C1F"/>
                </a:solidFill>
                <a:latin typeface="Microsoft YaHei" panose="020B0503020204020204" pitchFamily="34" charset="-122"/>
                <a:ea typeface="Microsoft YaHei" panose="020B0503020204020204" pitchFamily="34" charset="-122"/>
              </a:rPr>
              <a:t>48 V ±15% </a:t>
            </a:r>
            <a:r>
              <a:rPr lang="zh-CN" altLang="en-US" sz="1500">
                <a:solidFill>
                  <a:srgbClr val="1A1C1F"/>
                </a:solidFill>
                <a:latin typeface="Microsoft YaHei" panose="020B0503020204020204" pitchFamily="34" charset="-122"/>
                <a:ea typeface="Microsoft YaHei" panose="020B0503020204020204" pitchFamily="34" charset="-122"/>
              </a:rPr>
              <a:t>工况</a:t>
            </a:r>
          </a:p>
          <a:p>
            <a:r>
              <a:rPr lang="zh-CN" altLang="en-US" sz="1500">
                <a:solidFill>
                  <a:srgbClr val="1A1C1F"/>
                </a:solidFill>
                <a:latin typeface="Microsoft YaHei" panose="020B0503020204020204" pitchFamily="34" charset="-122"/>
                <a:ea typeface="Microsoft YaHei" panose="020B0503020204020204" pitchFamily="34" charset="-122"/>
              </a:rPr>
              <a:t>● 检查 </a:t>
            </a:r>
            <a:r>
              <a:rPr lang="en-US" altLang="zh-CN" sz="1500">
                <a:solidFill>
                  <a:srgbClr val="1A1C1F"/>
                </a:solidFill>
                <a:latin typeface="Microsoft YaHei" panose="020B0503020204020204" pitchFamily="34" charset="-122"/>
                <a:ea typeface="Microsoft YaHei" panose="020B0503020204020204" pitchFamily="34" charset="-122"/>
              </a:rPr>
              <a:t>12 V / 5 V / 3.3 V </a:t>
            </a:r>
            <a:r>
              <a:rPr lang="zh-CN" altLang="en-US" sz="1500">
                <a:solidFill>
                  <a:srgbClr val="1A1C1F"/>
                </a:solidFill>
                <a:latin typeface="Microsoft YaHei" panose="020B0503020204020204" pitchFamily="34" charset="-122"/>
                <a:ea typeface="Microsoft YaHei" panose="020B0503020204020204" pitchFamily="34" charset="-122"/>
              </a:rPr>
              <a:t>电源轨</a:t>
            </a:r>
          </a:p>
          <a:p>
            <a:r>
              <a:rPr lang="zh-CN" altLang="en-US" sz="1500">
                <a:solidFill>
                  <a:srgbClr val="1A1C1F"/>
                </a:solidFill>
                <a:latin typeface="Microsoft YaHei" panose="020B0503020204020204" pitchFamily="34" charset="-122"/>
                <a:ea typeface="Microsoft YaHei" panose="020B0503020204020204" pitchFamily="34" charset="-122"/>
              </a:rPr>
              <a:t>● 观察启动过冲与欠压恢复</a:t>
            </a:r>
          </a:p>
          <a:p>
            <a:r>
              <a:rPr lang="zh-CN" altLang="en-US" sz="1500">
                <a:solidFill>
                  <a:srgbClr val="1A1C1F"/>
                </a:solidFill>
                <a:latin typeface="Microsoft YaHei" panose="020B0503020204020204" pitchFamily="34" charset="-122"/>
                <a:ea typeface="Microsoft YaHei" panose="020B0503020204020204" pitchFamily="34" charset="-122"/>
              </a:rPr>
              <a:t>● 电机启停过程中无异常复位</a:t>
            </a:r>
          </a:p>
          <a:p>
            <a:r>
              <a:rPr lang="zh-CN" altLang="en-US" sz="1500">
                <a:solidFill>
                  <a:srgbClr val="1A1C1F"/>
                </a:solidFill>
                <a:latin typeface="Microsoft YaHei" panose="020B0503020204020204" pitchFamily="34" charset="-122"/>
                <a:ea typeface="Microsoft YaHei" panose="020B0503020204020204" pitchFamily="34" charset="-122"/>
              </a:rPr>
              <a:t>● 建议补测各电源轨纹波峰峰值</a:t>
            </a:r>
          </a:p>
        </p:txBody>
      </p:sp>
      <p:sp>
        <p:nvSpPr>
          <p:cNvPr id="17" name="矩形 16">
            <a:extLst>
              <a:ext uri="{FF2B5EF4-FFF2-40B4-BE49-F238E27FC236}">
                <a16:creationId xmlns:a16="http://schemas.microsoft.com/office/drawing/2014/main" id="{80E1A441-A64C-3A50-ABDB-DE15A5F14AA8}"/>
              </a:ext>
            </a:extLst>
          </p:cNvPr>
          <p:cNvSpPr/>
          <p:nvPr/>
        </p:nvSpPr>
        <p:spPr>
          <a:xfrm>
            <a:off x="8382000" y="5092700"/>
            <a:ext cx="2794000" cy="4826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482C67BC-20E9-4ADC-EA56-9BD1FB22E684}"/>
              </a:ext>
            </a:extLst>
          </p:cNvPr>
          <p:cNvSpPr txBox="1"/>
          <p:nvPr/>
        </p:nvSpPr>
        <p:spPr>
          <a:xfrm>
            <a:off x="8458200" y="5181600"/>
            <a:ext cx="2641600" cy="292388"/>
          </a:xfrm>
          <a:prstGeom prst="rect">
            <a:avLst/>
          </a:prstGeom>
          <a:noFill/>
        </p:spPr>
        <p:txBody>
          <a:bodyPr vert="horz" wrap="square" lIns="76200" tIns="38100" rIns="76200" bIns="38100" rtlCol="0">
            <a:spAutoFit/>
          </a:bodyPr>
          <a:lstStyle/>
          <a:p>
            <a:pPr algn="ctr"/>
            <a:r>
              <a:rPr lang="zh-CN" altLang="en-US" sz="1400" b="1">
                <a:solidFill>
                  <a:srgbClr val="005A9C"/>
                </a:solidFill>
                <a:latin typeface="Microsoft YaHei" panose="020B0503020204020204" pitchFamily="34" charset="-122"/>
                <a:ea typeface="Microsoft YaHei" panose="020B0503020204020204" pitchFamily="34" charset="-122"/>
              </a:rPr>
              <a:t>电源链路通过系统级运行验证</a:t>
            </a:r>
          </a:p>
        </p:txBody>
      </p:sp>
    </p:spTree>
    <p:extLst>
      <p:ext uri="{BB962C8B-B14F-4D97-AF65-F5344CB8AC3E}">
        <p14:creationId xmlns:p14="http://schemas.microsoft.com/office/powerpoint/2010/main" val="1880501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FA3860-2291-4FAD-477E-1D44C34AAC2C}"/>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6C4B1EA2-1F4D-5777-F747-564D0ED62C7C}"/>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双脉冲测试方法</a:t>
            </a:r>
          </a:p>
        </p:txBody>
      </p:sp>
      <p:sp>
        <p:nvSpPr>
          <p:cNvPr id="4" name="文本框 3">
            <a:extLst>
              <a:ext uri="{FF2B5EF4-FFF2-40B4-BE49-F238E27FC236}">
                <a16:creationId xmlns:a16="http://schemas.microsoft.com/office/drawing/2014/main" id="{87E24E03-CC87-D868-360A-A56F4761AC31}"/>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10</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C5743891-A4EB-5097-5400-2B71F7BAF03E}"/>
              </a:ext>
            </a:extLst>
          </p:cNvPr>
          <p:cNvSpPr/>
          <p:nvPr/>
        </p:nvSpPr>
        <p:spPr>
          <a:xfrm>
            <a:off x="685800" y="1041400"/>
            <a:ext cx="5461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818C388E-13CC-6B07-F9E8-8BC47BC1EEA6}"/>
              </a:ext>
            </a:extLst>
          </p:cNvPr>
          <p:cNvSpPr/>
          <p:nvPr/>
        </p:nvSpPr>
        <p:spPr>
          <a:xfrm>
            <a:off x="685800" y="1041400"/>
            <a:ext cx="5461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5D42BF2-8F00-3E1C-408F-FFB6756ABFDE}"/>
              </a:ext>
            </a:extLst>
          </p:cNvPr>
          <p:cNvSpPr txBox="1"/>
          <p:nvPr/>
        </p:nvSpPr>
        <p:spPr>
          <a:xfrm>
            <a:off x="787400" y="1066800"/>
            <a:ext cx="5257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测试拓扑</a:t>
            </a:r>
          </a:p>
        </p:txBody>
      </p:sp>
      <p:sp>
        <p:nvSpPr>
          <p:cNvPr id="8" name="文本框 7">
            <a:extLst>
              <a:ext uri="{FF2B5EF4-FFF2-40B4-BE49-F238E27FC236}">
                <a16:creationId xmlns:a16="http://schemas.microsoft.com/office/drawing/2014/main" id="{7EF5C4B0-3C68-225D-018D-05A3D2A45DFF}"/>
              </a:ext>
            </a:extLst>
          </p:cNvPr>
          <p:cNvSpPr txBox="1"/>
          <p:nvPr/>
        </p:nvSpPr>
        <p:spPr>
          <a:xfrm>
            <a:off x="977900" y="1676400"/>
            <a:ext cx="1143000" cy="338554"/>
          </a:xfrm>
          <a:prstGeom prst="rect">
            <a:avLst/>
          </a:prstGeom>
          <a:noFill/>
        </p:spPr>
        <p:txBody>
          <a:bodyPr vert="horz" wrap="square" lIns="76200" tIns="38100" rIns="76200" bIns="38100" rtlCol="0">
            <a:spAutoFit/>
          </a:bodyPr>
          <a:lstStyle/>
          <a:p>
            <a:pPr algn="ctr"/>
            <a:r>
              <a:rPr lang="en-US" altLang="zh-CN" sz="1700" b="1">
                <a:solidFill>
                  <a:srgbClr val="005A9C"/>
                </a:solidFill>
                <a:latin typeface="Microsoft YaHei" panose="020B0503020204020204" pitchFamily="34" charset="-122"/>
                <a:ea typeface="Microsoft YaHei" panose="020B0503020204020204" pitchFamily="34" charset="-122"/>
              </a:rPr>
              <a:t>48 V DC</a:t>
            </a:r>
            <a:endParaRPr lang="zh-CN" altLang="en-US" sz="1700" b="1">
              <a:solidFill>
                <a:srgbClr val="005A9C"/>
              </a:solidFill>
              <a:latin typeface="Microsoft YaHei" panose="020B0503020204020204" pitchFamily="34" charset="-122"/>
              <a:ea typeface="Microsoft YaHei" panose="020B0503020204020204" pitchFamily="34" charset="-122"/>
            </a:endParaRPr>
          </a:p>
        </p:txBody>
      </p:sp>
      <p:cxnSp>
        <p:nvCxnSpPr>
          <p:cNvPr id="9" name="直接连接符 8">
            <a:extLst>
              <a:ext uri="{FF2B5EF4-FFF2-40B4-BE49-F238E27FC236}">
                <a16:creationId xmlns:a16="http://schemas.microsoft.com/office/drawing/2014/main" id="{376CB8D0-FEAE-BA3F-331B-89D37A4924E7}"/>
              </a:ext>
            </a:extLst>
          </p:cNvPr>
          <p:cNvCxnSpPr/>
          <p:nvPr/>
        </p:nvCxnSpPr>
        <p:spPr>
          <a:xfrm>
            <a:off x="2108200" y="1854200"/>
            <a:ext cx="685800" cy="0"/>
          </a:xfrm>
          <a:prstGeom prst="line">
            <a:avLst/>
          </a:prstGeom>
          <a:ln w="38100">
            <a:solidFill>
              <a:srgbClr val="CD0000"/>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3AC14E26-9378-B0A3-2514-D544331B70A0}"/>
              </a:ext>
            </a:extLst>
          </p:cNvPr>
          <p:cNvSpPr/>
          <p:nvPr/>
        </p:nvSpPr>
        <p:spPr>
          <a:xfrm>
            <a:off x="2794000" y="1473200"/>
            <a:ext cx="1320800" cy="762000"/>
          </a:xfrm>
          <a:prstGeom prst="rect">
            <a:avLst/>
          </a:prstGeom>
          <a:solidFill>
            <a:srgbClr val="FFFFFF"/>
          </a:solidFill>
          <a:ln w="19050">
            <a:solidFill>
              <a:srgbClr val="CD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A4DA9E83-28DC-5013-E183-4D273DDA371C}"/>
              </a:ext>
            </a:extLst>
          </p:cNvPr>
          <p:cNvSpPr txBox="1"/>
          <p:nvPr/>
        </p:nvSpPr>
        <p:spPr>
          <a:xfrm>
            <a:off x="2882900" y="1587500"/>
            <a:ext cx="1143000" cy="723275"/>
          </a:xfrm>
          <a:prstGeom prst="rect">
            <a:avLst/>
          </a:prstGeom>
          <a:noFill/>
        </p:spPr>
        <p:txBody>
          <a:bodyPr vert="horz" wrap="square" lIns="76200" tIns="38100" rIns="76200" bIns="38100" rtlCol="0">
            <a:spAutoFit/>
          </a:bodyPr>
          <a:lstStyle/>
          <a:p>
            <a:pPr algn="ctr"/>
            <a:r>
              <a:rPr lang="zh-CN" altLang="en-US" sz="1400" b="1">
                <a:solidFill>
                  <a:srgbClr val="1A1C1F"/>
                </a:solidFill>
                <a:latin typeface="Microsoft YaHei" panose="020B0503020204020204" pitchFamily="34" charset="-122"/>
                <a:ea typeface="Microsoft YaHei" panose="020B0503020204020204" pitchFamily="34" charset="-122"/>
              </a:rPr>
              <a:t>上管 </a:t>
            </a:r>
            <a:r>
              <a:rPr lang="en-US" altLang="zh-CN" sz="1400" b="1">
                <a:solidFill>
                  <a:srgbClr val="1A1C1F"/>
                </a:solidFill>
                <a:latin typeface="Microsoft YaHei" panose="020B0503020204020204" pitchFamily="34" charset="-122"/>
                <a:ea typeface="Microsoft YaHei" panose="020B0503020204020204" pitchFamily="34" charset="-122"/>
              </a:rPr>
              <a:t>MOSFET</a:t>
            </a:r>
          </a:p>
          <a:p>
            <a:pPr algn="ctr"/>
            <a:r>
              <a:rPr lang="zh-CN" altLang="en-US" sz="1400" b="1">
                <a:solidFill>
                  <a:srgbClr val="1A1C1F"/>
                </a:solidFill>
                <a:latin typeface="Microsoft YaHei" panose="020B0503020204020204" pitchFamily="34" charset="-122"/>
                <a:ea typeface="Microsoft YaHei" panose="020B0503020204020204" pitchFamily="34" charset="-122"/>
              </a:rPr>
              <a:t>保持关断</a:t>
            </a:r>
          </a:p>
        </p:txBody>
      </p:sp>
      <p:cxnSp>
        <p:nvCxnSpPr>
          <p:cNvPr id="12" name="直接连接符 11">
            <a:extLst>
              <a:ext uri="{FF2B5EF4-FFF2-40B4-BE49-F238E27FC236}">
                <a16:creationId xmlns:a16="http://schemas.microsoft.com/office/drawing/2014/main" id="{850DB905-0E98-186F-1F17-303115CA998C}"/>
              </a:ext>
            </a:extLst>
          </p:cNvPr>
          <p:cNvCxnSpPr/>
          <p:nvPr/>
        </p:nvCxnSpPr>
        <p:spPr>
          <a:xfrm>
            <a:off x="3454400" y="2235200"/>
            <a:ext cx="0" cy="508000"/>
          </a:xfrm>
          <a:prstGeom prst="line">
            <a:avLst/>
          </a:prstGeom>
          <a:ln w="38100">
            <a:solidFill>
              <a:srgbClr val="CD0000"/>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EFB645B9-BFC1-E5FD-EC85-A089F7C1A31A}"/>
              </a:ext>
            </a:extLst>
          </p:cNvPr>
          <p:cNvSpPr/>
          <p:nvPr/>
        </p:nvSpPr>
        <p:spPr>
          <a:xfrm>
            <a:off x="2794000" y="2743200"/>
            <a:ext cx="1320800" cy="762000"/>
          </a:xfrm>
          <a:prstGeom prst="rect">
            <a:avLst/>
          </a:prstGeom>
          <a:solidFill>
            <a:srgbClr val="FFFFFF"/>
          </a:solidFill>
          <a:ln w="19050">
            <a:solidFill>
              <a:srgbClr val="CD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79563BAF-04A1-7FE8-B7AC-181F862ED220}"/>
              </a:ext>
            </a:extLst>
          </p:cNvPr>
          <p:cNvSpPr txBox="1"/>
          <p:nvPr/>
        </p:nvSpPr>
        <p:spPr>
          <a:xfrm>
            <a:off x="2882900" y="2857500"/>
            <a:ext cx="1143000" cy="723275"/>
          </a:xfrm>
          <a:prstGeom prst="rect">
            <a:avLst/>
          </a:prstGeom>
          <a:noFill/>
        </p:spPr>
        <p:txBody>
          <a:bodyPr vert="horz" wrap="square" lIns="76200" tIns="38100" rIns="76200" bIns="38100" rtlCol="0">
            <a:spAutoFit/>
          </a:bodyPr>
          <a:lstStyle/>
          <a:p>
            <a:pPr algn="ctr"/>
            <a:r>
              <a:rPr lang="zh-CN" altLang="en-US" sz="1400" b="1">
                <a:solidFill>
                  <a:srgbClr val="1A1C1F"/>
                </a:solidFill>
                <a:latin typeface="Microsoft YaHei" panose="020B0503020204020204" pitchFamily="34" charset="-122"/>
                <a:ea typeface="Microsoft YaHei" panose="020B0503020204020204" pitchFamily="34" charset="-122"/>
              </a:rPr>
              <a:t>下管 </a:t>
            </a:r>
            <a:r>
              <a:rPr lang="en-US" altLang="zh-CN" sz="1400" b="1">
                <a:solidFill>
                  <a:srgbClr val="1A1C1F"/>
                </a:solidFill>
                <a:latin typeface="Microsoft YaHei" panose="020B0503020204020204" pitchFamily="34" charset="-122"/>
                <a:ea typeface="Microsoft YaHei" panose="020B0503020204020204" pitchFamily="34" charset="-122"/>
              </a:rPr>
              <a:t>MOSFET</a:t>
            </a:r>
          </a:p>
          <a:p>
            <a:pPr algn="ctr"/>
            <a:r>
              <a:rPr lang="zh-CN" altLang="en-US" sz="1400" b="1">
                <a:solidFill>
                  <a:srgbClr val="1A1C1F"/>
                </a:solidFill>
                <a:latin typeface="Microsoft YaHei" panose="020B0503020204020204" pitchFamily="34" charset="-122"/>
                <a:ea typeface="Microsoft YaHei" panose="020B0503020204020204" pitchFamily="34" charset="-122"/>
              </a:rPr>
              <a:t>双脉冲驱动</a:t>
            </a:r>
          </a:p>
        </p:txBody>
      </p:sp>
      <p:cxnSp>
        <p:nvCxnSpPr>
          <p:cNvPr id="15" name="直接连接符 14">
            <a:extLst>
              <a:ext uri="{FF2B5EF4-FFF2-40B4-BE49-F238E27FC236}">
                <a16:creationId xmlns:a16="http://schemas.microsoft.com/office/drawing/2014/main" id="{824B7BD3-8B3A-D789-CF93-08C6BB33D530}"/>
              </a:ext>
            </a:extLst>
          </p:cNvPr>
          <p:cNvCxnSpPr/>
          <p:nvPr/>
        </p:nvCxnSpPr>
        <p:spPr>
          <a:xfrm>
            <a:off x="3454400" y="3505200"/>
            <a:ext cx="0" cy="495300"/>
          </a:xfrm>
          <a:prstGeom prst="line">
            <a:avLst/>
          </a:prstGeom>
          <a:ln w="3810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E4C18ED-6448-0F70-0174-89D9B30FB6F9}"/>
              </a:ext>
            </a:extLst>
          </p:cNvPr>
          <p:cNvCxnSpPr/>
          <p:nvPr/>
        </p:nvCxnSpPr>
        <p:spPr>
          <a:xfrm flipH="1">
            <a:off x="1587500" y="4000500"/>
            <a:ext cx="1866900" cy="0"/>
          </a:xfrm>
          <a:prstGeom prst="line">
            <a:avLst/>
          </a:prstGeom>
          <a:ln w="38100">
            <a:solidFill>
              <a:srgbClr val="CD0000"/>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81E90330-83D9-D5A2-85D9-DB1E1CF28443}"/>
              </a:ext>
            </a:extLst>
          </p:cNvPr>
          <p:cNvSpPr/>
          <p:nvPr/>
        </p:nvSpPr>
        <p:spPr>
          <a:xfrm>
            <a:off x="1003300" y="3632200"/>
            <a:ext cx="1168400" cy="736600"/>
          </a:xfrm>
          <a:prstGeom prst="rect">
            <a:avLst/>
          </a:prstGeom>
          <a:solidFill>
            <a:srgbClr val="FFFFFF"/>
          </a:solidFill>
          <a:ln w="190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260BD8F8-892B-EA6F-2EB6-A4A83F1EE691}"/>
              </a:ext>
            </a:extLst>
          </p:cNvPr>
          <p:cNvSpPr txBox="1"/>
          <p:nvPr/>
        </p:nvSpPr>
        <p:spPr>
          <a:xfrm>
            <a:off x="1079500" y="3746500"/>
            <a:ext cx="1016000" cy="507831"/>
          </a:xfrm>
          <a:prstGeom prst="rect">
            <a:avLst/>
          </a:prstGeom>
          <a:noFill/>
        </p:spPr>
        <p:txBody>
          <a:bodyPr vert="horz" wrap="square" lIns="76200" tIns="38100" rIns="76200" bIns="38100" rtlCol="0">
            <a:spAutoFit/>
          </a:bodyPr>
          <a:lstStyle/>
          <a:p>
            <a:pPr algn="ctr"/>
            <a:r>
              <a:rPr lang="zh-CN" altLang="en-US" sz="1400" b="1">
                <a:solidFill>
                  <a:srgbClr val="1A1C1F"/>
                </a:solidFill>
                <a:latin typeface="Microsoft YaHei" panose="020B0503020204020204" pitchFamily="34" charset="-122"/>
                <a:ea typeface="Microsoft YaHei" panose="020B0503020204020204" pitchFamily="34" charset="-122"/>
              </a:rPr>
              <a:t>功率电感 </a:t>
            </a:r>
            <a:r>
              <a:rPr lang="en-US" altLang="zh-CN" sz="1400" b="1">
                <a:solidFill>
                  <a:srgbClr val="1A1C1F"/>
                </a:solidFill>
                <a:latin typeface="Microsoft YaHei" panose="020B0503020204020204" pitchFamily="34" charset="-122"/>
                <a:ea typeface="Microsoft YaHei" panose="020B0503020204020204" pitchFamily="34" charset="-122"/>
              </a:rPr>
              <a:t>L</a:t>
            </a:r>
          </a:p>
          <a:p>
            <a:pPr algn="ctr"/>
            <a:r>
              <a:rPr lang="zh-CN" altLang="en-US" sz="1400" b="1">
                <a:solidFill>
                  <a:srgbClr val="1A1C1F"/>
                </a:solidFill>
                <a:latin typeface="Microsoft YaHei" panose="020B0503020204020204" pitchFamily="34" charset="-122"/>
                <a:ea typeface="Microsoft YaHei" panose="020B0503020204020204" pitchFamily="34" charset="-122"/>
              </a:rPr>
              <a:t>限制 </a:t>
            </a:r>
            <a:r>
              <a:rPr lang="en-US" altLang="zh-CN" sz="1400" b="1">
                <a:solidFill>
                  <a:srgbClr val="1A1C1F"/>
                </a:solidFill>
                <a:latin typeface="Microsoft YaHei" panose="020B0503020204020204" pitchFamily="34" charset="-122"/>
                <a:ea typeface="Microsoft YaHei" panose="020B0503020204020204" pitchFamily="34" charset="-122"/>
              </a:rPr>
              <a:t>di/dt</a:t>
            </a:r>
            <a:endParaRPr lang="zh-CN" altLang="en-US" sz="1400" b="1">
              <a:solidFill>
                <a:srgbClr val="1A1C1F"/>
              </a:solidFill>
              <a:latin typeface="Microsoft YaHei" panose="020B0503020204020204" pitchFamily="34" charset="-122"/>
              <a:ea typeface="Microsoft YaHei" panose="020B0503020204020204" pitchFamily="34" charset="-122"/>
            </a:endParaRPr>
          </a:p>
        </p:txBody>
      </p:sp>
      <p:cxnSp>
        <p:nvCxnSpPr>
          <p:cNvPr id="19" name="直接连接符 18">
            <a:extLst>
              <a:ext uri="{FF2B5EF4-FFF2-40B4-BE49-F238E27FC236}">
                <a16:creationId xmlns:a16="http://schemas.microsoft.com/office/drawing/2014/main" id="{94355F64-12A8-FB64-3A1E-59397B558143}"/>
              </a:ext>
            </a:extLst>
          </p:cNvPr>
          <p:cNvCxnSpPr/>
          <p:nvPr/>
        </p:nvCxnSpPr>
        <p:spPr>
          <a:xfrm flipV="1">
            <a:off x="1587500" y="1854200"/>
            <a:ext cx="0" cy="1778000"/>
          </a:xfrm>
          <a:prstGeom prst="line">
            <a:avLst/>
          </a:prstGeom>
          <a:ln w="38100">
            <a:solidFill>
              <a:srgbClr val="CD0000"/>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6E6517D5-607D-F313-47C5-DDD876D9D53B}"/>
              </a:ext>
            </a:extLst>
          </p:cNvPr>
          <p:cNvSpPr txBox="1"/>
          <p:nvPr/>
        </p:nvSpPr>
        <p:spPr>
          <a:xfrm>
            <a:off x="4343400" y="1739900"/>
            <a:ext cx="1422400" cy="877163"/>
          </a:xfrm>
          <a:prstGeom prst="rect">
            <a:avLst/>
          </a:prstGeom>
          <a:noFill/>
        </p:spPr>
        <p:txBody>
          <a:bodyPr vert="horz" wrap="square" lIns="76200" tIns="38100" rIns="76200" bIns="38100" rtlCol="0">
            <a:spAutoFit/>
          </a:bodyPr>
          <a:lstStyle/>
          <a:p>
            <a:r>
              <a:rPr lang="en-US" altLang="zh-CN" sz="1300">
                <a:solidFill>
                  <a:srgbClr val="5C6877"/>
                </a:solidFill>
                <a:latin typeface="Microsoft YaHei" panose="020B0503020204020204" pitchFamily="34" charset="-122"/>
                <a:ea typeface="Microsoft YaHei" panose="020B0503020204020204" pitchFamily="34" charset="-122"/>
              </a:rPr>
              <a:t>CH1</a:t>
            </a:r>
            <a:r>
              <a:rPr lang="zh-CN" altLang="en-US" sz="1300">
                <a:solidFill>
                  <a:srgbClr val="5C6877"/>
                </a:solidFill>
                <a:latin typeface="Microsoft YaHei" panose="020B0503020204020204" pitchFamily="34" charset="-122"/>
                <a:ea typeface="Microsoft YaHei" panose="020B0503020204020204" pitchFamily="34" charset="-122"/>
              </a:rPr>
              <a:t>：</a:t>
            </a:r>
            <a:r>
              <a:rPr lang="en-US" altLang="zh-CN" sz="1300">
                <a:solidFill>
                  <a:srgbClr val="5C6877"/>
                </a:solidFill>
                <a:latin typeface="Microsoft YaHei" panose="020B0503020204020204" pitchFamily="34" charset="-122"/>
                <a:ea typeface="Microsoft YaHei" panose="020B0503020204020204" pitchFamily="34" charset="-122"/>
              </a:rPr>
              <a:t>VGS</a:t>
            </a:r>
          </a:p>
          <a:p>
            <a:r>
              <a:rPr lang="en-US" altLang="zh-CN" sz="1300">
                <a:solidFill>
                  <a:srgbClr val="5C6877"/>
                </a:solidFill>
                <a:latin typeface="Microsoft YaHei" panose="020B0503020204020204" pitchFamily="34" charset="-122"/>
                <a:ea typeface="Microsoft YaHei" panose="020B0503020204020204" pitchFamily="34" charset="-122"/>
              </a:rPr>
              <a:t>CH2</a:t>
            </a:r>
            <a:r>
              <a:rPr lang="zh-CN" altLang="en-US" sz="1300">
                <a:solidFill>
                  <a:srgbClr val="5C6877"/>
                </a:solidFill>
                <a:latin typeface="Microsoft YaHei" panose="020B0503020204020204" pitchFamily="34" charset="-122"/>
                <a:ea typeface="Microsoft YaHei" panose="020B0503020204020204" pitchFamily="34" charset="-122"/>
              </a:rPr>
              <a:t>：</a:t>
            </a:r>
            <a:r>
              <a:rPr lang="en-US" altLang="zh-CN" sz="1300">
                <a:solidFill>
                  <a:srgbClr val="5C6877"/>
                </a:solidFill>
                <a:latin typeface="Microsoft YaHei" panose="020B0503020204020204" pitchFamily="34" charset="-122"/>
                <a:ea typeface="Microsoft YaHei" panose="020B0503020204020204" pitchFamily="34" charset="-122"/>
              </a:rPr>
              <a:t>VDS</a:t>
            </a:r>
          </a:p>
          <a:p>
            <a:r>
              <a:rPr lang="en-US" altLang="zh-CN" sz="1300">
                <a:solidFill>
                  <a:srgbClr val="5C6877"/>
                </a:solidFill>
                <a:latin typeface="Microsoft YaHei" panose="020B0503020204020204" pitchFamily="34" charset="-122"/>
                <a:ea typeface="Microsoft YaHei" panose="020B0503020204020204" pitchFamily="34" charset="-122"/>
              </a:rPr>
              <a:t>CH3</a:t>
            </a:r>
            <a:r>
              <a:rPr lang="zh-CN" altLang="en-US" sz="1300">
                <a:solidFill>
                  <a:srgbClr val="5C6877"/>
                </a:solidFill>
                <a:latin typeface="Microsoft YaHei" panose="020B0503020204020204" pitchFamily="34" charset="-122"/>
                <a:ea typeface="Microsoft YaHei" panose="020B0503020204020204" pitchFamily="34" charset="-122"/>
              </a:rPr>
              <a:t>：</a:t>
            </a:r>
            <a:r>
              <a:rPr lang="en-US" altLang="zh-CN" sz="1300">
                <a:solidFill>
                  <a:srgbClr val="5C6877"/>
                </a:solidFill>
                <a:latin typeface="Microsoft YaHei" panose="020B0503020204020204" pitchFamily="34" charset="-122"/>
                <a:ea typeface="Microsoft YaHei" panose="020B0503020204020204" pitchFamily="34" charset="-122"/>
              </a:rPr>
              <a:t>ID / ISHUNT</a:t>
            </a:r>
            <a:endParaRPr lang="zh-CN" altLang="en-US" sz="1300">
              <a:solidFill>
                <a:srgbClr val="5C6877"/>
              </a:solidFill>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E2CA1C6D-6616-D7D4-7060-C8EB2FE3F8A0}"/>
              </a:ext>
            </a:extLst>
          </p:cNvPr>
          <p:cNvSpPr txBox="1"/>
          <p:nvPr/>
        </p:nvSpPr>
        <p:spPr>
          <a:xfrm>
            <a:off x="965200" y="4635500"/>
            <a:ext cx="4851400" cy="507831"/>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第一脉冲建立目标电流，间隔时间让续流稳定；第二脉冲用于观察开通与关断瞬态。</a:t>
            </a:r>
          </a:p>
        </p:txBody>
      </p:sp>
      <p:sp>
        <p:nvSpPr>
          <p:cNvPr id="22" name="矩形 21">
            <a:extLst>
              <a:ext uri="{FF2B5EF4-FFF2-40B4-BE49-F238E27FC236}">
                <a16:creationId xmlns:a16="http://schemas.microsoft.com/office/drawing/2014/main" id="{A8CE35FB-1B17-D9A0-0802-0DE2240FF15D}"/>
              </a:ext>
            </a:extLst>
          </p:cNvPr>
          <p:cNvSpPr/>
          <p:nvPr/>
        </p:nvSpPr>
        <p:spPr>
          <a:xfrm>
            <a:off x="6451600" y="1041400"/>
            <a:ext cx="50546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A28530C6-89B9-495E-1152-DC2556D6A5A4}"/>
              </a:ext>
            </a:extLst>
          </p:cNvPr>
          <p:cNvSpPr/>
          <p:nvPr/>
        </p:nvSpPr>
        <p:spPr>
          <a:xfrm>
            <a:off x="6451600" y="1041400"/>
            <a:ext cx="50546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CBE3BBDD-5AC6-CDE9-7774-F68996035CC7}"/>
              </a:ext>
            </a:extLst>
          </p:cNvPr>
          <p:cNvSpPr txBox="1"/>
          <p:nvPr/>
        </p:nvSpPr>
        <p:spPr>
          <a:xfrm>
            <a:off x="6553200" y="1066800"/>
            <a:ext cx="48514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推荐测试步骤与安全边界</a:t>
            </a:r>
          </a:p>
        </p:txBody>
      </p:sp>
      <p:sp>
        <p:nvSpPr>
          <p:cNvPr id="25" name="矩形: 圆角 24">
            <a:extLst>
              <a:ext uri="{FF2B5EF4-FFF2-40B4-BE49-F238E27FC236}">
                <a16:creationId xmlns:a16="http://schemas.microsoft.com/office/drawing/2014/main" id="{2D207B58-5AF1-B257-D47D-228EB975420B}"/>
              </a:ext>
            </a:extLst>
          </p:cNvPr>
          <p:cNvSpPr/>
          <p:nvPr/>
        </p:nvSpPr>
        <p:spPr>
          <a:xfrm>
            <a:off x="6718300" y="15748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AEB473E6-2BE4-E054-914D-BD65A480380E}"/>
              </a:ext>
            </a:extLst>
          </p:cNvPr>
          <p:cNvSpPr txBox="1"/>
          <p:nvPr/>
        </p:nvSpPr>
        <p:spPr>
          <a:xfrm>
            <a:off x="6794500" y="16129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1</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27" name="文本框 26">
            <a:extLst>
              <a:ext uri="{FF2B5EF4-FFF2-40B4-BE49-F238E27FC236}">
                <a16:creationId xmlns:a16="http://schemas.microsoft.com/office/drawing/2014/main" id="{5117C517-9546-F4F1-21D3-7815C4AC28AF}"/>
              </a:ext>
            </a:extLst>
          </p:cNvPr>
          <p:cNvSpPr txBox="1"/>
          <p:nvPr/>
        </p:nvSpPr>
        <p:spPr>
          <a:xfrm>
            <a:off x="7239000" y="15367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先以 </a:t>
            </a:r>
            <a:r>
              <a:rPr lang="en-US" altLang="zh-CN" sz="1400">
                <a:solidFill>
                  <a:srgbClr val="1A1C1F"/>
                </a:solidFill>
                <a:latin typeface="Microsoft YaHei" panose="020B0503020204020204" pitchFamily="34" charset="-122"/>
                <a:ea typeface="Microsoft YaHei" panose="020B0503020204020204" pitchFamily="34" charset="-122"/>
              </a:rPr>
              <a:t>12-24 V </a:t>
            </a:r>
            <a:r>
              <a:rPr lang="zh-CN" altLang="en-US" sz="1400">
                <a:solidFill>
                  <a:srgbClr val="1A1C1F"/>
                </a:solidFill>
                <a:latin typeface="Microsoft YaHei" panose="020B0503020204020204" pitchFamily="34" charset="-122"/>
                <a:ea typeface="Microsoft YaHei" panose="020B0503020204020204" pitchFamily="34" charset="-122"/>
              </a:rPr>
              <a:t>低母线验证探头极性与保护</a:t>
            </a:r>
          </a:p>
        </p:txBody>
      </p:sp>
      <p:sp>
        <p:nvSpPr>
          <p:cNvPr id="28" name="矩形: 圆角 27">
            <a:extLst>
              <a:ext uri="{FF2B5EF4-FFF2-40B4-BE49-F238E27FC236}">
                <a16:creationId xmlns:a16="http://schemas.microsoft.com/office/drawing/2014/main" id="{1A25F010-FC26-ADA4-61A5-E6B1841A7444}"/>
              </a:ext>
            </a:extLst>
          </p:cNvPr>
          <p:cNvSpPr/>
          <p:nvPr/>
        </p:nvSpPr>
        <p:spPr>
          <a:xfrm>
            <a:off x="6718300" y="21844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657033B0-53E7-0E54-7CF7-FFCB38BF495F}"/>
              </a:ext>
            </a:extLst>
          </p:cNvPr>
          <p:cNvSpPr txBox="1"/>
          <p:nvPr/>
        </p:nvSpPr>
        <p:spPr>
          <a:xfrm>
            <a:off x="6794500" y="22225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2</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30" name="文本框 29">
            <a:extLst>
              <a:ext uri="{FF2B5EF4-FFF2-40B4-BE49-F238E27FC236}">
                <a16:creationId xmlns:a16="http://schemas.microsoft.com/office/drawing/2014/main" id="{AA8EDBEF-B932-F7A7-76C8-07AD31591A28}"/>
              </a:ext>
            </a:extLst>
          </p:cNvPr>
          <p:cNvSpPr txBox="1"/>
          <p:nvPr/>
        </p:nvSpPr>
        <p:spPr>
          <a:xfrm>
            <a:off x="7239000" y="21463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逐步增加第一脉冲宽度，建立目标电流</a:t>
            </a:r>
          </a:p>
        </p:txBody>
      </p:sp>
      <p:sp>
        <p:nvSpPr>
          <p:cNvPr id="31" name="矩形: 圆角 30">
            <a:extLst>
              <a:ext uri="{FF2B5EF4-FFF2-40B4-BE49-F238E27FC236}">
                <a16:creationId xmlns:a16="http://schemas.microsoft.com/office/drawing/2014/main" id="{1A2034C2-E686-96AA-AD00-3CF9FFD6D364}"/>
              </a:ext>
            </a:extLst>
          </p:cNvPr>
          <p:cNvSpPr/>
          <p:nvPr/>
        </p:nvSpPr>
        <p:spPr>
          <a:xfrm>
            <a:off x="6718300" y="27940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BA098DBF-927B-DEED-1CB0-12C5368A1E66}"/>
              </a:ext>
            </a:extLst>
          </p:cNvPr>
          <p:cNvSpPr txBox="1"/>
          <p:nvPr/>
        </p:nvSpPr>
        <p:spPr>
          <a:xfrm>
            <a:off x="6794500" y="28321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3</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33" name="文本框 32">
            <a:extLst>
              <a:ext uri="{FF2B5EF4-FFF2-40B4-BE49-F238E27FC236}">
                <a16:creationId xmlns:a16="http://schemas.microsoft.com/office/drawing/2014/main" id="{0B67FEDE-E1E0-1886-10CB-C7BED4C5569A}"/>
              </a:ext>
            </a:extLst>
          </p:cNvPr>
          <p:cNvSpPr txBox="1"/>
          <p:nvPr/>
        </p:nvSpPr>
        <p:spPr>
          <a:xfrm>
            <a:off x="7239000" y="27559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固定间隔时间，扫描第二脉冲开关瞬态</a:t>
            </a:r>
          </a:p>
        </p:txBody>
      </p:sp>
      <p:sp>
        <p:nvSpPr>
          <p:cNvPr id="34" name="矩形: 圆角 33">
            <a:extLst>
              <a:ext uri="{FF2B5EF4-FFF2-40B4-BE49-F238E27FC236}">
                <a16:creationId xmlns:a16="http://schemas.microsoft.com/office/drawing/2014/main" id="{E7645448-67BC-F943-9493-D76DBAEF53D6}"/>
              </a:ext>
            </a:extLst>
          </p:cNvPr>
          <p:cNvSpPr/>
          <p:nvPr/>
        </p:nvSpPr>
        <p:spPr>
          <a:xfrm>
            <a:off x="6718300" y="34036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4C26569F-FAEC-F695-F485-911BE7AC482A}"/>
              </a:ext>
            </a:extLst>
          </p:cNvPr>
          <p:cNvSpPr txBox="1"/>
          <p:nvPr/>
        </p:nvSpPr>
        <p:spPr>
          <a:xfrm>
            <a:off x="6794500" y="34417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4</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36" name="文本框 35">
            <a:extLst>
              <a:ext uri="{FF2B5EF4-FFF2-40B4-BE49-F238E27FC236}">
                <a16:creationId xmlns:a16="http://schemas.microsoft.com/office/drawing/2014/main" id="{E4385F1A-3A45-9D7D-6DBA-08610E6E5EC3}"/>
              </a:ext>
            </a:extLst>
          </p:cNvPr>
          <p:cNvSpPr txBox="1"/>
          <p:nvPr/>
        </p:nvSpPr>
        <p:spPr>
          <a:xfrm>
            <a:off x="7239000" y="33655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同步记录 </a:t>
            </a:r>
            <a:r>
              <a:rPr lang="en-US" altLang="zh-CN" sz="1400">
                <a:solidFill>
                  <a:srgbClr val="1A1C1F"/>
                </a:solidFill>
                <a:latin typeface="Microsoft YaHei" panose="020B0503020204020204" pitchFamily="34" charset="-122"/>
                <a:ea typeface="Microsoft YaHei" panose="020B0503020204020204" pitchFamily="34" charset="-122"/>
              </a:rPr>
              <a:t>VGS</a:t>
            </a:r>
            <a:r>
              <a:rPr lang="zh-CN" altLang="en-US" sz="1400">
                <a:solidFill>
                  <a:srgbClr val="1A1C1F"/>
                </a:solidFill>
                <a:latin typeface="Microsoft YaHei" panose="020B0503020204020204" pitchFamily="34" charset="-122"/>
                <a:ea typeface="Microsoft YaHei" panose="020B0503020204020204" pitchFamily="34" charset="-122"/>
              </a:rPr>
              <a:t>、</a:t>
            </a:r>
            <a:r>
              <a:rPr lang="en-US" altLang="zh-CN" sz="1400">
                <a:solidFill>
                  <a:srgbClr val="1A1C1F"/>
                </a:solidFill>
                <a:latin typeface="Microsoft YaHei" panose="020B0503020204020204" pitchFamily="34" charset="-122"/>
                <a:ea typeface="Microsoft YaHei" panose="020B0503020204020204" pitchFamily="34" charset="-122"/>
              </a:rPr>
              <a:t>VDS</a:t>
            </a:r>
            <a:r>
              <a:rPr lang="zh-CN" altLang="en-US" sz="1400">
                <a:solidFill>
                  <a:srgbClr val="1A1C1F"/>
                </a:solidFill>
                <a:latin typeface="Microsoft YaHei" panose="020B0503020204020204" pitchFamily="34" charset="-122"/>
                <a:ea typeface="Microsoft YaHei" panose="020B0503020204020204" pitchFamily="34" charset="-122"/>
              </a:rPr>
              <a:t>、</a:t>
            </a:r>
            <a:r>
              <a:rPr lang="en-US" altLang="zh-CN" sz="1400">
                <a:solidFill>
                  <a:srgbClr val="1A1C1F"/>
                </a:solidFill>
                <a:latin typeface="Microsoft YaHei" panose="020B0503020204020204" pitchFamily="34" charset="-122"/>
                <a:ea typeface="Microsoft YaHei" panose="020B0503020204020204" pitchFamily="34" charset="-122"/>
              </a:rPr>
              <a:t>ID </a:t>
            </a:r>
            <a:r>
              <a:rPr lang="zh-CN" altLang="en-US" sz="1400">
                <a:solidFill>
                  <a:srgbClr val="1A1C1F"/>
                </a:solidFill>
                <a:latin typeface="Microsoft YaHei" panose="020B0503020204020204" pitchFamily="34" charset="-122"/>
                <a:ea typeface="Microsoft YaHei" panose="020B0503020204020204" pitchFamily="34" charset="-122"/>
              </a:rPr>
              <a:t>与母线电压</a:t>
            </a:r>
          </a:p>
        </p:txBody>
      </p:sp>
      <p:sp>
        <p:nvSpPr>
          <p:cNvPr id="37" name="矩形: 圆角 36">
            <a:extLst>
              <a:ext uri="{FF2B5EF4-FFF2-40B4-BE49-F238E27FC236}">
                <a16:creationId xmlns:a16="http://schemas.microsoft.com/office/drawing/2014/main" id="{567651C7-ACB6-58E6-EDA3-3E8A98B79820}"/>
              </a:ext>
            </a:extLst>
          </p:cNvPr>
          <p:cNvSpPr/>
          <p:nvPr/>
        </p:nvSpPr>
        <p:spPr>
          <a:xfrm>
            <a:off x="6718300" y="40132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118E7F5B-86D8-B43D-76E2-E526B31B7BC8}"/>
              </a:ext>
            </a:extLst>
          </p:cNvPr>
          <p:cNvSpPr txBox="1"/>
          <p:nvPr/>
        </p:nvSpPr>
        <p:spPr>
          <a:xfrm>
            <a:off x="6794500" y="40513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5</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39" name="文本框 38">
            <a:extLst>
              <a:ext uri="{FF2B5EF4-FFF2-40B4-BE49-F238E27FC236}">
                <a16:creationId xmlns:a16="http://schemas.microsoft.com/office/drawing/2014/main" id="{54105376-E3CC-8897-9973-0467EA2AE6CE}"/>
              </a:ext>
            </a:extLst>
          </p:cNvPr>
          <p:cNvSpPr txBox="1"/>
          <p:nvPr/>
        </p:nvSpPr>
        <p:spPr>
          <a:xfrm>
            <a:off x="7239000" y="39751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评估过冲、振铃、</a:t>
            </a:r>
            <a:r>
              <a:rPr lang="en-US" altLang="zh-CN" sz="1400">
                <a:solidFill>
                  <a:srgbClr val="1A1C1F"/>
                </a:solidFill>
                <a:latin typeface="Microsoft YaHei" panose="020B0503020204020204" pitchFamily="34" charset="-122"/>
                <a:ea typeface="Microsoft YaHei" panose="020B0503020204020204" pitchFamily="34" charset="-122"/>
              </a:rPr>
              <a:t>di/dt</a:t>
            </a:r>
            <a:r>
              <a:rPr lang="zh-CN" altLang="en-US" sz="1400">
                <a:solidFill>
                  <a:srgbClr val="1A1C1F"/>
                </a:solidFill>
                <a:latin typeface="Microsoft YaHei" panose="020B0503020204020204" pitchFamily="34" charset="-122"/>
                <a:ea typeface="Microsoft YaHei" panose="020B0503020204020204" pitchFamily="34" charset="-122"/>
              </a:rPr>
              <a:t>、</a:t>
            </a:r>
            <a:r>
              <a:rPr lang="en-US" altLang="zh-CN" sz="1400">
                <a:solidFill>
                  <a:srgbClr val="1A1C1F"/>
                </a:solidFill>
                <a:latin typeface="Microsoft YaHei" panose="020B0503020204020204" pitchFamily="34" charset="-122"/>
                <a:ea typeface="Microsoft YaHei" panose="020B0503020204020204" pitchFamily="34" charset="-122"/>
              </a:rPr>
              <a:t>dv/dt </a:t>
            </a:r>
            <a:r>
              <a:rPr lang="zh-CN" altLang="en-US" sz="1400">
                <a:solidFill>
                  <a:srgbClr val="1A1C1F"/>
                </a:solidFill>
                <a:latin typeface="Microsoft YaHei" panose="020B0503020204020204" pitchFamily="34" charset="-122"/>
                <a:ea typeface="Microsoft YaHei" panose="020B0503020204020204" pitchFamily="34" charset="-122"/>
              </a:rPr>
              <a:t>与损耗</a:t>
            </a:r>
          </a:p>
        </p:txBody>
      </p:sp>
      <p:sp>
        <p:nvSpPr>
          <p:cNvPr id="40" name="矩形: 圆角 39">
            <a:extLst>
              <a:ext uri="{FF2B5EF4-FFF2-40B4-BE49-F238E27FC236}">
                <a16:creationId xmlns:a16="http://schemas.microsoft.com/office/drawing/2014/main" id="{597F5161-EF4F-873F-9B40-FE2953141E83}"/>
              </a:ext>
            </a:extLst>
          </p:cNvPr>
          <p:cNvSpPr/>
          <p:nvPr/>
        </p:nvSpPr>
        <p:spPr>
          <a:xfrm>
            <a:off x="6718300" y="4622800"/>
            <a:ext cx="406400" cy="406400"/>
          </a:xfrm>
          <a:prstGeom prst="round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E3AE7878-8823-388E-55AE-04B0E8C39911}"/>
              </a:ext>
            </a:extLst>
          </p:cNvPr>
          <p:cNvSpPr txBox="1"/>
          <p:nvPr/>
        </p:nvSpPr>
        <p:spPr>
          <a:xfrm>
            <a:off x="6794500" y="4660900"/>
            <a:ext cx="254000" cy="276999"/>
          </a:xfrm>
          <a:prstGeom prst="rect">
            <a:avLst/>
          </a:prstGeom>
          <a:noFill/>
        </p:spPr>
        <p:txBody>
          <a:bodyPr vert="horz" wrap="square" lIns="76200" tIns="38100" rIns="76200" bIns="38100" rtlCol="0">
            <a:spAutoFit/>
          </a:bodyPr>
          <a:lstStyle/>
          <a:p>
            <a:pPr algn="ctr"/>
            <a:r>
              <a:rPr lang="en-US" altLang="zh-CN" sz="1300" b="1">
                <a:solidFill>
                  <a:srgbClr val="005A9C"/>
                </a:solidFill>
                <a:latin typeface="Microsoft YaHei" panose="020B0503020204020204" pitchFamily="34" charset="-122"/>
                <a:ea typeface="Microsoft YaHei" panose="020B0503020204020204" pitchFamily="34" charset="-122"/>
              </a:rPr>
              <a:t>6</a:t>
            </a:r>
            <a:endParaRPr lang="zh-CN" altLang="en-US" sz="1300" b="1">
              <a:solidFill>
                <a:srgbClr val="005A9C"/>
              </a:solidFill>
              <a:latin typeface="Microsoft YaHei" panose="020B0503020204020204" pitchFamily="34" charset="-122"/>
              <a:ea typeface="Microsoft YaHei" panose="020B0503020204020204" pitchFamily="34" charset="-122"/>
            </a:endParaRPr>
          </a:p>
        </p:txBody>
      </p:sp>
      <p:sp>
        <p:nvSpPr>
          <p:cNvPr id="42" name="文本框 41">
            <a:extLst>
              <a:ext uri="{FF2B5EF4-FFF2-40B4-BE49-F238E27FC236}">
                <a16:creationId xmlns:a16="http://schemas.microsoft.com/office/drawing/2014/main" id="{CEDF5E50-59A9-D96B-7162-9A4362C2FF19}"/>
              </a:ext>
            </a:extLst>
          </p:cNvPr>
          <p:cNvSpPr txBox="1"/>
          <p:nvPr/>
        </p:nvSpPr>
        <p:spPr>
          <a:xfrm>
            <a:off x="7239000" y="4584700"/>
            <a:ext cx="3937000" cy="292388"/>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调整栅极电阻、吸收网络和布局回路</a:t>
            </a:r>
          </a:p>
        </p:txBody>
      </p:sp>
      <p:sp>
        <p:nvSpPr>
          <p:cNvPr id="43" name="文本框 42">
            <a:extLst>
              <a:ext uri="{FF2B5EF4-FFF2-40B4-BE49-F238E27FC236}">
                <a16:creationId xmlns:a16="http://schemas.microsoft.com/office/drawing/2014/main" id="{503FDC2A-38A7-A381-A98F-8367EA6DA1E6}"/>
              </a:ext>
            </a:extLst>
          </p:cNvPr>
          <p:cNvSpPr txBox="1"/>
          <p:nvPr/>
        </p:nvSpPr>
        <p:spPr>
          <a:xfrm>
            <a:off x="6692900" y="5346700"/>
            <a:ext cx="4521200" cy="261610"/>
          </a:xfrm>
          <a:prstGeom prst="rect">
            <a:avLst/>
          </a:prstGeom>
          <a:noFill/>
        </p:spPr>
        <p:txBody>
          <a:bodyPr vert="horz" wrap="square" lIns="76200" tIns="38100" rIns="76200" bIns="38100" rtlCol="0">
            <a:spAutoFit/>
          </a:bodyPr>
          <a:lstStyle/>
          <a:p>
            <a:pPr algn="ctr"/>
            <a:r>
              <a:rPr lang="zh-CN" altLang="en-US" sz="1200" b="1">
                <a:solidFill>
                  <a:srgbClr val="CD0000"/>
                </a:solidFill>
                <a:latin typeface="Microsoft YaHei" panose="020B0503020204020204" pitchFamily="34" charset="-122"/>
                <a:ea typeface="Microsoft YaHei" panose="020B0503020204020204" pitchFamily="34" charset="-122"/>
              </a:rPr>
              <a:t>本页为测试方案；仓库暂无可确认的双脉冲实测截图。</a:t>
            </a:r>
          </a:p>
        </p:txBody>
      </p:sp>
    </p:spTree>
    <p:extLst>
      <p:ext uri="{BB962C8B-B14F-4D97-AF65-F5344CB8AC3E}">
        <p14:creationId xmlns:p14="http://schemas.microsoft.com/office/powerpoint/2010/main" val="1107267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0FD0B1C-4740-3FF9-6BD5-B03C583E9F5E}"/>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0694C84-C9CE-6AB5-CF4F-22F760F21FB7}"/>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双脉冲波形与判据</a:t>
            </a:r>
          </a:p>
        </p:txBody>
      </p:sp>
      <p:sp>
        <p:nvSpPr>
          <p:cNvPr id="4" name="文本框 3">
            <a:extLst>
              <a:ext uri="{FF2B5EF4-FFF2-40B4-BE49-F238E27FC236}">
                <a16:creationId xmlns:a16="http://schemas.microsoft.com/office/drawing/2014/main" id="{5A1FED00-4DBB-D779-48E0-9A554E37DD82}"/>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11</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E3FB20C9-552B-53A8-868D-C5C9D64E78FA}"/>
              </a:ext>
            </a:extLst>
          </p:cNvPr>
          <p:cNvSpPr txBox="1"/>
          <p:nvPr/>
        </p:nvSpPr>
        <p:spPr>
          <a:xfrm>
            <a:off x="8636000" y="952500"/>
            <a:ext cx="2794000" cy="261610"/>
          </a:xfrm>
          <a:prstGeom prst="rect">
            <a:avLst/>
          </a:prstGeom>
          <a:noFill/>
        </p:spPr>
        <p:txBody>
          <a:bodyPr vert="horz" wrap="square" lIns="76200" tIns="38100" rIns="76200" bIns="38100" rtlCol="0">
            <a:spAutoFit/>
          </a:bodyPr>
          <a:lstStyle/>
          <a:p>
            <a:pPr algn="ctr"/>
            <a:r>
              <a:rPr lang="zh-CN" altLang="en-US" sz="1200" b="1">
                <a:solidFill>
                  <a:srgbClr val="CD0000"/>
                </a:solidFill>
                <a:latin typeface="Microsoft YaHei" panose="020B0503020204020204" pitchFamily="34" charset="-122"/>
                <a:ea typeface="Microsoft YaHei" panose="020B0503020204020204" pitchFamily="34" charset="-122"/>
              </a:rPr>
              <a:t>示意波形 </a:t>
            </a:r>
            <a:r>
              <a:rPr lang="en-US" altLang="zh-CN" sz="1200" b="1">
                <a:solidFill>
                  <a:srgbClr val="CD0000"/>
                </a:solidFill>
                <a:latin typeface="Microsoft YaHei" panose="020B0503020204020204" pitchFamily="34" charset="-122"/>
                <a:ea typeface="Microsoft YaHei" panose="020B0503020204020204" pitchFamily="34" charset="-122"/>
              </a:rPr>
              <a:t>· </a:t>
            </a:r>
            <a:r>
              <a:rPr lang="zh-CN" altLang="en-US" sz="1200" b="1">
                <a:solidFill>
                  <a:srgbClr val="CD0000"/>
                </a:solidFill>
                <a:latin typeface="Microsoft YaHei" panose="020B0503020204020204" pitchFamily="34" charset="-122"/>
                <a:ea typeface="Microsoft YaHei" panose="020B0503020204020204" pitchFamily="34" charset="-122"/>
              </a:rPr>
              <a:t>待替换为示波器原始截图</a:t>
            </a:r>
          </a:p>
        </p:txBody>
      </p:sp>
      <p:sp>
        <p:nvSpPr>
          <p:cNvPr id="6" name="矩形 5">
            <a:extLst>
              <a:ext uri="{FF2B5EF4-FFF2-40B4-BE49-F238E27FC236}">
                <a16:creationId xmlns:a16="http://schemas.microsoft.com/office/drawing/2014/main" id="{DFAB993D-95FA-EF12-F791-2F4E5E1E2158}"/>
              </a:ext>
            </a:extLst>
          </p:cNvPr>
          <p:cNvSpPr/>
          <p:nvPr/>
        </p:nvSpPr>
        <p:spPr>
          <a:xfrm>
            <a:off x="711200" y="1270000"/>
            <a:ext cx="7112000" cy="1270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1454792D-34A6-6949-3F81-166350BCFE4C}"/>
              </a:ext>
            </a:extLst>
          </p:cNvPr>
          <p:cNvCxnSpPr/>
          <p:nvPr/>
        </p:nvCxnSpPr>
        <p:spPr>
          <a:xfrm>
            <a:off x="2133600" y="12700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6639B100-5AE0-6B36-DD51-27F76E8173CA}"/>
              </a:ext>
            </a:extLst>
          </p:cNvPr>
          <p:cNvCxnSpPr/>
          <p:nvPr/>
        </p:nvCxnSpPr>
        <p:spPr>
          <a:xfrm>
            <a:off x="3556000" y="12700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4F511A1-247C-3530-85CD-31E9D89C25D6}"/>
              </a:ext>
            </a:extLst>
          </p:cNvPr>
          <p:cNvCxnSpPr/>
          <p:nvPr/>
        </p:nvCxnSpPr>
        <p:spPr>
          <a:xfrm>
            <a:off x="4978400" y="12700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069F5FB-BFF6-2F26-08EE-65EAA9300808}"/>
              </a:ext>
            </a:extLst>
          </p:cNvPr>
          <p:cNvCxnSpPr/>
          <p:nvPr/>
        </p:nvCxnSpPr>
        <p:spPr>
          <a:xfrm>
            <a:off x="6400800" y="12700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AB86415-F195-5702-3C43-7AB100A011EE}"/>
              </a:ext>
            </a:extLst>
          </p:cNvPr>
          <p:cNvCxnSpPr/>
          <p:nvPr/>
        </p:nvCxnSpPr>
        <p:spPr>
          <a:xfrm>
            <a:off x="711200" y="15875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9015FD94-45D1-054B-091E-283CC4D47A80}"/>
              </a:ext>
            </a:extLst>
          </p:cNvPr>
          <p:cNvCxnSpPr/>
          <p:nvPr/>
        </p:nvCxnSpPr>
        <p:spPr>
          <a:xfrm>
            <a:off x="711200" y="19050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8C6FA9A1-0F91-7B85-411D-CEAB13ECE624}"/>
              </a:ext>
            </a:extLst>
          </p:cNvPr>
          <p:cNvCxnSpPr/>
          <p:nvPr/>
        </p:nvCxnSpPr>
        <p:spPr>
          <a:xfrm>
            <a:off x="711200" y="22225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90DC12CE-CD17-66A7-DE1A-EAB2E3257A9B}"/>
              </a:ext>
            </a:extLst>
          </p:cNvPr>
          <p:cNvSpPr txBox="1"/>
          <p:nvPr/>
        </p:nvSpPr>
        <p:spPr>
          <a:xfrm>
            <a:off x="787400" y="1320800"/>
            <a:ext cx="1270000" cy="246221"/>
          </a:xfrm>
          <a:prstGeom prst="rect">
            <a:avLst/>
          </a:prstGeom>
          <a:noFill/>
        </p:spPr>
        <p:txBody>
          <a:bodyPr vert="horz" wrap="square" lIns="76200" tIns="38100" rIns="76200" bIns="38100" rtlCol="0">
            <a:spAutoFit/>
          </a:bodyPr>
          <a:lstStyle/>
          <a:p>
            <a:r>
              <a:rPr lang="en-US" altLang="zh-CN" sz="1100" b="1">
                <a:solidFill>
                  <a:srgbClr val="5C6877"/>
                </a:solidFill>
                <a:latin typeface="Microsoft YaHei" panose="020B0503020204020204" pitchFamily="34" charset="-122"/>
                <a:ea typeface="Microsoft YaHei" panose="020B0503020204020204" pitchFamily="34" charset="-122"/>
              </a:rPr>
              <a:t>VGS</a:t>
            </a:r>
            <a:endParaRPr lang="zh-CN" altLang="en-US" sz="1100" b="1">
              <a:solidFill>
                <a:srgbClr val="5C6877"/>
              </a:solidFill>
              <a:latin typeface="Microsoft YaHei" panose="020B0503020204020204" pitchFamily="34" charset="-122"/>
              <a:ea typeface="Microsoft YaHei" panose="020B0503020204020204" pitchFamily="34" charset="-122"/>
            </a:endParaRPr>
          </a:p>
        </p:txBody>
      </p:sp>
      <p:cxnSp>
        <p:nvCxnSpPr>
          <p:cNvPr id="15" name="直接连接符 14">
            <a:extLst>
              <a:ext uri="{FF2B5EF4-FFF2-40B4-BE49-F238E27FC236}">
                <a16:creationId xmlns:a16="http://schemas.microsoft.com/office/drawing/2014/main" id="{ACB3E037-1F19-54DF-444E-1371AD1A53A4}"/>
              </a:ext>
            </a:extLst>
          </p:cNvPr>
          <p:cNvCxnSpPr/>
          <p:nvPr/>
        </p:nvCxnSpPr>
        <p:spPr>
          <a:xfrm>
            <a:off x="1016000" y="2209800"/>
            <a:ext cx="8255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59362534-089E-BDE5-DCD5-7127ABBAA929}"/>
              </a:ext>
            </a:extLst>
          </p:cNvPr>
          <p:cNvCxnSpPr/>
          <p:nvPr/>
        </p:nvCxnSpPr>
        <p:spPr>
          <a:xfrm flipV="1">
            <a:off x="1841500" y="15494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7F65FF3A-1BAB-CEBE-3766-1E067EBC79C0}"/>
              </a:ext>
            </a:extLst>
          </p:cNvPr>
          <p:cNvCxnSpPr/>
          <p:nvPr/>
        </p:nvCxnSpPr>
        <p:spPr>
          <a:xfrm>
            <a:off x="1841500" y="1549400"/>
            <a:ext cx="17145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D593442-A4DD-598A-EAAB-317F60DCBB77}"/>
              </a:ext>
            </a:extLst>
          </p:cNvPr>
          <p:cNvCxnSpPr/>
          <p:nvPr/>
        </p:nvCxnSpPr>
        <p:spPr>
          <a:xfrm>
            <a:off x="3556000" y="15494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865EF0F-2860-57D8-DD5C-E254CE2647E2}"/>
              </a:ext>
            </a:extLst>
          </p:cNvPr>
          <p:cNvCxnSpPr/>
          <p:nvPr/>
        </p:nvCxnSpPr>
        <p:spPr>
          <a:xfrm>
            <a:off x="3556000" y="2209800"/>
            <a:ext cx="13335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B63F638-B566-F960-0BD9-58ADD10184FD}"/>
              </a:ext>
            </a:extLst>
          </p:cNvPr>
          <p:cNvCxnSpPr/>
          <p:nvPr/>
        </p:nvCxnSpPr>
        <p:spPr>
          <a:xfrm flipV="1">
            <a:off x="4889500" y="15494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AA78A60-21E0-5036-A8B9-88A2C0FB39E5}"/>
              </a:ext>
            </a:extLst>
          </p:cNvPr>
          <p:cNvCxnSpPr/>
          <p:nvPr/>
        </p:nvCxnSpPr>
        <p:spPr>
          <a:xfrm>
            <a:off x="4889500" y="1549400"/>
            <a:ext cx="10795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4D19809A-B3AB-1D0F-9314-A461A5B68EBF}"/>
              </a:ext>
            </a:extLst>
          </p:cNvPr>
          <p:cNvCxnSpPr/>
          <p:nvPr/>
        </p:nvCxnSpPr>
        <p:spPr>
          <a:xfrm>
            <a:off x="5969000" y="15494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511096B-5929-013E-F988-D0A37D3802BE}"/>
              </a:ext>
            </a:extLst>
          </p:cNvPr>
          <p:cNvCxnSpPr/>
          <p:nvPr/>
        </p:nvCxnSpPr>
        <p:spPr>
          <a:xfrm>
            <a:off x="5969000" y="2209800"/>
            <a:ext cx="15240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3B537B83-47D2-2FD1-95A7-83F69333730E}"/>
              </a:ext>
            </a:extLst>
          </p:cNvPr>
          <p:cNvSpPr/>
          <p:nvPr/>
        </p:nvSpPr>
        <p:spPr>
          <a:xfrm>
            <a:off x="711200" y="2717800"/>
            <a:ext cx="7112000" cy="1270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A496CCD8-A1E2-7FFB-DA33-AD4678BADD79}"/>
              </a:ext>
            </a:extLst>
          </p:cNvPr>
          <p:cNvCxnSpPr/>
          <p:nvPr/>
        </p:nvCxnSpPr>
        <p:spPr>
          <a:xfrm>
            <a:off x="2133600" y="27178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B4B6F258-9F90-61C5-EA3A-E58C39D58950}"/>
              </a:ext>
            </a:extLst>
          </p:cNvPr>
          <p:cNvCxnSpPr/>
          <p:nvPr/>
        </p:nvCxnSpPr>
        <p:spPr>
          <a:xfrm>
            <a:off x="3556000" y="27178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D864A872-0720-2425-322F-C50082E70654}"/>
              </a:ext>
            </a:extLst>
          </p:cNvPr>
          <p:cNvCxnSpPr/>
          <p:nvPr/>
        </p:nvCxnSpPr>
        <p:spPr>
          <a:xfrm>
            <a:off x="4978400" y="27178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F4C6E317-6AC1-BBBD-1CFE-D1D2A0AC7414}"/>
              </a:ext>
            </a:extLst>
          </p:cNvPr>
          <p:cNvCxnSpPr/>
          <p:nvPr/>
        </p:nvCxnSpPr>
        <p:spPr>
          <a:xfrm>
            <a:off x="6400800" y="27178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0CC36CC9-62E7-34D5-D813-5A97B406163C}"/>
              </a:ext>
            </a:extLst>
          </p:cNvPr>
          <p:cNvCxnSpPr/>
          <p:nvPr/>
        </p:nvCxnSpPr>
        <p:spPr>
          <a:xfrm>
            <a:off x="711200" y="30353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0FC4689-643A-C1F0-6FA9-19297236C1FA}"/>
              </a:ext>
            </a:extLst>
          </p:cNvPr>
          <p:cNvCxnSpPr/>
          <p:nvPr/>
        </p:nvCxnSpPr>
        <p:spPr>
          <a:xfrm>
            <a:off x="711200" y="33528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2B25380-538A-5B2A-8C82-F2C050E5314A}"/>
              </a:ext>
            </a:extLst>
          </p:cNvPr>
          <p:cNvCxnSpPr/>
          <p:nvPr/>
        </p:nvCxnSpPr>
        <p:spPr>
          <a:xfrm>
            <a:off x="711200" y="36703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341A328F-1D84-074B-852D-CF120F509630}"/>
              </a:ext>
            </a:extLst>
          </p:cNvPr>
          <p:cNvSpPr txBox="1"/>
          <p:nvPr/>
        </p:nvSpPr>
        <p:spPr>
          <a:xfrm>
            <a:off x="787400" y="2768600"/>
            <a:ext cx="1270000" cy="246221"/>
          </a:xfrm>
          <a:prstGeom prst="rect">
            <a:avLst/>
          </a:prstGeom>
          <a:noFill/>
        </p:spPr>
        <p:txBody>
          <a:bodyPr vert="horz" wrap="square" lIns="76200" tIns="38100" rIns="76200" bIns="38100" rtlCol="0">
            <a:spAutoFit/>
          </a:bodyPr>
          <a:lstStyle/>
          <a:p>
            <a:r>
              <a:rPr lang="en-US" altLang="zh-CN" sz="1100" b="1">
                <a:solidFill>
                  <a:srgbClr val="5C6877"/>
                </a:solidFill>
                <a:latin typeface="Microsoft YaHei" panose="020B0503020204020204" pitchFamily="34" charset="-122"/>
                <a:ea typeface="Microsoft YaHei" panose="020B0503020204020204" pitchFamily="34" charset="-122"/>
              </a:rPr>
              <a:t>ID</a:t>
            </a:r>
            <a:endParaRPr lang="zh-CN" altLang="en-US" sz="1100" b="1">
              <a:solidFill>
                <a:srgbClr val="5C6877"/>
              </a:solidFill>
              <a:latin typeface="Microsoft YaHei" panose="020B0503020204020204" pitchFamily="34" charset="-122"/>
              <a:ea typeface="Microsoft YaHei" panose="020B0503020204020204" pitchFamily="34" charset="-122"/>
            </a:endParaRPr>
          </a:p>
        </p:txBody>
      </p:sp>
      <p:cxnSp>
        <p:nvCxnSpPr>
          <p:cNvPr id="33" name="直接连接符 32">
            <a:extLst>
              <a:ext uri="{FF2B5EF4-FFF2-40B4-BE49-F238E27FC236}">
                <a16:creationId xmlns:a16="http://schemas.microsoft.com/office/drawing/2014/main" id="{ADA7489D-1F90-69DA-F987-952B93D77E9E}"/>
              </a:ext>
            </a:extLst>
          </p:cNvPr>
          <p:cNvCxnSpPr/>
          <p:nvPr/>
        </p:nvCxnSpPr>
        <p:spPr>
          <a:xfrm>
            <a:off x="1016000" y="3708400"/>
            <a:ext cx="8255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FA4246A-0511-4972-A5F6-6BEDA2E20DB2}"/>
              </a:ext>
            </a:extLst>
          </p:cNvPr>
          <p:cNvCxnSpPr/>
          <p:nvPr/>
        </p:nvCxnSpPr>
        <p:spPr>
          <a:xfrm flipV="1">
            <a:off x="1841500" y="3022600"/>
            <a:ext cx="1714500" cy="6858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96A3D5A7-580E-44EC-E020-990F7318438E}"/>
              </a:ext>
            </a:extLst>
          </p:cNvPr>
          <p:cNvCxnSpPr/>
          <p:nvPr/>
        </p:nvCxnSpPr>
        <p:spPr>
          <a:xfrm>
            <a:off x="3556000" y="3022600"/>
            <a:ext cx="13335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C94C3EF-1F72-87A3-ED5A-84D717B1E30B}"/>
              </a:ext>
            </a:extLst>
          </p:cNvPr>
          <p:cNvCxnSpPr/>
          <p:nvPr/>
        </p:nvCxnSpPr>
        <p:spPr>
          <a:xfrm>
            <a:off x="4889500" y="3022600"/>
            <a:ext cx="1079500" cy="2794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F3907067-78AD-C68E-CEB9-CB88655ADC8A}"/>
              </a:ext>
            </a:extLst>
          </p:cNvPr>
          <p:cNvCxnSpPr/>
          <p:nvPr/>
        </p:nvCxnSpPr>
        <p:spPr>
          <a:xfrm>
            <a:off x="5969000" y="3302000"/>
            <a:ext cx="15240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F00D743D-6444-35FA-CBD8-F3D76A1D31EB}"/>
              </a:ext>
            </a:extLst>
          </p:cNvPr>
          <p:cNvSpPr/>
          <p:nvPr/>
        </p:nvSpPr>
        <p:spPr>
          <a:xfrm>
            <a:off x="711200" y="4165600"/>
            <a:ext cx="7112000" cy="1270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a:extLst>
              <a:ext uri="{FF2B5EF4-FFF2-40B4-BE49-F238E27FC236}">
                <a16:creationId xmlns:a16="http://schemas.microsoft.com/office/drawing/2014/main" id="{891F66AA-3053-DA2E-5141-AA63026C9290}"/>
              </a:ext>
            </a:extLst>
          </p:cNvPr>
          <p:cNvCxnSpPr/>
          <p:nvPr/>
        </p:nvCxnSpPr>
        <p:spPr>
          <a:xfrm>
            <a:off x="2133600" y="416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B8BE1E1-6F4C-1593-DBC1-448DB6F8CFF8}"/>
              </a:ext>
            </a:extLst>
          </p:cNvPr>
          <p:cNvCxnSpPr/>
          <p:nvPr/>
        </p:nvCxnSpPr>
        <p:spPr>
          <a:xfrm>
            <a:off x="3556000" y="416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D80AF77-E622-1FA8-A8D4-706F1B915F57}"/>
              </a:ext>
            </a:extLst>
          </p:cNvPr>
          <p:cNvCxnSpPr/>
          <p:nvPr/>
        </p:nvCxnSpPr>
        <p:spPr>
          <a:xfrm>
            <a:off x="4978400" y="416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2ACA222-DC4E-0397-92D5-ADE8F8F2FC33}"/>
              </a:ext>
            </a:extLst>
          </p:cNvPr>
          <p:cNvCxnSpPr/>
          <p:nvPr/>
        </p:nvCxnSpPr>
        <p:spPr>
          <a:xfrm>
            <a:off x="6400800" y="416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99428AF-D74B-4C80-797F-63B06B3744A5}"/>
              </a:ext>
            </a:extLst>
          </p:cNvPr>
          <p:cNvCxnSpPr/>
          <p:nvPr/>
        </p:nvCxnSpPr>
        <p:spPr>
          <a:xfrm>
            <a:off x="711200" y="44831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003D687D-9B27-1785-5C6E-2C61134404F7}"/>
              </a:ext>
            </a:extLst>
          </p:cNvPr>
          <p:cNvCxnSpPr/>
          <p:nvPr/>
        </p:nvCxnSpPr>
        <p:spPr>
          <a:xfrm>
            <a:off x="711200" y="48006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977CC582-E907-9731-EA37-A627EEF5A67C}"/>
              </a:ext>
            </a:extLst>
          </p:cNvPr>
          <p:cNvCxnSpPr/>
          <p:nvPr/>
        </p:nvCxnSpPr>
        <p:spPr>
          <a:xfrm>
            <a:off x="711200" y="5118100"/>
            <a:ext cx="71120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C2034EA1-13B1-E7DF-B34A-F74E1A6E131F}"/>
              </a:ext>
            </a:extLst>
          </p:cNvPr>
          <p:cNvSpPr txBox="1"/>
          <p:nvPr/>
        </p:nvSpPr>
        <p:spPr>
          <a:xfrm>
            <a:off x="787400" y="4216400"/>
            <a:ext cx="1270000" cy="246221"/>
          </a:xfrm>
          <a:prstGeom prst="rect">
            <a:avLst/>
          </a:prstGeom>
          <a:noFill/>
        </p:spPr>
        <p:txBody>
          <a:bodyPr vert="horz" wrap="square" lIns="76200" tIns="38100" rIns="76200" bIns="38100" rtlCol="0">
            <a:spAutoFit/>
          </a:bodyPr>
          <a:lstStyle/>
          <a:p>
            <a:r>
              <a:rPr lang="en-US" altLang="zh-CN" sz="1100" b="1">
                <a:solidFill>
                  <a:srgbClr val="5C6877"/>
                </a:solidFill>
                <a:latin typeface="Microsoft YaHei" panose="020B0503020204020204" pitchFamily="34" charset="-122"/>
                <a:ea typeface="Microsoft YaHei" panose="020B0503020204020204" pitchFamily="34" charset="-122"/>
              </a:rPr>
              <a:t>VDS</a:t>
            </a:r>
            <a:endParaRPr lang="zh-CN" altLang="en-US" sz="1100" b="1">
              <a:solidFill>
                <a:srgbClr val="5C6877"/>
              </a:solidFill>
              <a:latin typeface="Microsoft YaHei" panose="020B0503020204020204" pitchFamily="34" charset="-122"/>
              <a:ea typeface="Microsoft YaHei" panose="020B0503020204020204" pitchFamily="34" charset="-122"/>
            </a:endParaRPr>
          </a:p>
        </p:txBody>
      </p:sp>
      <p:cxnSp>
        <p:nvCxnSpPr>
          <p:cNvPr id="47" name="直接连接符 46">
            <a:extLst>
              <a:ext uri="{FF2B5EF4-FFF2-40B4-BE49-F238E27FC236}">
                <a16:creationId xmlns:a16="http://schemas.microsoft.com/office/drawing/2014/main" id="{4BBB556D-F3F7-AC3B-4C98-593E63A64A2A}"/>
              </a:ext>
            </a:extLst>
          </p:cNvPr>
          <p:cNvCxnSpPr/>
          <p:nvPr/>
        </p:nvCxnSpPr>
        <p:spPr>
          <a:xfrm>
            <a:off x="1016000" y="4521200"/>
            <a:ext cx="825500" cy="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E4780265-393B-2EB0-DE2B-BFA033A4A256}"/>
              </a:ext>
            </a:extLst>
          </p:cNvPr>
          <p:cNvCxnSpPr/>
          <p:nvPr/>
        </p:nvCxnSpPr>
        <p:spPr>
          <a:xfrm>
            <a:off x="1841500" y="4521200"/>
            <a:ext cx="0" cy="64770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F2D33CC-1203-7AD8-46AA-02D52146A8CE}"/>
              </a:ext>
            </a:extLst>
          </p:cNvPr>
          <p:cNvCxnSpPr/>
          <p:nvPr/>
        </p:nvCxnSpPr>
        <p:spPr>
          <a:xfrm>
            <a:off x="1841500" y="5168900"/>
            <a:ext cx="1714500" cy="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F5E3D927-A50C-C1F9-C78B-5DC11BF5C9E5}"/>
              </a:ext>
            </a:extLst>
          </p:cNvPr>
          <p:cNvCxnSpPr/>
          <p:nvPr/>
        </p:nvCxnSpPr>
        <p:spPr>
          <a:xfrm flipV="1">
            <a:off x="3556000" y="4521200"/>
            <a:ext cx="0" cy="64770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A9A31C36-6477-2F4F-B5BD-D4FE081480FD}"/>
              </a:ext>
            </a:extLst>
          </p:cNvPr>
          <p:cNvCxnSpPr/>
          <p:nvPr/>
        </p:nvCxnSpPr>
        <p:spPr>
          <a:xfrm>
            <a:off x="3556000" y="4521200"/>
            <a:ext cx="1333500" cy="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13AD9D80-B508-506A-7B39-64B6CF1CC4F8}"/>
              </a:ext>
            </a:extLst>
          </p:cNvPr>
          <p:cNvCxnSpPr/>
          <p:nvPr/>
        </p:nvCxnSpPr>
        <p:spPr>
          <a:xfrm>
            <a:off x="4889500" y="4521200"/>
            <a:ext cx="0" cy="64770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59D3B89-716E-5F00-68D5-9DB079EDAF0C}"/>
              </a:ext>
            </a:extLst>
          </p:cNvPr>
          <p:cNvCxnSpPr/>
          <p:nvPr/>
        </p:nvCxnSpPr>
        <p:spPr>
          <a:xfrm>
            <a:off x="4889500" y="5168900"/>
            <a:ext cx="1079500" cy="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02ECB969-D44B-567A-96AA-F1F775DBC199}"/>
              </a:ext>
            </a:extLst>
          </p:cNvPr>
          <p:cNvCxnSpPr/>
          <p:nvPr/>
        </p:nvCxnSpPr>
        <p:spPr>
          <a:xfrm flipV="1">
            <a:off x="5969000" y="4521200"/>
            <a:ext cx="0" cy="64770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53AF66BC-4A0D-E52B-1811-721B5506209A}"/>
              </a:ext>
            </a:extLst>
          </p:cNvPr>
          <p:cNvCxnSpPr/>
          <p:nvPr/>
        </p:nvCxnSpPr>
        <p:spPr>
          <a:xfrm>
            <a:off x="5969000" y="4521200"/>
            <a:ext cx="1524000" cy="0"/>
          </a:xfrm>
          <a:prstGeom prst="line">
            <a:avLst/>
          </a:prstGeom>
          <a:ln w="35560">
            <a:solidFill>
              <a:srgbClr val="CD0000"/>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F6F88C8A-6691-0578-E1EE-3966BC192971}"/>
              </a:ext>
            </a:extLst>
          </p:cNvPr>
          <p:cNvCxnSpPr/>
          <p:nvPr/>
        </p:nvCxnSpPr>
        <p:spPr>
          <a:xfrm>
            <a:off x="4889500" y="1270000"/>
            <a:ext cx="0" cy="4165600"/>
          </a:xfrm>
          <a:prstGeom prst="line">
            <a:avLst/>
          </a:prstGeom>
          <a:ln w="19050">
            <a:solidFill>
              <a:srgbClr val="8048B8"/>
            </a:solidFill>
            <a:prstDash val="dash"/>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51BB1E0D-6E74-8560-E8FE-FD121028306D}"/>
              </a:ext>
            </a:extLst>
          </p:cNvPr>
          <p:cNvSpPr txBox="1"/>
          <p:nvPr/>
        </p:nvSpPr>
        <p:spPr>
          <a:xfrm>
            <a:off x="4343400" y="5486400"/>
            <a:ext cx="1168400" cy="246221"/>
          </a:xfrm>
          <a:prstGeom prst="rect">
            <a:avLst/>
          </a:prstGeom>
          <a:noFill/>
        </p:spPr>
        <p:txBody>
          <a:bodyPr vert="horz" wrap="square" lIns="76200" tIns="38100" rIns="76200" bIns="38100" rtlCol="0">
            <a:spAutoFit/>
          </a:bodyPr>
          <a:lstStyle/>
          <a:p>
            <a:pPr algn="ctr"/>
            <a:r>
              <a:rPr lang="zh-CN" altLang="en-US" sz="1100" b="1">
                <a:solidFill>
                  <a:srgbClr val="8048B8"/>
                </a:solidFill>
                <a:latin typeface="Microsoft YaHei" panose="020B0503020204020204" pitchFamily="34" charset="-122"/>
                <a:ea typeface="Microsoft YaHei" panose="020B0503020204020204" pitchFamily="34" charset="-122"/>
              </a:rPr>
              <a:t>第二脉冲开通</a:t>
            </a:r>
          </a:p>
        </p:txBody>
      </p:sp>
      <p:sp>
        <p:nvSpPr>
          <p:cNvPr id="58" name="矩形 57">
            <a:extLst>
              <a:ext uri="{FF2B5EF4-FFF2-40B4-BE49-F238E27FC236}">
                <a16:creationId xmlns:a16="http://schemas.microsoft.com/office/drawing/2014/main" id="{ABFC207E-DD87-6DB4-1DDC-7BD6F03389F4}"/>
              </a:ext>
            </a:extLst>
          </p:cNvPr>
          <p:cNvSpPr/>
          <p:nvPr/>
        </p:nvSpPr>
        <p:spPr>
          <a:xfrm>
            <a:off x="8128000" y="1270000"/>
            <a:ext cx="3378200" cy="41656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CF808223-0E08-184C-5829-C76D5DDDF71B}"/>
              </a:ext>
            </a:extLst>
          </p:cNvPr>
          <p:cNvSpPr/>
          <p:nvPr/>
        </p:nvSpPr>
        <p:spPr>
          <a:xfrm>
            <a:off x="8128000" y="1270000"/>
            <a:ext cx="33782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BB31C0DF-15B4-5CA8-20A5-06C2EDF91820}"/>
              </a:ext>
            </a:extLst>
          </p:cNvPr>
          <p:cNvSpPr txBox="1"/>
          <p:nvPr/>
        </p:nvSpPr>
        <p:spPr>
          <a:xfrm>
            <a:off x="8229600" y="1295400"/>
            <a:ext cx="31750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关键判据</a:t>
            </a:r>
          </a:p>
        </p:txBody>
      </p:sp>
      <p:sp>
        <p:nvSpPr>
          <p:cNvPr id="61" name="文本框 60">
            <a:extLst>
              <a:ext uri="{FF2B5EF4-FFF2-40B4-BE49-F238E27FC236}">
                <a16:creationId xmlns:a16="http://schemas.microsoft.com/office/drawing/2014/main" id="{C1D258BE-95C2-57EC-3AB4-E3053E414CB9}"/>
              </a:ext>
            </a:extLst>
          </p:cNvPr>
          <p:cNvSpPr txBox="1"/>
          <p:nvPr/>
        </p:nvSpPr>
        <p:spPr>
          <a:xfrm>
            <a:off x="8382000" y="1778000"/>
            <a:ext cx="2870200" cy="2662267"/>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VDS </a:t>
            </a:r>
            <a:r>
              <a:rPr lang="zh-CN" altLang="en-US" sz="1400">
                <a:solidFill>
                  <a:srgbClr val="1A1C1F"/>
                </a:solidFill>
                <a:latin typeface="Microsoft YaHei" panose="020B0503020204020204" pitchFamily="34" charset="-122"/>
                <a:ea typeface="Microsoft YaHei" panose="020B0503020204020204" pitchFamily="34" charset="-122"/>
              </a:rPr>
              <a:t>过冲与母线电压裕量</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开通</a:t>
            </a:r>
            <a:r>
              <a:rPr lang="en-US" altLang="zh-CN" sz="1400">
                <a:solidFill>
                  <a:srgbClr val="1A1C1F"/>
                </a:solidFill>
                <a:latin typeface="Microsoft YaHei" panose="020B0503020204020204" pitchFamily="34" charset="-122"/>
                <a:ea typeface="Microsoft YaHei" panose="020B0503020204020204" pitchFamily="34" charset="-122"/>
              </a:rPr>
              <a:t>/</a:t>
            </a:r>
            <a:r>
              <a:rPr lang="zh-CN" altLang="en-US" sz="1400">
                <a:solidFill>
                  <a:srgbClr val="1A1C1F"/>
                </a:solidFill>
                <a:latin typeface="Microsoft YaHei" panose="020B0503020204020204" pitchFamily="34" charset="-122"/>
                <a:ea typeface="Microsoft YaHei" panose="020B0503020204020204" pitchFamily="34" charset="-122"/>
              </a:rPr>
              <a:t>关断振铃频率与衰减</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ID </a:t>
            </a:r>
            <a:r>
              <a:rPr lang="zh-CN" altLang="en-US" sz="1400">
                <a:solidFill>
                  <a:srgbClr val="1A1C1F"/>
                </a:solidFill>
                <a:latin typeface="Microsoft YaHei" panose="020B0503020204020204" pitchFamily="34" charset="-122"/>
                <a:ea typeface="Microsoft YaHei" panose="020B0503020204020204" pitchFamily="34" charset="-122"/>
              </a:rPr>
              <a:t>峰值、</a:t>
            </a:r>
            <a:r>
              <a:rPr lang="en-US" altLang="zh-CN" sz="1400">
                <a:solidFill>
                  <a:srgbClr val="1A1C1F"/>
                </a:solidFill>
                <a:latin typeface="Microsoft YaHei" panose="020B0503020204020204" pitchFamily="34" charset="-122"/>
                <a:ea typeface="Microsoft YaHei" panose="020B0503020204020204" pitchFamily="34" charset="-122"/>
              </a:rPr>
              <a:t>di/dt </a:t>
            </a:r>
            <a:r>
              <a:rPr lang="zh-CN" altLang="en-US" sz="1400">
                <a:solidFill>
                  <a:srgbClr val="1A1C1F"/>
                </a:solidFill>
                <a:latin typeface="Microsoft YaHei" panose="020B0503020204020204" pitchFamily="34" charset="-122"/>
                <a:ea typeface="Microsoft YaHei" panose="020B0503020204020204" pitchFamily="34" charset="-122"/>
              </a:rPr>
              <a:t>与反向恢复电流</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VGS </a:t>
            </a:r>
            <a:r>
              <a:rPr lang="zh-CN" altLang="en-US" sz="1400">
                <a:solidFill>
                  <a:srgbClr val="1A1C1F"/>
                </a:solidFill>
                <a:latin typeface="Microsoft YaHei" panose="020B0503020204020204" pitchFamily="34" charset="-122"/>
                <a:ea typeface="Microsoft YaHei" panose="020B0503020204020204" pitchFamily="34" charset="-122"/>
              </a:rPr>
              <a:t>米勒平台与负压尖峰</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Eon / Eoff </a:t>
            </a:r>
            <a:r>
              <a:rPr lang="zh-CN" altLang="en-US" sz="1400">
                <a:solidFill>
                  <a:srgbClr val="1A1C1F"/>
                </a:solidFill>
                <a:latin typeface="Microsoft YaHei" panose="020B0503020204020204" pitchFamily="34" charset="-122"/>
                <a:ea typeface="Microsoft YaHei" panose="020B0503020204020204" pitchFamily="34" charset="-122"/>
              </a:rPr>
              <a:t>开关损耗积分</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栅极电阻与吸收网络优化前后对比</a:t>
            </a:r>
          </a:p>
        </p:txBody>
      </p:sp>
      <p:sp>
        <p:nvSpPr>
          <p:cNvPr id="62" name="矩形 61">
            <a:extLst>
              <a:ext uri="{FF2B5EF4-FFF2-40B4-BE49-F238E27FC236}">
                <a16:creationId xmlns:a16="http://schemas.microsoft.com/office/drawing/2014/main" id="{F3996E85-6D7C-6EE0-9DB7-CA3884FB54C6}"/>
              </a:ext>
            </a:extLst>
          </p:cNvPr>
          <p:cNvSpPr/>
          <p:nvPr/>
        </p:nvSpPr>
        <p:spPr>
          <a:xfrm>
            <a:off x="8382000" y="4927600"/>
            <a:ext cx="2870200" cy="3556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003139F6-7238-4E92-7CFD-1DD07C969B4E}"/>
              </a:ext>
            </a:extLst>
          </p:cNvPr>
          <p:cNvSpPr txBox="1"/>
          <p:nvPr/>
        </p:nvSpPr>
        <p:spPr>
          <a:xfrm>
            <a:off x="8458200" y="4991100"/>
            <a:ext cx="2717800" cy="276999"/>
          </a:xfrm>
          <a:prstGeom prst="rect">
            <a:avLst/>
          </a:prstGeom>
          <a:noFill/>
        </p:spPr>
        <p:txBody>
          <a:bodyPr vert="horz" wrap="square" lIns="76200" tIns="38100" rIns="76200" bIns="38100" rtlCol="0">
            <a:spAutoFit/>
          </a:bodyPr>
          <a:lstStyle/>
          <a:p>
            <a:pPr algn="ctr"/>
            <a:r>
              <a:rPr lang="zh-CN" altLang="en-US" sz="1300" b="1">
                <a:solidFill>
                  <a:srgbClr val="005A9C"/>
                </a:solidFill>
                <a:latin typeface="Microsoft YaHei" panose="020B0503020204020204" pitchFamily="34" charset="-122"/>
                <a:ea typeface="Microsoft YaHei" panose="020B0503020204020204" pitchFamily="34" charset="-122"/>
              </a:rPr>
              <a:t>目标：过冲可控、振铃快速衰减</a:t>
            </a:r>
          </a:p>
        </p:txBody>
      </p:sp>
    </p:spTree>
    <p:extLst>
      <p:ext uri="{BB962C8B-B14F-4D97-AF65-F5344CB8AC3E}">
        <p14:creationId xmlns:p14="http://schemas.microsoft.com/office/powerpoint/2010/main" val="2058969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51B22E9-8B8A-7416-54CD-68F382CAAD61}"/>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11DB6C9-B7F2-0765-E412-5F8538237589}"/>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栅极驱动与死区</a:t>
            </a:r>
          </a:p>
        </p:txBody>
      </p:sp>
      <p:sp>
        <p:nvSpPr>
          <p:cNvPr id="4" name="文本框 3">
            <a:extLst>
              <a:ext uri="{FF2B5EF4-FFF2-40B4-BE49-F238E27FC236}">
                <a16:creationId xmlns:a16="http://schemas.microsoft.com/office/drawing/2014/main" id="{A6CF151C-745F-E2C7-F451-B2F9AE955EE2}"/>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12</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141DC561-6034-A832-06AF-2BCFE91CA7F5}"/>
              </a:ext>
            </a:extLst>
          </p:cNvPr>
          <p:cNvSpPr/>
          <p:nvPr/>
        </p:nvSpPr>
        <p:spPr>
          <a:xfrm>
            <a:off x="685800" y="1041400"/>
            <a:ext cx="72136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551903B9-C24F-F687-88D9-5F047B9D611F}"/>
              </a:ext>
            </a:extLst>
          </p:cNvPr>
          <p:cNvSpPr/>
          <p:nvPr/>
        </p:nvSpPr>
        <p:spPr>
          <a:xfrm>
            <a:off x="685800" y="1041400"/>
            <a:ext cx="72136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1ABDB2BB-24A9-CEF6-432F-3408536E984F}"/>
              </a:ext>
            </a:extLst>
          </p:cNvPr>
          <p:cNvSpPr txBox="1"/>
          <p:nvPr/>
        </p:nvSpPr>
        <p:spPr>
          <a:xfrm>
            <a:off x="787400" y="1066800"/>
            <a:ext cx="70104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高低侧互补驱动示意</a:t>
            </a:r>
          </a:p>
        </p:txBody>
      </p:sp>
      <p:sp>
        <p:nvSpPr>
          <p:cNvPr id="8" name="矩形 7">
            <a:extLst>
              <a:ext uri="{FF2B5EF4-FFF2-40B4-BE49-F238E27FC236}">
                <a16:creationId xmlns:a16="http://schemas.microsoft.com/office/drawing/2014/main" id="{90471B64-C48F-700F-4374-05932B7BA388}"/>
              </a:ext>
            </a:extLst>
          </p:cNvPr>
          <p:cNvSpPr/>
          <p:nvPr/>
        </p:nvSpPr>
        <p:spPr>
          <a:xfrm>
            <a:off x="939800" y="1625600"/>
            <a:ext cx="6654800" cy="1270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822E5E17-CB0F-B63E-9B2E-1306EEDA15F0}"/>
              </a:ext>
            </a:extLst>
          </p:cNvPr>
          <p:cNvCxnSpPr/>
          <p:nvPr/>
        </p:nvCxnSpPr>
        <p:spPr>
          <a:xfrm>
            <a:off x="2270760" y="162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FE441EFC-4EE0-91EA-93F1-F448CF5C3ADC}"/>
              </a:ext>
            </a:extLst>
          </p:cNvPr>
          <p:cNvCxnSpPr/>
          <p:nvPr/>
        </p:nvCxnSpPr>
        <p:spPr>
          <a:xfrm>
            <a:off x="3601720" y="162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B71E8E7-6AEC-3491-0B08-041082EE79DD}"/>
              </a:ext>
            </a:extLst>
          </p:cNvPr>
          <p:cNvCxnSpPr/>
          <p:nvPr/>
        </p:nvCxnSpPr>
        <p:spPr>
          <a:xfrm>
            <a:off x="4932680" y="162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DBE6179-643A-1453-87CD-B24817BDCB7B}"/>
              </a:ext>
            </a:extLst>
          </p:cNvPr>
          <p:cNvCxnSpPr/>
          <p:nvPr/>
        </p:nvCxnSpPr>
        <p:spPr>
          <a:xfrm>
            <a:off x="6263640" y="1625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21F994A-D5BD-7947-FE75-AB70EEDE5DBB}"/>
              </a:ext>
            </a:extLst>
          </p:cNvPr>
          <p:cNvCxnSpPr/>
          <p:nvPr/>
        </p:nvCxnSpPr>
        <p:spPr>
          <a:xfrm>
            <a:off x="939800" y="19431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0CE7D91-07C9-8CEF-4375-8B9008A07DE2}"/>
              </a:ext>
            </a:extLst>
          </p:cNvPr>
          <p:cNvCxnSpPr/>
          <p:nvPr/>
        </p:nvCxnSpPr>
        <p:spPr>
          <a:xfrm>
            <a:off x="939800" y="22606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CBE7946-1BA7-6E3D-99BC-B2F1067D750D}"/>
              </a:ext>
            </a:extLst>
          </p:cNvPr>
          <p:cNvCxnSpPr/>
          <p:nvPr/>
        </p:nvCxnSpPr>
        <p:spPr>
          <a:xfrm>
            <a:off x="939800" y="25781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FA0DEFD3-3328-23F2-94E4-0B7037E31EF3}"/>
              </a:ext>
            </a:extLst>
          </p:cNvPr>
          <p:cNvSpPr txBox="1"/>
          <p:nvPr/>
        </p:nvSpPr>
        <p:spPr>
          <a:xfrm>
            <a:off x="1016000" y="1676400"/>
            <a:ext cx="1270000" cy="246221"/>
          </a:xfrm>
          <a:prstGeom prst="rect">
            <a:avLst/>
          </a:prstGeom>
          <a:noFill/>
        </p:spPr>
        <p:txBody>
          <a:bodyPr vert="horz" wrap="square" lIns="76200" tIns="38100" rIns="76200" bIns="38100" rtlCol="0">
            <a:spAutoFit/>
          </a:bodyPr>
          <a:lstStyle/>
          <a:p>
            <a:r>
              <a:rPr lang="en-US" altLang="zh-CN" sz="1100" b="1">
                <a:solidFill>
                  <a:srgbClr val="5C6877"/>
                </a:solidFill>
                <a:latin typeface="Microsoft YaHei" panose="020B0503020204020204" pitchFamily="34" charset="-122"/>
                <a:ea typeface="Microsoft YaHei" panose="020B0503020204020204" pitchFamily="34" charset="-122"/>
              </a:rPr>
              <a:t>HO / VGS_H</a:t>
            </a:r>
            <a:endParaRPr lang="zh-CN" altLang="en-US" sz="1100" b="1">
              <a:solidFill>
                <a:srgbClr val="5C6877"/>
              </a:solidFill>
              <a:latin typeface="Microsoft YaHei" panose="020B0503020204020204" pitchFamily="34" charset="-122"/>
              <a:ea typeface="Microsoft YaHei" panose="020B0503020204020204" pitchFamily="34" charset="-122"/>
            </a:endParaRPr>
          </a:p>
        </p:txBody>
      </p:sp>
      <p:cxnSp>
        <p:nvCxnSpPr>
          <p:cNvPr id="17" name="直接连接符 16">
            <a:extLst>
              <a:ext uri="{FF2B5EF4-FFF2-40B4-BE49-F238E27FC236}">
                <a16:creationId xmlns:a16="http://schemas.microsoft.com/office/drawing/2014/main" id="{5A1482B2-A877-F496-1908-73D136E601CD}"/>
              </a:ext>
            </a:extLst>
          </p:cNvPr>
          <p:cNvCxnSpPr/>
          <p:nvPr/>
        </p:nvCxnSpPr>
        <p:spPr>
          <a:xfrm>
            <a:off x="1219200" y="2565400"/>
            <a:ext cx="6858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FC959A0-7AEA-0C34-308C-DB75121CC41F}"/>
              </a:ext>
            </a:extLst>
          </p:cNvPr>
          <p:cNvCxnSpPr/>
          <p:nvPr/>
        </p:nvCxnSpPr>
        <p:spPr>
          <a:xfrm flipV="1">
            <a:off x="1905000" y="19050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A40860D6-F16E-E371-BFE3-032134741F8E}"/>
              </a:ext>
            </a:extLst>
          </p:cNvPr>
          <p:cNvCxnSpPr/>
          <p:nvPr/>
        </p:nvCxnSpPr>
        <p:spPr>
          <a:xfrm>
            <a:off x="1905000" y="1905000"/>
            <a:ext cx="17526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A8809FF8-F911-B3CC-094F-433350AC569B}"/>
              </a:ext>
            </a:extLst>
          </p:cNvPr>
          <p:cNvCxnSpPr/>
          <p:nvPr/>
        </p:nvCxnSpPr>
        <p:spPr>
          <a:xfrm>
            <a:off x="3657600" y="19050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2B6F5A26-1675-82C0-81EB-438D7DBE138E}"/>
              </a:ext>
            </a:extLst>
          </p:cNvPr>
          <p:cNvCxnSpPr/>
          <p:nvPr/>
        </p:nvCxnSpPr>
        <p:spPr>
          <a:xfrm>
            <a:off x="3657600" y="2565400"/>
            <a:ext cx="11684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FEAC2AEC-9D08-A550-C4B6-54981FE1EC71}"/>
              </a:ext>
            </a:extLst>
          </p:cNvPr>
          <p:cNvCxnSpPr/>
          <p:nvPr/>
        </p:nvCxnSpPr>
        <p:spPr>
          <a:xfrm flipV="1">
            <a:off x="4826000" y="19050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DE7B18D1-5AF5-1DD0-9E41-2F13A6837833}"/>
              </a:ext>
            </a:extLst>
          </p:cNvPr>
          <p:cNvCxnSpPr/>
          <p:nvPr/>
        </p:nvCxnSpPr>
        <p:spPr>
          <a:xfrm>
            <a:off x="4826000" y="1905000"/>
            <a:ext cx="18542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5A53A676-C82F-6358-934C-441E35462239}"/>
              </a:ext>
            </a:extLst>
          </p:cNvPr>
          <p:cNvCxnSpPr/>
          <p:nvPr/>
        </p:nvCxnSpPr>
        <p:spPr>
          <a:xfrm>
            <a:off x="6680200" y="1905000"/>
            <a:ext cx="0" cy="66040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5832DBE-C80B-967F-E037-891D95693854}"/>
              </a:ext>
            </a:extLst>
          </p:cNvPr>
          <p:cNvCxnSpPr/>
          <p:nvPr/>
        </p:nvCxnSpPr>
        <p:spPr>
          <a:xfrm>
            <a:off x="6680200" y="2565400"/>
            <a:ext cx="685800" cy="0"/>
          </a:xfrm>
          <a:prstGeom prst="line">
            <a:avLst/>
          </a:prstGeom>
          <a:ln w="3556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10A508D3-A09C-B557-A6C3-D99039DD67E2}"/>
              </a:ext>
            </a:extLst>
          </p:cNvPr>
          <p:cNvSpPr/>
          <p:nvPr/>
        </p:nvSpPr>
        <p:spPr>
          <a:xfrm>
            <a:off x="939800" y="3149600"/>
            <a:ext cx="6654800" cy="1270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a:extLst>
              <a:ext uri="{FF2B5EF4-FFF2-40B4-BE49-F238E27FC236}">
                <a16:creationId xmlns:a16="http://schemas.microsoft.com/office/drawing/2014/main" id="{86729953-D5CF-7E2D-ECA7-BF113C041847}"/>
              </a:ext>
            </a:extLst>
          </p:cNvPr>
          <p:cNvCxnSpPr/>
          <p:nvPr/>
        </p:nvCxnSpPr>
        <p:spPr>
          <a:xfrm>
            <a:off x="2270760" y="3149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39892377-C1A4-DD09-D924-5EBF7E5DC810}"/>
              </a:ext>
            </a:extLst>
          </p:cNvPr>
          <p:cNvCxnSpPr/>
          <p:nvPr/>
        </p:nvCxnSpPr>
        <p:spPr>
          <a:xfrm>
            <a:off x="3601720" y="3149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165F5420-F62E-5CC9-AECE-C97329211A55}"/>
              </a:ext>
            </a:extLst>
          </p:cNvPr>
          <p:cNvCxnSpPr/>
          <p:nvPr/>
        </p:nvCxnSpPr>
        <p:spPr>
          <a:xfrm>
            <a:off x="4932680" y="3149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6A68001F-E8C1-4F2E-9C88-D540DE4070C5}"/>
              </a:ext>
            </a:extLst>
          </p:cNvPr>
          <p:cNvCxnSpPr/>
          <p:nvPr/>
        </p:nvCxnSpPr>
        <p:spPr>
          <a:xfrm>
            <a:off x="6263640" y="3149600"/>
            <a:ext cx="0" cy="1270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DEA9117D-B054-8453-9C29-2FFC46FF0D65}"/>
              </a:ext>
            </a:extLst>
          </p:cNvPr>
          <p:cNvCxnSpPr/>
          <p:nvPr/>
        </p:nvCxnSpPr>
        <p:spPr>
          <a:xfrm>
            <a:off x="939800" y="34671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397ED3F7-FCDF-AB43-E91A-E476A9338AB0}"/>
              </a:ext>
            </a:extLst>
          </p:cNvPr>
          <p:cNvCxnSpPr/>
          <p:nvPr/>
        </p:nvCxnSpPr>
        <p:spPr>
          <a:xfrm>
            <a:off x="939800" y="37846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E579153F-6D55-4CE7-149A-C0AAB3DF3CAA}"/>
              </a:ext>
            </a:extLst>
          </p:cNvPr>
          <p:cNvCxnSpPr/>
          <p:nvPr/>
        </p:nvCxnSpPr>
        <p:spPr>
          <a:xfrm>
            <a:off x="939800" y="4102100"/>
            <a:ext cx="66548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23AC6475-1C05-31A5-CB5A-B7A7589F3DB3}"/>
              </a:ext>
            </a:extLst>
          </p:cNvPr>
          <p:cNvSpPr txBox="1"/>
          <p:nvPr/>
        </p:nvSpPr>
        <p:spPr>
          <a:xfrm>
            <a:off x="1016000" y="3200400"/>
            <a:ext cx="1270000" cy="246221"/>
          </a:xfrm>
          <a:prstGeom prst="rect">
            <a:avLst/>
          </a:prstGeom>
          <a:noFill/>
        </p:spPr>
        <p:txBody>
          <a:bodyPr vert="horz" wrap="square" lIns="76200" tIns="38100" rIns="76200" bIns="38100" rtlCol="0">
            <a:spAutoFit/>
          </a:bodyPr>
          <a:lstStyle/>
          <a:p>
            <a:r>
              <a:rPr lang="en-US" altLang="zh-CN" sz="1100" b="1">
                <a:solidFill>
                  <a:srgbClr val="5C6877"/>
                </a:solidFill>
                <a:latin typeface="Microsoft YaHei" panose="020B0503020204020204" pitchFamily="34" charset="-122"/>
                <a:ea typeface="Microsoft YaHei" panose="020B0503020204020204" pitchFamily="34" charset="-122"/>
              </a:rPr>
              <a:t>LO / VGS_L</a:t>
            </a:r>
            <a:endParaRPr lang="zh-CN" altLang="en-US" sz="1100" b="1">
              <a:solidFill>
                <a:srgbClr val="5C6877"/>
              </a:solidFill>
              <a:latin typeface="Microsoft YaHei" panose="020B0503020204020204" pitchFamily="34" charset="-122"/>
              <a:ea typeface="Microsoft YaHei" panose="020B0503020204020204" pitchFamily="34" charset="-122"/>
            </a:endParaRPr>
          </a:p>
        </p:txBody>
      </p:sp>
      <p:cxnSp>
        <p:nvCxnSpPr>
          <p:cNvPr id="35" name="直接连接符 34">
            <a:extLst>
              <a:ext uri="{FF2B5EF4-FFF2-40B4-BE49-F238E27FC236}">
                <a16:creationId xmlns:a16="http://schemas.microsoft.com/office/drawing/2014/main" id="{AD618B5E-E10D-BF4A-3948-E4092735BFC1}"/>
              </a:ext>
            </a:extLst>
          </p:cNvPr>
          <p:cNvCxnSpPr/>
          <p:nvPr/>
        </p:nvCxnSpPr>
        <p:spPr>
          <a:xfrm>
            <a:off x="1219200" y="3505200"/>
            <a:ext cx="6858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681E7FFD-D96B-9073-3E5B-86E97FE9A81C}"/>
              </a:ext>
            </a:extLst>
          </p:cNvPr>
          <p:cNvCxnSpPr/>
          <p:nvPr/>
        </p:nvCxnSpPr>
        <p:spPr>
          <a:xfrm>
            <a:off x="1905000" y="3505200"/>
            <a:ext cx="0" cy="6604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8E21C4D1-02E0-A5C8-64BA-225721F4AA5A}"/>
              </a:ext>
            </a:extLst>
          </p:cNvPr>
          <p:cNvCxnSpPr/>
          <p:nvPr/>
        </p:nvCxnSpPr>
        <p:spPr>
          <a:xfrm>
            <a:off x="1905000" y="4165600"/>
            <a:ext cx="16002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7A43924-8F08-BFFC-7753-4C237A25ECF8}"/>
              </a:ext>
            </a:extLst>
          </p:cNvPr>
          <p:cNvCxnSpPr/>
          <p:nvPr/>
        </p:nvCxnSpPr>
        <p:spPr>
          <a:xfrm flipV="1">
            <a:off x="3505200" y="3505200"/>
            <a:ext cx="0" cy="6604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2D112EE1-CCE9-5FC9-FDBB-D37E3F6F258E}"/>
              </a:ext>
            </a:extLst>
          </p:cNvPr>
          <p:cNvCxnSpPr/>
          <p:nvPr/>
        </p:nvCxnSpPr>
        <p:spPr>
          <a:xfrm>
            <a:off x="3505200" y="3505200"/>
            <a:ext cx="14732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625276FE-17CC-1ADD-9D8B-B4F061DD64A6}"/>
              </a:ext>
            </a:extLst>
          </p:cNvPr>
          <p:cNvCxnSpPr/>
          <p:nvPr/>
        </p:nvCxnSpPr>
        <p:spPr>
          <a:xfrm>
            <a:off x="4978400" y="3505200"/>
            <a:ext cx="0" cy="6604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FB429DDC-D447-9B0B-B612-231D79CAB0E4}"/>
              </a:ext>
            </a:extLst>
          </p:cNvPr>
          <p:cNvCxnSpPr/>
          <p:nvPr/>
        </p:nvCxnSpPr>
        <p:spPr>
          <a:xfrm>
            <a:off x="4978400" y="4165600"/>
            <a:ext cx="15494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C64818B8-CACE-90BA-AC9F-14CC4D818A31}"/>
              </a:ext>
            </a:extLst>
          </p:cNvPr>
          <p:cNvCxnSpPr/>
          <p:nvPr/>
        </p:nvCxnSpPr>
        <p:spPr>
          <a:xfrm flipV="1">
            <a:off x="6527800" y="3505200"/>
            <a:ext cx="0" cy="66040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3BB1ACF0-57BF-B7EA-D7CF-3F69C45CEFE3}"/>
              </a:ext>
            </a:extLst>
          </p:cNvPr>
          <p:cNvCxnSpPr/>
          <p:nvPr/>
        </p:nvCxnSpPr>
        <p:spPr>
          <a:xfrm>
            <a:off x="6527800" y="3505200"/>
            <a:ext cx="838200" cy="0"/>
          </a:xfrm>
          <a:prstGeom prst="line">
            <a:avLst/>
          </a:prstGeom>
          <a:ln w="35560">
            <a:solidFill>
              <a:srgbClr val="F28E2B"/>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417A6CF1-5328-07C5-DF87-6D11B402BC8A}"/>
              </a:ext>
            </a:extLst>
          </p:cNvPr>
          <p:cNvCxnSpPr/>
          <p:nvPr/>
        </p:nvCxnSpPr>
        <p:spPr>
          <a:xfrm>
            <a:off x="3505200" y="1549400"/>
            <a:ext cx="0" cy="2971800"/>
          </a:xfrm>
          <a:prstGeom prst="line">
            <a:avLst/>
          </a:prstGeom>
          <a:ln w="19050">
            <a:solidFill>
              <a:srgbClr val="CD0000"/>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A1D301C5-3E87-F9D2-B04E-2CF0ED0B1A00}"/>
              </a:ext>
            </a:extLst>
          </p:cNvPr>
          <p:cNvCxnSpPr/>
          <p:nvPr/>
        </p:nvCxnSpPr>
        <p:spPr>
          <a:xfrm>
            <a:off x="3657600" y="1549400"/>
            <a:ext cx="0" cy="2971800"/>
          </a:xfrm>
          <a:prstGeom prst="line">
            <a:avLst/>
          </a:prstGeom>
          <a:ln w="19050">
            <a:solidFill>
              <a:srgbClr val="CD0000"/>
            </a:solidFill>
            <a:prstDash val="dash"/>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76C15B18-4284-9ECA-CC6D-465F5AAB82B6}"/>
              </a:ext>
            </a:extLst>
          </p:cNvPr>
          <p:cNvSpPr txBox="1"/>
          <p:nvPr/>
        </p:nvSpPr>
        <p:spPr>
          <a:xfrm>
            <a:off x="3149600" y="4572000"/>
            <a:ext cx="889000" cy="246221"/>
          </a:xfrm>
          <a:prstGeom prst="rect">
            <a:avLst/>
          </a:prstGeom>
          <a:noFill/>
        </p:spPr>
        <p:txBody>
          <a:bodyPr vert="horz" wrap="square" lIns="76200" tIns="38100" rIns="76200" bIns="38100" rtlCol="0">
            <a:spAutoFit/>
          </a:bodyPr>
          <a:lstStyle/>
          <a:p>
            <a:pPr algn="ctr"/>
            <a:r>
              <a:rPr lang="en-US" altLang="zh-CN" sz="1100" b="1">
                <a:solidFill>
                  <a:srgbClr val="CD0000"/>
                </a:solidFill>
                <a:latin typeface="Microsoft YaHei" panose="020B0503020204020204" pitchFamily="34" charset="-122"/>
                <a:ea typeface="Microsoft YaHei" panose="020B0503020204020204" pitchFamily="34" charset="-122"/>
              </a:rPr>
              <a:t>tDEAD</a:t>
            </a:r>
            <a:endParaRPr lang="zh-CN" altLang="en-US" sz="1100" b="1">
              <a:solidFill>
                <a:srgbClr val="CD0000"/>
              </a:solidFill>
              <a:latin typeface="Microsoft YaHei" panose="020B0503020204020204" pitchFamily="34" charset="-122"/>
              <a:ea typeface="Microsoft YaHei" panose="020B0503020204020204" pitchFamily="34" charset="-122"/>
            </a:endParaRPr>
          </a:p>
        </p:txBody>
      </p:sp>
      <p:cxnSp>
        <p:nvCxnSpPr>
          <p:cNvPr id="47" name="直接连接符 46">
            <a:extLst>
              <a:ext uri="{FF2B5EF4-FFF2-40B4-BE49-F238E27FC236}">
                <a16:creationId xmlns:a16="http://schemas.microsoft.com/office/drawing/2014/main" id="{FBF74296-3093-2424-A03D-A03269CFD623}"/>
              </a:ext>
            </a:extLst>
          </p:cNvPr>
          <p:cNvCxnSpPr/>
          <p:nvPr/>
        </p:nvCxnSpPr>
        <p:spPr>
          <a:xfrm>
            <a:off x="4826000" y="1549400"/>
            <a:ext cx="0" cy="2971800"/>
          </a:xfrm>
          <a:prstGeom prst="line">
            <a:avLst/>
          </a:prstGeom>
          <a:ln w="19050">
            <a:solidFill>
              <a:srgbClr val="CD0000"/>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720F8878-8FF2-17CB-70D6-16D7DBA270DB}"/>
              </a:ext>
            </a:extLst>
          </p:cNvPr>
          <p:cNvCxnSpPr/>
          <p:nvPr/>
        </p:nvCxnSpPr>
        <p:spPr>
          <a:xfrm>
            <a:off x="4978400" y="1549400"/>
            <a:ext cx="0" cy="2971800"/>
          </a:xfrm>
          <a:prstGeom prst="line">
            <a:avLst/>
          </a:prstGeom>
          <a:ln w="19050">
            <a:solidFill>
              <a:srgbClr val="CD0000"/>
            </a:solidFill>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4CDE5F83-5BAC-DF1F-371E-884FB8EC08AF}"/>
              </a:ext>
            </a:extLst>
          </p:cNvPr>
          <p:cNvSpPr txBox="1"/>
          <p:nvPr/>
        </p:nvSpPr>
        <p:spPr>
          <a:xfrm>
            <a:off x="4470400" y="4572000"/>
            <a:ext cx="889000" cy="246221"/>
          </a:xfrm>
          <a:prstGeom prst="rect">
            <a:avLst/>
          </a:prstGeom>
          <a:noFill/>
        </p:spPr>
        <p:txBody>
          <a:bodyPr vert="horz" wrap="square" lIns="76200" tIns="38100" rIns="76200" bIns="38100" rtlCol="0">
            <a:spAutoFit/>
          </a:bodyPr>
          <a:lstStyle/>
          <a:p>
            <a:pPr algn="ctr"/>
            <a:r>
              <a:rPr lang="en-US" altLang="zh-CN" sz="1100" b="1">
                <a:solidFill>
                  <a:srgbClr val="CD0000"/>
                </a:solidFill>
                <a:latin typeface="Microsoft YaHei" panose="020B0503020204020204" pitchFamily="34" charset="-122"/>
                <a:ea typeface="Microsoft YaHei" panose="020B0503020204020204" pitchFamily="34" charset="-122"/>
              </a:rPr>
              <a:t>tDEAD</a:t>
            </a:r>
            <a:endParaRPr lang="zh-CN" altLang="en-US" sz="1100" b="1">
              <a:solidFill>
                <a:srgbClr val="CD0000"/>
              </a:solidFill>
              <a:latin typeface="Microsoft YaHei" panose="020B0503020204020204" pitchFamily="34" charset="-122"/>
              <a:ea typeface="Microsoft YaHei" panose="020B0503020204020204" pitchFamily="34" charset="-122"/>
            </a:endParaRPr>
          </a:p>
        </p:txBody>
      </p:sp>
      <p:sp>
        <p:nvSpPr>
          <p:cNvPr id="50" name="文本框 49">
            <a:extLst>
              <a:ext uri="{FF2B5EF4-FFF2-40B4-BE49-F238E27FC236}">
                <a16:creationId xmlns:a16="http://schemas.microsoft.com/office/drawing/2014/main" id="{D9A3D9A0-B5E8-A479-F304-426F0E166604}"/>
              </a:ext>
            </a:extLst>
          </p:cNvPr>
          <p:cNvSpPr txBox="1"/>
          <p:nvPr/>
        </p:nvSpPr>
        <p:spPr>
          <a:xfrm>
            <a:off x="1219200" y="5092700"/>
            <a:ext cx="6146800" cy="292388"/>
          </a:xfrm>
          <a:prstGeom prst="rect">
            <a:avLst/>
          </a:prstGeom>
          <a:noFill/>
        </p:spPr>
        <p:txBody>
          <a:bodyPr vert="horz" wrap="square" lIns="76200" tIns="38100" rIns="76200" bIns="38100" rtlCol="0">
            <a:spAutoFit/>
          </a:bodyPr>
          <a:lstStyle/>
          <a:p>
            <a:pPr algn="ctr"/>
            <a:r>
              <a:rPr lang="en-US" altLang="zh-CN" sz="1400" b="1">
                <a:solidFill>
                  <a:srgbClr val="005A9C"/>
                </a:solidFill>
                <a:latin typeface="Microsoft YaHei" panose="020B0503020204020204" pitchFamily="34" charset="-122"/>
                <a:ea typeface="Microsoft YaHei" panose="020B0503020204020204" pitchFamily="34" charset="-122"/>
              </a:rPr>
              <a:t>MP6539B</a:t>
            </a:r>
            <a:r>
              <a:rPr lang="zh-CN" altLang="en-US" sz="1400" b="1">
                <a:solidFill>
                  <a:srgbClr val="005A9C"/>
                </a:solidFill>
                <a:latin typeface="Microsoft YaHei" panose="020B0503020204020204" pitchFamily="34" charset="-122"/>
                <a:ea typeface="Microsoft YaHei" panose="020B0503020204020204" pitchFamily="34" charset="-122"/>
              </a:rPr>
              <a:t>：</a:t>
            </a:r>
            <a:r>
              <a:rPr lang="en-US" altLang="zh-CN" sz="1400" b="1">
                <a:solidFill>
                  <a:srgbClr val="005A9C"/>
                </a:solidFill>
                <a:latin typeface="Microsoft YaHei" panose="020B0503020204020204" pitchFamily="34" charset="-122"/>
                <a:ea typeface="Microsoft YaHei" panose="020B0503020204020204" pitchFamily="34" charset="-122"/>
              </a:rPr>
              <a:t>tDEAD(us) = 0.044 × RDT(kΩ) + 0.1</a:t>
            </a:r>
            <a:endParaRPr lang="zh-CN" altLang="en-US" sz="1400" b="1">
              <a:solidFill>
                <a:srgbClr val="005A9C"/>
              </a:solidFill>
              <a:latin typeface="Microsoft YaHei" panose="020B0503020204020204" pitchFamily="34" charset="-122"/>
              <a:ea typeface="Microsoft YaHei" panose="020B0503020204020204" pitchFamily="34" charset="-122"/>
            </a:endParaRPr>
          </a:p>
        </p:txBody>
      </p:sp>
      <p:sp>
        <p:nvSpPr>
          <p:cNvPr id="51" name="矩形 50">
            <a:extLst>
              <a:ext uri="{FF2B5EF4-FFF2-40B4-BE49-F238E27FC236}">
                <a16:creationId xmlns:a16="http://schemas.microsoft.com/office/drawing/2014/main" id="{A29BB165-F4A5-EDBF-5605-613253331ACB}"/>
              </a:ext>
            </a:extLst>
          </p:cNvPr>
          <p:cNvSpPr/>
          <p:nvPr/>
        </p:nvSpPr>
        <p:spPr>
          <a:xfrm>
            <a:off x="8204200" y="1041400"/>
            <a:ext cx="3302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071C0038-5AA6-C170-86D7-D5243DA448C6}"/>
              </a:ext>
            </a:extLst>
          </p:cNvPr>
          <p:cNvSpPr/>
          <p:nvPr/>
        </p:nvSpPr>
        <p:spPr>
          <a:xfrm>
            <a:off x="8204200" y="1041400"/>
            <a:ext cx="3302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C58B8D9A-8378-C028-858F-DF2D378916CC}"/>
              </a:ext>
            </a:extLst>
          </p:cNvPr>
          <p:cNvSpPr txBox="1"/>
          <p:nvPr/>
        </p:nvSpPr>
        <p:spPr>
          <a:xfrm>
            <a:off x="8305800" y="1066800"/>
            <a:ext cx="3098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示波器检查点</a:t>
            </a:r>
          </a:p>
        </p:txBody>
      </p:sp>
      <p:sp>
        <p:nvSpPr>
          <p:cNvPr id="54" name="文本框 53">
            <a:extLst>
              <a:ext uri="{FF2B5EF4-FFF2-40B4-BE49-F238E27FC236}">
                <a16:creationId xmlns:a16="http://schemas.microsoft.com/office/drawing/2014/main" id="{E56EEE04-0A7F-DB0F-2B54-6CAF66B46212}"/>
              </a:ext>
            </a:extLst>
          </p:cNvPr>
          <p:cNvSpPr txBox="1"/>
          <p:nvPr/>
        </p:nvSpPr>
        <p:spPr>
          <a:xfrm>
            <a:off x="8445500" y="1600200"/>
            <a:ext cx="2794000" cy="2877711"/>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HO </a:t>
            </a:r>
            <a:r>
              <a:rPr lang="zh-CN" altLang="en-US" sz="1400">
                <a:solidFill>
                  <a:srgbClr val="1A1C1F"/>
                </a:solidFill>
                <a:latin typeface="Microsoft YaHei" panose="020B0503020204020204" pitchFamily="34" charset="-122"/>
                <a:ea typeface="Microsoft YaHei" panose="020B0503020204020204" pitchFamily="34" charset="-122"/>
              </a:rPr>
              <a:t>与 </a:t>
            </a:r>
            <a:r>
              <a:rPr lang="en-US" altLang="zh-CN" sz="1400">
                <a:solidFill>
                  <a:srgbClr val="1A1C1F"/>
                </a:solidFill>
                <a:latin typeface="Microsoft YaHei" panose="020B0503020204020204" pitchFamily="34" charset="-122"/>
                <a:ea typeface="Microsoft YaHei" panose="020B0503020204020204" pitchFamily="34" charset="-122"/>
              </a:rPr>
              <a:t>HS </a:t>
            </a:r>
            <a:r>
              <a:rPr lang="zh-CN" altLang="en-US" sz="1400">
                <a:solidFill>
                  <a:srgbClr val="1A1C1F"/>
                </a:solidFill>
                <a:latin typeface="Microsoft YaHei" panose="020B0503020204020204" pitchFamily="34" charset="-122"/>
                <a:ea typeface="Microsoft YaHei" panose="020B0503020204020204" pitchFamily="34" charset="-122"/>
              </a:rPr>
              <a:t>差分测量，避免共模误判</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检查高低侧不存在交叠导通</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观察米勒平台、上升</a:t>
            </a:r>
            <a:r>
              <a:rPr lang="en-US" altLang="zh-CN" sz="1400">
                <a:solidFill>
                  <a:srgbClr val="1A1C1F"/>
                </a:solidFill>
                <a:latin typeface="Microsoft YaHei" panose="020B0503020204020204" pitchFamily="34" charset="-122"/>
                <a:ea typeface="Microsoft YaHei" panose="020B0503020204020204" pitchFamily="34" charset="-122"/>
              </a:rPr>
              <a:t>/</a:t>
            </a:r>
            <a:r>
              <a:rPr lang="zh-CN" altLang="en-US" sz="1400">
                <a:solidFill>
                  <a:srgbClr val="1A1C1F"/>
                </a:solidFill>
                <a:latin typeface="Microsoft YaHei" panose="020B0503020204020204" pitchFamily="34" charset="-122"/>
                <a:ea typeface="Microsoft YaHei" panose="020B0503020204020204" pitchFamily="34" charset="-122"/>
              </a:rPr>
              <a:t>下降时间</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检查关断负压与栅极振铃</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对比不同栅极电阻下的 </a:t>
            </a:r>
            <a:r>
              <a:rPr lang="en-US" altLang="zh-CN" sz="1400">
                <a:solidFill>
                  <a:srgbClr val="1A1C1F"/>
                </a:solidFill>
                <a:latin typeface="Microsoft YaHei" panose="020B0503020204020204" pitchFamily="34" charset="-122"/>
                <a:ea typeface="Microsoft YaHei" panose="020B0503020204020204" pitchFamily="34" charset="-122"/>
              </a:rPr>
              <a:t>dv/dt</a:t>
            </a:r>
          </a:p>
          <a:p>
            <a:endParaRPr lang="en-US" altLang="zh-CN" sz="1400">
              <a:solidFill>
                <a:srgbClr val="1A1C1F"/>
              </a:solidFill>
              <a:latin typeface="Microsoft YaHei" panose="020B0503020204020204" pitchFamily="34" charset="-122"/>
              <a:ea typeface="Microsoft YaHei" panose="020B0503020204020204" pitchFamily="34" charset="-122"/>
            </a:endParaRPr>
          </a:p>
          <a:p>
            <a:r>
              <a:rPr lang="en-US" altLang="zh-CN" sz="1400">
                <a:solidFill>
                  <a:srgbClr val="1A1C1F"/>
                </a:solidFill>
                <a:latin typeface="Microsoft YaHei" panose="020B0503020204020204" pitchFamily="34" charset="-122"/>
                <a:ea typeface="Microsoft YaHei" panose="020B0503020204020204" pitchFamily="34" charset="-122"/>
              </a:rPr>
              <a:t>● Bootstrap </a:t>
            </a:r>
            <a:r>
              <a:rPr lang="zh-CN" altLang="en-US" sz="1400">
                <a:solidFill>
                  <a:srgbClr val="1A1C1F"/>
                </a:solidFill>
                <a:latin typeface="Microsoft YaHei" panose="020B0503020204020204" pitchFamily="34" charset="-122"/>
                <a:ea typeface="Microsoft YaHei" panose="020B0503020204020204" pitchFamily="34" charset="-122"/>
              </a:rPr>
              <a:t>电压在长导通时保持充足</a:t>
            </a:r>
          </a:p>
        </p:txBody>
      </p:sp>
      <p:sp>
        <p:nvSpPr>
          <p:cNvPr id="55" name="矩形 54">
            <a:extLst>
              <a:ext uri="{FF2B5EF4-FFF2-40B4-BE49-F238E27FC236}">
                <a16:creationId xmlns:a16="http://schemas.microsoft.com/office/drawing/2014/main" id="{FBE7E345-2A2A-802F-8AE7-9E5E8BAB71FD}"/>
              </a:ext>
            </a:extLst>
          </p:cNvPr>
          <p:cNvSpPr/>
          <p:nvPr/>
        </p:nvSpPr>
        <p:spPr>
          <a:xfrm>
            <a:off x="8445500" y="4940300"/>
            <a:ext cx="2794000" cy="5334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4F70636F-C5CC-B665-AA49-A190C84266CF}"/>
              </a:ext>
            </a:extLst>
          </p:cNvPr>
          <p:cNvSpPr txBox="1"/>
          <p:nvPr/>
        </p:nvSpPr>
        <p:spPr>
          <a:xfrm>
            <a:off x="8534400" y="5041900"/>
            <a:ext cx="2616200" cy="477054"/>
          </a:xfrm>
          <a:prstGeom prst="rect">
            <a:avLst/>
          </a:prstGeom>
          <a:noFill/>
        </p:spPr>
        <p:txBody>
          <a:bodyPr vert="horz" wrap="square" lIns="76200" tIns="38100" rIns="76200" bIns="38100" rtlCol="0">
            <a:spAutoFit/>
          </a:bodyPr>
          <a:lstStyle/>
          <a:p>
            <a:pPr algn="ctr"/>
            <a:r>
              <a:rPr lang="zh-CN" altLang="en-US" sz="1300" b="1">
                <a:solidFill>
                  <a:srgbClr val="005A9C"/>
                </a:solidFill>
                <a:latin typeface="Microsoft YaHei" panose="020B0503020204020204" pitchFamily="34" charset="-122"/>
                <a:ea typeface="Microsoft YaHei" panose="020B0503020204020204" pitchFamily="34" charset="-122"/>
              </a:rPr>
              <a:t>判据：无直通，驱动幅值与死区稳定</a:t>
            </a:r>
          </a:p>
        </p:txBody>
      </p:sp>
    </p:spTree>
    <p:extLst>
      <p:ext uri="{BB962C8B-B14F-4D97-AF65-F5344CB8AC3E}">
        <p14:creationId xmlns:p14="http://schemas.microsoft.com/office/powerpoint/2010/main" val="3877195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D37396F-0FA5-D1C0-3AAB-F95FA38AD35F}"/>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481B3AC0-74CF-683D-25BB-1D62790D62C6}"/>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三相电流采样链路</a:t>
            </a:r>
          </a:p>
        </p:txBody>
      </p:sp>
      <p:sp>
        <p:nvSpPr>
          <p:cNvPr id="4" name="文本框 3">
            <a:extLst>
              <a:ext uri="{FF2B5EF4-FFF2-40B4-BE49-F238E27FC236}">
                <a16:creationId xmlns:a16="http://schemas.microsoft.com/office/drawing/2014/main" id="{EA3F2F26-C582-762F-B8EC-B8942B2E31AC}"/>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13</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1F151BF6-5350-70A7-0143-543CF6D461BB}"/>
              </a:ext>
            </a:extLst>
          </p:cNvPr>
          <p:cNvSpPr/>
          <p:nvPr/>
        </p:nvSpPr>
        <p:spPr>
          <a:xfrm>
            <a:off x="685800" y="1041400"/>
            <a:ext cx="70104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C4BE3A4D-EBD0-2CE9-F73C-5741DD8240E4}"/>
              </a:ext>
            </a:extLst>
          </p:cNvPr>
          <p:cNvSpPr/>
          <p:nvPr/>
        </p:nvSpPr>
        <p:spPr>
          <a:xfrm>
            <a:off x="685800" y="1041400"/>
            <a:ext cx="70104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2887745-B373-C08C-AFC6-7E43C1891FB8}"/>
              </a:ext>
            </a:extLst>
          </p:cNvPr>
          <p:cNvSpPr txBox="1"/>
          <p:nvPr/>
        </p:nvSpPr>
        <p:spPr>
          <a:xfrm>
            <a:off x="787400" y="1066800"/>
            <a:ext cx="68072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采样波形与 </a:t>
            </a:r>
            <a:r>
              <a:rPr lang="en-US" altLang="zh-CN" sz="1700" b="1">
                <a:solidFill>
                  <a:srgbClr val="FFFFFF"/>
                </a:solidFill>
                <a:latin typeface="Microsoft YaHei" panose="020B0503020204020204" pitchFamily="34" charset="-122"/>
                <a:ea typeface="Microsoft YaHei" panose="020B0503020204020204" pitchFamily="34" charset="-122"/>
              </a:rPr>
              <a:t>PWM </a:t>
            </a:r>
            <a:r>
              <a:rPr lang="zh-CN" altLang="en-US" sz="1700" b="1">
                <a:solidFill>
                  <a:srgbClr val="FFFFFF"/>
                </a:solidFill>
                <a:latin typeface="Microsoft YaHei" panose="020B0503020204020204" pitchFamily="34" charset="-122"/>
                <a:ea typeface="Microsoft YaHei" panose="020B0503020204020204" pitchFamily="34" charset="-122"/>
              </a:rPr>
              <a:t>同步关系</a:t>
            </a:r>
          </a:p>
        </p:txBody>
      </p:sp>
      <p:sp>
        <p:nvSpPr>
          <p:cNvPr id="8" name="矩形 7">
            <a:extLst>
              <a:ext uri="{FF2B5EF4-FFF2-40B4-BE49-F238E27FC236}">
                <a16:creationId xmlns:a16="http://schemas.microsoft.com/office/drawing/2014/main" id="{4DB98A23-6D52-C123-CBF6-8740A4D79E52}"/>
              </a:ext>
            </a:extLst>
          </p:cNvPr>
          <p:cNvSpPr/>
          <p:nvPr/>
        </p:nvSpPr>
        <p:spPr>
          <a:xfrm>
            <a:off x="939800" y="1600200"/>
            <a:ext cx="6502400" cy="2667000"/>
          </a:xfrm>
          <a:prstGeom prst="rect">
            <a:avLst/>
          </a:prstGeom>
          <a:solidFill>
            <a:srgbClr val="F7F8FA"/>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8E325369-7546-6D11-F074-23970CC1F960}"/>
              </a:ext>
            </a:extLst>
          </p:cNvPr>
          <p:cNvCxnSpPr/>
          <p:nvPr/>
        </p:nvCxnSpPr>
        <p:spPr>
          <a:xfrm>
            <a:off x="2240280" y="1600200"/>
            <a:ext cx="0" cy="2667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DD07510-7E3A-573A-FE55-CF40EF12432B}"/>
              </a:ext>
            </a:extLst>
          </p:cNvPr>
          <p:cNvCxnSpPr/>
          <p:nvPr/>
        </p:nvCxnSpPr>
        <p:spPr>
          <a:xfrm>
            <a:off x="3540760" y="1600200"/>
            <a:ext cx="0" cy="2667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CB0FFE3-EFA4-C4D4-EA47-889168C3E31C}"/>
              </a:ext>
            </a:extLst>
          </p:cNvPr>
          <p:cNvCxnSpPr/>
          <p:nvPr/>
        </p:nvCxnSpPr>
        <p:spPr>
          <a:xfrm>
            <a:off x="4841240" y="1600200"/>
            <a:ext cx="0" cy="2667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6D15BD90-D521-CCA4-AEAC-DDB55778BB97}"/>
              </a:ext>
            </a:extLst>
          </p:cNvPr>
          <p:cNvCxnSpPr/>
          <p:nvPr/>
        </p:nvCxnSpPr>
        <p:spPr>
          <a:xfrm>
            <a:off x="6141720" y="1600200"/>
            <a:ext cx="0" cy="266700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16087D7-498A-C536-4C1E-C4FAABD0D083}"/>
              </a:ext>
            </a:extLst>
          </p:cNvPr>
          <p:cNvCxnSpPr/>
          <p:nvPr/>
        </p:nvCxnSpPr>
        <p:spPr>
          <a:xfrm>
            <a:off x="939800" y="2266950"/>
            <a:ext cx="65024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58D7F0E-6AB3-3CA6-8D9B-55E9EEC530C3}"/>
              </a:ext>
            </a:extLst>
          </p:cNvPr>
          <p:cNvCxnSpPr/>
          <p:nvPr/>
        </p:nvCxnSpPr>
        <p:spPr>
          <a:xfrm>
            <a:off x="939800" y="2933700"/>
            <a:ext cx="65024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7460D7A-2F9E-F62D-12DC-4623D8D90FB3}"/>
              </a:ext>
            </a:extLst>
          </p:cNvPr>
          <p:cNvCxnSpPr/>
          <p:nvPr/>
        </p:nvCxnSpPr>
        <p:spPr>
          <a:xfrm>
            <a:off x="939800" y="3600450"/>
            <a:ext cx="6502400" cy="0"/>
          </a:xfrm>
          <a:prstGeom prst="line">
            <a:avLst/>
          </a:prstGeom>
          <a:ln w="8890">
            <a:solidFill>
              <a:srgbClr val="D7DCE2"/>
            </a:solidFill>
            <a:prstDash val="dash"/>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B47AE17B-EF75-298E-2F70-DD1876107E07}"/>
              </a:ext>
            </a:extLst>
          </p:cNvPr>
          <p:cNvSpPr txBox="1"/>
          <p:nvPr/>
        </p:nvSpPr>
        <p:spPr>
          <a:xfrm>
            <a:off x="1016000" y="1651000"/>
            <a:ext cx="1270000" cy="415498"/>
          </a:xfrm>
          <a:prstGeom prst="rect">
            <a:avLst/>
          </a:prstGeom>
          <a:noFill/>
        </p:spPr>
        <p:txBody>
          <a:bodyPr vert="horz" wrap="square" lIns="76200" tIns="38100" rIns="76200" bIns="38100" rtlCol="0">
            <a:spAutoFit/>
          </a:bodyPr>
          <a:lstStyle/>
          <a:p>
            <a:r>
              <a:rPr lang="zh-CN" altLang="en-US" sz="1100" b="1">
                <a:solidFill>
                  <a:srgbClr val="5C6877"/>
                </a:solidFill>
                <a:latin typeface="Microsoft YaHei" panose="020B0503020204020204" pitchFamily="34" charset="-122"/>
                <a:ea typeface="Microsoft YaHei" panose="020B0503020204020204" pitchFamily="34" charset="-122"/>
              </a:rPr>
              <a:t>相电流 </a:t>
            </a:r>
            <a:r>
              <a:rPr lang="en-US" altLang="zh-CN" sz="1100" b="1">
                <a:solidFill>
                  <a:srgbClr val="5C6877"/>
                </a:solidFill>
                <a:latin typeface="Microsoft YaHei" panose="020B0503020204020204" pitchFamily="34" charset="-122"/>
                <a:ea typeface="Microsoft YaHei" panose="020B0503020204020204" pitchFamily="34" charset="-122"/>
              </a:rPr>
              <a:t>/ ADC </a:t>
            </a:r>
            <a:r>
              <a:rPr lang="zh-CN" altLang="en-US" sz="1100" b="1">
                <a:solidFill>
                  <a:srgbClr val="5C6877"/>
                </a:solidFill>
                <a:latin typeface="Microsoft YaHei" panose="020B0503020204020204" pitchFamily="34" charset="-122"/>
                <a:ea typeface="Microsoft YaHei" panose="020B0503020204020204" pitchFamily="34" charset="-122"/>
              </a:rPr>
              <a:t>采样点</a:t>
            </a:r>
          </a:p>
        </p:txBody>
      </p:sp>
      <p:cxnSp>
        <p:nvCxnSpPr>
          <p:cNvPr id="17" name="直接连接符 16">
            <a:extLst>
              <a:ext uri="{FF2B5EF4-FFF2-40B4-BE49-F238E27FC236}">
                <a16:creationId xmlns:a16="http://schemas.microsoft.com/office/drawing/2014/main" id="{17CDAD23-6F88-7CAC-32B5-20C5A930E03E}"/>
              </a:ext>
            </a:extLst>
          </p:cNvPr>
          <p:cNvCxnSpPr/>
          <p:nvPr/>
        </p:nvCxnSpPr>
        <p:spPr>
          <a:xfrm flipV="1">
            <a:off x="1168400" y="2794000"/>
            <a:ext cx="254000" cy="1905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9424BE39-BAC3-A7D9-E91B-387AB0236897}"/>
              </a:ext>
            </a:extLst>
          </p:cNvPr>
          <p:cNvCxnSpPr/>
          <p:nvPr/>
        </p:nvCxnSpPr>
        <p:spPr>
          <a:xfrm flipV="1">
            <a:off x="1422400" y="2590800"/>
            <a:ext cx="254000" cy="2032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97A11011-02D5-F9C2-C80F-58CC0C5819A5}"/>
              </a:ext>
            </a:extLst>
          </p:cNvPr>
          <p:cNvCxnSpPr/>
          <p:nvPr/>
        </p:nvCxnSpPr>
        <p:spPr>
          <a:xfrm flipV="1">
            <a:off x="1676400" y="2413000"/>
            <a:ext cx="254000" cy="177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1CFEDD3F-42C6-DDFF-9E30-00CB8A0DE122}"/>
              </a:ext>
            </a:extLst>
          </p:cNvPr>
          <p:cNvCxnSpPr/>
          <p:nvPr/>
        </p:nvCxnSpPr>
        <p:spPr>
          <a:xfrm flipV="1">
            <a:off x="1930400" y="2286000"/>
            <a:ext cx="254000" cy="1270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1B285B14-7183-6220-E51D-39F9CE26FC87}"/>
              </a:ext>
            </a:extLst>
          </p:cNvPr>
          <p:cNvCxnSpPr/>
          <p:nvPr/>
        </p:nvCxnSpPr>
        <p:spPr>
          <a:xfrm flipV="1">
            <a:off x="2184400" y="22352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3EBABE49-3125-17D3-AFB2-163C9C14AE03}"/>
              </a:ext>
            </a:extLst>
          </p:cNvPr>
          <p:cNvCxnSpPr/>
          <p:nvPr/>
        </p:nvCxnSpPr>
        <p:spPr>
          <a:xfrm>
            <a:off x="2438400" y="22352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BB6AC601-2487-D33D-3A55-4295E233C94C}"/>
              </a:ext>
            </a:extLst>
          </p:cNvPr>
          <p:cNvCxnSpPr/>
          <p:nvPr/>
        </p:nvCxnSpPr>
        <p:spPr>
          <a:xfrm>
            <a:off x="2692400" y="2286000"/>
            <a:ext cx="254000" cy="1270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4FAC5C0-A33D-4B9F-F711-8A01F0DF5145}"/>
              </a:ext>
            </a:extLst>
          </p:cNvPr>
          <p:cNvCxnSpPr/>
          <p:nvPr/>
        </p:nvCxnSpPr>
        <p:spPr>
          <a:xfrm>
            <a:off x="2946400" y="2413000"/>
            <a:ext cx="254000" cy="1905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745EBEE-8FC3-1B2C-5E01-879F2E43C9F9}"/>
              </a:ext>
            </a:extLst>
          </p:cNvPr>
          <p:cNvCxnSpPr/>
          <p:nvPr/>
        </p:nvCxnSpPr>
        <p:spPr>
          <a:xfrm>
            <a:off x="3200400" y="2603500"/>
            <a:ext cx="254000" cy="2159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D7D8EFEC-9098-2F4E-53FF-8E86F52B5B62}"/>
              </a:ext>
            </a:extLst>
          </p:cNvPr>
          <p:cNvCxnSpPr/>
          <p:nvPr/>
        </p:nvCxnSpPr>
        <p:spPr>
          <a:xfrm>
            <a:off x="3454400" y="2819400"/>
            <a:ext cx="254000" cy="2159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D48AF324-3AC4-B813-1B78-07E0CD00368D}"/>
              </a:ext>
            </a:extLst>
          </p:cNvPr>
          <p:cNvCxnSpPr/>
          <p:nvPr/>
        </p:nvCxnSpPr>
        <p:spPr>
          <a:xfrm>
            <a:off x="3708400" y="3035300"/>
            <a:ext cx="254000" cy="2032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7BFD5B0-2397-7945-554E-A3579A0509F9}"/>
              </a:ext>
            </a:extLst>
          </p:cNvPr>
          <p:cNvCxnSpPr/>
          <p:nvPr/>
        </p:nvCxnSpPr>
        <p:spPr>
          <a:xfrm>
            <a:off x="3962400" y="3238500"/>
            <a:ext cx="254000" cy="1905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7F71F253-8B4D-0512-5001-300AEAE831C6}"/>
              </a:ext>
            </a:extLst>
          </p:cNvPr>
          <p:cNvCxnSpPr/>
          <p:nvPr/>
        </p:nvCxnSpPr>
        <p:spPr>
          <a:xfrm>
            <a:off x="4216400" y="3429000"/>
            <a:ext cx="254000" cy="1270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AEFAEA9B-729A-8D56-DE34-C5E336E7F7A8}"/>
              </a:ext>
            </a:extLst>
          </p:cNvPr>
          <p:cNvCxnSpPr/>
          <p:nvPr/>
        </p:nvCxnSpPr>
        <p:spPr>
          <a:xfrm>
            <a:off x="4470400" y="35560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8988B8B4-9406-2706-6373-236A99A1361D}"/>
              </a:ext>
            </a:extLst>
          </p:cNvPr>
          <p:cNvCxnSpPr/>
          <p:nvPr/>
        </p:nvCxnSpPr>
        <p:spPr>
          <a:xfrm flipV="1">
            <a:off x="4724400" y="35560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655E4DB1-D94F-4B82-02DE-5FA91EDE29BE}"/>
              </a:ext>
            </a:extLst>
          </p:cNvPr>
          <p:cNvCxnSpPr/>
          <p:nvPr/>
        </p:nvCxnSpPr>
        <p:spPr>
          <a:xfrm flipV="1">
            <a:off x="4978400" y="3429000"/>
            <a:ext cx="254000" cy="1270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6AD5C46C-A308-113A-49F2-9A0DE4D039F8}"/>
              </a:ext>
            </a:extLst>
          </p:cNvPr>
          <p:cNvCxnSpPr/>
          <p:nvPr/>
        </p:nvCxnSpPr>
        <p:spPr>
          <a:xfrm flipV="1">
            <a:off x="5232400" y="3238500"/>
            <a:ext cx="254000" cy="1905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C9B8F37A-F86A-78A8-46A8-7602A7FF98A6}"/>
              </a:ext>
            </a:extLst>
          </p:cNvPr>
          <p:cNvCxnSpPr/>
          <p:nvPr/>
        </p:nvCxnSpPr>
        <p:spPr>
          <a:xfrm flipV="1">
            <a:off x="5486400" y="3022600"/>
            <a:ext cx="254000" cy="2159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E6DE26C5-0283-C2EE-FB70-0817B1B44C4A}"/>
              </a:ext>
            </a:extLst>
          </p:cNvPr>
          <p:cNvCxnSpPr/>
          <p:nvPr/>
        </p:nvCxnSpPr>
        <p:spPr>
          <a:xfrm flipV="1">
            <a:off x="5740400" y="2794000"/>
            <a:ext cx="254000" cy="2286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DAA9B218-D7A9-09A4-62B1-80D38094484E}"/>
              </a:ext>
            </a:extLst>
          </p:cNvPr>
          <p:cNvCxnSpPr/>
          <p:nvPr/>
        </p:nvCxnSpPr>
        <p:spPr>
          <a:xfrm flipV="1">
            <a:off x="5994400" y="2590800"/>
            <a:ext cx="254000" cy="2032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9A7F08E-7F7F-ACFE-FD2C-203D54A3F66B}"/>
              </a:ext>
            </a:extLst>
          </p:cNvPr>
          <p:cNvCxnSpPr/>
          <p:nvPr/>
        </p:nvCxnSpPr>
        <p:spPr>
          <a:xfrm flipV="1">
            <a:off x="6248400" y="2413000"/>
            <a:ext cx="254000" cy="177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D2509C60-AFA7-0645-8D4C-1CE4A1905DAB}"/>
              </a:ext>
            </a:extLst>
          </p:cNvPr>
          <p:cNvCxnSpPr/>
          <p:nvPr/>
        </p:nvCxnSpPr>
        <p:spPr>
          <a:xfrm flipV="1">
            <a:off x="6502400" y="2286000"/>
            <a:ext cx="254000" cy="1270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5C2FF1F-49E2-CC5B-BC45-71EBFFBB2290}"/>
              </a:ext>
            </a:extLst>
          </p:cNvPr>
          <p:cNvCxnSpPr/>
          <p:nvPr/>
        </p:nvCxnSpPr>
        <p:spPr>
          <a:xfrm flipV="1">
            <a:off x="6756400" y="22352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7D29B162-61F9-F2B1-A37A-8083E5751544}"/>
              </a:ext>
            </a:extLst>
          </p:cNvPr>
          <p:cNvCxnSpPr/>
          <p:nvPr/>
        </p:nvCxnSpPr>
        <p:spPr>
          <a:xfrm>
            <a:off x="7010400" y="2235200"/>
            <a:ext cx="254000" cy="50800"/>
          </a:xfrm>
          <a:prstGeom prst="line">
            <a:avLst/>
          </a:prstGeom>
          <a:ln w="27940">
            <a:solidFill>
              <a:srgbClr val="0070C0"/>
            </a:solidFill>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86FA28BD-3A3D-E5B3-4726-84BC2967E880}"/>
              </a:ext>
            </a:extLst>
          </p:cNvPr>
          <p:cNvSpPr/>
          <p:nvPr/>
        </p:nvSpPr>
        <p:spPr>
          <a:xfrm>
            <a:off x="1892300" y="23749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07A9E1F0-341A-0069-93ED-0AE0497477AB}"/>
              </a:ext>
            </a:extLst>
          </p:cNvPr>
          <p:cNvSpPr/>
          <p:nvPr/>
        </p:nvSpPr>
        <p:spPr>
          <a:xfrm>
            <a:off x="2908300" y="23749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8DAB5C3F-7765-D95A-9162-06D4209A7A81}"/>
              </a:ext>
            </a:extLst>
          </p:cNvPr>
          <p:cNvSpPr/>
          <p:nvPr/>
        </p:nvSpPr>
        <p:spPr>
          <a:xfrm>
            <a:off x="3924300" y="32004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72AC728F-E32C-31D4-1FCE-EB03E3092422}"/>
              </a:ext>
            </a:extLst>
          </p:cNvPr>
          <p:cNvSpPr/>
          <p:nvPr/>
        </p:nvSpPr>
        <p:spPr>
          <a:xfrm>
            <a:off x="4940300" y="35179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FDF574AA-D63B-74BE-A576-1D6F2609D48E}"/>
              </a:ext>
            </a:extLst>
          </p:cNvPr>
          <p:cNvSpPr/>
          <p:nvPr/>
        </p:nvSpPr>
        <p:spPr>
          <a:xfrm>
            <a:off x="5956300" y="27559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9C855152-E7AE-D3B6-6140-3FF3B4F91E71}"/>
              </a:ext>
            </a:extLst>
          </p:cNvPr>
          <p:cNvSpPr/>
          <p:nvPr/>
        </p:nvSpPr>
        <p:spPr>
          <a:xfrm>
            <a:off x="6972300" y="2197100"/>
            <a:ext cx="76200" cy="76200"/>
          </a:xfrm>
          <a:prstGeom prst="ellipse">
            <a:avLst/>
          </a:prstGeom>
          <a:solidFill>
            <a:srgbClr val="F28E2B"/>
          </a:solidFill>
          <a:ln w="0">
            <a:solidFill>
              <a:srgbClr val="F28E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EFDF00F1-50CC-F9F7-C0EC-EEA7E13FC754}"/>
              </a:ext>
            </a:extLst>
          </p:cNvPr>
          <p:cNvSpPr txBox="1"/>
          <p:nvPr/>
        </p:nvSpPr>
        <p:spPr>
          <a:xfrm>
            <a:off x="1397000" y="3924300"/>
            <a:ext cx="5461000" cy="261610"/>
          </a:xfrm>
          <a:prstGeom prst="rect">
            <a:avLst/>
          </a:prstGeom>
          <a:noFill/>
        </p:spPr>
        <p:txBody>
          <a:bodyPr vert="horz" wrap="square" lIns="76200" tIns="38100" rIns="76200" bIns="38100" rtlCol="0">
            <a:spAutoFit/>
          </a:bodyPr>
          <a:lstStyle/>
          <a:p>
            <a:pPr algn="ctr"/>
            <a:r>
              <a:rPr lang="zh-CN" altLang="en-US" sz="1200" b="1">
                <a:solidFill>
                  <a:srgbClr val="F28E2B"/>
                </a:solidFill>
                <a:latin typeface="Microsoft YaHei" panose="020B0503020204020204" pitchFamily="34" charset="-122"/>
                <a:ea typeface="Microsoft YaHei" panose="020B0503020204020204" pitchFamily="34" charset="-122"/>
              </a:rPr>
              <a:t>橙色点：</a:t>
            </a:r>
            <a:r>
              <a:rPr lang="en-US" altLang="zh-CN" sz="1200" b="1">
                <a:solidFill>
                  <a:srgbClr val="F28E2B"/>
                </a:solidFill>
                <a:latin typeface="Microsoft YaHei" panose="020B0503020204020204" pitchFamily="34" charset="-122"/>
                <a:ea typeface="Microsoft YaHei" panose="020B0503020204020204" pitchFamily="34" charset="-122"/>
              </a:rPr>
              <a:t>PWM </a:t>
            </a:r>
            <a:r>
              <a:rPr lang="zh-CN" altLang="en-US" sz="1200" b="1">
                <a:solidFill>
                  <a:srgbClr val="F28E2B"/>
                </a:solidFill>
                <a:latin typeface="Microsoft YaHei" panose="020B0503020204020204" pitchFamily="34" charset="-122"/>
                <a:ea typeface="Microsoft YaHei" panose="020B0503020204020204" pitchFamily="34" charset="-122"/>
              </a:rPr>
              <a:t>中点同步采样，避开开关沿</a:t>
            </a:r>
          </a:p>
        </p:txBody>
      </p:sp>
      <p:sp>
        <p:nvSpPr>
          <p:cNvPr id="48" name="矩形 47">
            <a:extLst>
              <a:ext uri="{FF2B5EF4-FFF2-40B4-BE49-F238E27FC236}">
                <a16:creationId xmlns:a16="http://schemas.microsoft.com/office/drawing/2014/main" id="{EE7326AF-72BB-AF64-5133-3E227EBEE8C7}"/>
              </a:ext>
            </a:extLst>
          </p:cNvPr>
          <p:cNvSpPr/>
          <p:nvPr/>
        </p:nvSpPr>
        <p:spPr>
          <a:xfrm>
            <a:off x="939800" y="4445000"/>
            <a:ext cx="6502400" cy="8890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D51BEADB-EFB6-8D5E-3804-42B17F854EFB}"/>
              </a:ext>
            </a:extLst>
          </p:cNvPr>
          <p:cNvSpPr txBox="1"/>
          <p:nvPr/>
        </p:nvSpPr>
        <p:spPr>
          <a:xfrm>
            <a:off x="1117600" y="4584700"/>
            <a:ext cx="6146800" cy="538609"/>
          </a:xfrm>
          <a:prstGeom prst="rect">
            <a:avLst/>
          </a:prstGeom>
          <a:noFill/>
        </p:spPr>
        <p:txBody>
          <a:bodyPr vert="horz" wrap="square" lIns="76200" tIns="38100" rIns="76200" bIns="38100" rtlCol="0">
            <a:spAutoFit/>
          </a:bodyPr>
          <a:lstStyle/>
          <a:p>
            <a:pPr algn="ctr"/>
            <a:r>
              <a:rPr lang="zh-CN" altLang="en-US" sz="1500" b="1">
                <a:solidFill>
                  <a:srgbClr val="005A9C"/>
                </a:solidFill>
                <a:latin typeface="Microsoft YaHei" panose="020B0503020204020204" pitchFamily="34" charset="-122"/>
                <a:ea typeface="Microsoft YaHei" panose="020B0503020204020204" pitchFamily="34" charset="-122"/>
              </a:rPr>
              <a:t>硬件比例：</a:t>
            </a:r>
            <a:r>
              <a:rPr lang="en-US" altLang="zh-CN" sz="1500" b="1">
                <a:solidFill>
                  <a:srgbClr val="005A9C"/>
                </a:solidFill>
                <a:latin typeface="Microsoft YaHei" panose="020B0503020204020204" pitchFamily="34" charset="-122"/>
                <a:ea typeface="Microsoft YaHei" panose="020B0503020204020204" pitchFamily="34" charset="-122"/>
              </a:rPr>
              <a:t>10 mΩ × 20 V/V = 0.2 V/A</a:t>
            </a:r>
          </a:p>
          <a:p>
            <a:pPr algn="ctr"/>
            <a:r>
              <a:rPr lang="zh-CN" altLang="en-US" sz="1500" b="1">
                <a:solidFill>
                  <a:srgbClr val="005A9C"/>
                </a:solidFill>
                <a:latin typeface="Microsoft YaHei" panose="020B0503020204020204" pitchFamily="34" charset="-122"/>
                <a:ea typeface="Microsoft YaHei" panose="020B0503020204020204" pitchFamily="34" charset="-122"/>
              </a:rPr>
              <a:t>验证顺序：零电流偏置 → 直流标定 → 三相一致性 → 动态带载</a:t>
            </a:r>
          </a:p>
        </p:txBody>
      </p:sp>
      <p:sp>
        <p:nvSpPr>
          <p:cNvPr id="50" name="矩形 49">
            <a:extLst>
              <a:ext uri="{FF2B5EF4-FFF2-40B4-BE49-F238E27FC236}">
                <a16:creationId xmlns:a16="http://schemas.microsoft.com/office/drawing/2014/main" id="{595BC6F3-9023-03E3-77B0-6DA2EFB0F1AB}"/>
              </a:ext>
            </a:extLst>
          </p:cNvPr>
          <p:cNvSpPr/>
          <p:nvPr/>
        </p:nvSpPr>
        <p:spPr>
          <a:xfrm>
            <a:off x="8001000" y="1041400"/>
            <a:ext cx="35052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a:extLst>
              <a:ext uri="{FF2B5EF4-FFF2-40B4-BE49-F238E27FC236}">
                <a16:creationId xmlns:a16="http://schemas.microsoft.com/office/drawing/2014/main" id="{2758A829-4DB7-ABBC-16D0-E1CFB9BA8D5B}"/>
              </a:ext>
            </a:extLst>
          </p:cNvPr>
          <p:cNvSpPr/>
          <p:nvPr/>
        </p:nvSpPr>
        <p:spPr>
          <a:xfrm>
            <a:off x="8001000" y="1041400"/>
            <a:ext cx="35052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9FBFFB86-383A-AEBC-4278-DCD82E4EB0C6}"/>
              </a:ext>
            </a:extLst>
          </p:cNvPr>
          <p:cNvSpPr txBox="1"/>
          <p:nvPr/>
        </p:nvSpPr>
        <p:spPr>
          <a:xfrm>
            <a:off x="8102600" y="1066800"/>
            <a:ext cx="33020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建议记录指标</a:t>
            </a:r>
          </a:p>
        </p:txBody>
      </p:sp>
      <p:sp>
        <p:nvSpPr>
          <p:cNvPr id="53" name="文本框 52">
            <a:extLst>
              <a:ext uri="{FF2B5EF4-FFF2-40B4-BE49-F238E27FC236}">
                <a16:creationId xmlns:a16="http://schemas.microsoft.com/office/drawing/2014/main" id="{585B5B15-FB12-5C45-7331-6029D12678C9}"/>
              </a:ext>
            </a:extLst>
          </p:cNvPr>
          <p:cNvSpPr txBox="1"/>
          <p:nvPr/>
        </p:nvSpPr>
        <p:spPr>
          <a:xfrm>
            <a:off x="8267700" y="1625600"/>
            <a:ext cx="2971800" cy="2446824"/>
          </a:xfrm>
          <a:prstGeom prst="rect">
            <a:avLst/>
          </a:prstGeom>
          <a:noFill/>
        </p:spPr>
        <p:txBody>
          <a:bodyPr vert="horz" wrap="square" lIns="76200" tIns="38100" rIns="76200" bIns="38100" rtlCol="0">
            <a:spAutoFit/>
          </a:bodyPr>
          <a:lstStyle/>
          <a:p>
            <a:r>
              <a:rPr lang="zh-CN" altLang="en-US" sz="1400">
                <a:solidFill>
                  <a:srgbClr val="1A1C1F"/>
                </a:solidFill>
                <a:latin typeface="Microsoft YaHei" panose="020B0503020204020204" pitchFamily="34" charset="-122"/>
                <a:ea typeface="Microsoft YaHei" panose="020B0503020204020204" pitchFamily="34" charset="-122"/>
              </a:rPr>
              <a:t>● 零电流 </a:t>
            </a:r>
            <a:r>
              <a:rPr lang="en-US" altLang="zh-CN" sz="1400">
                <a:solidFill>
                  <a:srgbClr val="1A1C1F"/>
                </a:solidFill>
                <a:latin typeface="Microsoft YaHei" panose="020B0503020204020204" pitchFamily="34" charset="-122"/>
                <a:ea typeface="Microsoft YaHei" panose="020B0503020204020204" pitchFamily="34" charset="-122"/>
              </a:rPr>
              <a:t>ADC </a:t>
            </a:r>
            <a:r>
              <a:rPr lang="zh-CN" altLang="en-US" sz="1400">
                <a:solidFill>
                  <a:srgbClr val="1A1C1F"/>
                </a:solidFill>
                <a:latin typeface="Microsoft YaHei" panose="020B0503020204020204" pitchFamily="34" charset="-122"/>
                <a:ea typeface="Microsoft YaHei" panose="020B0503020204020204" pitchFamily="34" charset="-122"/>
              </a:rPr>
              <a:t>偏置与温漂</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实测增益误差和线性度</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三相通道一致性</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开关尖峰与 </a:t>
            </a:r>
            <a:r>
              <a:rPr lang="en-US" altLang="zh-CN" sz="1400">
                <a:solidFill>
                  <a:srgbClr val="1A1C1F"/>
                </a:solidFill>
                <a:latin typeface="Microsoft YaHei" panose="020B0503020204020204" pitchFamily="34" charset="-122"/>
                <a:ea typeface="Microsoft YaHei" panose="020B0503020204020204" pitchFamily="34" charset="-122"/>
              </a:rPr>
              <a:t>RC </a:t>
            </a:r>
            <a:r>
              <a:rPr lang="zh-CN" altLang="en-US" sz="1400">
                <a:solidFill>
                  <a:srgbClr val="1A1C1F"/>
                </a:solidFill>
                <a:latin typeface="Microsoft YaHei" panose="020B0503020204020204" pitchFamily="34" charset="-122"/>
                <a:ea typeface="Microsoft YaHei" panose="020B0503020204020204" pitchFamily="34" charset="-122"/>
              </a:rPr>
              <a:t>滤波效果</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ADC </a:t>
            </a:r>
            <a:r>
              <a:rPr lang="zh-CN" altLang="en-US" sz="1400">
                <a:solidFill>
                  <a:srgbClr val="1A1C1F"/>
                </a:solidFill>
                <a:latin typeface="Microsoft YaHei" panose="020B0503020204020204" pitchFamily="34" charset="-122"/>
                <a:ea typeface="Microsoft YaHei" panose="020B0503020204020204" pitchFamily="34" charset="-122"/>
              </a:rPr>
              <a:t>采样窗口裕量</a:t>
            </a:r>
          </a:p>
          <a:p>
            <a:endParaRPr lang="zh-CN" altLang="en-US" sz="1400">
              <a:solidFill>
                <a:srgbClr val="1A1C1F"/>
              </a:solidFill>
              <a:latin typeface="Microsoft YaHei" panose="020B0503020204020204" pitchFamily="34" charset="-122"/>
              <a:ea typeface="Microsoft YaHei" panose="020B0503020204020204" pitchFamily="34" charset="-122"/>
            </a:endParaRPr>
          </a:p>
          <a:p>
            <a:r>
              <a:rPr lang="zh-CN" altLang="en-US" sz="1400">
                <a:solidFill>
                  <a:srgbClr val="1A1C1F"/>
                </a:solidFill>
                <a:latin typeface="Microsoft YaHei" panose="020B0503020204020204" pitchFamily="34" charset="-122"/>
                <a:ea typeface="Microsoft YaHei" panose="020B0503020204020204" pitchFamily="34" charset="-122"/>
              </a:rPr>
              <a:t>● </a:t>
            </a:r>
            <a:r>
              <a:rPr lang="en-US" altLang="zh-CN" sz="1400">
                <a:solidFill>
                  <a:srgbClr val="1A1C1F"/>
                </a:solidFill>
                <a:latin typeface="Microsoft YaHei" panose="020B0503020204020204" pitchFamily="34" charset="-122"/>
                <a:ea typeface="Microsoft YaHei" panose="020B0503020204020204" pitchFamily="34" charset="-122"/>
              </a:rPr>
              <a:t>FOC </a:t>
            </a:r>
            <a:r>
              <a:rPr lang="zh-CN" altLang="en-US" sz="1400">
                <a:solidFill>
                  <a:srgbClr val="1A1C1F"/>
                </a:solidFill>
                <a:latin typeface="Microsoft YaHei" panose="020B0503020204020204" pitchFamily="34" charset="-122"/>
                <a:ea typeface="Microsoft YaHei" panose="020B0503020204020204" pitchFamily="34" charset="-122"/>
              </a:rPr>
              <a:t>中 </a:t>
            </a:r>
            <a:r>
              <a:rPr lang="en-US" altLang="zh-CN" sz="1400">
                <a:solidFill>
                  <a:srgbClr val="1A1C1F"/>
                </a:solidFill>
                <a:latin typeface="Microsoft YaHei" panose="020B0503020204020204" pitchFamily="34" charset="-122"/>
                <a:ea typeface="Microsoft YaHei" panose="020B0503020204020204" pitchFamily="34" charset="-122"/>
              </a:rPr>
              <a:t>Ia + Ib + Ic </a:t>
            </a:r>
            <a:r>
              <a:rPr lang="zh-CN" altLang="en-US" sz="1400">
                <a:solidFill>
                  <a:srgbClr val="1A1C1F"/>
                </a:solidFill>
                <a:latin typeface="Microsoft YaHei" panose="020B0503020204020204" pitchFamily="34" charset="-122"/>
                <a:ea typeface="Microsoft YaHei" panose="020B0503020204020204" pitchFamily="34" charset="-122"/>
              </a:rPr>
              <a:t>残差</a:t>
            </a:r>
          </a:p>
        </p:txBody>
      </p:sp>
      <p:sp>
        <p:nvSpPr>
          <p:cNvPr id="54" name="矩形 53">
            <a:extLst>
              <a:ext uri="{FF2B5EF4-FFF2-40B4-BE49-F238E27FC236}">
                <a16:creationId xmlns:a16="http://schemas.microsoft.com/office/drawing/2014/main" id="{810B678D-6FBE-24B1-E39A-33FEC0B5BC6A}"/>
              </a:ext>
            </a:extLst>
          </p:cNvPr>
          <p:cNvSpPr/>
          <p:nvPr/>
        </p:nvSpPr>
        <p:spPr>
          <a:xfrm>
            <a:off x="8255000" y="4927600"/>
            <a:ext cx="2997200" cy="5334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0A9FBB58-5992-A862-159E-8228A11DA9D9}"/>
              </a:ext>
            </a:extLst>
          </p:cNvPr>
          <p:cNvSpPr txBox="1"/>
          <p:nvPr/>
        </p:nvSpPr>
        <p:spPr>
          <a:xfrm>
            <a:off x="8356600" y="5029200"/>
            <a:ext cx="2794000" cy="276999"/>
          </a:xfrm>
          <a:prstGeom prst="rect">
            <a:avLst/>
          </a:prstGeom>
          <a:noFill/>
        </p:spPr>
        <p:txBody>
          <a:bodyPr vert="horz" wrap="square" lIns="76200" tIns="38100" rIns="76200" bIns="38100" rtlCol="0">
            <a:spAutoFit/>
          </a:bodyPr>
          <a:lstStyle/>
          <a:p>
            <a:pPr algn="ctr"/>
            <a:r>
              <a:rPr lang="zh-CN" altLang="en-US" sz="1300" b="1">
                <a:solidFill>
                  <a:srgbClr val="CD0000"/>
                </a:solidFill>
                <a:latin typeface="Microsoft YaHei" panose="020B0503020204020204" pitchFamily="34" charset="-122"/>
                <a:ea typeface="Microsoft YaHei" panose="020B0503020204020204" pitchFamily="34" charset="-122"/>
              </a:rPr>
              <a:t>本页示意，待补三相实测波形</a:t>
            </a:r>
          </a:p>
        </p:txBody>
      </p:sp>
    </p:spTree>
    <p:extLst>
      <p:ext uri="{BB962C8B-B14F-4D97-AF65-F5344CB8AC3E}">
        <p14:creationId xmlns:p14="http://schemas.microsoft.com/office/powerpoint/2010/main" val="4084607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D8CA83B-3658-A613-5AE9-685D073B0A83}"/>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DC0EB6C-F2B6-B217-6AD0-EB17873140DE}"/>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启停与速度控制</a:t>
            </a:r>
          </a:p>
        </p:txBody>
      </p:sp>
      <p:sp>
        <p:nvSpPr>
          <p:cNvPr id="4" name="文本框 3">
            <a:extLst>
              <a:ext uri="{FF2B5EF4-FFF2-40B4-BE49-F238E27FC236}">
                <a16:creationId xmlns:a16="http://schemas.microsoft.com/office/drawing/2014/main" id="{5D3F921D-D330-84BF-B5EB-ED17FA97BB49}"/>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14</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1F551CE3-A11B-8B89-4CC8-21CDC316F340}"/>
              </a:ext>
            </a:extLst>
          </p:cNvPr>
          <p:cNvSpPr/>
          <p:nvPr/>
        </p:nvSpPr>
        <p:spPr>
          <a:xfrm>
            <a:off x="685800" y="1041400"/>
            <a:ext cx="51816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DA8B549F-CD8F-9AC4-F4B4-B17289D0101F}"/>
              </a:ext>
            </a:extLst>
          </p:cNvPr>
          <p:cNvSpPr/>
          <p:nvPr/>
        </p:nvSpPr>
        <p:spPr>
          <a:xfrm>
            <a:off x="685800" y="1041400"/>
            <a:ext cx="51816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CC30DD00-4627-1F9F-39D3-5F83E03F9171}"/>
              </a:ext>
            </a:extLst>
          </p:cNvPr>
          <p:cNvSpPr txBox="1"/>
          <p:nvPr/>
        </p:nvSpPr>
        <p:spPr>
          <a:xfrm>
            <a:off x="787400" y="1066800"/>
            <a:ext cx="49784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启停性能实测</a:t>
            </a:r>
          </a:p>
        </p:txBody>
      </p:sp>
      <p:pic>
        <p:nvPicPr>
          <p:cNvPr id="9" name="图片 8">
            <a:extLst>
              <a:ext uri="{FF2B5EF4-FFF2-40B4-BE49-F238E27FC236}">
                <a16:creationId xmlns:a16="http://schemas.microsoft.com/office/drawing/2014/main" id="{6E336C06-3C86-ACB8-E317-E9A9FFB88A7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63600" y="1779588"/>
            <a:ext cx="4826000" cy="2714625"/>
          </a:xfrm>
          <a:prstGeom prst="rect">
            <a:avLst/>
          </a:prstGeom>
        </p:spPr>
      </p:pic>
      <p:sp>
        <p:nvSpPr>
          <p:cNvPr id="10" name="文本框 9">
            <a:extLst>
              <a:ext uri="{FF2B5EF4-FFF2-40B4-BE49-F238E27FC236}">
                <a16:creationId xmlns:a16="http://schemas.microsoft.com/office/drawing/2014/main" id="{74222552-5BC1-D2CE-20D4-D3A3E3088059}"/>
              </a:ext>
            </a:extLst>
          </p:cNvPr>
          <p:cNvSpPr txBox="1"/>
          <p:nvPr/>
        </p:nvSpPr>
        <p:spPr>
          <a:xfrm>
            <a:off x="965200" y="4851400"/>
            <a:ext cx="4597400" cy="307777"/>
          </a:xfrm>
          <a:prstGeom prst="rect">
            <a:avLst/>
          </a:prstGeom>
          <a:noFill/>
        </p:spPr>
        <p:txBody>
          <a:bodyPr vert="horz" wrap="square" lIns="76200" tIns="38100" rIns="76200" bIns="38100" rtlCol="0">
            <a:spAutoFit/>
          </a:bodyPr>
          <a:lstStyle/>
          <a:p>
            <a:pPr algn="ctr"/>
            <a:r>
              <a:rPr lang="zh-CN" altLang="en-US" sz="1500" b="1">
                <a:solidFill>
                  <a:srgbClr val="005A9C"/>
                </a:solidFill>
                <a:latin typeface="Microsoft YaHei" panose="020B0503020204020204" pitchFamily="34" charset="-122"/>
                <a:ea typeface="Microsoft YaHei" panose="020B0503020204020204" pitchFamily="34" charset="-122"/>
              </a:rPr>
              <a:t>空载启停过程运行平稳，无明显振动与异常复位</a:t>
            </a:r>
          </a:p>
        </p:txBody>
      </p:sp>
      <p:sp>
        <p:nvSpPr>
          <p:cNvPr id="11" name="矩形 10">
            <a:extLst>
              <a:ext uri="{FF2B5EF4-FFF2-40B4-BE49-F238E27FC236}">
                <a16:creationId xmlns:a16="http://schemas.microsoft.com/office/drawing/2014/main" id="{03CFA538-0911-DF37-0C95-B7D525D98A14}"/>
              </a:ext>
            </a:extLst>
          </p:cNvPr>
          <p:cNvSpPr/>
          <p:nvPr/>
        </p:nvSpPr>
        <p:spPr>
          <a:xfrm>
            <a:off x="6172200" y="1041400"/>
            <a:ext cx="5334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3EED867A-1101-E79C-E757-2620843B1522}"/>
              </a:ext>
            </a:extLst>
          </p:cNvPr>
          <p:cNvSpPr/>
          <p:nvPr/>
        </p:nvSpPr>
        <p:spPr>
          <a:xfrm>
            <a:off x="6172200" y="1041400"/>
            <a:ext cx="5334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64163CF4-16AF-D5D8-292A-D2A3BA73C92A}"/>
              </a:ext>
            </a:extLst>
          </p:cNvPr>
          <p:cNvSpPr txBox="1"/>
          <p:nvPr/>
        </p:nvSpPr>
        <p:spPr>
          <a:xfrm>
            <a:off x="6273800" y="1066800"/>
            <a:ext cx="5130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速度闭环曲线</a:t>
            </a:r>
          </a:p>
        </p:txBody>
      </p:sp>
      <p:pic>
        <p:nvPicPr>
          <p:cNvPr id="15" name="图片 14">
            <a:extLst>
              <a:ext uri="{FF2B5EF4-FFF2-40B4-BE49-F238E27FC236}">
                <a16:creationId xmlns:a16="http://schemas.microsoft.com/office/drawing/2014/main" id="{B60D5BF8-6024-891F-774C-2D0794991C8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434772" y="1549400"/>
            <a:ext cx="4808856" cy="3124200"/>
          </a:xfrm>
          <a:prstGeom prst="rect">
            <a:avLst/>
          </a:prstGeom>
        </p:spPr>
      </p:pic>
      <p:sp>
        <p:nvSpPr>
          <p:cNvPr id="16" name="文本框 15">
            <a:extLst>
              <a:ext uri="{FF2B5EF4-FFF2-40B4-BE49-F238E27FC236}">
                <a16:creationId xmlns:a16="http://schemas.microsoft.com/office/drawing/2014/main" id="{1A4BC165-203A-0B75-B5A3-FC3225453245}"/>
              </a:ext>
            </a:extLst>
          </p:cNvPr>
          <p:cNvSpPr txBox="1"/>
          <p:nvPr/>
        </p:nvSpPr>
        <p:spPr>
          <a:xfrm>
            <a:off x="6426200" y="4826000"/>
            <a:ext cx="4826000" cy="507831"/>
          </a:xfrm>
          <a:prstGeom prst="rect">
            <a:avLst/>
          </a:prstGeom>
          <a:noFill/>
        </p:spPr>
        <p:txBody>
          <a:bodyPr vert="horz" wrap="square" lIns="76200" tIns="38100" rIns="76200" bIns="38100" rtlCol="0">
            <a:spAutoFit/>
          </a:bodyPr>
          <a:lstStyle/>
          <a:p>
            <a:pPr algn="ctr"/>
            <a:r>
              <a:rPr lang="zh-CN" altLang="en-US" sz="1400" b="1">
                <a:solidFill>
                  <a:srgbClr val="1A1C1F"/>
                </a:solidFill>
                <a:latin typeface="Microsoft YaHei" panose="020B0503020204020204" pitchFamily="34" charset="-122"/>
                <a:ea typeface="Microsoft YaHei" panose="020B0503020204020204" pitchFamily="34" charset="-122"/>
              </a:rPr>
              <a:t>测试记录：</a:t>
            </a:r>
            <a:r>
              <a:rPr lang="en-US" altLang="zh-CN" sz="1400" b="1">
                <a:solidFill>
                  <a:srgbClr val="1A1C1F"/>
                </a:solidFill>
                <a:latin typeface="Microsoft YaHei" panose="020B0503020204020204" pitchFamily="34" charset="-122"/>
                <a:ea typeface="Microsoft YaHei" panose="020B0503020204020204" pitchFamily="34" charset="-122"/>
              </a:rPr>
              <a:t>100 rpm </a:t>
            </a:r>
            <a:r>
              <a:rPr lang="zh-CN" altLang="en-US" sz="1400" b="1">
                <a:solidFill>
                  <a:srgbClr val="1A1C1F"/>
                </a:solidFill>
                <a:latin typeface="Microsoft YaHei" panose="020B0503020204020204" pitchFamily="34" charset="-122"/>
                <a:ea typeface="Microsoft YaHei" panose="020B0503020204020204" pitchFamily="34" charset="-122"/>
              </a:rPr>
              <a:t>档扰动约 </a:t>
            </a:r>
            <a:r>
              <a:rPr lang="en-US" altLang="zh-CN" sz="1400" b="1">
                <a:solidFill>
                  <a:srgbClr val="1A1C1F"/>
                </a:solidFill>
                <a:latin typeface="Microsoft YaHei" panose="020B0503020204020204" pitchFamily="34" charset="-122"/>
                <a:ea typeface="Microsoft YaHei" panose="020B0503020204020204" pitchFamily="34" charset="-122"/>
              </a:rPr>
              <a:t>3 rpm</a:t>
            </a:r>
            <a:r>
              <a:rPr lang="zh-CN" altLang="en-US" sz="1400" b="1">
                <a:solidFill>
                  <a:srgbClr val="1A1C1F"/>
                </a:solidFill>
                <a:latin typeface="Microsoft YaHei" panose="020B0503020204020204" pitchFamily="34" charset="-122"/>
                <a:ea typeface="Microsoft YaHei" panose="020B0503020204020204" pitchFamily="34" charset="-122"/>
              </a:rPr>
              <a:t>；</a:t>
            </a:r>
            <a:r>
              <a:rPr lang="en-US" altLang="zh-CN" sz="1400" b="1">
                <a:solidFill>
                  <a:srgbClr val="1A1C1F"/>
                </a:solidFill>
                <a:latin typeface="Microsoft YaHei" panose="020B0503020204020204" pitchFamily="34" charset="-122"/>
                <a:ea typeface="Microsoft YaHei" panose="020B0503020204020204" pitchFamily="34" charset="-122"/>
              </a:rPr>
              <a:t>200 rpm </a:t>
            </a:r>
            <a:r>
              <a:rPr lang="zh-CN" altLang="en-US" sz="1400" b="1">
                <a:solidFill>
                  <a:srgbClr val="1A1C1F"/>
                </a:solidFill>
                <a:latin typeface="Microsoft YaHei" panose="020B0503020204020204" pitchFamily="34" charset="-122"/>
                <a:ea typeface="Microsoft YaHei" panose="020B0503020204020204" pitchFamily="34" charset="-122"/>
              </a:rPr>
              <a:t>档扰动约 </a:t>
            </a:r>
            <a:r>
              <a:rPr lang="en-US" altLang="zh-CN" sz="1400" b="1">
                <a:solidFill>
                  <a:srgbClr val="1A1C1F"/>
                </a:solidFill>
                <a:latin typeface="Microsoft YaHei" panose="020B0503020204020204" pitchFamily="34" charset="-122"/>
                <a:ea typeface="Microsoft YaHei" panose="020B0503020204020204" pitchFamily="34" charset="-122"/>
              </a:rPr>
              <a:t>8 rpm</a:t>
            </a:r>
            <a:endParaRPr lang="zh-CN" altLang="en-US" sz="1400" b="1">
              <a:solidFill>
                <a:srgbClr val="1A1C1F"/>
              </a:solidFill>
              <a:latin typeface="Microsoft YaHei" panose="020B0503020204020204" pitchFamily="34" charset="-122"/>
              <a:ea typeface="Microsoft YaHei" panose="020B0503020204020204" pitchFamily="34" charset="-122"/>
            </a:endParaRPr>
          </a:p>
        </p:txBody>
      </p:sp>
      <p:sp>
        <p:nvSpPr>
          <p:cNvPr id="17" name="矩形 16">
            <a:extLst>
              <a:ext uri="{FF2B5EF4-FFF2-40B4-BE49-F238E27FC236}">
                <a16:creationId xmlns:a16="http://schemas.microsoft.com/office/drawing/2014/main" id="{BA55709B-CF86-D1BA-D009-C0DF2285954C}"/>
              </a:ext>
            </a:extLst>
          </p:cNvPr>
          <p:cNvSpPr/>
          <p:nvPr/>
        </p:nvSpPr>
        <p:spPr>
          <a:xfrm>
            <a:off x="2057400" y="5969000"/>
            <a:ext cx="8077200" cy="4318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4CCEDEAA-67F7-6A3F-ECF5-B2F43D2BB25F}"/>
              </a:ext>
            </a:extLst>
          </p:cNvPr>
          <p:cNvSpPr txBox="1"/>
          <p:nvPr/>
        </p:nvSpPr>
        <p:spPr>
          <a:xfrm>
            <a:off x="2235200" y="6045200"/>
            <a:ext cx="7721600" cy="307777"/>
          </a:xfrm>
          <a:prstGeom prst="rect">
            <a:avLst/>
          </a:prstGeom>
          <a:noFill/>
        </p:spPr>
        <p:txBody>
          <a:bodyPr vert="horz" wrap="square" lIns="76200" tIns="38100" rIns="76200" bIns="38100" rtlCol="0">
            <a:spAutoFit/>
          </a:bodyPr>
          <a:lstStyle/>
          <a:p>
            <a:pPr algn="ctr"/>
            <a:r>
              <a:rPr lang="zh-CN" altLang="en-US" sz="1500" b="1">
                <a:solidFill>
                  <a:srgbClr val="005A9C"/>
                </a:solidFill>
                <a:latin typeface="Microsoft YaHei" panose="020B0503020204020204" pitchFamily="34" charset="-122"/>
                <a:ea typeface="Microsoft YaHei" panose="020B0503020204020204" pitchFamily="34" charset="-122"/>
              </a:rPr>
              <a:t>闭环验证覆盖启动、阶跃加速和稳态速度保持</a:t>
            </a:r>
          </a:p>
        </p:txBody>
      </p:sp>
    </p:spTree>
    <p:extLst>
      <p:ext uri="{BB962C8B-B14F-4D97-AF65-F5344CB8AC3E}">
        <p14:creationId xmlns:p14="http://schemas.microsoft.com/office/powerpoint/2010/main" val="1233046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DAF4A59-A7B5-AC7A-026E-584BD063946C}"/>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A55CDE8-36BA-D111-37CF-295C7F72F3F5}"/>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a:t>
            </a:r>
            <a:r>
              <a:rPr lang="zh-CN" altLang="en-US" sz="2900">
                <a:solidFill>
                  <a:srgbClr val="FFFFFF"/>
                </a:solidFill>
                <a:latin typeface="Microsoft YaHei" panose="020B0503020204020204" pitchFamily="34" charset="-122"/>
                <a:ea typeface="Microsoft YaHei" panose="020B0503020204020204" pitchFamily="34" charset="-122"/>
              </a:rPr>
              <a:t>位置控制精度</a:t>
            </a:r>
          </a:p>
        </p:txBody>
      </p:sp>
      <p:sp>
        <p:nvSpPr>
          <p:cNvPr id="4" name="文本框 3">
            <a:extLst>
              <a:ext uri="{FF2B5EF4-FFF2-40B4-BE49-F238E27FC236}">
                <a16:creationId xmlns:a16="http://schemas.microsoft.com/office/drawing/2014/main" id="{10D71192-C3CE-96E2-87D2-FE523C93C282}"/>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15</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1EFDBF88-4359-0C2F-3CF5-54A92E2503E3}"/>
              </a:ext>
            </a:extLst>
          </p:cNvPr>
          <p:cNvSpPr/>
          <p:nvPr/>
        </p:nvSpPr>
        <p:spPr>
          <a:xfrm>
            <a:off x="685800" y="1041400"/>
            <a:ext cx="7874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A8912103-8E9B-74B9-49F4-E127FDE1DCB4}"/>
              </a:ext>
            </a:extLst>
          </p:cNvPr>
          <p:cNvSpPr/>
          <p:nvPr/>
        </p:nvSpPr>
        <p:spPr>
          <a:xfrm>
            <a:off x="685800" y="1041400"/>
            <a:ext cx="7874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A07BB12D-09D5-FBFF-D690-34413687535A}"/>
              </a:ext>
            </a:extLst>
          </p:cNvPr>
          <p:cNvSpPr txBox="1"/>
          <p:nvPr/>
        </p:nvSpPr>
        <p:spPr>
          <a:xfrm>
            <a:off x="787400" y="1066800"/>
            <a:ext cx="7670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位置阶跃实测曲线</a:t>
            </a:r>
          </a:p>
        </p:txBody>
      </p:sp>
      <p:pic>
        <p:nvPicPr>
          <p:cNvPr id="9" name="图片 8">
            <a:extLst>
              <a:ext uri="{FF2B5EF4-FFF2-40B4-BE49-F238E27FC236}">
                <a16:creationId xmlns:a16="http://schemas.microsoft.com/office/drawing/2014/main" id="{B3373629-A1AD-D224-E5AC-C6457FA4CAB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89337" y="1536700"/>
            <a:ext cx="6866925" cy="3810000"/>
          </a:xfrm>
          <a:prstGeom prst="rect">
            <a:avLst/>
          </a:prstGeom>
        </p:spPr>
      </p:pic>
      <p:sp>
        <p:nvSpPr>
          <p:cNvPr id="10" name="矩形 9">
            <a:extLst>
              <a:ext uri="{FF2B5EF4-FFF2-40B4-BE49-F238E27FC236}">
                <a16:creationId xmlns:a16="http://schemas.microsoft.com/office/drawing/2014/main" id="{0EBFC966-B071-E23B-48A3-89E15B60BAB6}"/>
              </a:ext>
            </a:extLst>
          </p:cNvPr>
          <p:cNvSpPr/>
          <p:nvPr/>
        </p:nvSpPr>
        <p:spPr>
          <a:xfrm>
            <a:off x="8864600" y="1041400"/>
            <a:ext cx="26416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C8A0F3BA-33AE-00FC-3A44-A6DB8039BED5}"/>
              </a:ext>
            </a:extLst>
          </p:cNvPr>
          <p:cNvSpPr/>
          <p:nvPr/>
        </p:nvSpPr>
        <p:spPr>
          <a:xfrm>
            <a:off x="8864600" y="1041400"/>
            <a:ext cx="26416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EEF13F8E-0BFB-84E7-03AA-03CB497DDB98}"/>
              </a:ext>
            </a:extLst>
          </p:cNvPr>
          <p:cNvSpPr txBox="1"/>
          <p:nvPr/>
        </p:nvSpPr>
        <p:spPr>
          <a:xfrm>
            <a:off x="8966200" y="1066800"/>
            <a:ext cx="24384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结果解读</a:t>
            </a:r>
          </a:p>
        </p:txBody>
      </p:sp>
      <p:sp>
        <p:nvSpPr>
          <p:cNvPr id="13" name="文本框 12">
            <a:extLst>
              <a:ext uri="{FF2B5EF4-FFF2-40B4-BE49-F238E27FC236}">
                <a16:creationId xmlns:a16="http://schemas.microsoft.com/office/drawing/2014/main" id="{7CE803B0-1DDC-44A8-B9D4-B3D428C5D8B2}"/>
              </a:ext>
            </a:extLst>
          </p:cNvPr>
          <p:cNvSpPr txBox="1"/>
          <p:nvPr/>
        </p:nvSpPr>
        <p:spPr>
          <a:xfrm>
            <a:off x="9080500" y="1676400"/>
            <a:ext cx="2209800" cy="477054"/>
          </a:xfrm>
          <a:prstGeom prst="rect">
            <a:avLst/>
          </a:prstGeom>
          <a:noFill/>
        </p:spPr>
        <p:txBody>
          <a:bodyPr vert="horz" wrap="square" lIns="76200" tIns="38100" rIns="76200" bIns="38100" rtlCol="0">
            <a:spAutoFit/>
          </a:bodyPr>
          <a:lstStyle/>
          <a:p>
            <a:pPr algn="ctr"/>
            <a:r>
              <a:rPr lang="en-US" altLang="zh-CN" sz="2600" b="1">
                <a:solidFill>
                  <a:srgbClr val="005A9C"/>
                </a:solidFill>
                <a:latin typeface="Microsoft YaHei" panose="020B0503020204020204" pitchFamily="34" charset="-122"/>
                <a:ea typeface="Microsoft YaHei" panose="020B0503020204020204" pitchFamily="34" charset="-122"/>
              </a:rPr>
              <a:t>90° / 180°</a:t>
            </a:r>
            <a:endParaRPr lang="zh-CN" altLang="en-US" sz="2600" b="1">
              <a:solidFill>
                <a:srgbClr val="005A9C"/>
              </a:solidFill>
              <a:latin typeface="Microsoft YaHei" panose="020B0503020204020204" pitchFamily="34" charset="-122"/>
              <a:ea typeface="Microsoft YaHei" panose="020B0503020204020204" pitchFamily="34" charset="-122"/>
            </a:endParaRPr>
          </a:p>
        </p:txBody>
      </p:sp>
      <p:sp>
        <p:nvSpPr>
          <p:cNvPr id="14" name="文本框 13">
            <a:extLst>
              <a:ext uri="{FF2B5EF4-FFF2-40B4-BE49-F238E27FC236}">
                <a16:creationId xmlns:a16="http://schemas.microsoft.com/office/drawing/2014/main" id="{A7245AA7-A61D-DD83-FE62-570FA25C2310}"/>
              </a:ext>
            </a:extLst>
          </p:cNvPr>
          <p:cNvSpPr txBox="1"/>
          <p:nvPr/>
        </p:nvSpPr>
        <p:spPr>
          <a:xfrm>
            <a:off x="9131300" y="2197100"/>
            <a:ext cx="2108200" cy="307777"/>
          </a:xfrm>
          <a:prstGeom prst="rect">
            <a:avLst/>
          </a:prstGeom>
          <a:noFill/>
        </p:spPr>
        <p:txBody>
          <a:bodyPr vert="horz" wrap="square" lIns="76200" tIns="38100" rIns="76200" bIns="38100" rtlCol="0">
            <a:spAutoFit/>
          </a:bodyPr>
          <a:lstStyle/>
          <a:p>
            <a:pPr algn="ctr"/>
            <a:r>
              <a:rPr lang="zh-CN" altLang="en-US" sz="1500" b="1">
                <a:solidFill>
                  <a:srgbClr val="5C6877"/>
                </a:solidFill>
                <a:latin typeface="Microsoft YaHei" panose="020B0503020204020204" pitchFamily="34" charset="-122"/>
                <a:ea typeface="Microsoft YaHei" panose="020B0503020204020204" pitchFamily="34" charset="-122"/>
              </a:rPr>
              <a:t>目标角度阶跃</a:t>
            </a:r>
          </a:p>
        </p:txBody>
      </p:sp>
      <p:sp>
        <p:nvSpPr>
          <p:cNvPr id="15" name="文本框 14">
            <a:extLst>
              <a:ext uri="{FF2B5EF4-FFF2-40B4-BE49-F238E27FC236}">
                <a16:creationId xmlns:a16="http://schemas.microsoft.com/office/drawing/2014/main" id="{0A8392AD-A454-BDC3-683F-9A107CBEDCEE}"/>
              </a:ext>
            </a:extLst>
          </p:cNvPr>
          <p:cNvSpPr txBox="1"/>
          <p:nvPr/>
        </p:nvSpPr>
        <p:spPr>
          <a:xfrm>
            <a:off x="9118600" y="2794000"/>
            <a:ext cx="2133600" cy="1877437"/>
          </a:xfrm>
          <a:prstGeom prst="rect">
            <a:avLst/>
          </a:prstGeom>
          <a:noFill/>
        </p:spPr>
        <p:txBody>
          <a:bodyPr vert="horz" wrap="square" lIns="76200" tIns="38100" rIns="76200" bIns="38100" rtlCol="0">
            <a:spAutoFit/>
          </a:bodyPr>
          <a:lstStyle/>
          <a:p>
            <a:r>
              <a:rPr lang="zh-CN" altLang="en-US" sz="1300">
                <a:solidFill>
                  <a:srgbClr val="1A1C1F"/>
                </a:solidFill>
                <a:latin typeface="Microsoft YaHei" panose="020B0503020204020204" pitchFamily="34" charset="-122"/>
                <a:ea typeface="Microsoft YaHei" panose="020B0503020204020204" pitchFamily="34" charset="-122"/>
              </a:rPr>
              <a:t>● 上升沿快速，稳态平台清晰</a:t>
            </a:r>
          </a:p>
          <a:p>
            <a:endParaRPr lang="zh-CN" altLang="en-US" sz="1300">
              <a:solidFill>
                <a:srgbClr val="1A1C1F"/>
              </a:solidFill>
              <a:latin typeface="Microsoft YaHei" panose="020B0503020204020204" pitchFamily="34" charset="-122"/>
              <a:ea typeface="Microsoft YaHei" panose="020B0503020204020204" pitchFamily="34" charset="-122"/>
            </a:endParaRPr>
          </a:p>
          <a:p>
            <a:r>
              <a:rPr lang="zh-CN" altLang="en-US" sz="1300">
                <a:solidFill>
                  <a:srgbClr val="1A1C1F"/>
                </a:solidFill>
                <a:latin typeface="Microsoft YaHei" panose="020B0503020204020204" pitchFamily="34" charset="-122"/>
                <a:ea typeface="Microsoft YaHei" panose="020B0503020204020204" pitchFamily="34" charset="-122"/>
              </a:rPr>
              <a:t>● 角度反馈来自 </a:t>
            </a:r>
            <a:r>
              <a:rPr lang="en-US" altLang="zh-CN" sz="1300">
                <a:solidFill>
                  <a:srgbClr val="1A1C1F"/>
                </a:solidFill>
                <a:latin typeface="Microsoft YaHei" panose="020B0503020204020204" pitchFamily="34" charset="-122"/>
                <a:ea typeface="Microsoft YaHei" panose="020B0503020204020204" pitchFamily="34" charset="-122"/>
              </a:rPr>
              <a:t>MA600A</a:t>
            </a:r>
          </a:p>
          <a:p>
            <a:endParaRPr lang="en-US" altLang="zh-CN" sz="1300">
              <a:solidFill>
                <a:srgbClr val="1A1C1F"/>
              </a:solidFill>
              <a:latin typeface="Microsoft YaHei" panose="020B0503020204020204" pitchFamily="34" charset="-122"/>
              <a:ea typeface="Microsoft YaHei" panose="020B0503020204020204" pitchFamily="34" charset="-122"/>
            </a:endParaRPr>
          </a:p>
          <a:p>
            <a:r>
              <a:rPr lang="en-US" altLang="zh-CN" sz="1300">
                <a:solidFill>
                  <a:srgbClr val="1A1C1F"/>
                </a:solidFill>
                <a:latin typeface="Microsoft YaHei" panose="020B0503020204020204" pitchFamily="34" charset="-122"/>
                <a:ea typeface="Microsoft YaHei" panose="020B0503020204020204" pitchFamily="34" charset="-122"/>
              </a:rPr>
              <a:t>● </a:t>
            </a:r>
            <a:r>
              <a:rPr lang="zh-CN" altLang="en-US" sz="1300">
                <a:solidFill>
                  <a:srgbClr val="1A1C1F"/>
                </a:solidFill>
                <a:latin typeface="Microsoft YaHei" panose="020B0503020204020204" pitchFamily="34" charset="-122"/>
                <a:ea typeface="Microsoft YaHei" panose="020B0503020204020204" pitchFamily="34" charset="-122"/>
              </a:rPr>
              <a:t>稳态误差接近零</a:t>
            </a:r>
          </a:p>
          <a:p>
            <a:endParaRPr lang="zh-CN" altLang="en-US" sz="1300">
              <a:solidFill>
                <a:srgbClr val="1A1C1F"/>
              </a:solidFill>
              <a:latin typeface="Microsoft YaHei" panose="020B0503020204020204" pitchFamily="34" charset="-122"/>
              <a:ea typeface="Microsoft YaHei" panose="020B0503020204020204" pitchFamily="34" charset="-122"/>
            </a:endParaRPr>
          </a:p>
          <a:p>
            <a:r>
              <a:rPr lang="zh-CN" altLang="en-US" sz="1300">
                <a:solidFill>
                  <a:srgbClr val="1A1C1F"/>
                </a:solidFill>
                <a:latin typeface="Microsoft YaHei" panose="020B0503020204020204" pitchFamily="34" charset="-122"/>
                <a:ea typeface="Microsoft YaHei" panose="020B0503020204020204" pitchFamily="34" charset="-122"/>
              </a:rPr>
              <a:t>● 可补超调量、整定时间与负载扰动</a:t>
            </a:r>
          </a:p>
        </p:txBody>
      </p:sp>
      <p:sp>
        <p:nvSpPr>
          <p:cNvPr id="16" name="矩形 15">
            <a:extLst>
              <a:ext uri="{FF2B5EF4-FFF2-40B4-BE49-F238E27FC236}">
                <a16:creationId xmlns:a16="http://schemas.microsoft.com/office/drawing/2014/main" id="{DA895918-B96A-9347-CFF2-B0E164CAC6D7}"/>
              </a:ext>
            </a:extLst>
          </p:cNvPr>
          <p:cNvSpPr/>
          <p:nvPr/>
        </p:nvSpPr>
        <p:spPr>
          <a:xfrm>
            <a:off x="9093200" y="5143500"/>
            <a:ext cx="2184400" cy="4318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582CC81C-FC40-745D-20FB-968147AFCD3C}"/>
              </a:ext>
            </a:extLst>
          </p:cNvPr>
          <p:cNvSpPr txBox="1"/>
          <p:nvPr/>
        </p:nvSpPr>
        <p:spPr>
          <a:xfrm>
            <a:off x="9194800" y="5219700"/>
            <a:ext cx="1981200" cy="276999"/>
          </a:xfrm>
          <a:prstGeom prst="rect">
            <a:avLst/>
          </a:prstGeom>
          <a:noFill/>
        </p:spPr>
        <p:txBody>
          <a:bodyPr vert="horz" wrap="square" lIns="76200" tIns="38100" rIns="76200" bIns="38100" rtlCol="0">
            <a:spAutoFit/>
          </a:bodyPr>
          <a:lstStyle/>
          <a:p>
            <a:pPr algn="ctr"/>
            <a:r>
              <a:rPr lang="zh-CN" altLang="en-US" sz="1300" b="1">
                <a:solidFill>
                  <a:srgbClr val="005A9C"/>
                </a:solidFill>
                <a:latin typeface="Microsoft YaHei" panose="020B0503020204020204" pitchFamily="34" charset="-122"/>
                <a:ea typeface="Microsoft YaHei" panose="020B0503020204020204" pitchFamily="34" charset="-122"/>
              </a:rPr>
              <a:t>位置环功能验证通过</a:t>
            </a:r>
          </a:p>
        </p:txBody>
      </p:sp>
    </p:spTree>
    <p:extLst>
      <p:ext uri="{BB962C8B-B14F-4D97-AF65-F5344CB8AC3E}">
        <p14:creationId xmlns:p14="http://schemas.microsoft.com/office/powerpoint/2010/main" val="4124865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FFFD199-7A46-AEFC-EC1C-59A0D5E07272}"/>
              </a:ext>
            </a:extLst>
          </p:cNvPr>
          <p:cNvSpPr/>
          <p:nvPr/>
        </p:nvSpPr>
        <p:spPr>
          <a:xfrm>
            <a:off x="457200" y="266700"/>
            <a:ext cx="11277600" cy="5969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AD6505FA-76D0-57EC-FE0A-A10312F95E39}"/>
              </a:ext>
            </a:extLst>
          </p:cNvPr>
          <p:cNvSpPr txBox="1"/>
          <p:nvPr/>
        </p:nvSpPr>
        <p:spPr>
          <a:xfrm>
            <a:off x="622300" y="342900"/>
            <a:ext cx="10541000" cy="523220"/>
          </a:xfrm>
          <a:prstGeom prst="rect">
            <a:avLst/>
          </a:prstGeom>
          <a:noFill/>
        </p:spPr>
        <p:txBody>
          <a:bodyPr vert="horz" wrap="square" lIns="76200" tIns="38100" rIns="76200" bIns="38100" rtlCol="0">
            <a:spAutoFit/>
          </a:bodyPr>
          <a:lstStyle/>
          <a:p>
            <a:r>
              <a:rPr lang="zh-CN" altLang="en-US" sz="2900">
                <a:solidFill>
                  <a:srgbClr val="FFFFFF"/>
                </a:solidFill>
                <a:latin typeface="Microsoft YaHei" panose="020B0503020204020204" pitchFamily="34" charset="-122"/>
                <a:ea typeface="Microsoft YaHei" panose="020B0503020204020204" pitchFamily="34" charset="-122"/>
              </a:rPr>
              <a:t>测试验证</a:t>
            </a:r>
            <a:r>
              <a:rPr lang="en-US" altLang="zh-CN" sz="2900">
                <a:solidFill>
                  <a:srgbClr val="FFFFFF"/>
                </a:solidFill>
                <a:latin typeface="Microsoft YaHei" panose="020B0503020204020204" pitchFamily="34" charset="-122"/>
                <a:ea typeface="Microsoft YaHei" panose="020B0503020204020204" pitchFamily="34" charset="-122"/>
              </a:rPr>
              <a:t>——180 W </a:t>
            </a:r>
            <a:r>
              <a:rPr lang="zh-CN" altLang="en-US" sz="2900">
                <a:solidFill>
                  <a:srgbClr val="FFFFFF"/>
                </a:solidFill>
                <a:latin typeface="Microsoft YaHei" panose="020B0503020204020204" pitchFamily="34" charset="-122"/>
                <a:ea typeface="Microsoft YaHei" panose="020B0503020204020204" pitchFamily="34" charset="-122"/>
              </a:rPr>
              <a:t>连续负载与温升</a:t>
            </a:r>
          </a:p>
        </p:txBody>
      </p:sp>
      <p:sp>
        <p:nvSpPr>
          <p:cNvPr id="4" name="文本框 3">
            <a:extLst>
              <a:ext uri="{FF2B5EF4-FFF2-40B4-BE49-F238E27FC236}">
                <a16:creationId xmlns:a16="http://schemas.microsoft.com/office/drawing/2014/main" id="{361D7832-3780-E145-5EDB-BA3734D1F42D}"/>
              </a:ext>
            </a:extLst>
          </p:cNvPr>
          <p:cNvSpPr txBox="1"/>
          <p:nvPr/>
        </p:nvSpPr>
        <p:spPr>
          <a:xfrm>
            <a:off x="11506200" y="6451600"/>
            <a:ext cx="381000" cy="215444"/>
          </a:xfrm>
          <a:prstGeom prst="rect">
            <a:avLst/>
          </a:prstGeom>
          <a:noFill/>
        </p:spPr>
        <p:txBody>
          <a:bodyPr vert="horz" wrap="square" lIns="76200" tIns="38100" rIns="76200" bIns="38100" rtlCol="0">
            <a:spAutoFit/>
          </a:bodyPr>
          <a:lstStyle/>
          <a:p>
            <a:pPr algn="ctr"/>
            <a:r>
              <a:rPr lang="en-US" altLang="zh-CN" sz="900">
                <a:solidFill>
                  <a:srgbClr val="5C6877"/>
                </a:solidFill>
                <a:latin typeface="Microsoft YaHei" panose="020B0503020204020204" pitchFamily="34" charset="-122"/>
                <a:ea typeface="Microsoft YaHei" panose="020B0503020204020204" pitchFamily="34" charset="-122"/>
              </a:rPr>
              <a:t>16</a:t>
            </a:r>
            <a:endParaRPr lang="zh-CN" altLang="en-US" sz="900">
              <a:solidFill>
                <a:srgbClr val="5C6877"/>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ABB4E8E2-B66B-DA55-0072-6E438721D849}"/>
              </a:ext>
            </a:extLst>
          </p:cNvPr>
          <p:cNvSpPr/>
          <p:nvPr/>
        </p:nvSpPr>
        <p:spPr>
          <a:xfrm>
            <a:off x="685800" y="1041400"/>
            <a:ext cx="41910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EE407821-A543-631F-BF47-9287F8E3BB00}"/>
              </a:ext>
            </a:extLst>
          </p:cNvPr>
          <p:cNvSpPr/>
          <p:nvPr/>
        </p:nvSpPr>
        <p:spPr>
          <a:xfrm>
            <a:off x="685800" y="1041400"/>
            <a:ext cx="41910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09738C24-6780-317F-17DC-138602CEE899}"/>
              </a:ext>
            </a:extLst>
          </p:cNvPr>
          <p:cNvSpPr txBox="1"/>
          <p:nvPr/>
        </p:nvSpPr>
        <p:spPr>
          <a:xfrm>
            <a:off x="787400" y="1066800"/>
            <a:ext cx="39878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连续带载测试</a:t>
            </a:r>
          </a:p>
        </p:txBody>
      </p:sp>
      <p:pic>
        <p:nvPicPr>
          <p:cNvPr id="9" name="图片 8">
            <a:extLst>
              <a:ext uri="{FF2B5EF4-FFF2-40B4-BE49-F238E27FC236}">
                <a16:creationId xmlns:a16="http://schemas.microsoft.com/office/drawing/2014/main" id="{8174D45D-EF69-9594-FD46-6076A3F411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63600" y="1656503"/>
            <a:ext cx="3835400" cy="2173393"/>
          </a:xfrm>
          <a:prstGeom prst="rect">
            <a:avLst/>
          </a:prstGeom>
        </p:spPr>
      </p:pic>
      <p:sp>
        <p:nvSpPr>
          <p:cNvPr id="10" name="文本框 9">
            <a:extLst>
              <a:ext uri="{FF2B5EF4-FFF2-40B4-BE49-F238E27FC236}">
                <a16:creationId xmlns:a16="http://schemas.microsoft.com/office/drawing/2014/main" id="{0A865AA6-223D-9781-0E3F-B89FDC4FBEC8}"/>
              </a:ext>
            </a:extLst>
          </p:cNvPr>
          <p:cNvSpPr txBox="1"/>
          <p:nvPr/>
        </p:nvSpPr>
        <p:spPr>
          <a:xfrm>
            <a:off x="990600" y="4152900"/>
            <a:ext cx="3581400" cy="538609"/>
          </a:xfrm>
          <a:prstGeom prst="rect">
            <a:avLst/>
          </a:prstGeom>
          <a:noFill/>
        </p:spPr>
        <p:txBody>
          <a:bodyPr vert="horz" wrap="square" lIns="76200" tIns="38100" rIns="76200" bIns="38100" rtlCol="0">
            <a:spAutoFit/>
          </a:bodyPr>
          <a:lstStyle/>
          <a:p>
            <a:pPr algn="ctr"/>
            <a:r>
              <a:rPr lang="en-US" altLang="zh-CN" sz="1500" b="1">
                <a:solidFill>
                  <a:srgbClr val="1A1C1F"/>
                </a:solidFill>
                <a:latin typeface="Microsoft YaHei" panose="020B0503020204020204" pitchFamily="34" charset="-122"/>
                <a:ea typeface="Microsoft YaHei" panose="020B0503020204020204" pitchFamily="34" charset="-122"/>
              </a:rPr>
              <a:t>180 W </a:t>
            </a:r>
            <a:r>
              <a:rPr lang="zh-CN" altLang="en-US" sz="1500" b="1">
                <a:solidFill>
                  <a:srgbClr val="1A1C1F"/>
                </a:solidFill>
                <a:latin typeface="Microsoft YaHei" panose="020B0503020204020204" pitchFamily="34" charset="-122"/>
                <a:ea typeface="Microsoft YaHei" panose="020B0503020204020204" pitchFamily="34" charset="-122"/>
              </a:rPr>
              <a:t>等级连续带载运行</a:t>
            </a:r>
          </a:p>
          <a:p>
            <a:pPr algn="ctr"/>
            <a:r>
              <a:rPr lang="zh-CN" altLang="en-US" sz="1500" b="1">
                <a:solidFill>
                  <a:srgbClr val="1A1C1F"/>
                </a:solidFill>
                <a:latin typeface="Microsoft YaHei" panose="020B0503020204020204" pitchFamily="34" charset="-122"/>
                <a:ea typeface="Microsoft YaHei" panose="020B0503020204020204" pitchFamily="34" charset="-122"/>
              </a:rPr>
              <a:t>验证功率级、采样和控制闭环协同工作</a:t>
            </a:r>
          </a:p>
        </p:txBody>
      </p:sp>
      <p:sp>
        <p:nvSpPr>
          <p:cNvPr id="11" name="矩形 10">
            <a:extLst>
              <a:ext uri="{FF2B5EF4-FFF2-40B4-BE49-F238E27FC236}">
                <a16:creationId xmlns:a16="http://schemas.microsoft.com/office/drawing/2014/main" id="{FA0D49E3-E6E5-87A4-339D-EFD8FEBBF932}"/>
              </a:ext>
            </a:extLst>
          </p:cNvPr>
          <p:cNvSpPr/>
          <p:nvPr/>
        </p:nvSpPr>
        <p:spPr>
          <a:xfrm>
            <a:off x="990600" y="5092700"/>
            <a:ext cx="3581400" cy="431800"/>
          </a:xfrm>
          <a:prstGeom prst="rect">
            <a:avLst/>
          </a:prstGeom>
          <a:solidFill>
            <a:srgbClr val="ECF7FC"/>
          </a:solidFill>
          <a:ln w="0">
            <a:solidFill>
              <a:srgbClr val="ECF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F54231F1-35E8-85AA-6FAE-A97AC19CE169}"/>
              </a:ext>
            </a:extLst>
          </p:cNvPr>
          <p:cNvSpPr txBox="1"/>
          <p:nvPr/>
        </p:nvSpPr>
        <p:spPr>
          <a:xfrm>
            <a:off x="1092200" y="5168900"/>
            <a:ext cx="3378200" cy="276999"/>
          </a:xfrm>
          <a:prstGeom prst="rect">
            <a:avLst/>
          </a:prstGeom>
          <a:noFill/>
        </p:spPr>
        <p:txBody>
          <a:bodyPr vert="horz" wrap="square" lIns="76200" tIns="38100" rIns="76200" bIns="38100" rtlCol="0">
            <a:spAutoFit/>
          </a:bodyPr>
          <a:lstStyle/>
          <a:p>
            <a:pPr algn="ctr"/>
            <a:r>
              <a:rPr lang="zh-CN" altLang="en-US" sz="1300" b="1">
                <a:solidFill>
                  <a:srgbClr val="005A9C"/>
                </a:solidFill>
                <a:latin typeface="Microsoft YaHei" panose="020B0503020204020204" pitchFamily="34" charset="-122"/>
                <a:ea typeface="Microsoft YaHei" panose="020B0503020204020204" pitchFamily="34" charset="-122"/>
              </a:rPr>
              <a:t>系统级输出能力已完成验证</a:t>
            </a:r>
          </a:p>
        </p:txBody>
      </p:sp>
      <p:sp>
        <p:nvSpPr>
          <p:cNvPr id="13" name="矩形 12">
            <a:extLst>
              <a:ext uri="{FF2B5EF4-FFF2-40B4-BE49-F238E27FC236}">
                <a16:creationId xmlns:a16="http://schemas.microsoft.com/office/drawing/2014/main" id="{BA5357E4-3BC6-29BF-5497-2BC454D9CEFA}"/>
              </a:ext>
            </a:extLst>
          </p:cNvPr>
          <p:cNvSpPr/>
          <p:nvPr/>
        </p:nvSpPr>
        <p:spPr>
          <a:xfrm>
            <a:off x="5105400" y="1041400"/>
            <a:ext cx="6400800" cy="4775200"/>
          </a:xfrm>
          <a:prstGeom prst="rect">
            <a:avLst/>
          </a:prstGeom>
          <a:solidFill>
            <a:srgbClr val="FFFFFF"/>
          </a:solidFill>
          <a:ln w="10160">
            <a:solidFill>
              <a:srgbClr val="B6CDE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478BAB56-C8D6-1987-9AA7-D258AD56AB9A}"/>
              </a:ext>
            </a:extLst>
          </p:cNvPr>
          <p:cNvSpPr/>
          <p:nvPr/>
        </p:nvSpPr>
        <p:spPr>
          <a:xfrm>
            <a:off x="5105400" y="1041400"/>
            <a:ext cx="6400800" cy="381000"/>
          </a:xfrm>
          <a:prstGeom prst="rect">
            <a:avLst/>
          </a:prstGeom>
          <a:solidFill>
            <a:srgbClr val="0070C0"/>
          </a:solidFill>
          <a:ln w="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C7F61235-5C36-2B4B-D1AF-CBA3EE63E190}"/>
              </a:ext>
            </a:extLst>
          </p:cNvPr>
          <p:cNvSpPr txBox="1"/>
          <p:nvPr/>
        </p:nvSpPr>
        <p:spPr>
          <a:xfrm>
            <a:off x="5207000" y="1066800"/>
            <a:ext cx="6197600" cy="338554"/>
          </a:xfrm>
          <a:prstGeom prst="rect">
            <a:avLst/>
          </a:prstGeom>
          <a:noFill/>
        </p:spPr>
        <p:txBody>
          <a:bodyPr vert="horz" wrap="square" lIns="76200" tIns="38100" rIns="76200" bIns="38100" rtlCol="0">
            <a:spAutoFit/>
          </a:bodyPr>
          <a:lstStyle/>
          <a:p>
            <a:pPr algn="ctr"/>
            <a:r>
              <a:rPr lang="zh-CN" altLang="en-US" sz="1700" b="1">
                <a:solidFill>
                  <a:srgbClr val="FFFFFF"/>
                </a:solidFill>
                <a:latin typeface="Microsoft YaHei" panose="020B0503020204020204" pitchFamily="34" charset="-122"/>
                <a:ea typeface="Microsoft YaHei" panose="020B0503020204020204" pitchFamily="34" charset="-122"/>
              </a:rPr>
              <a:t>温升热像 </a:t>
            </a:r>
            <a:r>
              <a:rPr lang="en-US" altLang="zh-CN" sz="1700" b="1">
                <a:solidFill>
                  <a:srgbClr val="FFFFFF"/>
                </a:solidFill>
                <a:latin typeface="Microsoft YaHei" panose="020B0503020204020204" pitchFamily="34" charset="-122"/>
                <a:ea typeface="Microsoft YaHei" panose="020B0503020204020204" pitchFamily="34" charset="-122"/>
              </a:rPr>
              <a:t>· 2 min / 8 min</a:t>
            </a:r>
            <a:endParaRPr lang="zh-CN" altLang="en-US" sz="1700" b="1">
              <a:solidFill>
                <a:srgbClr val="FFFFFF"/>
              </a:solidFill>
              <a:latin typeface="Microsoft YaHei" panose="020B0503020204020204" pitchFamily="34" charset="-122"/>
              <a:ea typeface="Microsoft YaHei" panose="020B0503020204020204" pitchFamily="34" charset="-122"/>
            </a:endParaRPr>
          </a:p>
        </p:txBody>
      </p:sp>
      <p:pic>
        <p:nvPicPr>
          <p:cNvPr id="17" name="图片 16">
            <a:extLst>
              <a:ext uri="{FF2B5EF4-FFF2-40B4-BE49-F238E27FC236}">
                <a16:creationId xmlns:a16="http://schemas.microsoft.com/office/drawing/2014/main" id="{AE5D7C5C-6401-2FFF-5B84-E588EF3922B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308600" y="1851025"/>
            <a:ext cx="2819400" cy="2114550"/>
          </a:xfrm>
          <a:prstGeom prst="rect">
            <a:avLst/>
          </a:prstGeom>
        </p:spPr>
      </p:pic>
      <p:pic>
        <p:nvPicPr>
          <p:cNvPr id="19" name="图片 18">
            <a:extLst>
              <a:ext uri="{FF2B5EF4-FFF2-40B4-BE49-F238E27FC236}">
                <a16:creationId xmlns:a16="http://schemas.microsoft.com/office/drawing/2014/main" id="{572F67C2-5214-01C1-9AB5-82BD1C75723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483600" y="1814603"/>
            <a:ext cx="2819400" cy="2187395"/>
          </a:xfrm>
          <a:prstGeom prst="rect">
            <a:avLst/>
          </a:prstGeom>
        </p:spPr>
      </p:pic>
      <p:sp>
        <p:nvSpPr>
          <p:cNvPr id="20" name="文本框 19">
            <a:extLst>
              <a:ext uri="{FF2B5EF4-FFF2-40B4-BE49-F238E27FC236}">
                <a16:creationId xmlns:a16="http://schemas.microsoft.com/office/drawing/2014/main" id="{980E6C0F-9B50-02CF-579B-1D1EC6291E9A}"/>
              </a:ext>
            </a:extLst>
          </p:cNvPr>
          <p:cNvSpPr txBox="1"/>
          <p:nvPr/>
        </p:nvSpPr>
        <p:spPr>
          <a:xfrm>
            <a:off x="6172200" y="4292600"/>
            <a:ext cx="1066800" cy="276999"/>
          </a:xfrm>
          <a:prstGeom prst="rect">
            <a:avLst/>
          </a:prstGeom>
          <a:noFill/>
        </p:spPr>
        <p:txBody>
          <a:bodyPr vert="horz" wrap="square" lIns="76200" tIns="38100" rIns="76200" bIns="38100" rtlCol="0">
            <a:spAutoFit/>
          </a:bodyPr>
          <a:lstStyle/>
          <a:p>
            <a:pPr algn="ctr"/>
            <a:r>
              <a:rPr lang="en-US" altLang="zh-CN" sz="1300" b="1">
                <a:solidFill>
                  <a:srgbClr val="5C6877"/>
                </a:solidFill>
                <a:latin typeface="Microsoft YaHei" panose="020B0503020204020204" pitchFamily="34" charset="-122"/>
                <a:ea typeface="Microsoft YaHei" panose="020B0503020204020204" pitchFamily="34" charset="-122"/>
              </a:rPr>
              <a:t>2 min</a:t>
            </a:r>
            <a:endParaRPr lang="zh-CN" altLang="en-US" sz="1300" b="1">
              <a:solidFill>
                <a:srgbClr val="5C6877"/>
              </a:solidFill>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3512D15E-B9B2-F64E-65FB-83AAFA3E7DA7}"/>
              </a:ext>
            </a:extLst>
          </p:cNvPr>
          <p:cNvSpPr txBox="1"/>
          <p:nvPr/>
        </p:nvSpPr>
        <p:spPr>
          <a:xfrm>
            <a:off x="9347200" y="4292600"/>
            <a:ext cx="1066800" cy="276999"/>
          </a:xfrm>
          <a:prstGeom prst="rect">
            <a:avLst/>
          </a:prstGeom>
          <a:noFill/>
        </p:spPr>
        <p:txBody>
          <a:bodyPr vert="horz" wrap="square" lIns="76200" tIns="38100" rIns="76200" bIns="38100" rtlCol="0">
            <a:spAutoFit/>
          </a:bodyPr>
          <a:lstStyle/>
          <a:p>
            <a:pPr algn="ctr"/>
            <a:r>
              <a:rPr lang="en-US" altLang="zh-CN" sz="1300" b="1">
                <a:solidFill>
                  <a:srgbClr val="5C6877"/>
                </a:solidFill>
                <a:latin typeface="Microsoft YaHei" panose="020B0503020204020204" pitchFamily="34" charset="-122"/>
                <a:ea typeface="Microsoft YaHei" panose="020B0503020204020204" pitchFamily="34" charset="-122"/>
              </a:rPr>
              <a:t>8 min</a:t>
            </a:r>
            <a:endParaRPr lang="zh-CN" altLang="en-US" sz="1300" b="1">
              <a:solidFill>
                <a:srgbClr val="5C6877"/>
              </a:solidFill>
              <a:latin typeface="Microsoft YaHei" panose="020B0503020204020204" pitchFamily="34" charset="-122"/>
              <a:ea typeface="Microsoft YaHei" panose="020B0503020204020204" pitchFamily="34" charset="-122"/>
            </a:endParaRPr>
          </a:p>
        </p:txBody>
      </p:sp>
      <p:sp>
        <p:nvSpPr>
          <p:cNvPr id="22" name="文本框 21">
            <a:extLst>
              <a:ext uri="{FF2B5EF4-FFF2-40B4-BE49-F238E27FC236}">
                <a16:creationId xmlns:a16="http://schemas.microsoft.com/office/drawing/2014/main" id="{434745EA-0C6E-DADB-9E1E-64EF5DC0D0A5}"/>
              </a:ext>
            </a:extLst>
          </p:cNvPr>
          <p:cNvSpPr txBox="1"/>
          <p:nvPr/>
        </p:nvSpPr>
        <p:spPr>
          <a:xfrm>
            <a:off x="5664200" y="4635500"/>
            <a:ext cx="2108200" cy="507831"/>
          </a:xfrm>
          <a:prstGeom prst="rect">
            <a:avLst/>
          </a:prstGeom>
          <a:noFill/>
        </p:spPr>
        <p:txBody>
          <a:bodyPr vert="horz" wrap="square" lIns="76200" tIns="38100" rIns="76200" bIns="38100" rtlCol="0">
            <a:spAutoFit/>
          </a:bodyPr>
          <a:lstStyle/>
          <a:p>
            <a:pPr algn="ctr"/>
            <a:r>
              <a:rPr lang="zh-CN" altLang="en-US" sz="1400" b="1">
                <a:solidFill>
                  <a:srgbClr val="1A1C1F"/>
                </a:solidFill>
                <a:latin typeface="Microsoft YaHei" panose="020B0503020204020204" pitchFamily="34" charset="-122"/>
                <a:ea typeface="Microsoft YaHei" panose="020B0503020204020204" pitchFamily="34" charset="-122"/>
              </a:rPr>
              <a:t>中心 </a:t>
            </a:r>
            <a:r>
              <a:rPr lang="en-US" altLang="zh-CN" sz="1400" b="1">
                <a:solidFill>
                  <a:srgbClr val="1A1C1F"/>
                </a:solidFill>
                <a:latin typeface="Microsoft YaHei" panose="020B0503020204020204" pitchFamily="34" charset="-122"/>
                <a:ea typeface="Microsoft YaHei" panose="020B0503020204020204" pitchFamily="34" charset="-122"/>
              </a:rPr>
              <a:t>35.4 °C</a:t>
            </a:r>
          </a:p>
          <a:p>
            <a:pPr algn="ctr"/>
            <a:r>
              <a:rPr lang="zh-CN" altLang="en-US" sz="1400" b="1">
                <a:solidFill>
                  <a:srgbClr val="1A1C1F"/>
                </a:solidFill>
                <a:latin typeface="Microsoft YaHei" panose="020B0503020204020204" pitchFamily="34" charset="-122"/>
                <a:ea typeface="Microsoft YaHei" panose="020B0503020204020204" pitchFamily="34" charset="-122"/>
              </a:rPr>
              <a:t>最高 </a:t>
            </a:r>
            <a:r>
              <a:rPr lang="en-US" altLang="zh-CN" sz="1400" b="1">
                <a:solidFill>
                  <a:srgbClr val="1A1C1F"/>
                </a:solidFill>
                <a:latin typeface="Microsoft YaHei" panose="020B0503020204020204" pitchFamily="34" charset="-122"/>
                <a:ea typeface="Microsoft YaHei" panose="020B0503020204020204" pitchFamily="34" charset="-122"/>
              </a:rPr>
              <a:t>61.8 °C</a:t>
            </a:r>
            <a:endParaRPr lang="zh-CN" altLang="en-US" sz="1400" b="1">
              <a:solidFill>
                <a:srgbClr val="1A1C1F"/>
              </a:solidFill>
              <a:latin typeface="Microsoft YaHei" panose="020B0503020204020204" pitchFamily="34" charset="-122"/>
              <a:ea typeface="Microsoft YaHei" panose="020B0503020204020204" pitchFamily="34" charset="-122"/>
            </a:endParaRPr>
          </a:p>
        </p:txBody>
      </p:sp>
      <p:sp>
        <p:nvSpPr>
          <p:cNvPr id="23" name="文本框 22">
            <a:extLst>
              <a:ext uri="{FF2B5EF4-FFF2-40B4-BE49-F238E27FC236}">
                <a16:creationId xmlns:a16="http://schemas.microsoft.com/office/drawing/2014/main" id="{00DB6E41-2DDB-B28B-33BC-96BD734EAD0A}"/>
              </a:ext>
            </a:extLst>
          </p:cNvPr>
          <p:cNvSpPr txBox="1"/>
          <p:nvPr/>
        </p:nvSpPr>
        <p:spPr>
          <a:xfrm>
            <a:off x="8839200" y="4635500"/>
            <a:ext cx="2108200" cy="507831"/>
          </a:xfrm>
          <a:prstGeom prst="rect">
            <a:avLst/>
          </a:prstGeom>
          <a:noFill/>
        </p:spPr>
        <p:txBody>
          <a:bodyPr vert="horz" wrap="square" lIns="76200" tIns="38100" rIns="76200" bIns="38100" rtlCol="0">
            <a:spAutoFit/>
          </a:bodyPr>
          <a:lstStyle/>
          <a:p>
            <a:pPr algn="ctr"/>
            <a:r>
              <a:rPr lang="zh-CN" altLang="en-US" sz="1400" b="1">
                <a:solidFill>
                  <a:srgbClr val="CD0000"/>
                </a:solidFill>
                <a:latin typeface="Microsoft YaHei" panose="020B0503020204020204" pitchFamily="34" charset="-122"/>
                <a:ea typeface="Microsoft YaHei" panose="020B0503020204020204" pitchFamily="34" charset="-122"/>
              </a:rPr>
              <a:t>壳温 </a:t>
            </a:r>
            <a:r>
              <a:rPr lang="en-US" altLang="zh-CN" sz="1400" b="1">
                <a:solidFill>
                  <a:srgbClr val="CD0000"/>
                </a:solidFill>
                <a:latin typeface="Microsoft YaHei" panose="020B0503020204020204" pitchFamily="34" charset="-122"/>
                <a:ea typeface="Microsoft YaHei" panose="020B0503020204020204" pitchFamily="34" charset="-122"/>
              </a:rPr>
              <a:t>74.6 °C</a:t>
            </a:r>
          </a:p>
          <a:p>
            <a:pPr algn="ctr"/>
            <a:r>
              <a:rPr lang="zh-CN" altLang="en-US" sz="1400" b="1">
                <a:solidFill>
                  <a:srgbClr val="CD0000"/>
                </a:solidFill>
                <a:latin typeface="Microsoft YaHei" panose="020B0503020204020204" pitchFamily="34" charset="-122"/>
                <a:ea typeface="Microsoft YaHei" panose="020B0503020204020204" pitchFamily="34" charset="-122"/>
              </a:rPr>
              <a:t>最高 </a:t>
            </a:r>
            <a:r>
              <a:rPr lang="en-US" altLang="zh-CN" sz="1400" b="1">
                <a:solidFill>
                  <a:srgbClr val="CD0000"/>
                </a:solidFill>
                <a:latin typeface="Microsoft YaHei" panose="020B0503020204020204" pitchFamily="34" charset="-122"/>
                <a:ea typeface="Microsoft YaHei" panose="020B0503020204020204" pitchFamily="34" charset="-122"/>
              </a:rPr>
              <a:t>82.6 °C</a:t>
            </a:r>
            <a:endParaRPr lang="zh-CN" altLang="en-US" sz="1400" b="1">
              <a:solidFill>
                <a:srgbClr val="CD0000"/>
              </a:solidFill>
              <a:latin typeface="Microsoft YaHei" panose="020B0503020204020204" pitchFamily="34" charset="-122"/>
              <a:ea typeface="Microsoft YaHei" panose="020B0503020204020204" pitchFamily="34" charset="-122"/>
            </a:endParaRPr>
          </a:p>
        </p:txBody>
      </p:sp>
      <p:sp>
        <p:nvSpPr>
          <p:cNvPr id="24" name="文本框 23">
            <a:extLst>
              <a:ext uri="{FF2B5EF4-FFF2-40B4-BE49-F238E27FC236}">
                <a16:creationId xmlns:a16="http://schemas.microsoft.com/office/drawing/2014/main" id="{72E0D782-F1D1-1E83-593D-267ED25641D5}"/>
              </a:ext>
            </a:extLst>
          </p:cNvPr>
          <p:cNvSpPr txBox="1"/>
          <p:nvPr/>
        </p:nvSpPr>
        <p:spPr>
          <a:xfrm>
            <a:off x="914400" y="6032500"/>
            <a:ext cx="10363200" cy="292388"/>
          </a:xfrm>
          <a:prstGeom prst="rect">
            <a:avLst/>
          </a:prstGeom>
          <a:noFill/>
        </p:spPr>
        <p:txBody>
          <a:bodyPr vert="horz" wrap="square" lIns="76200" tIns="38100" rIns="76200" bIns="38100" rtlCol="0">
            <a:spAutoFit/>
          </a:bodyPr>
          <a:lstStyle/>
          <a:p>
            <a:pPr algn="ctr"/>
            <a:r>
              <a:rPr lang="zh-CN" altLang="en-US" sz="1400" b="1">
                <a:solidFill>
                  <a:srgbClr val="005A9C"/>
                </a:solidFill>
                <a:latin typeface="Microsoft YaHei" panose="020B0503020204020204" pitchFamily="34" charset="-122"/>
                <a:ea typeface="Microsoft YaHei" panose="020B0503020204020204" pitchFamily="34" charset="-122"/>
              </a:rPr>
              <a:t>验证闭环：功能运行通过 → 连续输出通过 → 热点已定位；下一步结合双脉冲与采样波形优化开关应力和热设计。</a:t>
            </a:r>
          </a:p>
        </p:txBody>
      </p:sp>
    </p:spTree>
    <p:extLst>
      <p:ext uri="{BB962C8B-B14F-4D97-AF65-F5344CB8AC3E}">
        <p14:creationId xmlns:p14="http://schemas.microsoft.com/office/powerpoint/2010/main" val="1327038216"/>
      </p:ext>
    </p:extLst>
  </p:cSld>
  <p:clrMapOvr>
    <a:masterClrMapping/>
  </p:clrMapOvr>
</p:sld>
</file>

<file path=ppt/theme/theme1.xml><?xml version="1.0" encoding="utf-8"?>
<a:theme xmlns:a="http://schemas.openxmlformats.org/drawingml/2006/main" name="腾讯文档 默认主题​">
  <a:themeElements>
    <a:clrScheme name="Tencent">
      <a:dk1>
        <a:srgbClr val="000000"/>
      </a:dk1>
      <a:lt1>
        <a:srgbClr val="FFFFFF"/>
      </a:lt1>
      <a:dk2>
        <a:srgbClr val="485368"/>
      </a:dk2>
      <a:lt2>
        <a:srgbClr val="2972F4"/>
      </a:lt2>
      <a:accent1>
        <a:srgbClr val="00A3F5"/>
      </a:accent1>
      <a:accent2>
        <a:srgbClr val="319B62"/>
      </a:accent2>
      <a:accent3>
        <a:srgbClr val="DE3C36"/>
      </a:accent3>
      <a:accent4>
        <a:srgbClr val="F88825"/>
      </a:accent4>
      <a:accent5>
        <a:srgbClr val="F5C400"/>
      </a:accent5>
      <a:accent6>
        <a:srgbClr val="9A38D7"/>
      </a:accent6>
      <a:hlink>
        <a:srgbClr val="175CEB"/>
      </a:hlink>
      <a:folHlink>
        <a:srgbClr val="81868F"/>
      </a:folHlink>
    </a:clrScheme>
    <a:fontScheme name="Office">
      <a:majorFont>
        <a:latin typeface="Arial"/>
        <a:ea typeface="Microsoft YaHei"/>
        <a:cs typeface=""/>
      </a:majorFont>
      <a:minorFont>
        <a:latin typeface="Arial"/>
        <a:ea typeface="Microsoft YaHei"/>
        <a:cs typeface=""/>
      </a:minorFont>
    </a:fontScheme>
    <a:fmtScheme name="Tencent">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腾讯文档 默认主题​">
  <a:themeElements>
    <a:clrScheme name="Tencent">
      <a:dk1>
        <a:srgbClr val="000000"/>
      </a:dk1>
      <a:lt1>
        <a:srgbClr val="FFFFFF"/>
      </a:lt1>
      <a:dk2>
        <a:srgbClr val="485368"/>
      </a:dk2>
      <a:lt2>
        <a:srgbClr val="2972F4"/>
      </a:lt2>
      <a:accent1>
        <a:srgbClr val="00A3F5"/>
      </a:accent1>
      <a:accent2>
        <a:srgbClr val="319B62"/>
      </a:accent2>
      <a:accent3>
        <a:srgbClr val="DE3C36"/>
      </a:accent3>
      <a:accent4>
        <a:srgbClr val="F88825"/>
      </a:accent4>
      <a:accent5>
        <a:srgbClr val="F5C400"/>
      </a:accent5>
      <a:accent6>
        <a:srgbClr val="9A38D7"/>
      </a:accent6>
      <a:hlink>
        <a:srgbClr val="175CEB"/>
      </a:hlink>
      <a:folHlink>
        <a:srgbClr val="81868F"/>
      </a:folHlink>
    </a:clrScheme>
    <a:fontScheme name="Office">
      <a:majorFont>
        <a:latin typeface="Arial"/>
        <a:ea typeface="Microsoft YaHei"/>
        <a:cs typeface=""/>
      </a:majorFont>
      <a:minorFont>
        <a:latin typeface="Arial"/>
        <a:ea typeface="Microsoft YaHei"/>
        <a:cs typeface=""/>
      </a:minorFont>
    </a:fontScheme>
    <a:fmtScheme name="Tencent">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771</TotalTime>
  <Words>4163</Words>
  <Application>Microsoft Office PowerPoint</Application>
  <DocSecurity>0</DocSecurity>
  <PresentationFormat>宽屏</PresentationFormat>
  <Paragraphs>472</Paragraphs>
  <Slides>23</Slides>
  <Notes>23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23</vt:i4>
      </vt:variant>
    </vt:vector>
  </HeadingPairs>
  <TitlesOfParts>
    <vt:vector size="31" baseType="lpstr">
      <vt:lpstr>-apple-system</vt:lpstr>
      <vt:lpstr>Google Sans Text</vt:lpstr>
      <vt:lpstr>ui-monospace</vt:lpstr>
      <vt:lpstr>微软雅黑</vt:lpstr>
      <vt:lpstr>微软雅黑</vt:lpstr>
      <vt:lpstr>Arial</vt:lpstr>
      <vt:lpstr>Times New Roman</vt:lpstr>
      <vt:lpstr>腾讯文档 默认主题​</vt:lpstr>
      <vt:lpstr>第二章：硬件设计计算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Rise Sun</cp:lastModifiedBy>
  <cp:revision>283</cp:revision>
  <dcterms:created xsi:type="dcterms:W3CDTF">2026-06-07T05:21:37Z</dcterms:created>
  <dcterms:modified xsi:type="dcterms:W3CDTF">2026-06-14T08:54:12Z</dcterms:modified>
</cp:coreProperties>
</file>