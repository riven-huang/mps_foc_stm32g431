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643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22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完成器件选型和硬件计算后，接下来进入 PCB Layout。整板需要在约 49 × 43 毫米的空间内放下 48 V、180 W 功率驱动、三相电流采样、磁编码器和隔离 CAN 通信，因此布局重点是控制功率环路、噪声耦合和散热路径。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本项目采用四层板，成品厚度约 1.6 毫米，外层铜厚约 1 盎司。顶层承担器件、功率铜皮和关键走线，第二层保持连续地平面，第三层用于电源分配，底层布置控制器件和低速信号，这样可以在紧凑板框内获得稳定的回流路径。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整板以 MA600A 和电机轴心为中心，六颗 MOSFET 沿外围展开，缩短三相功率输出和散热路径。MP6539B、STM32G431 和三相 INA240 位于控制与采样区域，辅助电源和隔离 CAN 靠近板边，方便连接输入电源和外部总线。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这一页用官方参考布局来说明功率级复核标准。MPS 的示例板重点体现上下管连接短、大电流路径宽铜皮、驱动去耦靠近</a:t>
            </a:r>
            <a:r>
              <a:rPr lang="zh-CN"/>
              <a:t>芯片；</a:t>
            </a:r>
            <a:r>
              <a:rPr lang="zh-CN" altLang="en-US"/>
              <a:t>同样的</a:t>
            </a:r>
            <a:r>
              <a:rPr lang="zh-CN"/>
              <a:t> </a:t>
            </a:r>
            <a:r>
              <a:rPr lang="zh-CN" dirty="0"/>
              <a:t>的 Bootstrap 布局示例强调 CBOOT 和 VDD 去耦要贴近驱动器，尽量缩小高峰值充电路径。本项目后续复核时，就按这些点检查半桥、母线电容、Gate 回路和功率地回流。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三相电流均通过 10 毫欧分流电阻和 INA240A1 采集，整体比例为 0.2 伏每安培。分流电阻两端采用 Kelvin 取样，差分线成对引到 INA240，并避开相位开关节点和栅极走线，输出经过 RC 滤波后进入 STM32G431 的 ADC。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MA600A 位于电机轴心附近，高电流铜皮和开关节点需要远离传感器区域，周围电容与芯片中心保持至少 5 毫米距离。隔离通信部分由 MIE1W0505 和 ISO1042 构成，控制侧与总线侧保持清晰净空，CANH 和 CANL 靠近接口成对布线。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功率器件沿板边布置，通过大面积铜皮和并联过孔把热量扩散到上下层，并为后续与外壳导热预留条件。Layout 完成后需要逐项检查功率路径、回流路径、散热路径、敏感信号和隔离边界，再通过温升、母线尖峰和电流采样波形完成实板验证。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514850" cy="6858000"/>
            </a:xfrm>
            <a:prstGeom prst="rect">
              <a:avLst/>
            </a:prstGeom>
            <a:solidFill>
              <a:srgbClr val="005A9C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514850" y="0"/>
            <a:ext cx="7677150" cy="6858000"/>
            <a:chOff x="4514850" y="0"/>
            <a:chExt cx="7677150" cy="6858000"/>
          </a:xfrm>
        </p:grpSpPr>
        <p:sp>
          <p:nvSpPr>
            <p:cNvPr id="5" name="Rectangle 5"/>
            <p:cNvSpPr/>
            <p:nvPr/>
          </p:nvSpPr>
          <p:spPr>
            <a:xfrm>
              <a:off x="4514850" y="0"/>
              <a:ext cx="7677150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67250" y="732234"/>
              <a:ext cx="7372350" cy="5222081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4514850" y="0"/>
              <a:ext cx="762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76250" y="666750"/>
            <a:ext cx="3422213" cy="1895475"/>
            <a:chOff x="476250" y="666750"/>
            <a:chExt cx="3422213" cy="1895475"/>
          </a:xfrm>
        </p:grpSpPr>
        <p:sp>
          <p:nvSpPr>
            <p:cNvPr id="9" name="Rectangle 9"/>
            <p:cNvSpPr/>
            <p:nvPr/>
          </p:nvSpPr>
          <p:spPr>
            <a:xfrm>
              <a:off x="533400" y="666750"/>
              <a:ext cx="15240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4606" y="772954"/>
              <a:ext cx="70158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6250" y="1228725"/>
              <a:ext cx="342221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7682" y="1991201"/>
              <a:ext cx="248173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布局设计与工程实现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33400" y="2552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AFC7DD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13398" y="2954179"/>
            <a:ext cx="3106102" cy="1360646"/>
            <a:chOff x="513398" y="2954179"/>
            <a:chExt cx="3106102" cy="1360646"/>
          </a:xfrm>
        </p:grpSpPr>
        <p:sp>
          <p:nvSpPr>
            <p:cNvPr id="15" name="TextBox 15"/>
            <p:cNvSpPr txBox="1"/>
            <p:nvPr/>
          </p:nvSpPr>
          <p:spPr>
            <a:xfrm>
              <a:off x="513398" y="295417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设计目标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4350" y="3362325"/>
              <a:ext cx="3105150" cy="952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在约 49 × 43 mm 板框内完成48 V / 180 W 功率驱动、三相采样、磁编码器与隔离 CAN 通信布局。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4857750"/>
            <a:ext cx="3429000" cy="361950"/>
            <a:chOff x="533400" y="4857750"/>
            <a:chExt cx="3429000" cy="361950"/>
          </a:xfrm>
        </p:grpSpPr>
        <p:sp>
          <p:nvSpPr>
            <p:cNvPr id="18" name="Rectangle 18"/>
            <p:cNvSpPr/>
            <p:nvPr/>
          </p:nvSpPr>
          <p:spPr>
            <a:xfrm>
              <a:off x="5334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7145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956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9528" y="49758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四层板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96618" y="49758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紧凑布局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77718" y="49758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功率分区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1018" y="6324124"/>
            <a:ext cx="11302365" cy="388620"/>
            <a:chOff x="521018" y="6324124"/>
            <a:chExt cx="11302365" cy="388620"/>
          </a:xfrm>
        </p:grpSpPr>
        <p:sp>
          <p:nvSpPr>
            <p:cNvPr id="25" name="TextBox 25"/>
            <p:cNvSpPr txBox="1"/>
            <p:nvPr/>
          </p:nvSpPr>
          <p:spPr>
            <a:xfrm>
              <a:off x="521018" y="6324124"/>
              <a:ext cx="2345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FC7DD"/>
                  </a:solidFill>
                  <a:latin typeface="Arial"/>
                  <a:ea typeface="Microsoft YaHei"/>
                  <a:cs typeface="Arial"/>
                </a:rPr>
                <a:t>MPS-FOC · STM32G431 关节电机控制器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6556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7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Layout——板框与四层叠层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009650"/>
            <a:ext cx="6324600" cy="2952750"/>
            <a:chOff x="457200" y="1009650"/>
            <a:chExt cx="6324600" cy="2952750"/>
          </a:xfrm>
        </p:grpSpPr>
        <p:sp>
          <p:nvSpPr>
            <p:cNvPr id="6" name="Rectangle 6"/>
            <p:cNvSpPr/>
            <p:nvPr/>
          </p:nvSpPr>
          <p:spPr>
            <a:xfrm>
              <a:off x="457200" y="1009650"/>
              <a:ext cx="63246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9676" y="1104900"/>
              <a:ext cx="3899647" cy="276225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6972300" y="1009650"/>
            <a:ext cx="4762500" cy="2952750"/>
            <a:chOff x="6972300" y="1009650"/>
            <a:chExt cx="4762500" cy="2952750"/>
          </a:xfrm>
        </p:grpSpPr>
        <p:sp>
          <p:nvSpPr>
            <p:cNvPr id="9" name="Rectangle 9"/>
            <p:cNvSpPr/>
            <p:nvPr/>
          </p:nvSpPr>
          <p:spPr>
            <a:xfrm>
              <a:off x="6972300" y="1009650"/>
              <a:ext cx="47625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972300" y="1009650"/>
              <a:ext cx="47625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61701" y="1115854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板框与工艺参数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57098" y="1639729"/>
              <a:ext cx="33164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外形尺寸：约 49.23 × 42.86 mm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57098" y="2039779"/>
              <a:ext cx="186723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板层结构：4 层板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7098" y="2439829"/>
              <a:ext cx="226628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成品板厚：约 1.6 mm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7098" y="2839879"/>
              <a:ext cx="237129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铜厚配置：外层约 1 oz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57098" y="3239929"/>
              <a:ext cx="355794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布局规模：116 个器件，311 个过孔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1482" y="4143851"/>
            <a:ext cx="11303318" cy="2142649"/>
            <a:chOff x="431482" y="4143851"/>
            <a:chExt cx="11303318" cy="2142649"/>
          </a:xfrm>
        </p:grpSpPr>
        <p:sp>
          <p:nvSpPr>
            <p:cNvPr id="18" name="TextBox 18"/>
            <p:cNvSpPr txBox="1"/>
            <p:nvPr/>
          </p:nvSpPr>
          <p:spPr>
            <a:xfrm>
              <a:off x="431482" y="41438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四层叠层职责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4552950"/>
              <a:ext cx="11277600" cy="457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4848" y="4687729"/>
              <a:ext cx="9000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· Top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62200" y="4695825"/>
              <a:ext cx="3838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器件布局、功率铜皮、栅极驱动与关键信号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5048250"/>
              <a:ext cx="11277600" cy="381000"/>
            </a:xfrm>
            <a:prstGeom prst="rect">
              <a:avLst/>
            </a:prstGeom>
            <a:solidFill>
              <a:srgbClr val="EDF8F4"/>
            </a:solidFill>
            <a:ln w="9525">
              <a:solidFill>
                <a:srgbClr val="AFC7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800" y="5143500"/>
              <a:ext cx="857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L2 · GND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63152" y="5151596"/>
              <a:ext cx="51668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连续参考地平面，为采样、驱动和控制信号提供低阻回流路径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5467350"/>
              <a:ext cx="11277600" cy="381000"/>
            </a:xfrm>
            <a:prstGeom prst="rect">
              <a:avLst/>
            </a:prstGeom>
            <a:solidFill>
              <a:srgbClr val="FF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5800" y="5562600"/>
              <a:ext cx="1130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L3 · Power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3152" y="5570696"/>
              <a:ext cx="40266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电源分配与局部铜面，降低供电阻抗并辅助散热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7200" y="5886450"/>
              <a:ext cx="11277600" cy="381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5800" y="5981700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L4 · Bottom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63152" y="5989796"/>
              <a:ext cx="45682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MCU、驱动与低速控制信号，配合过孔完成上下层互连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32" name="TextBox 32"/>
            <p:cNvSpPr txBox="1"/>
            <p:nvPr/>
          </p:nvSpPr>
          <p:spPr>
            <a:xfrm>
              <a:off x="444818" y="6514624"/>
              <a:ext cx="40552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紧凑板框下，通过完整地平面和独立电源层控制回流路径与供电阻抗。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3795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Layout——功能分区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1009650"/>
            <a:ext cx="6724650" cy="5143500"/>
            <a:chOff x="457200" y="1009650"/>
            <a:chExt cx="6724650" cy="5143500"/>
          </a:xfrm>
        </p:grpSpPr>
        <p:sp>
          <p:nvSpPr>
            <p:cNvPr id="6" name="Rectangle 6"/>
            <p:cNvSpPr/>
            <p:nvPr/>
          </p:nvSpPr>
          <p:spPr>
            <a:xfrm>
              <a:off x="457200" y="1009650"/>
              <a:ext cx="6724650" cy="51435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1294209"/>
              <a:ext cx="6457950" cy="4574381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3248025" y="329565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59874" y="33975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647825" y="2162175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59674" y="22640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990975" y="474345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02824" y="48453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600325" y="4314825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12174" y="44167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581650" y="300990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93499" y="31118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372350" y="1009650"/>
            <a:ext cx="4880420" cy="5143500"/>
            <a:chOff x="7372350" y="1009650"/>
            <a:chExt cx="4880420" cy="5143500"/>
          </a:xfrm>
        </p:grpSpPr>
        <p:sp>
          <p:nvSpPr>
            <p:cNvPr id="19" name="Rectangle 19"/>
            <p:cNvSpPr/>
            <p:nvPr/>
          </p:nvSpPr>
          <p:spPr>
            <a:xfrm>
              <a:off x="7372350" y="1009650"/>
              <a:ext cx="4362450" cy="514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505700" y="1230154"/>
              <a:ext cx="4066985" cy="567690"/>
              <a:chOff x="7505700" y="1230154"/>
              <a:chExt cx="4066985" cy="56769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505700" y="12382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7074" y="13496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00048" y="1230154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磁编码器中心区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03858" y="1538764"/>
                <a:ext cx="356882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MA600A 对准电机轴心，周围限制高电流器件。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7562850" y="187642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505700" y="2077879"/>
              <a:ext cx="4322017" cy="567690"/>
              <a:chOff x="7505700" y="2077879"/>
              <a:chExt cx="4322017" cy="56769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505700" y="208597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7074" y="219741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00048" y="20778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三相功率区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03858" y="2386489"/>
                <a:ext cx="38238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六颗 MOSFET 沿板边展开，缩短相线与散热路径。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7562850" y="27241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505700" y="2925604"/>
              <a:ext cx="4747070" cy="567690"/>
              <a:chOff x="7505700" y="2925604"/>
              <a:chExt cx="4747070" cy="56769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505700" y="293370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7074" y="30451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000048" y="2925604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驱动与控制区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003858" y="3234214"/>
                <a:ext cx="424891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MP6539B 靠近功率级，STM32G431 集中管理控制信号。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7562850" y="357187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505700" y="3773329"/>
              <a:ext cx="4551546" cy="567690"/>
              <a:chOff x="7505700" y="3773329"/>
              <a:chExt cx="4551546" cy="56769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505700" y="378142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7074" y="389286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00048" y="37733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三相电流采样区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003858" y="4081939"/>
                <a:ext cx="405338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10 mΩ 分流电阻与 INA240 就近布置，控制采样环路。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7562850" y="44196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505700" y="4621054"/>
              <a:ext cx="3445193" cy="824865"/>
              <a:chOff x="7505700" y="4621054"/>
              <a:chExt cx="3445193" cy="824865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7505700" y="46291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7074" y="47405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000048" y="4621054"/>
                <a:ext cx="202475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辅助电源与隔离通信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003858" y="4929664"/>
                <a:ext cx="2947035" cy="5162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025"/>
                  </a:lnSpc>
                </a:pPr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DC-DC、隔离电源与 CAN 接口靠近板边，便于电源入口和外部总线连接。</a:t>
                </a:r>
              </a:p>
            </p:txBody>
          </p:sp>
        </p:grpSp>
        <p:sp>
          <p:nvSpPr>
            <p:cNvPr id="49" name="Rectangle 49"/>
            <p:cNvSpPr/>
            <p:nvPr/>
          </p:nvSpPr>
          <p:spPr>
            <a:xfrm>
              <a:off x="7562850" y="5543550"/>
              <a:ext cx="3962400" cy="4000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85590" y="5663089"/>
              <a:ext cx="43169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分区原则：缩短大电流环路，隔离敏感采样与通信边界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52" name="TextBox 52"/>
            <p:cNvSpPr txBox="1"/>
            <p:nvPr/>
          </p:nvSpPr>
          <p:spPr>
            <a:xfrm>
              <a:off x="444818" y="6514624"/>
              <a:ext cx="47378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编号位置为功能区域示意，最终汇报时可替换为 PCB 软件中的高分辨率分区截图。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55952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Layout——功率回路与栅极回路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1028700"/>
            <a:ext cx="6705600" cy="2743200"/>
            <a:chOff x="457200" y="1028700"/>
            <a:chExt cx="6705600" cy="274320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705600" cy="2743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28700"/>
              <a:ext cx="67056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18151" y="11253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主功率电流环路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480" y="2140268"/>
              <a:ext cx="83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48 V 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2975" y="2383631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母线电容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24100" y="1885950"/>
              <a:ext cx="135255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16159" y="20450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半桥 MOSFET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73084" y="2327910"/>
              <a:ext cx="8545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高侧 + 低侧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100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482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相线输出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7874" y="2393156"/>
              <a:ext cx="6511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U / V / 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8102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484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分流电阻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26837" y="2393156"/>
              <a:ext cx="4336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10 mΩ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79070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19075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6766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0767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2768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6769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57300" y="2628900"/>
              <a:ext cx="5086350" cy="533400"/>
            </a:xfrm>
            <a:custGeom>
              <a:avLst/>
              <a:gdLst/>
              <a:ahLst/>
              <a:cxnLst/>
              <a:rect l="l" t="t" r="r" b="b"/>
              <a:pathLst>
                <a:path w="5086350" h="533400">
                  <a:moveTo>
                    <a:pt x="5086350" y="0"/>
                  </a:moveTo>
                  <a:lnTo>
                    <a:pt x="5086350" y="533400"/>
                  </a:lnTo>
                  <a:lnTo>
                    <a:pt x="0" y="533400"/>
                  </a:ln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1181100" y="26289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0"/>
                  </a:moveTo>
                  <a:lnTo>
                    <a:pt x="0" y="13335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19323" y="3358039"/>
              <a:ext cx="37813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环路面积越小，母线尖峰与开关噪声越容易控制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353300" y="1028700"/>
            <a:ext cx="4381500" cy="2743200"/>
            <a:chOff x="7353300" y="1028700"/>
            <a:chExt cx="4381500" cy="2743200"/>
          </a:xfrm>
        </p:grpSpPr>
        <p:sp>
          <p:nvSpPr>
            <p:cNvPr id="31" name="Rectangle 31"/>
            <p:cNvSpPr/>
            <p:nvPr/>
          </p:nvSpPr>
          <p:spPr>
            <a:xfrm>
              <a:off x="7353300" y="1028700"/>
              <a:ext cx="4381500" cy="2743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53300" y="1028700"/>
              <a:ext cx="43815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31673" y="1125379"/>
              <a:ext cx="20247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按参考图复核本项目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1902" y="1608296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半桥上下管相邻，开关节点铜皮短而宽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1902" y="1979771"/>
              <a:ext cx="361814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母线电容贴近功率级，回流不穿过控制地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1902" y="2351246"/>
              <a:ext cx="30955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CBOOT / VDD 去耦贴近驱动器引脚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1902" y="2722721"/>
              <a:ext cx="407420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Gate 与 Source 回流并行，减少栅极环路面积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1902" y="3094196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高压功率走线与低压信号走线保持分离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57200" y="3962400"/>
            <a:ext cx="5334000" cy="2247900"/>
            <a:chOff x="457200" y="3962400"/>
            <a:chExt cx="5334000" cy="2247900"/>
          </a:xfrm>
        </p:grpSpPr>
        <p:sp>
          <p:nvSpPr>
            <p:cNvPr id="40" name="Rectangle 40"/>
            <p:cNvSpPr/>
            <p:nvPr/>
          </p:nvSpPr>
          <p:spPr>
            <a:xfrm>
              <a:off x="457200" y="3962400"/>
              <a:ext cx="53340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57200" y="3962400"/>
              <a:ext cx="5334000" cy="342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69998" y="4046696"/>
              <a:ext cx="33084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MPS 官方参考：MP6532 Demo Board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77" y="4400550"/>
              <a:ext cx="2236496" cy="15621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3985260" y="4499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86212" y="479345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上下管连接极短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86212" y="507920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大电流路径宽铜皮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86212" y="5364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去耦靠近驱动 IC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86212" y="565070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功率地避开信号地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7218" y="59907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来源：MPS AN111 Figure 10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81700" y="3962400"/>
            <a:ext cx="5753100" cy="2247900"/>
            <a:chOff x="5981700" y="3962400"/>
            <a:chExt cx="5753100" cy="2247900"/>
          </a:xfrm>
        </p:grpSpPr>
        <p:sp>
          <p:nvSpPr>
            <p:cNvPr id="51" name="Rectangle 51"/>
            <p:cNvSpPr/>
            <p:nvPr/>
          </p:nvSpPr>
          <p:spPr>
            <a:xfrm>
              <a:off x="5981700" y="3962400"/>
              <a:ext cx="57531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81700" y="3962400"/>
              <a:ext cx="5753100" cy="342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3810" y="4046696"/>
              <a:ext cx="310887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TI 官方参考：Bootstrap 元件布局</a:t>
              </a:r>
            </a:p>
          </p:txBody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5456" y="4457700"/>
              <a:ext cx="3630138" cy="1390650"/>
            </a:xfrm>
            <a:prstGeom prst="rect">
              <a:avLst/>
            </a:prstGeom>
          </p:spPr>
        </p:pic>
        <p:sp>
          <p:nvSpPr>
            <p:cNvPr id="55" name="TextBox 55"/>
            <p:cNvSpPr txBox="1"/>
            <p:nvPr/>
          </p:nvSpPr>
          <p:spPr>
            <a:xfrm>
              <a:off x="9986010" y="4499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86962" y="4793456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CBOOT 紧贴 HO/HS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86962" y="5079206"/>
              <a:ext cx="12812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CVDD 紧贴供电脚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86962" y="53649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高峰值充电路径短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86962" y="565070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高压/低压走线分离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78868" y="5990749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来源：TI SLUA887A Figure 4-1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62" name="TextBox 62"/>
            <p:cNvSpPr txBox="1"/>
            <p:nvPr/>
          </p:nvSpPr>
          <p:spPr>
            <a:xfrm>
              <a:off x="444818" y="6514624"/>
              <a:ext cx="58364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本页使用官方参考图说明原则，后续应对当前 PCB 的功率级、Bootstrap、Gate 回路进行逐项复核。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9" grpId="0"/>
      <p:bldP spid="50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5151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Layout——三相电流采样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1028700"/>
            <a:ext cx="11277600" cy="1809750"/>
            <a:chOff x="457200" y="1028700"/>
            <a:chExt cx="11277600" cy="18097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11277600" cy="1809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429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0540" y="16397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三相分流电阻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855" y="1959292"/>
              <a:ext cx="2032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R10 / R11 / R12 · 10 mΩ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7813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2004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3337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75328" y="1639729"/>
              <a:ext cx="9551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INA240A1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54220" y="1959292"/>
              <a:ext cx="9974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增益 20 V/V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721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57912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245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95219" y="1639729"/>
              <a:ext cx="12970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输出 RC 滤波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13953" y="1959292"/>
              <a:ext cx="205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抑制开关尖峰与 ADC 混叠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9629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3820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15350" y="1504950"/>
              <a:ext cx="293370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9325" y="1639729"/>
              <a:ext cx="160575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STM32G431 ADC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44415" y="1959292"/>
              <a:ext cx="2275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同步采样并进入 FOC 电流环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3009900"/>
            <a:ext cx="5200650" cy="3105150"/>
            <a:chOff x="457200" y="3009900"/>
            <a:chExt cx="5200650" cy="3105150"/>
          </a:xfrm>
        </p:grpSpPr>
        <p:sp>
          <p:nvSpPr>
            <p:cNvPr id="26" name="Rectangle 26"/>
            <p:cNvSpPr/>
            <p:nvPr/>
          </p:nvSpPr>
          <p:spPr>
            <a:xfrm>
              <a:off x="457200" y="3009900"/>
              <a:ext cx="5200650" cy="3105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7200" y="3009900"/>
              <a:ext cx="520065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75940" y="3116104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采样布局要点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852" y="3656171"/>
              <a:ext cx="312408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分流电阻两端采用 Kelvin 四线取样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4852" y="4037171"/>
              <a:ext cx="405519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IN+ / IN− 成对、等长并避开 SHx 与 Gate 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4852" y="4418171"/>
              <a:ext cx="368465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INA240 紧靠分流电阻，缩小差分采样环路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852" y="4799171"/>
              <a:ext cx="27345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0.1 μF 去耦电容紧贴电源引脚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4852" y="5180171"/>
              <a:ext cx="37986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输出滤波器靠近 ADC，走线参考连续地平面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42950" y="5543550"/>
              <a:ext cx="4629150" cy="38100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66758" y="5645468"/>
              <a:ext cx="31815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采样比例：10 mΩ × 20 V/V = 0.2 V/A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838354" y="3009900"/>
            <a:ext cx="5906442" cy="3105150"/>
            <a:chOff x="5838354" y="3009900"/>
            <a:chExt cx="5906442" cy="3105150"/>
          </a:xfrm>
        </p:grpSpPr>
        <p:sp>
          <p:nvSpPr>
            <p:cNvPr id="37" name="Rectangle 37"/>
            <p:cNvSpPr/>
            <p:nvPr/>
          </p:nvSpPr>
          <p:spPr>
            <a:xfrm>
              <a:off x="5848350" y="3009900"/>
              <a:ext cx="5886450" cy="31051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38354" y="3848576"/>
              <a:ext cx="590644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此处放置：分流电阻至 INA240 的局部走线截图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7444" y="4361021"/>
              <a:ext cx="45682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截图需要清楚显示 R10 / R11 / R12 两端的独立取样线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6070" y="4739164"/>
              <a:ext cx="50310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建议标出 Kelvin 取样点、差分线对、INA240 去耦和 ADC RC 滤波器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181850" y="529590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custDash>
                <a:ds d="400000" sp="300000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6135" y="549021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避免从承载大电流的铜皮末端直接引出采样线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44" name="TextBox 44"/>
            <p:cNvSpPr txBox="1"/>
            <p:nvPr/>
          </p:nvSpPr>
          <p:spPr>
            <a:xfrm>
              <a:off x="444818" y="6514624"/>
              <a:ext cx="6051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INA240 的增强 PWM 抑制能力适合电机相电流检测，PCB 仍需通过 Kelvin 连接保证真实压降被准确采集。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6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523522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Layout——编码器与隔离通信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1028700"/>
            <a:ext cx="5467350" cy="5124450"/>
            <a:chOff x="457200" y="1028700"/>
            <a:chExt cx="5467350" cy="51244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546735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28700"/>
              <a:ext cx="546735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90287" y="1144429"/>
              <a:ext cx="220117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MA600A 磁编码器布局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04850" y="1657350"/>
              <a:ext cx="4972050" cy="21907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2695575" y="2105025"/>
              <a:ext cx="990600" cy="9906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custDash>
                <a:ds d="400000" sp="300000"/>
              </a:custDash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2505075"/>
              <a:ext cx="190500" cy="1905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5988" y="3195161"/>
              <a:ext cx="350977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放置 MA600A 中心区域 PCB 截图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9425" y="3509010"/>
              <a:ext cx="33828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标出电机轴心、磁钢中心与 5 mm 器件避让范围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805" y="41119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传感器中心与电机轴心对齐，减少偏心角误差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805" y="44548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大电流铜皮与开关节点远离传感器及磁钢区域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5805" y="4797742"/>
              <a:ext cx="35447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电容等磁性敏感器件距芯片中心至少 5 mm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5805" y="5140642"/>
              <a:ext cx="42288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SPI 线短且参考完整地，可预留 200 Ω / 10 pF 滤波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42950" y="5638800"/>
              <a:ext cx="4686300" cy="3238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0598" y="5728335"/>
              <a:ext cx="42310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布局目标：保证角度反馈稳定，降低电流环与位置环抖动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115050" y="1028700"/>
            <a:ext cx="5619750" cy="5124450"/>
            <a:chOff x="6115050" y="1028700"/>
            <a:chExt cx="5619750" cy="5124450"/>
          </a:xfrm>
        </p:grpSpPr>
        <p:sp>
          <p:nvSpPr>
            <p:cNvPr id="21" name="Rectangle 21"/>
            <p:cNvSpPr/>
            <p:nvPr/>
          </p:nvSpPr>
          <p:spPr>
            <a:xfrm>
              <a:off x="6115050" y="1028700"/>
              <a:ext cx="561975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15050" y="1028700"/>
              <a:ext cx="561975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22637" y="1144429"/>
              <a:ext cx="320457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MIE1W0505 + ISO1042 隔离通信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62700" y="1657350"/>
              <a:ext cx="5124450" cy="21907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25" name="Line 25"/>
            <p:cNvSpPr/>
            <p:nvPr/>
          </p:nvSpPr>
          <p:spPr>
            <a:xfrm>
              <a:off x="8924925" y="186690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custDash>
                <a:ds d="333333" sp="266666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8924925" y="3276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custDash>
                <a:ds d="333333" sp="266666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04961" y="22002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控制侧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76711" y="22002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总线侧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5530" y="2880836"/>
              <a:ext cx="303878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放置 ISO1042 隔离边界截图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81456" y="3251835"/>
              <a:ext cx="36869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标出隔离槽、两侧地平面、CANH / CANL 与接口位置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3655" y="4111942"/>
              <a:ext cx="39407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隔离电源与收发器靠近放置，缩短 ISO_5V 回路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83655" y="4454842"/>
              <a:ext cx="3427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隔离边界上下层保持净空，禁止铜皮跨越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83655" y="4797742"/>
              <a:ext cx="37607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CANH / CANL 成对布线并靠近接口与终端器件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83655" y="51406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控制地与总线地分区明确，降低外部共模干扰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00800" y="5638800"/>
              <a:ext cx="4838700" cy="3238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36626" y="5728335"/>
              <a:ext cx="45670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布局目标：将电机功率噪声限制在本地，保护控制与通信链路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38" name="TextBox 38"/>
            <p:cNvSpPr txBox="1"/>
            <p:nvPr/>
          </p:nvSpPr>
          <p:spPr>
            <a:xfrm>
              <a:off x="444818" y="6514624"/>
              <a:ext cx="5082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MA600A 区域关注磁场与机械中心，ISO1042 区域关注爬电净空、回流路径和总线走线。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Layout——散热与设计检查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6438900" cy="5124450"/>
            <a:chOff x="457200" y="1028700"/>
            <a:chExt cx="6438900" cy="51244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438900" cy="51244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57300"/>
              <a:ext cx="6019800" cy="2400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050" y="1423563"/>
              <a:ext cx="5791200" cy="2067774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3829050"/>
              <a:ext cx="6019800" cy="2076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392" y="40238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散热路径设计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9155" y="44643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MOSFET 与分流电阻采用大面积铜皮扩散热量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9155" y="4807268"/>
              <a:ext cx="3427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上下层通过并联过孔导热，降低局部热点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9155" y="51501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功率器件沿板边布置，便于接触外壳或结构件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155" y="549306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温升测试后再确定铜厚、过孔数量与外壳导热方案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86600" y="1028700"/>
            <a:ext cx="4648200" cy="5124450"/>
            <a:chOff x="7086600" y="1028700"/>
            <a:chExt cx="4648200" cy="5124450"/>
          </a:xfrm>
        </p:grpSpPr>
        <p:sp>
          <p:nvSpPr>
            <p:cNvPr id="16" name="Rectangle 16"/>
            <p:cNvSpPr/>
            <p:nvPr/>
          </p:nvSpPr>
          <p:spPr>
            <a:xfrm>
              <a:off x="7086600" y="1028700"/>
              <a:ext cx="464820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1028700"/>
              <a:ext cx="464820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7678" y="1144429"/>
              <a:ext cx="21460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 设计检查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296150" y="1668304"/>
              <a:ext cx="3448050" cy="541496"/>
              <a:chOff x="7296150" y="1668304"/>
              <a:chExt cx="3448050" cy="541496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296150" y="16954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02162" y="17840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28598" y="16683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功率路径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33360" y="196596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母线、半桥、相线与分流电阻环路短且宽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7372350" y="23241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96150" y="2506504"/>
              <a:ext cx="3288030" cy="541496"/>
              <a:chOff x="7296150" y="2506504"/>
              <a:chExt cx="3288030" cy="541496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7296150" y="25336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02162" y="26222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28598" y="25065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回流路径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33360" y="2804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驱动、采样与控制信号均有连续地参考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7372350" y="31623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96150" y="3344704"/>
              <a:ext cx="3448050" cy="541496"/>
              <a:chOff x="7296150" y="3344704"/>
              <a:chExt cx="3448050" cy="541496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296150" y="33718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02162" y="34604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28598" y="3344704"/>
                <a:ext cx="70158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热路径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833360" y="364236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铜皮、导热过孔与结构散热形成连续通道</a:t>
                </a: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7372350" y="40005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96150" y="4182904"/>
              <a:ext cx="3664077" cy="541496"/>
              <a:chOff x="7296150" y="4182904"/>
              <a:chExt cx="3664077" cy="541496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7296150" y="42100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02162" y="42986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28598" y="41829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敏感信号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33360" y="4480560"/>
                <a:ext cx="312686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电流采样、编码器与 SPI 避开高 dv/dt 节点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372350" y="48387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96150" y="5021104"/>
              <a:ext cx="3608070" cy="541496"/>
              <a:chOff x="7296150" y="5021104"/>
              <a:chExt cx="3608070" cy="541496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7296150" y="50482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402162" y="5136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28598" y="50211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隔离边界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833360" y="531876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隔离净空完整，控制地与总线地无铜皮跨接</a:t>
                </a: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7372350" y="5695950"/>
              <a:ext cx="4095750" cy="26670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58182" y="576500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下一步：结合温升、母线尖峰和电流采样波形完成实板验证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51" name="TextBox 51"/>
            <p:cNvSpPr txBox="1"/>
            <p:nvPr/>
          </p:nvSpPr>
          <p:spPr>
            <a:xfrm>
              <a:off x="444818" y="6514624"/>
              <a:ext cx="37432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Layout 完成后，需通过热像、示波器和带载测试验证设计假设。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1681</Words>
  <Application>Microsoft Office PowerPoint</Application>
  <PresentationFormat>宽屏</PresentationFormat>
  <Paragraphs>160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Rise Sun</cp:lastModifiedBy>
  <cp:revision>2</cp:revision>
  <dcterms:created xsi:type="dcterms:W3CDTF">2026-06-14T06:43:15Z</dcterms:created>
  <dcterms:modified xsi:type="dcterms:W3CDTF">2026-06-14T06:47:24Z</dcterms:modified>
  <cp:category/>
  <cp:contentStatus/>
  <dc:language/>
</cp:coreProperties>
</file>