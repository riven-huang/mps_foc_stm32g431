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84" r:id="rId5"/>
    <p:sldId id="258" r:id="rId6"/>
    <p:sldId id="283" r:id="rId7"/>
    <p:sldId id="267" r:id="rId8"/>
    <p:sldId id="268" r:id="rId9"/>
    <p:sldId id="365" r:id="rId10"/>
    <p:sldId id="259" r:id="rId11"/>
    <p:sldId id="266" r:id="rId12"/>
    <p:sldId id="362" r:id="rId13"/>
    <p:sldId id="270" r:id="rId14"/>
    <p:sldId id="271" r:id="rId15"/>
    <p:sldId id="272" r:id="rId16"/>
    <p:sldId id="260" r:id="rId17"/>
    <p:sldId id="363" r:id="rId18"/>
    <p:sldId id="261" r:id="rId19"/>
    <p:sldId id="366" r:id="rId20"/>
    <p:sldId id="262" r:id="rId21"/>
    <p:sldId id="279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  <p188:author id="{DBF8D1DB-DC70-CD51-A32D-A25DA2D31ED3}" name="Jessie (Yijun) Guo" initials="JG" userId="S::Jessie.Guo@monolithicpower.com::182e48c2-b88f-4d5b-8f7a-720db196549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ffee (Zhenzhen) Jia" initials="T(J" lastIdx="7" clrIdx="0">
    <p:extLst>
      <p:ext uri="{19B8F6BF-5375-455C-9EA6-DF929625EA0E}">
        <p15:presenceInfo xmlns:p15="http://schemas.microsoft.com/office/powerpoint/2012/main" userId="S-1-5-21-861567501-606747145-725345543-291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5283" autoAdjust="0"/>
  </p:normalViewPr>
  <p:slideViewPr>
    <p:cSldViewPr snapToGrid="0">
      <p:cViewPr varScale="1">
        <p:scale>
          <a:sx n="74" d="100"/>
          <a:sy n="74" d="100"/>
        </p:scale>
        <p:origin x="1432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9:36.967" idx="4">
    <p:pos x="10" y="10"/>
    <p:text>这里的转场是否有点跳跃？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9:04.179" idx="3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23T10:04:24.020" idx="1">
    <p:pos x="10" y="10"/>
    <p:text>1、这一页TI需要改成：其他厂家
2、可以解释这两种设计的优劣势，以及为何选MPS方案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1" dirty="0"/>
              <a:t>先来几秒钟快闪</a:t>
            </a:r>
            <a:endParaRPr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A033-CB31-999A-7FD0-80F07479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F1318-F7B0-C534-924F-9381A22E3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485DB-7BEC-07F9-C239-A63B99694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650"/>
              </a:lnSpc>
              <a:buNone/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好的，大家好！本期视频我们分为上下两部分，上半部分是器件选型，下半部分我们进入硬件设计篇。</a:t>
            </a: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endParaRPr lang="zh-CN" altLang="en-US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在这一章节我们会结合关节电机在机器人领域应用的实际指标，分析系统需求和关键参数，给出这套 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MPS 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方案的选型依据与适用场景。</a:t>
            </a: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随后，我们会结合器件手册和应用场景，讲解原理图设计与 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PCB Layout 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的关键思路，将整块 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FOC 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控制板像剥洋葱一样逐层拆开。</a:t>
            </a: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  <a:buNone/>
            </a:pPr>
            <a:endParaRPr lang="zh-CN" altLang="en-US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/>
              <a:t>本章结束时，我们会得到一块具备上电和板级验证条件的硬件。下一章再进入代码、闭环调试和完整测试。</a:t>
            </a:r>
          </a:p>
          <a:p>
            <a:pPr algn="l">
              <a:lnSpc>
                <a:spcPts val="1650"/>
              </a:lnSpc>
            </a:pPr>
            <a:endParaRPr lang="en-US" altLang="zh-CN" sz="2800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algn="l">
              <a:lnSpc>
                <a:spcPts val="1650"/>
              </a:lnSpc>
            </a:pP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话不多说，让我们先进入接下来的指标分析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part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。</a:t>
            </a:r>
          </a:p>
          <a:p>
            <a:pPr marL="0" indent="0" algn="l">
              <a:lnSpc>
                <a:spcPts val="2000"/>
              </a:lnSpc>
              <a:buFont typeface="Arial" panose="020B0604020202020204" pitchFamily="34" charset="0"/>
              <a:buNone/>
            </a:pPr>
            <a:endParaRPr lang="en-US" altLang="zh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3A63-AB65-BA54-1D04-54CFA33D04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969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0AF1-AA35-53E4-997A-D5E5498D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EC682-C05E-80C5-0D4A-F5EE523E1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EF9ED4A-A4EC-0453-C06E-D04ED79BE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/>
                  <a:t>硬件设计的第一步，定义预期工况。</a:t>
                </a:r>
                <a:endParaRPr lang="en-US" altLang="zh-CN" sz="18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/>
                  <a:t>以机器人上肢关节为例，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上肢等效质量取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kg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，质心力臂取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0.20 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，考虑启停、制动和外部扰动，加入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1.5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的动态系数，峰值转矩提高至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8.83 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。关节输出转速取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160 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rpm</m:t>
                    </m:r>
                  </m:oMath>
                </a14:m>
                <a:r>
                  <a:rPr lang="zh-CN" altLang="en-US" sz="1200" kern="1200" dirty="0">
                    <a:effectLst/>
                  </a:rPr>
                  <a:t>。</a:t>
                </a:r>
                <a:endParaRPr lang="zh-CN" altLang="zh-CN" sz="1200" kern="1200" dirty="0">
                  <a:effectLst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GM6010-8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关节电机为例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右侧为电机参数。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减速器效率取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85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，电机效率取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90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，系统总效率约为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76.5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。折算后，连续电气功率约为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129 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，短时峰值功率约为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193 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连续功率加入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40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的设计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因此，驱动板按照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180 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连续功率设计。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EF9ED4A-A4EC-0453-C06E-D04ED79BEB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以机器人肩关节伸展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运动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作为典型工况。上肢等效质量取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 kg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，质心力臂取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0.20 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，考虑启停、制动和外部扰动，加入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1.5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的动态系数，峰值转矩提高至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8.83 N⋅m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。关节输出转速取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160 rpm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，对应角速度约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16.76 rad/s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GM6010-8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电机为例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右侧为电机参数。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减速器效率取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85%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，电机效率取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90%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，系统总效率约为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76.5%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。折算后，连续电气功率约为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129 W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，短时峰值功率约为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193 W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连续功率加入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40%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的设计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因此，驱动板按照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180 W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连续功率设计。</a:t>
                </a:r>
                <a:endParaRPr lang="en-US" altLang="zh-CN" b="1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93EE8-D819-30A6-B7FB-F3104C3CCA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7257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下一步是把电机参数转换为设计指标。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具身智能行业，电源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母线侧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普遍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13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串锂电池，典型工作范围约为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39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54.6 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考虑到</a:t>
                </a:r>
                <a:r>
                  <a:rPr lang="zh-CN" altLang="zh-CN" sz="1200" kern="1200" dirty="0">
                    <a:effectLst/>
                  </a:rPr>
                  <a:t>电机减速和制动时，机械能会通过逆变桥回灌母线</a:t>
                </a:r>
                <a:r>
                  <a:rPr lang="zh-CN" altLang="en-US" sz="1200" kern="1200" dirty="0">
                    <a:effectLst/>
                  </a:rPr>
                  <a:t>，我们按照最恶劣的回馈情况计算，</a:t>
                </a:r>
                <a:r>
                  <a:rPr lang="zh-CN" altLang="zh-CN" sz="1200" kern="1200" dirty="0">
                    <a:effectLst/>
                  </a:rPr>
                  <a:t>如果</a:t>
                </a:r>
                <a:r>
                  <a:rPr lang="en-US" altLang="zh-CN" sz="1200" kern="1200" dirty="0">
                    <a:effectLst/>
                  </a:rPr>
                  <a:t> BMS </a:t>
                </a:r>
                <a:r>
                  <a:rPr lang="zh-CN" altLang="zh-CN" sz="1200" kern="1200" dirty="0">
                    <a:effectLst/>
                  </a:rPr>
                  <a:t>不允许回充</a:t>
                </a:r>
                <a:r>
                  <a:rPr lang="zh-CN" altLang="en-US" sz="1200" kern="1200" dirty="0">
                    <a:effectLst/>
                  </a:rPr>
                  <a:t>，母线电压会被抬高到一个较高值。因此再设计一级辅助电源时，需要额外注意耐压。</a:t>
                </a:r>
                <a:endParaRPr lang="zh-CN" altLang="zh-CN" sz="1200" kern="12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r>
                  <a:rPr lang="zh-CN" altLang="zh-CN" sz="1200" kern="1200" dirty="0">
                    <a:effectLst/>
                  </a:rPr>
                  <a:t>根据电机转矩常数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kern="120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kern="1200">
                            <a:effectLst/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200" i="1" kern="1200"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200" kern="1200" dirty="0">
                    <a:effectLst/>
                  </a:rPr>
                  <a:t>，可以将前面得到的关节转矩换算为对应的电流需求，具体计算见左下角。在此基础上，综合考虑器件参数偏差、瞬态过冲以及控制裕量，最终将功率级的连续相电流能力确定为 </a:t>
                </a:r>
                <a14:m>
                  <m:oMath xmlns:m="http://schemas.openxmlformats.org/officeDocument/2006/math">
                    <m:r>
                      <a:rPr lang="en-US" altLang="zh-CN" sz="1200" i="1" kern="1200">
                        <a:effectLst/>
                        <a:latin typeface="Cambria Math" panose="02040503050406030204" pitchFamily="18" charset="0"/>
                      </a:rPr>
                      <m:t>15 </m:t>
                    </m:r>
                    <m:r>
                      <m:rPr>
                        <m:sty m:val="p"/>
                      </m:rPr>
                      <a:rPr lang="en-US" altLang="zh-CN" sz="1200" kern="1200">
                        <a:effectLst/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0" dirty="0"/>
                  <a:t>根据上述计算，最终可以得出设计目标。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机器人的关节电机实际需求 </a:t>
                </a:r>
                <a:r>
                  <a:rPr lang="en-US" altLang="zh-CN" b="1" dirty="0"/>
                  <a:t>(200W,</a:t>
                </a:r>
                <a:r>
                  <a:rPr lang="en-US" altLang="zh-CN" b="1" baseline="0" dirty="0"/>
                  <a:t> 48V) </a:t>
                </a:r>
                <a:r>
                  <a:rPr lang="en-US" altLang="zh-CN" b="1" dirty="0"/>
                  <a:t>&gt;&gt;</a:t>
                </a:r>
                <a:r>
                  <a:rPr lang="zh-CN" altLang="en-US" b="1" dirty="0"/>
                  <a:t>确定设计目标（图中设计目标）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下一步是把电机参数转换为设计指标。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具身智能行业，电源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母线侧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普遍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13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串锂电池，典型工作范围约为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39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54.6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考虑到</a:t>
                </a:r>
                <a:r>
                  <a:rPr lang="zh-CN" altLang="zh-CN" sz="1200" kern="1200" dirty="0">
                    <a:effectLst/>
                  </a:rPr>
                  <a:t>电机减速和制动时，机械能会通过逆变桥回灌母线</a:t>
                </a:r>
                <a:r>
                  <a:rPr lang="zh-CN" altLang="en-US" sz="1200" kern="1200" dirty="0">
                    <a:effectLst/>
                  </a:rPr>
                  <a:t>，我们按照最恶劣的回馈情况计算，</a:t>
                </a:r>
                <a:r>
                  <a:rPr lang="zh-CN" altLang="zh-CN" sz="1200" kern="1200" dirty="0">
                    <a:effectLst/>
                  </a:rPr>
                  <a:t>如果</a:t>
                </a:r>
                <a:r>
                  <a:rPr lang="en-US" altLang="zh-CN" sz="1200" kern="1200" dirty="0">
                    <a:effectLst/>
                  </a:rPr>
                  <a:t> BMS </a:t>
                </a:r>
                <a:r>
                  <a:rPr lang="zh-CN" altLang="zh-CN" sz="1200" kern="1200" dirty="0">
                    <a:effectLst/>
                  </a:rPr>
                  <a:t>不允许回充</a:t>
                </a:r>
                <a:r>
                  <a:rPr lang="zh-CN" altLang="en-US" sz="1200" kern="1200" dirty="0">
                    <a:effectLst/>
                  </a:rPr>
                  <a:t>，母线电压会被抬高到一个较高值。因此再设计一级辅助电源时，需要额外注意耐压。</a:t>
                </a:r>
                <a:endParaRPr lang="zh-CN" altLang="zh-CN" sz="1200" kern="12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r>
                  <a:rPr lang="zh-CN" altLang="zh-CN" sz="1200" kern="1200" dirty="0">
                    <a:effectLst/>
                  </a:rPr>
                  <a:t>根据电机转矩常数 </a:t>
                </a:r>
                <a:r>
                  <a:rPr lang="en-US" altLang="zh-CN" sz="1200" i="0" kern="1200">
                    <a:effectLst/>
                  </a:rPr>
                  <a:t>𝐾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𝑡</a:t>
                </a:r>
                <a:r>
                  <a:rPr lang="zh-CN" altLang="zh-CN" sz="1200" kern="1200" dirty="0">
                    <a:effectLst/>
                  </a:rPr>
                  <a:t>，可以将前面得到的关节转矩换算为对应的电流需求，具体计算见左下角。在此基础上，综合考虑器件参数偏差、瞬态过冲以及控制裕量，最终将功率级的连续相电流能力确定为 </a:t>
                </a:r>
                <a:r>
                  <a:rPr lang="en-US" altLang="zh-CN" sz="1200" i="0" kern="1200">
                    <a:effectLst/>
                  </a:rPr>
                  <a:t>15 A</a:t>
                </a:r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0" dirty="0"/>
                  <a:t>根据上述计算，最终可以得出设计目标。</a:t>
                </a:r>
                <a:endParaRPr lang="en-US" altLang="zh-CN" b="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如何设计驱动板：软件</a:t>
                </a:r>
                <a:r>
                  <a:rPr lang="en-US" altLang="zh-CN" b="1" dirty="0" err="1"/>
                  <a:t>FOC</a:t>
                </a:r>
                <a:r>
                  <a:rPr lang="zh-CN" altLang="en-US" b="1" dirty="0"/>
                  <a:t>控制方式</a:t>
                </a:r>
                <a:r>
                  <a:rPr lang="en-US" altLang="zh-CN" b="1" dirty="0"/>
                  <a:t>+</a:t>
                </a:r>
                <a:r>
                  <a:rPr lang="zh-CN" altLang="en-US" b="1" dirty="0"/>
                  <a:t>硬件电源树整体方案 </a:t>
                </a:r>
                <a:r>
                  <a:rPr lang="en-US" altLang="zh-CN" b="1" dirty="0"/>
                  <a:t>(</a:t>
                </a:r>
                <a:r>
                  <a:rPr lang="zh-CN" altLang="en-US" b="1" dirty="0"/>
                  <a:t>系统具体部分）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有了设计指标，就可以将其落实到系统架构上。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主功率路径最直接：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母线进入三相逆变桥，六颗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把直流电压合成为电机需要的三相电压。</a:t>
                </a:r>
                <a:r>
                  <a:rPr lang="en-US" altLang="zh-CN" sz="1200" kern="1200" dirty="0">
                    <a:effectLst/>
                  </a:rPr>
                  <a:t>MCU +</a:t>
                </a:r>
                <a:r>
                  <a:rPr lang="zh-CN" altLang="zh-CN" sz="1200" kern="1200" dirty="0">
                    <a:effectLst/>
                  </a:rPr>
                  <a:t>三相预驱动器</a:t>
                </a:r>
                <a:r>
                  <a:rPr lang="zh-CN" altLang="en-US" sz="1200" kern="1200" dirty="0">
                    <a:effectLst/>
                  </a:rPr>
                  <a:t>驱动逆变桥</a:t>
                </a:r>
                <a:r>
                  <a:rPr lang="zh-CN" altLang="zh-CN" sz="1200" kern="1200" dirty="0">
                    <a:effectLst/>
                  </a:rPr>
                  <a:t>，负责</a:t>
                </a:r>
                <a:r>
                  <a:rPr lang="zh-CN" altLang="en-US" sz="1200" kern="1200" dirty="0">
                    <a:effectLst/>
                  </a:rPr>
                  <a:t>功率器件控制</a:t>
                </a:r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辅助电源则分成几级：先用高压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Buck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把母线降到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，给栅极驱动供电；再把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kern="12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>
                    <a:effectLst/>
                  </a:rPr>
                  <a:t>其中一路通过低噪声</a:t>
                </a:r>
                <a:r>
                  <a:rPr lang="en-US" altLang="zh-CN" sz="1200" kern="1200" dirty="0">
                    <a:effectLst/>
                  </a:rPr>
                  <a:t> LDO </a:t>
                </a:r>
                <a:r>
                  <a:rPr lang="zh-CN" altLang="zh-CN" sz="1200" kern="1200" dirty="0">
                    <a:effectLst/>
                  </a:rPr>
                  <a:t>得到 </a:t>
                </a:r>
                <a14:m>
                  <m:oMath xmlns:m="http://schemas.openxmlformats.org/officeDocument/2006/math">
                    <m:r>
                      <a:rPr lang="en-US" altLang="zh-CN" sz="1200" i="1" kern="1200">
                        <a:effectLst/>
                        <a:latin typeface="Cambria Math" panose="02040503050406030204" pitchFamily="18" charset="0"/>
                      </a:rPr>
                      <m:t>3.3 </m:t>
                    </m:r>
                    <m:r>
                      <m:rPr>
                        <m:sty m:val="p"/>
                      </m:rPr>
                      <a:rPr lang="en-US" altLang="zh-CN" sz="1200" kern="1200">
                        <a:effectLst/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zh-CN" sz="1200" kern="1200" dirty="0">
                    <a:effectLst/>
                  </a:rPr>
                  <a:t>，供</a:t>
                </a:r>
                <a:r>
                  <a:rPr lang="en-US" altLang="zh-CN" sz="1200" kern="1200" dirty="0">
                    <a:effectLst/>
                  </a:rPr>
                  <a:t> MCU</a:t>
                </a:r>
                <a:r>
                  <a:rPr lang="zh-CN" altLang="zh-CN" sz="1200" kern="1200" dirty="0">
                    <a:effectLst/>
                  </a:rPr>
                  <a:t>、编码器和采样电路使用；另一路经过隔离电源生成隔离 </a:t>
                </a:r>
                <a14:m>
                  <m:oMath xmlns:m="http://schemas.openxmlformats.org/officeDocument/2006/math">
                    <m:r>
                      <a:rPr lang="en-US" altLang="zh-CN" sz="1200" i="1" kern="1200">
                        <a:effectLst/>
                        <a:latin typeface="Cambria Math" panose="020405030504060302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200" kern="1200">
                        <a:effectLst/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zh-CN" sz="1200" kern="1200" dirty="0">
                    <a:effectLst/>
                  </a:rPr>
                  <a:t>，供隔离</a:t>
                </a:r>
                <a:r>
                  <a:rPr lang="en-US" altLang="zh-CN" sz="1200" kern="1200" dirty="0">
                    <a:effectLst/>
                  </a:rPr>
                  <a:t> CAN </a:t>
                </a:r>
                <a:r>
                  <a:rPr lang="zh-CN" altLang="zh-CN" sz="1200" kern="1200" dirty="0">
                    <a:effectLst/>
                  </a:rPr>
                  <a:t>总线侧使用。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在此过程。电流采样电路负责检测电机相电流，位置传感器负责提供转子位置和电角度，</a:t>
                </a:r>
                <a:r>
                  <a:rPr lang="zh-CN" altLang="en-US" b="0" dirty="0"/>
                  <a:t>二者作为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控制反馈量参与控制。</a:t>
                </a:r>
                <a:endParaRPr lang="en-US" altLang="zh-CN" b="0" dirty="0"/>
              </a:p>
              <a:p>
                <a:endParaRPr lang="en-US" dirty="0"/>
              </a:p>
              <a:p>
                <a:r>
                  <a:rPr lang="zh-CN" altLang="en-US" dirty="0"/>
                  <a:t>接下来就按照这几个功能模块，分别进行芯片选型。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如何设计驱动板：软件</a:t>
                </a:r>
                <a:r>
                  <a:rPr lang="en-US" altLang="zh-CN" b="1" dirty="0" err="1"/>
                  <a:t>FOC</a:t>
                </a:r>
                <a:r>
                  <a:rPr lang="zh-CN" altLang="en-US" b="1" dirty="0"/>
                  <a:t>控制方式</a:t>
                </a:r>
                <a:r>
                  <a:rPr lang="en-US" altLang="zh-CN" b="1" dirty="0"/>
                  <a:t>+</a:t>
                </a:r>
                <a:r>
                  <a:rPr lang="zh-CN" altLang="en-US" b="1" dirty="0"/>
                  <a:t>硬件电源树整体方案 </a:t>
                </a:r>
                <a:r>
                  <a:rPr lang="en-US" altLang="zh-CN" b="1" dirty="0"/>
                  <a:t>(</a:t>
                </a:r>
                <a:r>
                  <a:rPr lang="zh-CN" altLang="en-US" b="1" dirty="0"/>
                  <a:t>系统具体部分）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有了设计指标，就可以将其落实到系统架构上。</a:t>
                </a: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b="1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主功率路径最直接：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母线进入三相逆变桥，六颗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把直流电压合成为电机需要的三相电压。</a:t>
                </a:r>
                <a:r>
                  <a:rPr lang="en-US" altLang="zh-CN" sz="1200" kern="1200" dirty="0">
                    <a:effectLst/>
                  </a:rPr>
                  <a:t>MCU +</a:t>
                </a:r>
                <a:r>
                  <a:rPr lang="zh-CN" altLang="zh-CN" sz="1200" kern="1200" dirty="0">
                    <a:effectLst/>
                  </a:rPr>
                  <a:t>三相预驱动器</a:t>
                </a:r>
                <a:r>
                  <a:rPr lang="zh-CN" altLang="en-US" sz="1200" kern="1200" dirty="0">
                    <a:effectLst/>
                  </a:rPr>
                  <a:t>驱动逆变桥</a:t>
                </a:r>
                <a:r>
                  <a:rPr lang="zh-CN" altLang="zh-CN" sz="1200" kern="1200" dirty="0">
                    <a:effectLst/>
                  </a:rPr>
                  <a:t>，负责</a:t>
                </a:r>
                <a:r>
                  <a:rPr lang="zh-CN" altLang="en-US" sz="1200" kern="1200" dirty="0">
                    <a:effectLst/>
                  </a:rPr>
                  <a:t>功率器件控制</a:t>
                </a:r>
                <a:r>
                  <a:rPr lang="zh-CN" altLang="zh-CN" sz="1200" kern="1200" dirty="0">
                    <a:effectLst/>
                  </a:rPr>
                  <a:t>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辅助电源则分成几级：先用高压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Buck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把母线降到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，给栅极驱动供电；再把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kern="12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200" kern="1200" dirty="0">
                    <a:effectLst/>
                  </a:rPr>
                  <a:t>其中一路通过低噪声</a:t>
                </a:r>
                <a:r>
                  <a:rPr lang="en-US" altLang="zh-CN" sz="1200" kern="1200" dirty="0">
                    <a:effectLst/>
                  </a:rPr>
                  <a:t> LDO </a:t>
                </a:r>
                <a:r>
                  <a:rPr lang="zh-CN" altLang="zh-CN" sz="1200" kern="1200" dirty="0">
                    <a:effectLst/>
                  </a:rPr>
                  <a:t>得到 </a:t>
                </a:r>
                <a:r>
                  <a:rPr lang="en-US" altLang="zh-CN" sz="1200" i="0" kern="1200">
                    <a:effectLst/>
                  </a:rPr>
                  <a:t>3.3 V</a:t>
                </a:r>
                <a:r>
                  <a:rPr lang="zh-CN" altLang="zh-CN" sz="1200" kern="1200" dirty="0">
                    <a:effectLst/>
                  </a:rPr>
                  <a:t>，供</a:t>
                </a:r>
                <a:r>
                  <a:rPr lang="en-US" altLang="zh-CN" sz="1200" kern="1200" dirty="0">
                    <a:effectLst/>
                  </a:rPr>
                  <a:t> MCU</a:t>
                </a:r>
                <a:r>
                  <a:rPr lang="zh-CN" altLang="zh-CN" sz="1200" kern="1200" dirty="0">
                    <a:effectLst/>
                  </a:rPr>
                  <a:t>、编码器和采样电路使用；另一路经过隔离电源生成隔离 </a:t>
                </a:r>
                <a:r>
                  <a:rPr lang="en-US" altLang="zh-CN" sz="1200" i="0" kern="1200">
                    <a:effectLst/>
                  </a:rPr>
                  <a:t>5 V</a:t>
                </a:r>
                <a:r>
                  <a:rPr lang="zh-CN" altLang="zh-CN" sz="1200" kern="1200" dirty="0">
                    <a:effectLst/>
                  </a:rPr>
                  <a:t>，供隔离</a:t>
                </a:r>
                <a:r>
                  <a:rPr lang="en-US" altLang="zh-CN" sz="1200" kern="1200" dirty="0">
                    <a:effectLst/>
                  </a:rPr>
                  <a:t> CAN </a:t>
                </a:r>
                <a:r>
                  <a:rPr lang="zh-CN" altLang="zh-CN" sz="1200" kern="1200" dirty="0">
                    <a:effectLst/>
                  </a:rPr>
                  <a:t>总线侧使用。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在此过程。电流采样电路负责检测电机相电流，位置传感器负责提供转子位置和电角度，</a:t>
                </a:r>
                <a:r>
                  <a:rPr lang="zh-CN" altLang="en-US" b="0" dirty="0"/>
                  <a:t>二者作为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控制反馈量参与控制。</a:t>
                </a:r>
                <a:endParaRPr lang="en-US" altLang="zh-CN" b="0" dirty="0"/>
              </a:p>
              <a:p>
                <a:endParaRPr lang="en-US" dirty="0"/>
              </a:p>
              <a:p>
                <a:r>
                  <a:rPr lang="zh-CN" altLang="en-US" dirty="0"/>
                  <a:t>接下来就按照这几个功能模块，分别进行芯片选型。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81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58CD-D45A-DBE2-ECB1-6ECA604B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96FE0-EDF7-0E4D-69A0-CC112A519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1F48679-E6CF-A28B-4B7E-434E617B3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-1</a:t>
                </a:r>
                <a:r>
                  <a:rPr lang="zh-CN" altLang="en-US" b="1" dirty="0"/>
                  <a:t>：驱动电路篇</a:t>
                </a:r>
                <a:endParaRPr lang="en-US" altLang="zh-CN" b="1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首先是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三相预驱动器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选择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它可以驱动由六颗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N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沟道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组成的三相半桥，母线工作能力覆盖到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100 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  <m:r>
                      <a:rPr lang="zh-CN" altLang="en-US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栅极驱动能力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强，有最大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0.8 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拉电流和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灌电流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b="0" i="0" dirty="0">
                  <a:solidFill>
                    <a:srgbClr val="1A1C1F"/>
                  </a:solidFill>
                  <a:effectLst/>
                  <a:latin typeface="-apple-system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首先看低功耗。芯片带有 </a:t>
                </a:r>
                <a:r>
                  <a:rPr lang="en-US" altLang="zh-CN" dirty="0" err="1"/>
                  <a:t>nSLEEP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睡眠控制脚，进入睡眠状态后静态电流只有</a:t>
                </a:r>
                <a:r>
                  <a:rPr lang="en-US" altLang="zh-CN" dirty="0"/>
                  <a:t>2uA</a:t>
                </a:r>
                <a:r>
                  <a:rPr lang="zh-CN" altLang="en-US" dirty="0"/>
                  <a:t>，适合关机或待机时降低整机功耗。</a:t>
                </a: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高侧驱动采用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Bootstrap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，内部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Charge Pump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用于在高侧长时间导通时维持栅极驱动电压。芯片还集成了可调死区、欠压锁定、过温保护和故障输出，能显著减少外围逻辑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/>
                  <a:t>符合</a:t>
                </a:r>
                <a:r>
                  <a:rPr lang="en-US" altLang="zh-CN" sz="1800" dirty="0"/>
                  <a:t>MPS</a:t>
                </a:r>
                <a:r>
                  <a:rPr lang="zh-CN" altLang="en-US" sz="1800" dirty="0"/>
                  <a:t>一惯的高集成度理念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芯片同时具备低功耗模式，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拉低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nSLEEP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后，典型休眠电流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仅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zh-CN" altLang="en-US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1F48679-E6CF-A28B-4B7E-434E617B3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-1</a:t>
                </a:r>
                <a:r>
                  <a:rPr lang="zh-CN" altLang="en-US" b="1" dirty="0"/>
                  <a:t>：驱动电路篇</a:t>
                </a:r>
                <a:endParaRPr lang="en-US" altLang="zh-CN" b="1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首先是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三相预驱动器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选择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它可以驱动由六颗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N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沟道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组成的三相半桥，母线工作能力覆盖到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100 V</a:t>
                </a:r>
                <a:r>
                  <a:rPr lang="zh-CN" altLang="en-US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栅极驱动能力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强，有最大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0.8 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拉电流和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最大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 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灌电流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b="0" i="0" dirty="0">
                  <a:solidFill>
                    <a:srgbClr val="1A1C1F"/>
                  </a:solidFill>
                  <a:effectLst/>
                  <a:latin typeface="-apple-system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dirty="0"/>
                  <a:t>首先看低功耗。芯片带有 </a:t>
                </a:r>
                <a:r>
                  <a:rPr lang="en-US" altLang="zh-CN" dirty="0" err="1"/>
                  <a:t>nSLEEP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睡眠控制脚，进入睡眠状态后静态电流只有</a:t>
                </a:r>
                <a:r>
                  <a:rPr lang="en-US" altLang="zh-CN" dirty="0"/>
                  <a:t>2uA</a:t>
                </a:r>
                <a:r>
                  <a:rPr lang="zh-CN" altLang="en-US" dirty="0"/>
                  <a:t>，适合关机或待机时降低整机功耗。</a:t>
                </a:r>
                <a:endParaRPr lang="en-US" altLang="zh-CN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高侧驱动采用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Bootstrap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，内部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Charge Pump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用于在高侧长时间导通时维持栅极驱动电压。芯片还集成了可调死区、欠压锁定、过温保护和故障输出，能显著减少外围逻辑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/>
                  <a:t>符合</a:t>
                </a:r>
                <a:r>
                  <a:rPr lang="en-US" altLang="zh-CN" sz="1800" dirty="0"/>
                  <a:t>MPS</a:t>
                </a:r>
                <a:r>
                  <a:rPr lang="zh-CN" altLang="en-US" sz="1800" dirty="0"/>
                  <a:t>一惯的高集成度理念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芯片同时具备低功耗模式，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拉低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nSLEEP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后，典型休眠电流</a:t>
                </a:r>
                <a:r>
                  <a:rPr lang="zh-CN" altLang="en-US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仅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2 𝜇A</a:t>
                </a:r>
                <a:r>
                  <a:rPr lang="zh-CN" altLang="en-US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31CA8-5AB7-608D-2293-F7CBAA1226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550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DE1D3-892B-EDF7-CAA0-7B5DD95D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84B0C-8937-B4B3-D91E-AE1BF959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3182D-070A-796C-5545-4A529BF78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&gt;&gt;</a:t>
            </a:r>
            <a:r>
              <a:rPr lang="zh-CN" altLang="en-US" b="1" dirty="0"/>
              <a:t>硬件电源树整体方案</a:t>
            </a:r>
            <a:r>
              <a:rPr lang="en-US" altLang="zh-CN" b="1" dirty="0"/>
              <a:t>-2</a:t>
            </a:r>
            <a:r>
              <a:rPr lang="zh-CN" altLang="en-US" b="1" dirty="0"/>
              <a:t>：位置传感器篇</a:t>
            </a:r>
            <a:r>
              <a:rPr lang="en-US" altLang="zh-CN" b="1" dirty="0"/>
              <a:t>+</a:t>
            </a:r>
            <a:r>
              <a:rPr lang="zh-CN" altLang="en-US" b="1" dirty="0"/>
              <a:t>电流检测</a:t>
            </a:r>
            <a:endParaRPr lang="en-US" altLang="zh-CN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dirty="0"/>
              <a:t>位置传感器选择</a:t>
            </a:r>
            <a:r>
              <a:rPr lang="en-US" altLang="zh-CN" b="0" dirty="0"/>
              <a:t>MPS</a:t>
            </a:r>
            <a:r>
              <a:rPr lang="zh-CN" altLang="en-US" b="0" dirty="0"/>
              <a:t>的一代神片，</a:t>
            </a:r>
            <a:r>
              <a:rPr lang="en-US" altLang="zh-CN" b="0" dirty="0"/>
              <a:t>MA600A</a:t>
            </a:r>
            <a:r>
              <a:rPr lang="zh-CN" altLang="en-US" b="0" dirty="0"/>
              <a:t>。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它采用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TMR 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磁敏技术</a:t>
            </a:r>
            <a:r>
              <a:rPr lang="zh-CN" altLang="en-US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，相较于霍尔传感器</a:t>
            </a:r>
            <a:r>
              <a:rPr lang="zh-CN" altLang="en-US" dirty="0"/>
              <a:t>，具有更高的磁场灵敏度、更低的噪声、温漂。</a:t>
            </a:r>
            <a:r>
              <a:rPr lang="en-US" altLang="zh-CN" dirty="0"/>
              <a:t>MA600A </a:t>
            </a:r>
            <a:r>
              <a:rPr lang="zh-CN" altLang="en-US" dirty="0"/>
              <a:t>有</a:t>
            </a:r>
            <a:r>
              <a:rPr lang="en-US" altLang="zh-CN" dirty="0"/>
              <a:t>16</a:t>
            </a:r>
            <a:r>
              <a:rPr lang="zh-CN" altLang="en-US" dirty="0"/>
              <a:t>位精度，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SPI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SSI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ABZ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UVW 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 PWM 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等多种接口。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机械结构上，它既支持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轴安装，也支持旁轴安装。如果采用旁轴结构，就需要根据径向与切向磁场比例进行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BCT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校准，降低周期性角度误差。</a:t>
            </a:r>
            <a:endParaRPr lang="en-US" sz="1800" b="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MA600A </a:t>
            </a:r>
            <a:r>
              <a:rPr lang="zh-CN" altLang="en-US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官方支持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点数字</a:t>
            </a:r>
            <a:r>
              <a:rPr lang="en-US" altLang="zh-CN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INL</a:t>
            </a:r>
            <a:r>
              <a:rPr lang="zh-CN" altLang="en-US" sz="18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校准，有一系列的配套板子与上位机。以</a:t>
            </a:r>
            <a:r>
              <a:rPr lang="zh-CN" altLang="en-US" sz="2800" dirty="0"/>
              <a:t>补偿：磁体安装、磁化误差、板子安装等一系列误差。补偿后可达到误差小于</a:t>
            </a:r>
            <a:r>
              <a:rPr lang="en-US" altLang="zh-CN" sz="2800" dirty="0"/>
              <a:t>0.1</a:t>
            </a:r>
            <a:r>
              <a:rPr lang="zh-CN" altLang="en-US" sz="2800" dirty="0"/>
              <a:t>度，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自带延迟补偿，补偿后延迟到达了夸张的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-apple-system"/>
              </a:rPr>
              <a:t>1us</a:t>
            </a:r>
            <a:r>
              <a:rPr lang="zh-CN" altLang="en-US" sz="2800" b="0" i="0" dirty="0">
                <a:solidFill>
                  <a:srgbClr val="1A1C1F"/>
                </a:solidFill>
                <a:effectLst/>
                <a:latin typeface="-apple-system"/>
              </a:rPr>
              <a:t>内，有</a:t>
            </a:r>
            <a:r>
              <a:rPr lang="en-US" altLang="zh-CN" sz="2800" dirty="0"/>
              <a:t>12khz</a:t>
            </a:r>
            <a:r>
              <a:rPr lang="zh-CN" altLang="en-US" sz="2800" dirty="0"/>
              <a:t>的带宽。</a:t>
            </a:r>
            <a:endParaRPr lang="en-US" altLang="zh-CN" sz="180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dirty="0"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5A39F-5C95-9D70-ECEA-E93633A3DC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829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CA77-EE6E-A26B-0601-D1ABCA70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5A1D8-6BA6-6642-82C9-3E91B6EB1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0BBB5-7A8E-34D2-76E1-25C6C796D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&gt;&gt;</a:t>
            </a:r>
            <a:r>
              <a:rPr lang="zh-CN" altLang="en-US" b="1" dirty="0"/>
              <a:t>硬件电源树整体方案</a:t>
            </a:r>
            <a:r>
              <a:rPr lang="en-US" altLang="zh-CN" b="1" dirty="0"/>
              <a:t>-2</a:t>
            </a:r>
            <a:r>
              <a:rPr lang="zh-CN" altLang="en-US" b="1" dirty="0"/>
              <a:t>：位置传感器篇</a:t>
            </a:r>
            <a:r>
              <a:rPr lang="en-US" altLang="zh-CN" b="1" dirty="0"/>
              <a:t>+</a:t>
            </a:r>
            <a:r>
              <a:rPr lang="zh-CN" altLang="en-US" b="1" dirty="0"/>
              <a:t>电流检测</a:t>
            </a:r>
            <a:endParaRPr lang="en-US" altLang="zh-CN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1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dirty="0"/>
              <a:t>旁轴使用时，可以使用多个</a:t>
            </a:r>
            <a:r>
              <a:rPr lang="en-US" altLang="zh-CN" b="0" dirty="0"/>
              <a:t>MA600A</a:t>
            </a:r>
            <a:r>
              <a:rPr lang="zh-CN" altLang="en-US" b="0" dirty="0"/>
              <a:t>，协同矫正。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SPI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菊花链。多颗传感器可以共享时钟和片选，用较少的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MCU I/O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集中读取多组角度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这为后续扩展留出了空间；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dirty="0">
              <a:solidFill>
                <a:srgbClr val="1A1C1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再看电流采样。常见方案包括相线采样和低侧采样。相线采样不受低侧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开关状态限制，但共模电压高，对放大器和布局要求更高；低侧采样电路简单、共模范围低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，成本低。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dirty="0">
              <a:solidFill>
                <a:srgbClr val="1A1C1F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2462B-4DC0-FE98-C0FA-F37BA689F8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6652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-1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辅助电源采用逐级降压。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第一级是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MP4583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，它支持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4.5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100 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输入，可以直接覆盖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电池平台以及一定的母线抬升，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且可与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的工作范围相配合。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给栅极驱动和后级电源。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MP4583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内部集成功率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、环路补偿和多种保护，外围器件较少，适合紧凑控制板。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第二级采用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MPM3632S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，把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它把电感和部分电容集成进约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1.45 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的模块内，明显缩小电源面积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，集成设计的集大成之作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；采用高频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COT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控制，适合负载快速变化的数字与模拟混合系统。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-1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辅助电源采用逐级降压。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第一级是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MP4583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，它支持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4.5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100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输入，可以直接覆盖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电池平台以及一定的母线抬升，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且可与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的工作范围相配合。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给栅极驱动和后级电源。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MP4583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内部集成功率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、环路补偿和多种保护，外围器件较少，适合紧凑控制板。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第二级采用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MPM3632S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，把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降到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它把电感和部分电容集成进约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3×3×1.45 mm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的模块内，明显缩小电源面积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，集成设计的集大成之作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；采用高频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COT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控制，适合负载快速变化的数字与模拟混合系统。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F096-8857-FF18-6972-FDA073D8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5EDAB-6B05-6D5A-2CB4-52B47F39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2796151-F911-BB4F-1A1A-0BEFC6EEDD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-2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得到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以后，再分成两路。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MP20051DQ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生成干净的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3.3 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LDO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负载下压差约为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140 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，典型输出噪声约为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13 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RMS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。低噪声供电可以减少电源纹波对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、电流放大器和编码器的影响。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MIE1W0505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生成隔离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，给隔离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收发器的总线侧供电。它在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输出条件下可以提供不低于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200 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mA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的负载能力，并带短路和过温保护。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2796151-F911-BB4F-1A1A-0BEFC6EEDD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b="1" dirty="0"/>
                  <a:t>&gt;&gt;</a:t>
                </a:r>
                <a:r>
                  <a:rPr lang="zh-CN" altLang="en-US" b="1" dirty="0"/>
                  <a:t>硬件电源树整体方案</a:t>
                </a:r>
                <a:r>
                  <a:rPr lang="en-US" altLang="zh-CN" b="1" dirty="0"/>
                  <a:t>-3</a:t>
                </a:r>
                <a:r>
                  <a:rPr lang="zh-CN" altLang="en-US" b="1" dirty="0"/>
                  <a:t>：辅助电源篇</a:t>
                </a:r>
                <a:r>
                  <a:rPr lang="en-US" altLang="zh-CN" b="1" dirty="0"/>
                  <a:t>-2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b="0" i="0" dirty="0">
                  <a:solidFill>
                    <a:srgbClr val="1A1C1F"/>
                  </a:solidFill>
                  <a:effectLst/>
                  <a:latin typeface="-apple-system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以后，再分成两路。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第一路通过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MP20051DQ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生成干净的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3.3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LDO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 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负载下压差约为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140 mV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，典型输出噪声约为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13 𝜇V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RMS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。低噪声供电可以减少电源纹波对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、电流放大器和编码器的影响。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第二路通过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MIE1W0505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生成隔离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，给隔离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收发器的总线侧供电。它在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输入、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输出条件下可以提供不低于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200 mA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的负载能力，并带短路和过温保护。</a:t>
                </a: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F815A-0C4C-6A8E-1C24-5128830800B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2553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到这里，整套器件关系就清楚了。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让我们来做一个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overview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。本图可以清晰地展示整个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方案的器件选型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电源链从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依次得到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3.3 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和隔离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；功率链由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驱动六颗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逆变桥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；反馈链由三相电流采样和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组成；通信链则由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、隔离器件和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收发器组成。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下一步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我们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解决这些器件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在实际设计时需要注意什么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到这里，整套器件关系就清楚了。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让我们来做一个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overview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。本图可以清晰地展示整个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方案的器件选型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电源链从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12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3.3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和隔离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V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；功率链由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MP6539B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驱动六颗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MOSFET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逆变桥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；反馈链由三相电流采样和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组成；通信链则由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、隔离器件和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CAN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收发器组成。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下一步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我们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解决这些器件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在实际设计时需要注意什么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230A1-F8EC-4231-839A-37D69409E39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04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进入 PCB Layout。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在不到五厘米见方的空间里，需要同时放下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48 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功率级、三相采样、磁编码器、辅助电源、主控和隔离通信。顶层负责器件、功率铜皮、栅极驱动和关键信号；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第二层尽量保持连续参考地，为采样和控制信号提供低阻抗回流；第三层用于电源分配和局部铜面；底层布置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、驱动与低速控制信号，并通过过孔完成上下层连接。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本项目</a:t>
                </a:r>
                <a:r>
                  <a:rPr lang="zh-CN" altLang="zh-CN" dirty="0"/>
                  <a:t>成品厚度约 1.6 毫米，外层铜厚约 1 盎司</a:t>
                </a:r>
                <a:r>
                  <a:rPr lang="zh-CN" altLang="en-US" dirty="0"/>
                  <a:t>，有条件的嘉人可以依照工业标准加厚到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盎司。</a:t>
                </a:r>
                <a:endParaRPr lang="en-US" altLang="zh-CN" dirty="0"/>
              </a:p>
              <a:p>
                <a:endParaRPr lang="zh-C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进入 PCB Layout。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在不到五厘米见方的空间里，需要同时放下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48 V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功率级、三相采样、磁编码器、辅助电源、主控和隔离通信。顶层负责器件、功率铜皮、栅极驱动和关键信号；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第二层尽量保持连续参考地，为采样和控制信号提供低阻抗回流；第三层用于电源分配和局部铜面；底层布置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、驱动与低速控制信号，并通过过孔完成上下层连接。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本项目</a:t>
                </a:r>
                <a:r>
                  <a:rPr lang="zh-CN" altLang="zh-CN" dirty="0"/>
                  <a:t>成品厚度约 1.6 毫米，外层铜厚约 1 盎司</a:t>
                </a:r>
                <a:r>
                  <a:rPr lang="zh-CN" altLang="en-US" dirty="0"/>
                  <a:t>，有条件的嘉人可以依照工业标准加厚到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盎司。</a:t>
                </a:r>
                <a:endParaRPr lang="en-US" altLang="zh-CN" dirty="0"/>
              </a:p>
              <a:p>
                <a:endParaRPr lang="zh-CN" dirty="0"/>
              </a:p>
            </p:txBody>
          </p:sp>
        </mc:Fallback>
      </mc:AlternateContent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布局以电机轴线和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MA600A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为中心展开。编码器对准磁体中心，它的位置先确定，周围再划出磁场洁净区。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六颗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沿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外围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板边分布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展开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原理中心信号区域。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MP6539B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靠近功率级，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STM32G431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和三相采样集中在控制区。辅助电源与隔离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CAN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放在板边。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整板分区只有两个原则：第一，缩短大电流与高频换流回路；第二，把编码器、电流采样和通信等敏感区域与开关节点隔开。</a:t>
            </a: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功率级最先关注主换流回路。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电流从母线电容进入半桥，经相线和分流电阻返回母线负端。这个环路面积越大，寄生电感越大，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开关时的母线尖峰、振铃和电磁干扰就越难控制。因此上下桥臂要靠近摆放，母线陶瓷电容要贴近功率桥，回路尽量短而宽。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第二个关键回路是栅极驱动。参考了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MPS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官方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Demo Board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和应用笔记的布局。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回路要成对、短距离布线；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Bootstrap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BSTx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SHx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去耦电容也要紧贴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降低栅极回路电感，减少误导通和振荡。</a:t>
            </a: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电流采样部分，</a:t>
            </a:r>
            <a:r>
              <a:rPr lang="zh-CN" dirty="0"/>
              <a:t>三相电流均通过 10 毫欧分流电阻和 INA240A1 采集，整体比例为 0.2 伏每安培。分流电阻两端采用 Kelvin 取样，差分线成对引到 INA240，并避开相位开关节点和栅极走线，输出</a:t>
            </a:r>
            <a:r>
              <a:rPr lang="zh-CN" altLang="en-US" dirty="0"/>
              <a:t>经</a:t>
            </a:r>
            <a:r>
              <a:rPr lang="en-US" altLang="zh-CN" dirty="0"/>
              <a:t>ADC</a:t>
            </a:r>
            <a:r>
              <a:rPr lang="zh-CN" altLang="en-US" dirty="0"/>
              <a:t>处理后，进一步使用数字滤波处理</a:t>
            </a:r>
            <a:r>
              <a:rPr 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三相电流分别通过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分流电阻和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运放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采集。分流电阻使用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Kelvin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引线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也就是，功率电流从电阻的大焊盘通过，采样差分线从独立取样点成对引出，不与功率铜皮共用一段压降。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差分线要短、对称，并远离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SHx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、栅极走线和电机相线。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放大器输出端的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RC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滤波器靠近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ADC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。滤波器的作用是抑制开关尖峰和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ADC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混叠，但截止频率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注意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不能低到破坏电流环带宽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，仅用于滤除一些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10khz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以上的高频噪声，或开关纹波即可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75A0-D632-8238-9F3F-997DD20E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0357A-605B-CD95-3BAB-B47431D6E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8BBE8-EE77-3F1E-CB98-85193B4B8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DCDC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布局的核心同样是缩短高频电流环路。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MPM3632S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，输入电容紧靠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VIN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，反馈电阻靠近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FB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，引线短而直接；反馈和其他模拟信号远离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SW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节点。外部输入、输出、反馈与散热回路仍然会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影响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实际纹波和温升。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MP4583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，输入电容同样紧贴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VIN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铜皮只保留完成换流所需的面积，避免向外扩展成为噪声天线；功率走线短而宽，反馈从安静的输出点取样，并远离开关节点。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MP20051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的输入、输出电容靠近对应引脚，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FB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分压靠近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FB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，裸露焊盘连接大面积地铜并布置散热过孔。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电源芯片布局原则始终一致：先控制高频环路，再处理反馈与散热。</a:t>
            </a:r>
          </a:p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48016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隔离电源区域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在满足回路尽量小前提下，还需要注意隔离边界。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MIE1W0505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的原边与副边分别使用独立铜皮。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电容靠近各端电源引脚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，缩小两侧高频回路。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GND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隔离带保持净空，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总线侧只在隔离侧参考地内闭合回流。若需要改善高频共模电流路径，可以按照器件与安规要求预留低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ESL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Y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电容位置。让外部总线上的地电位差和共模干扰尽量不要进入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MCU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与采样地。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更加详细的信息可以进一步参考官方应用手册。</a:t>
            </a: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6F6DE-152D-C051-88BC-8A0A3EA6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BC0FD-0787-D56D-5DD3-B7393494F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034B983-7F95-8CC1-C32B-90AC118951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的布局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优先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满足机械对准，再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电气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特性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传感器中心要与磁体和电机轴线准确对齐；磁敏器件、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电容、大电流铜皮和开关节点尽量远离芯片中心，当前设计按至少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5 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mm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的洁净距离控制。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供电方面，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电容紧靠引脚。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SPI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两侧和下方尽量保持完整参考地，沿线适当布置地过孔，缩短回流路径。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SCLK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与其他噪声走线保持间距并尽量避免换层。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不过总的来说，这个级别的数字信号只要连上至少都是能工作的。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034B983-7F95-8CC1-C32B-90AC118951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的布局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优先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满足机械对准，再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电气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特性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传感器中心要与磁体和电机轴线准确对齐；磁敏器件、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功率级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电容、大电流铜皮和开关节点尽量远离芯片中心，当前设计按至少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5 mm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的洁净距离控制。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供电方面，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电容紧靠引脚。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SPI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两侧和下方尽量保持完整参考地，沿线适当布置地过孔，缩短回流路径。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SCLK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与其他噪声走线保持间距并尽量避免换层。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不过总的来说，这个级别的数字信号只要连上至少都是能工作的。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1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最后 让我们来做一个回顾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和分流电阻通过大面积铜皮扩散热量，上下层使用并联过孔导热；功率器件沿板边布置，便于把热量传到外壳或结构件。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电气检查则沿五条路径逐项进行：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功率路径是否短而宽；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Bootstrap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回流是否紧凑；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分流电阻是否采用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Kelvin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采样并避开开关节点；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编码器、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SPI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与采样信号是否拥有连续参考地；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CAN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隔离带是否存在跨越的走线、过孔或铺铜。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C100-F946-DA30-9488-3573BC96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7453A-2BDE-5C40-2215-3B5C4DB03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47052-C30A-CC4B-706D-FF20CBE0B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本期视频结束，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我们已经得到了一块具备上电验证条件的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FOC 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控制板。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下一章我们会先下载并梳理工程代码，再按照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从硬件到软件各个模块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顺序逐级验证，最后完成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一系列测试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。让这块板真正稳定地跑起来。</a:t>
            </a:r>
          </a:p>
          <a:p>
            <a:pPr algn="l">
              <a:lnSpc>
                <a:spcPts val="1650"/>
              </a:lnSpc>
              <a:buNone/>
            </a:pPr>
            <a:endParaRPr lang="en-US" altLang="zh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BFB11-256D-7886-16E8-B53B912CE4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458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5752F-A94C-4D47-A51F-610CD25A3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9A1F76-2D00-455C-ACB9-35E106A7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0289B-D436-482E-AC94-9D23C37057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t>2026/8/28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89B5A-DF29-468F-9B0B-BD486995F5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FEB5D-F169-492E-899A-79E026BAE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>
            <a:extLst>
              <a:ext uri="{FF2B5EF4-FFF2-40B4-BE49-F238E27FC236}">
                <a16:creationId xmlns:a16="http://schemas.microsoft.com/office/drawing/2014/main" id="{BD73703F-1021-4BA0-A512-F64CFA81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9D8C644C-2870-4ACE-8AF0-71DA54437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22" name="日期占位符 3">
            <a:extLst>
              <a:ext uri="{FF2B5EF4-FFF2-40B4-BE49-F238E27FC236}">
                <a16:creationId xmlns:a16="http://schemas.microsoft.com/office/drawing/2014/main" id="{951213E9-A379-4A62-80A0-1F74D0DA62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t>2026/8/28</a:t>
            </a:fld>
            <a:endParaRPr/>
          </a:p>
        </p:txBody>
      </p:sp>
      <p:sp>
        <p:nvSpPr>
          <p:cNvPr id="23" name="页脚占位符 4">
            <a:extLst>
              <a:ext uri="{FF2B5EF4-FFF2-40B4-BE49-F238E27FC236}">
                <a16:creationId xmlns:a16="http://schemas.microsoft.com/office/drawing/2014/main" id="{DAF5303B-F930-443C-B7C4-7A28009272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灯片编号占位符 5">
            <a:extLst>
              <a:ext uri="{FF2B5EF4-FFF2-40B4-BE49-F238E27FC236}">
                <a16:creationId xmlns:a16="http://schemas.microsoft.com/office/drawing/2014/main" id="{2E2C6D17-EE1C-41F0-A800-9208DDAD4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>
            <a:extLst>
              <a:ext uri="{FF2B5EF4-FFF2-40B4-BE49-F238E27FC236}">
                <a16:creationId xmlns:a16="http://schemas.microsoft.com/office/drawing/2014/main" id="{C5CCC62B-E18D-4A97-8100-1739F62D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B3A46243-34C0-4FF1-9FF3-10854A97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01B91AEC-A7A2-4A6A-84D3-7C8F85D151E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29" name="日期占位符 4">
            <a:extLst>
              <a:ext uri="{FF2B5EF4-FFF2-40B4-BE49-F238E27FC236}">
                <a16:creationId xmlns:a16="http://schemas.microsoft.com/office/drawing/2014/main" id="{B3AFA0E3-D000-4A0C-8036-92B4377FB5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t>2026/8/28</a:t>
            </a:fld>
            <a:endParaRPr/>
          </a:p>
        </p:txBody>
      </p:sp>
      <p:sp>
        <p:nvSpPr>
          <p:cNvPr id="30" name="页脚占位符 5">
            <a:extLst>
              <a:ext uri="{FF2B5EF4-FFF2-40B4-BE49-F238E27FC236}">
                <a16:creationId xmlns:a16="http://schemas.microsoft.com/office/drawing/2014/main" id="{141E3939-A435-48B3-B11F-45A2C831E6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1" name="灯片编号占位符 6">
            <a:extLst>
              <a:ext uri="{FF2B5EF4-FFF2-40B4-BE49-F238E27FC236}">
                <a16:creationId xmlns:a16="http://schemas.microsoft.com/office/drawing/2014/main" id="{19B01B05-0D86-4716-8640-577CC9D24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>
            <a:extLst>
              <a:ext uri="{FF2B5EF4-FFF2-40B4-BE49-F238E27FC236}">
                <a16:creationId xmlns:a16="http://schemas.microsoft.com/office/drawing/2014/main" id="{5968CDCC-4BE8-42F9-9391-E97420D51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519788B3-861F-4EF6-9036-11DC12163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35" name="内容占位符 3">
            <a:extLst>
              <a:ext uri="{FF2B5EF4-FFF2-40B4-BE49-F238E27FC236}">
                <a16:creationId xmlns:a16="http://schemas.microsoft.com/office/drawing/2014/main" id="{EE82DBF0-6B6D-40B0-A193-D2714ACC6F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36" name="文本占位符 4">
            <a:extLst>
              <a:ext uri="{FF2B5EF4-FFF2-40B4-BE49-F238E27FC236}">
                <a16:creationId xmlns:a16="http://schemas.microsoft.com/office/drawing/2014/main" id="{81A53F8E-72E1-4A0A-B2C8-267E3399F91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37" name="内容占位符 5">
            <a:extLst>
              <a:ext uri="{FF2B5EF4-FFF2-40B4-BE49-F238E27FC236}">
                <a16:creationId xmlns:a16="http://schemas.microsoft.com/office/drawing/2014/main" id="{585EEC3A-B65B-470D-9AA4-4B46F66E3BA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38" name="日期占位符 6">
            <a:extLst>
              <a:ext uri="{FF2B5EF4-FFF2-40B4-BE49-F238E27FC236}">
                <a16:creationId xmlns:a16="http://schemas.microsoft.com/office/drawing/2014/main" id="{820E9D36-4F00-45ED-8795-AD7B64DF6C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t>2026/8/28</a:t>
            </a:fld>
            <a:endParaRPr/>
          </a:p>
        </p:txBody>
      </p:sp>
      <p:sp>
        <p:nvSpPr>
          <p:cNvPr id="39" name="页脚占位符 7">
            <a:extLst>
              <a:ext uri="{FF2B5EF4-FFF2-40B4-BE49-F238E27FC236}">
                <a16:creationId xmlns:a16="http://schemas.microsoft.com/office/drawing/2014/main" id="{905516BC-7B07-407B-9AFE-3DFB6A2439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0" name="灯片编号占位符 8">
            <a:extLst>
              <a:ext uri="{FF2B5EF4-FFF2-40B4-BE49-F238E27FC236}">
                <a16:creationId xmlns:a16="http://schemas.microsoft.com/office/drawing/2014/main" id="{6B05C7CF-0D20-43D0-822D-1708E90CE2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>
            <a:extLst>
              <a:ext uri="{FF2B5EF4-FFF2-40B4-BE49-F238E27FC236}">
                <a16:creationId xmlns:a16="http://schemas.microsoft.com/office/drawing/2014/main" id="{684BB998-DAE0-4ACD-86C1-3152824E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43" name="日期占位符 2">
            <a:extLst>
              <a:ext uri="{FF2B5EF4-FFF2-40B4-BE49-F238E27FC236}">
                <a16:creationId xmlns:a16="http://schemas.microsoft.com/office/drawing/2014/main" id="{A4F13546-3F79-4B24-B0D1-94E048EEB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t>2026/8/28</a:t>
            </a:fld>
            <a:endParaRPr/>
          </a:p>
        </p:txBody>
      </p:sp>
      <p:sp>
        <p:nvSpPr>
          <p:cNvPr id="44" name="页脚占位符 3">
            <a:extLst>
              <a:ext uri="{FF2B5EF4-FFF2-40B4-BE49-F238E27FC236}">
                <a16:creationId xmlns:a16="http://schemas.microsoft.com/office/drawing/2014/main" id="{D7DD0B55-C159-4B6A-B987-1739A5A3C1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5" name="灯片编号占位符 4">
            <a:extLst>
              <a:ext uri="{FF2B5EF4-FFF2-40B4-BE49-F238E27FC236}">
                <a16:creationId xmlns:a16="http://schemas.microsoft.com/office/drawing/2014/main" id="{0F6A32AA-E2E5-4FD4-8ED9-8BD276E3C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>
            <a:extLst>
              <a:ext uri="{FF2B5EF4-FFF2-40B4-BE49-F238E27FC236}">
                <a16:creationId xmlns:a16="http://schemas.microsoft.com/office/drawing/2014/main" id="{E8F12930-4852-4D9E-93EC-D013F8E064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t>2026/8/28</a:t>
            </a:fld>
            <a:endParaRPr/>
          </a:p>
        </p:txBody>
      </p:sp>
      <p:sp>
        <p:nvSpPr>
          <p:cNvPr id="48" name="页脚占位符 2">
            <a:extLst>
              <a:ext uri="{FF2B5EF4-FFF2-40B4-BE49-F238E27FC236}">
                <a16:creationId xmlns:a16="http://schemas.microsoft.com/office/drawing/2014/main" id="{7E2D8288-E2AA-4492-A489-36AD439D5D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9" name="灯片编号占位符 3">
            <a:extLst>
              <a:ext uri="{FF2B5EF4-FFF2-40B4-BE49-F238E27FC236}">
                <a16:creationId xmlns:a16="http://schemas.microsoft.com/office/drawing/2014/main" id="{3A3C4ED8-8262-47DB-A4EA-CDE00798A8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>
            <a:extLst>
              <a:ext uri="{FF2B5EF4-FFF2-40B4-BE49-F238E27FC236}">
                <a16:creationId xmlns:a16="http://schemas.microsoft.com/office/drawing/2014/main" id="{67A08238-819F-498D-B263-D954AB34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AF8AA228-5B99-46A9-8B78-2600AA70F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3" name="文本占位符 3">
            <a:extLst>
              <a:ext uri="{FF2B5EF4-FFF2-40B4-BE49-F238E27FC236}">
                <a16:creationId xmlns:a16="http://schemas.microsoft.com/office/drawing/2014/main" id="{99984A6E-E270-4746-8541-C895451D14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4" name="日期占位符 4">
            <a:extLst>
              <a:ext uri="{FF2B5EF4-FFF2-40B4-BE49-F238E27FC236}">
                <a16:creationId xmlns:a16="http://schemas.microsoft.com/office/drawing/2014/main" id="{42CC39A3-DFB3-4780-9A36-B9F75C3C6B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t>2026/8/28</a:t>
            </a:fld>
            <a:endParaRPr/>
          </a:p>
        </p:txBody>
      </p:sp>
      <p:sp>
        <p:nvSpPr>
          <p:cNvPr id="55" name="页脚占位符 5">
            <a:extLst>
              <a:ext uri="{FF2B5EF4-FFF2-40B4-BE49-F238E27FC236}">
                <a16:creationId xmlns:a16="http://schemas.microsoft.com/office/drawing/2014/main" id="{B1FE1C3E-67CE-4C50-9CB8-58C7F0CFB6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6" name="灯片编号占位符 6">
            <a:extLst>
              <a:ext uri="{FF2B5EF4-FFF2-40B4-BE49-F238E27FC236}">
                <a16:creationId xmlns:a16="http://schemas.microsoft.com/office/drawing/2014/main" id="{CD7B1B76-2387-44CB-9ABC-EB54106119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>
            <a:extLst>
              <a:ext uri="{FF2B5EF4-FFF2-40B4-BE49-F238E27FC236}">
                <a16:creationId xmlns:a16="http://schemas.microsoft.com/office/drawing/2014/main" id="{9A720774-7948-43C5-A88D-6F2BDC2F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59" name="图片占位符 2">
            <a:extLst>
              <a:ext uri="{FF2B5EF4-FFF2-40B4-BE49-F238E27FC236}">
                <a16:creationId xmlns:a16="http://schemas.microsoft.com/office/drawing/2014/main" id="{70F083E2-CE4A-4EF6-8EDA-F0FD113FA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60" name="文本占位符 3">
            <a:extLst>
              <a:ext uri="{FF2B5EF4-FFF2-40B4-BE49-F238E27FC236}">
                <a16:creationId xmlns:a16="http://schemas.microsoft.com/office/drawing/2014/main" id="{0A3C4BF1-61A2-4299-AF91-EEACBFAC8E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1" name="日期占位符 4">
            <a:extLst>
              <a:ext uri="{FF2B5EF4-FFF2-40B4-BE49-F238E27FC236}">
                <a16:creationId xmlns:a16="http://schemas.microsoft.com/office/drawing/2014/main" id="{A42DC9B9-49B1-47AF-B84A-BF5424FE07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t>2026/8/28</a:t>
            </a:fld>
            <a:endParaRPr/>
          </a:p>
        </p:txBody>
      </p:sp>
      <p:sp>
        <p:nvSpPr>
          <p:cNvPr id="62" name="页脚占位符 5">
            <a:extLst>
              <a:ext uri="{FF2B5EF4-FFF2-40B4-BE49-F238E27FC236}">
                <a16:creationId xmlns:a16="http://schemas.microsoft.com/office/drawing/2014/main" id="{1CACCAB4-19D0-4933-BADF-1C219AF2D6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3" name="灯片编号占位符 6">
            <a:extLst>
              <a:ext uri="{FF2B5EF4-FFF2-40B4-BE49-F238E27FC236}">
                <a16:creationId xmlns:a16="http://schemas.microsoft.com/office/drawing/2014/main" id="{0618521D-6631-463C-9257-F1EFC8CA3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>
            <a:extLst>
              <a:ext uri="{FF2B5EF4-FFF2-40B4-BE49-F238E27FC236}">
                <a16:creationId xmlns:a16="http://schemas.microsoft.com/office/drawing/2014/main" id="{17927255-5200-4B6D-A609-B249AFA3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66" name="竖排文字占位符 2">
            <a:extLst>
              <a:ext uri="{FF2B5EF4-FFF2-40B4-BE49-F238E27FC236}">
                <a16:creationId xmlns:a16="http://schemas.microsoft.com/office/drawing/2014/main" id="{7F566ADF-4654-4758-81CF-8E8CCD419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67" name="日期占位符 3">
            <a:extLst>
              <a:ext uri="{FF2B5EF4-FFF2-40B4-BE49-F238E27FC236}">
                <a16:creationId xmlns:a16="http://schemas.microsoft.com/office/drawing/2014/main" id="{8B85D177-341F-4936-B23F-517D3EEF08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t>2026/8/28</a:t>
            </a:fld>
            <a:endParaRPr/>
          </a:p>
        </p:txBody>
      </p:sp>
      <p:sp>
        <p:nvSpPr>
          <p:cNvPr id="68" name="页脚占位符 4">
            <a:extLst>
              <a:ext uri="{FF2B5EF4-FFF2-40B4-BE49-F238E27FC236}">
                <a16:creationId xmlns:a16="http://schemas.microsoft.com/office/drawing/2014/main" id="{1DE68863-2042-48C5-9079-213A94D740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9" name="灯片编号占位符 5">
            <a:extLst>
              <a:ext uri="{FF2B5EF4-FFF2-40B4-BE49-F238E27FC236}">
                <a16:creationId xmlns:a16="http://schemas.microsoft.com/office/drawing/2014/main" id="{E8806AB6-52B2-4800-906E-1ACACECC6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>
            <a:extLst>
              <a:ext uri="{FF2B5EF4-FFF2-40B4-BE49-F238E27FC236}">
                <a16:creationId xmlns:a16="http://schemas.microsoft.com/office/drawing/2014/main" id="{62E3E628-D729-4A42-87E9-6A13C5F1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15" name="竖排文字占位符 2">
            <a:extLst>
              <a:ext uri="{FF2B5EF4-FFF2-40B4-BE49-F238E27FC236}">
                <a16:creationId xmlns:a16="http://schemas.microsoft.com/office/drawing/2014/main" id="{FDE587EA-8235-46EE-8FF4-A0FDC3962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A9891120-669F-4FF5-8A55-D6844A0589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t>2026/8/28</a:t>
            </a:fld>
            <a:endParaRPr/>
          </a:p>
        </p:txBody>
      </p:sp>
      <p:sp>
        <p:nvSpPr>
          <p:cNvPr id="17" name="页脚占位符 4">
            <a:extLst>
              <a:ext uri="{FF2B5EF4-FFF2-40B4-BE49-F238E27FC236}">
                <a16:creationId xmlns:a16="http://schemas.microsoft.com/office/drawing/2014/main" id="{8A661A29-DC77-45CD-843C-06FB597373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F13B4EB9-E145-46DA-A868-ED33485CF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6936DB4E-841A-4379-B51B-14AD7370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859996F-A421-494B-AA01-FF66DA42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1FCF9A93-114B-46D2-BCA1-620C3B54B4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t>2026/8/28</a:t>
            </a:fld>
            <a:endParaRPr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CEEB537A-3B55-461F-883A-B648C7964E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36558B55-3DD8-45C4-89BA-6464D3F575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2BDD6-9E4E-4457-9222-ABE3859CF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latin typeface="Arial"/>
                <a:ea typeface="Arial"/>
                <a:cs typeface="Arial"/>
              </a:defRPr>
            </a:lvl1pPr>
            <a:lvl2pPr marL="685800" indent="-228600">
              <a:buChar char="o"/>
              <a:defRPr sz="1800">
                <a:latin typeface="Arial"/>
                <a:ea typeface="Arial"/>
                <a:cs typeface="Arial"/>
              </a:defRPr>
            </a:lvl2pPr>
            <a:lvl3pPr marL="1143000" indent="-228600">
              <a:buChar char="•"/>
              <a:defRPr sz="1600">
                <a:latin typeface="Arial"/>
                <a:ea typeface="Arial"/>
                <a:cs typeface="Arial"/>
              </a:defRPr>
            </a:lvl3pPr>
            <a:lvl4pPr marL="1600200" indent="-228600">
              <a:buChar char="•"/>
              <a:defRPr sz="1400">
                <a:latin typeface="Arial"/>
                <a:ea typeface="Arial"/>
                <a:cs typeface="Arial"/>
              </a:defRPr>
            </a:lvl4pPr>
            <a:lvl5pPr marL="2057400" indent="-228600">
              <a:buChar char="•"/>
              <a:defRPr sz="1400">
                <a:latin typeface="Arial"/>
                <a:ea typeface="Arial"/>
                <a:cs typeface="Arial"/>
              </a:defRPr>
            </a:lvl5pPr>
          </a:lstStyle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77787B-9799-44F9-AFF4-755097C6B4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buNone/>
              <a:defRPr sz="28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Slide Title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t>单击此处添加标题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None/>
              <a:defRPr sz="1799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640" indent="-171091">
              <a:buChar char="•"/>
              <a:defRPr sz="1298"/>
            </a:lvl2pPr>
            <a:lvl3pPr marL="525640" indent="-171091">
              <a:buChar char="•"/>
              <a:defRPr sz="1298"/>
            </a:lvl3pPr>
            <a:lvl4pPr marL="525640" indent="-171091">
              <a:buChar char="•"/>
              <a:defRPr sz="1298"/>
            </a:lvl4pPr>
            <a:lvl5pPr marL="525640" indent="-171091">
              <a:buChar char="•"/>
              <a:defRPr sz="1298"/>
            </a:lvl5pPr>
          </a:lstStyle>
          <a:p>
            <a:pPr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2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1F7FE5-011F-4F78-BB4D-A8FE0989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8569C-5E1D-42C9-A982-1FCA564F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760A08-5F28-430B-BBA1-0F44387ECF1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t>2026/8/28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178B1-2438-420A-A962-B9E3A272DE3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6250C-9417-4EDD-8AC3-89EB383DAB9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>
        <a:lnSpc>
          <a:spcPct val="13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13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13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13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13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lnSpc>
          <a:spcPct val="130000"/>
        </a:lnSpc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comments" Target="../comments/commen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11" Type="http://schemas.openxmlformats.org/officeDocument/2006/relationships/image" Target="../media/image31.png"/><Relationship Id="rId5" Type="http://schemas.openxmlformats.org/officeDocument/2006/relationships/image" Target="../media/image2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eb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comments" Target="../comments/comment3.xml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monolithicpower.cn/cn/mps-power-tips-videos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EB23C-872E-47B2-B759-D37544DB2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t>第二章：硬件设计计算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609D-2C54-3ECB-38A6-789FBBFD08B2}"/>
              </a:ext>
            </a:extLst>
          </p:cNvPr>
          <p:cNvSpPr>
            <a:spLocks noGrp="1"/>
          </p:cNvSpPr>
          <p:nvPr/>
        </p:nvSpPr>
        <p:spPr>
          <a:xfrm>
            <a:off x="3048000" y="4687079"/>
            <a:ext cx="60960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需求分析 → 芯片选型 → 原理图设计 → PCB Layout → 测试验证。</a:t>
            </a:r>
          </a:p>
        </p:txBody>
      </p:sp>
    </p:spTree>
    <p:extLst>
      <p:ext uri="{BB962C8B-B14F-4D97-AF65-F5344CB8AC3E}">
        <p14:creationId xmlns:p14="http://schemas.microsoft.com/office/powerpoint/2010/main" val="123360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>
            <a:spLocks noGrp="1"/>
          </p:cNvSpPr>
          <p:nvPr/>
        </p:nvSpPr>
        <p:spPr>
          <a:xfrm>
            <a:off x="338203" y="194153"/>
            <a:ext cx="6942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0-</a:t>
            </a:r>
            <a:r>
              <a:rPr lang="en-US" dirty="0"/>
              <a:t>5</a:t>
            </a:r>
            <a:r>
              <a:rPr dirty="0"/>
              <a:t>s</a:t>
            </a:r>
            <a:endParaRPr lang="en-US" dirty="0"/>
          </a:p>
          <a:p>
            <a:r>
              <a:rPr lang="zh-CN" altLang="en-US" dirty="0"/>
              <a:t>同样先来几秒钟快闪 大概是板子焊接，然后聚焦于板子的运镜视频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2FAD-1650-A999-118D-FADCB1BD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8C5147-B793-83FB-2E9A-5A3816DD4BDB}"/>
              </a:ext>
            </a:extLst>
          </p:cNvPr>
          <p:cNvSpPr>
            <a:spLocks noGrp="1"/>
          </p:cNvSpPr>
          <p:nvPr/>
        </p:nvSpPr>
        <p:spPr>
          <a:xfrm>
            <a:off x="2298809" y="3332769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/>
              <a:t>同样这个场景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47532B-60EF-776C-99AB-76DD58A8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908" y="2316967"/>
            <a:ext cx="4074390" cy="30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1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821FC-B791-63BE-C237-734F67B6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0B76AEA-B9DF-21EF-449C-8426207D2E61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需求分析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从机器人需求推导电机参数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161C47-AF92-A97E-CC12-815B96B177BC}"/>
              </a:ext>
            </a:extLst>
          </p:cNvPr>
          <p:cNvSpPr txBox="1"/>
          <p:nvPr/>
        </p:nvSpPr>
        <p:spPr>
          <a:xfrm>
            <a:off x="12912566" y="820001"/>
            <a:ext cx="312339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这两个动画数据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highlight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数据没有关联性，审一下</a:t>
            </a:r>
            <a:endParaRPr lang="en-US" altLang="zh-CN" sz="1800" b="1" dirty="0">
              <a:solidFill>
                <a:srgbClr val="FF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案例要找一下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厂商具体名称</a:t>
            </a:r>
            <a:r>
              <a:rPr lang="en-US" altLang="zh-CN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maybe</a:t>
            </a:r>
            <a:r>
              <a:rPr lang="zh-CN" altLang="en-US" sz="1800" b="1" dirty="0">
                <a:solidFill>
                  <a:srgbClr val="FF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需要遮一下</a:t>
            </a:r>
            <a:endParaRPr lang="en-US" altLang="zh-CN" sz="1800" b="1" dirty="0">
              <a:solidFill>
                <a:srgbClr val="FF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200W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功率用来说上肢，找上肢案例。上肢功率在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200W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以内，所以目标是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180W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。锁定上肢关节手、肘部，的应用场景。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需求写的比较模糊点。给一个工作范围。改台词就好了：市面上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所以设计目标是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……..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endParaRPr lang="zh-CN" altLang="zh-CN" sz="1800" b="1" dirty="0">
              <a:solidFill>
                <a:srgbClr val="FF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050" name="Picture 2" descr="图片预览">
            <a:extLst>
              <a:ext uri="{FF2B5EF4-FFF2-40B4-BE49-F238E27FC236}">
                <a16:creationId xmlns:a16="http://schemas.microsoft.com/office/drawing/2014/main" id="{FA0F2645-E94F-A72B-6B0C-758ADD54F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09" y="1141671"/>
            <a:ext cx="4571828" cy="304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F13C56B-587D-6E17-E9AC-D14181DEB066}"/>
              </a:ext>
            </a:extLst>
          </p:cNvPr>
          <p:cNvSpPr/>
          <p:nvPr/>
        </p:nvSpPr>
        <p:spPr>
          <a:xfrm>
            <a:off x="3262532" y="2082381"/>
            <a:ext cx="909345" cy="88739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642699C-E878-A8A8-533B-CD83C015A209}"/>
              </a:ext>
            </a:extLst>
          </p:cNvPr>
          <p:cNvCxnSpPr>
            <a:cxnSpLocks/>
          </p:cNvCxnSpPr>
          <p:nvPr/>
        </p:nvCxnSpPr>
        <p:spPr>
          <a:xfrm flipH="1">
            <a:off x="2569837" y="2951310"/>
            <a:ext cx="1541672" cy="261804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E9A85F0-2538-DDD5-700C-120514BB38AF}"/>
              </a:ext>
            </a:extLst>
          </p:cNvPr>
          <p:cNvCxnSpPr>
            <a:cxnSpLocks/>
          </p:cNvCxnSpPr>
          <p:nvPr/>
        </p:nvCxnSpPr>
        <p:spPr>
          <a:xfrm flipV="1">
            <a:off x="644893" y="2873376"/>
            <a:ext cx="2631525" cy="249752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0406C24D-ABE8-4F1D-81D6-0AE4311BD103}"/>
              </a:ext>
            </a:extLst>
          </p:cNvPr>
          <p:cNvSpPr txBox="1"/>
          <p:nvPr/>
        </p:nvSpPr>
        <p:spPr>
          <a:xfrm>
            <a:off x="217807" y="1001492"/>
            <a:ext cx="2451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机器人上肢工作环境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05D9A8D-8014-57E6-080E-DE47F37A27E6}"/>
                  </a:ext>
                </a:extLst>
              </p:cNvPr>
              <p:cNvSpPr txBox="1"/>
              <p:nvPr/>
            </p:nvSpPr>
            <p:spPr>
              <a:xfrm>
                <a:off x="2788765" y="4404347"/>
                <a:ext cx="8967440" cy="2310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连续转矩：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5.89 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峰值转矩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peak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8.83 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关节角速度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16.76 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rad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系统总效率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sys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0.765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连续电气功率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cont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sys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129 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r>
                  <a:rPr lang="zh-CN" altLang="en-US" sz="1800" dirty="0">
                    <a:effectLst/>
                    <a:latin typeface="+mn-ea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b="1" dirty="0" err="1">
                    <a:effectLst/>
                    <a:latin typeface="+mn-ea"/>
                    <a:cs typeface="Times New Roman" panose="02020603050405020304" pitchFamily="18" charset="0"/>
                  </a:rPr>
                  <a:t>短时峰值功率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peak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peak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sys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193 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连续功率加入</a:t>
                </a:r>
                <a:r>
                  <a:rPr lang="en-US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40%</a:t>
                </a:r>
                <a:r>
                  <a:rPr lang="zh-CN" altLang="zh-CN" sz="1800" b="1" dirty="0">
                    <a:effectLst/>
                    <a:latin typeface="+mn-ea"/>
                    <a:cs typeface="Times New Roman" panose="02020603050405020304" pitchFamily="18" charset="0"/>
                  </a:rPr>
                  <a:t>设计裕量：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𝟏𝟖𝟏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 </m:t>
                    </m:r>
                    <m:r>
                      <a:rPr lang="en-US" altLang="zh-CN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𝐖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05D9A8D-8014-57E6-080E-DE47F37A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765" y="4404347"/>
                <a:ext cx="8967440" cy="2310761"/>
              </a:xfrm>
              <a:prstGeom prst="rect">
                <a:avLst/>
              </a:prstGeom>
              <a:blipFill>
                <a:blip r:embed="rId4"/>
                <a:stretch>
                  <a:fillRect l="-543" t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328CB3F5-D29A-52E5-344E-43054560AACD}"/>
              </a:ext>
            </a:extLst>
          </p:cNvPr>
          <p:cNvSpPr/>
          <p:nvPr/>
        </p:nvSpPr>
        <p:spPr>
          <a:xfrm>
            <a:off x="188419" y="4312642"/>
            <a:ext cx="11490172" cy="2412094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08905D8C-FF9D-68BF-C33F-D5B722C7AE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05" r="14019" b="3268"/>
          <a:stretch/>
        </p:blipFill>
        <p:spPr>
          <a:xfrm>
            <a:off x="501795" y="4822604"/>
            <a:ext cx="2118217" cy="1886114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08E0DBBB-126F-2732-A795-92F8347E6597}"/>
              </a:ext>
            </a:extLst>
          </p:cNvPr>
          <p:cNvSpPr txBox="1"/>
          <p:nvPr/>
        </p:nvSpPr>
        <p:spPr>
          <a:xfrm>
            <a:off x="266033" y="4360939"/>
            <a:ext cx="18574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GM6010-8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电机功率计算</a:t>
            </a:r>
            <a:endParaRPr lang="zh-CN" altLang="en-US" b="1" dirty="0">
              <a:solidFill>
                <a:srgbClr val="0070C0"/>
              </a:solidFill>
            </a:endParaRPr>
          </a:p>
          <a:p>
            <a:endParaRPr lang="zh-CN" alt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表格 78">
                <a:extLst>
                  <a:ext uri="{FF2B5EF4-FFF2-40B4-BE49-F238E27FC236}">
                    <a16:creationId xmlns:a16="http://schemas.microsoft.com/office/drawing/2014/main" id="{7908EA1D-2F12-03AD-54E0-889B8419F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637074"/>
                  </p:ext>
                </p:extLst>
              </p:nvPr>
            </p:nvGraphicFramePr>
            <p:xfrm>
              <a:off x="4664705" y="1001492"/>
              <a:ext cx="6953135" cy="3122319"/>
            </p:xfrm>
            <a:graphic>
              <a:graphicData uri="http://schemas.openxmlformats.org/drawingml/2006/table">
                <a:tbl>
                  <a:tblPr firstRow="1" bandRow="1" bandCol="1">
                    <a:tableStyleId>{5C22544A-7EE6-4342-B048-85BDC9FD1C3A}</a:tableStyleId>
                  </a:tblPr>
                  <a:tblGrid>
                    <a:gridCol w="2638646">
                      <a:extLst>
                        <a:ext uri="{9D8B030D-6E8A-4147-A177-3AD203B41FA5}">
                          <a16:colId xmlns:a16="http://schemas.microsoft.com/office/drawing/2014/main" val="3789980292"/>
                        </a:ext>
                      </a:extLst>
                    </a:gridCol>
                    <a:gridCol w="4314489">
                      <a:extLst>
                        <a:ext uri="{9D8B030D-6E8A-4147-A177-3AD203B41FA5}">
                          <a16:colId xmlns:a16="http://schemas.microsoft.com/office/drawing/2014/main" val="3694205943"/>
                        </a:ext>
                      </a:extLst>
                    </a:gridCol>
                  </a:tblGrid>
                  <a:tr h="343104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zh-CN" altLang="en-US" sz="1800" dirty="0">
                              <a:effectLst/>
                              <a:latin typeface="+mj-ea"/>
                              <a:ea typeface="+mj-ea"/>
                            </a:rPr>
                            <a:t>机器人工况与电机参数</a:t>
                          </a:r>
                          <a:endParaRPr lang="en-US" sz="18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统一取值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29514993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上肢工况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=3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kg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=0.20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=1.5</m:t>
                              </m:r>
                            </m:oMath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6673492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关节设计转速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=160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rpm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3693379"/>
                      </a:ext>
                    </a:extLst>
                  </a:tr>
                  <a:tr h="392177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效率与功率裕量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=0.85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=0.90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800" i="1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=1.4</m:t>
                              </m:r>
                            </m:oMath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40825387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减速比与极对数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𝑖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=8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𝑝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=14</m:t>
                              </m:r>
                            </m:oMath>
                          </a14:m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62310943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输出侧转矩常数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=0.47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N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m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04910507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反电动势系数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𝑒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=0.054∼0.057</m:t>
                                </m:r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RMS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rpm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335314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再生制动假设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800" i="1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regen</m:t>
                                    </m:r>
                                  </m:sub>
                                </m:sSub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=70%</m:t>
                                </m:r>
                              </m:oMath>
                            </m:oMathPara>
                          </a14:m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663753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表格 78">
                <a:extLst>
                  <a:ext uri="{FF2B5EF4-FFF2-40B4-BE49-F238E27FC236}">
                    <a16:creationId xmlns:a16="http://schemas.microsoft.com/office/drawing/2014/main" id="{7908EA1D-2F12-03AD-54E0-889B8419F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8637074"/>
                  </p:ext>
                </p:extLst>
              </p:nvPr>
            </p:nvGraphicFramePr>
            <p:xfrm>
              <a:off x="4664705" y="1001492"/>
              <a:ext cx="6953135" cy="3122319"/>
            </p:xfrm>
            <a:graphic>
              <a:graphicData uri="http://schemas.openxmlformats.org/drawingml/2006/table">
                <a:tbl>
                  <a:tblPr firstRow="1" bandRow="1" bandCol="1">
                    <a:tableStyleId>{5C22544A-7EE6-4342-B048-85BDC9FD1C3A}</a:tableStyleId>
                  </a:tblPr>
                  <a:tblGrid>
                    <a:gridCol w="2638646">
                      <a:extLst>
                        <a:ext uri="{9D8B030D-6E8A-4147-A177-3AD203B41FA5}">
                          <a16:colId xmlns:a16="http://schemas.microsoft.com/office/drawing/2014/main" val="3789980292"/>
                        </a:ext>
                      </a:extLst>
                    </a:gridCol>
                    <a:gridCol w="4314489">
                      <a:extLst>
                        <a:ext uri="{9D8B030D-6E8A-4147-A177-3AD203B41FA5}">
                          <a16:colId xmlns:a16="http://schemas.microsoft.com/office/drawing/2014/main" val="3694205943"/>
                        </a:ext>
                      </a:extLst>
                    </a:gridCol>
                  </a:tblGrid>
                  <a:tr h="343104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zh-CN" altLang="en-US" sz="1800" dirty="0">
                              <a:effectLst/>
                              <a:latin typeface="+mj-ea"/>
                              <a:ea typeface="+mj-ea"/>
                            </a:rPr>
                            <a:t>机器人工况与电机参数</a:t>
                          </a:r>
                          <a:endParaRPr lang="en-US" sz="18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统一取值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2129514993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上肢工况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100000" r="-565" b="-7070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73492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关节设计转速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156164" r="-565" b="-452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693379"/>
                      </a:ext>
                    </a:extLst>
                  </a:tr>
                  <a:tr h="392177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>
                              <a:effectLst/>
                              <a:latin typeface="+mj-ea"/>
                              <a:ea typeface="+mj-ea"/>
                            </a:rPr>
                            <a:t>效率与功率裕量</a:t>
                          </a:r>
                          <a:endParaRPr lang="zh-CN" sz="180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292188" r="-565" b="-4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0825387"/>
                      </a:ext>
                    </a:extLst>
                  </a:tr>
                  <a:tr h="343104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减速比与极对数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448214" r="-565" b="-3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2310943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输出侧转矩常数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458209" r="-565" b="-2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4910507"/>
                      </a:ext>
                    </a:extLst>
                  </a:tr>
                  <a:tr h="407203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反电动势系数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558209" r="-565" b="-1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353144"/>
                      </a:ext>
                    </a:extLst>
                  </a:tr>
                  <a:tr h="443212">
                    <a:tc>
                      <a:txBody>
                        <a:bodyPr/>
                        <a:lstStyle/>
                        <a:p>
                          <a:pPr algn="l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None/>
                          </a:pPr>
                          <a:r>
                            <a:rPr lang="en-US" sz="1800" dirty="0" err="1">
                              <a:effectLst/>
                              <a:latin typeface="+mj-ea"/>
                              <a:ea typeface="+mj-ea"/>
                            </a:rPr>
                            <a:t>再生制动假设</a:t>
                          </a:r>
                          <a:endParaRPr lang="zh-CN" sz="1800" dirty="0">
                            <a:effectLst/>
                            <a:latin typeface="+mj-ea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61299" t="-604110" r="-565" b="-41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63753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977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需求分析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dirty="0" err="1">
                <a:solidFill>
                  <a:schemeClr val="bg1"/>
                </a:solidFill>
              </a:rPr>
              <a:t>从电机参数推导板级指标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C9E1AA-FD7E-7AD5-C815-E3821D2CC778}"/>
              </a:ext>
            </a:extLst>
          </p:cNvPr>
          <p:cNvSpPr txBox="1"/>
          <p:nvPr/>
        </p:nvSpPr>
        <p:spPr>
          <a:xfrm>
            <a:off x="12865758" y="2777060"/>
            <a:ext cx="394606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电机参数作为衔接。例如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Kt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值要放出来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…..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给出具体参数。推导一下几个参数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考虑标称反电动势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-&gt;100V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耐压。输入范围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-----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不写范围了，考虑标称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48V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，满电，反电动势，得出选型依据。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437FCF-99DC-D247-BB89-6062EDCB9978}"/>
                  </a:ext>
                </a:extLst>
              </p:cNvPr>
              <p:cNvSpPr txBox="1"/>
              <p:nvPr/>
            </p:nvSpPr>
            <p:spPr>
              <a:xfrm>
                <a:off x="3304163" y="946941"/>
                <a:ext cx="8513136" cy="2826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在额定转速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160 </a:t>
                </a:r>
                <a:r>
                  <a:rPr lang="en-US" altLang="zh-CN" sz="1800" dirty="0" err="1">
                    <a:effectLst/>
                    <a:latin typeface="+mn-ea"/>
                    <a:cs typeface="Times New Roman" panose="02020603050405020304" pitchFamily="18" charset="0"/>
                  </a:rPr>
                  <a:t>rpm时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𝑅𝑀𝑆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8.6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9.1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快速制动机械功率约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148 W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，按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70%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再生效率计算：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𝑟𝑒𝑔𝑒𝑛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148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70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104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满电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54.6 V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时，回馈电流为：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𝑟𝑒𝑔𝑒𝑛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104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54.6</m:t>
                        </m:r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1.9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BMS</a:t>
                </a:r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禁止回充，回馈能量进入母线电容：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𝑏𝑢𝑠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𝑟𝑒𝑔𝑒𝑛</m:t>
                                </m:r>
                              </m:sub>
                            </m:s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𝑑𝑐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zh-CN" altLang="zh-CN" sz="18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𝑑𝑐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470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latin typeface="+mn-ea"/>
                    <a:cs typeface="Times New Roman" panose="02020603050405020304" pitchFamily="18" charset="0"/>
                  </a:rPr>
                  <a:t>为例</a:t>
                </a:r>
                <a:r>
                  <a:rPr lang="en-US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𝑏𝑢𝑠</m:t>
                        </m:r>
                      </m:sub>
                    </m:sSub>
                    <m:d>
                      <m:d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𝑚𝑠</m:t>
                        </m:r>
                      </m:e>
                    </m:d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zh-CN" altLang="zh-CN" sz="1800" i="1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1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𝒃𝒖𝒔</m:t>
                        </m:r>
                      </m:sub>
                    </m:sSub>
                    <m:r>
                      <a:rPr lang="en-US" altLang="zh-CN" sz="18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𝒎𝒔</m:t>
                    </m:r>
                    <m:r>
                      <a:rPr lang="en-US" altLang="zh-CN" sz="18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)≈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𝟕𝟐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1800" dirty="0">
                    <a:effectLst/>
                    <a:latin typeface="+mn-ea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437FCF-99DC-D247-BB89-6062EDCB9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163" y="946941"/>
                <a:ext cx="8513136" cy="2826351"/>
              </a:xfrm>
              <a:prstGeom prst="rect">
                <a:avLst/>
              </a:prstGeom>
              <a:blipFill>
                <a:blip r:embed="rId3"/>
                <a:stretch>
                  <a:fillRect l="-573" t="-1078" b="-2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CDEBCB21-4F9F-701A-AD37-584949D67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68" y="1281964"/>
            <a:ext cx="3234454" cy="2156303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81C6EA3-F2DC-5475-4981-7322DE5EA144}"/>
              </a:ext>
            </a:extLst>
          </p:cNvPr>
          <p:cNvSpPr/>
          <p:nvPr/>
        </p:nvSpPr>
        <p:spPr>
          <a:xfrm>
            <a:off x="127668" y="849664"/>
            <a:ext cx="11490172" cy="3007575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B96D5E-B059-2FB8-64EA-D6DFB9BD3E6C}"/>
              </a:ext>
            </a:extLst>
          </p:cNvPr>
          <p:cNvSpPr txBox="1"/>
          <p:nvPr/>
        </p:nvSpPr>
        <p:spPr>
          <a:xfrm>
            <a:off x="404602" y="3215374"/>
            <a:ext cx="2451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13S</a:t>
            </a:r>
            <a:r>
              <a:rPr lang="zh-CN" altLang="en-US" b="1" dirty="0"/>
              <a:t>锂电池工作范围：</a:t>
            </a:r>
            <a:endParaRPr lang="en-US" altLang="zh-CN" b="1" dirty="0"/>
          </a:p>
          <a:p>
            <a:r>
              <a:rPr lang="en-US" altLang="zh-CN" b="1" dirty="0">
                <a:solidFill>
                  <a:srgbClr val="FF0000"/>
                </a:solidFill>
              </a:rPr>
              <a:t>39(</a:t>
            </a:r>
            <a:r>
              <a:rPr lang="zh-CN" altLang="en-US" b="1" dirty="0">
                <a:solidFill>
                  <a:srgbClr val="FF0000"/>
                </a:solidFill>
              </a:rPr>
              <a:t>放空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～</a:t>
            </a:r>
            <a:r>
              <a:rPr lang="en-US" altLang="zh-CN" b="1" dirty="0">
                <a:solidFill>
                  <a:srgbClr val="FF0000"/>
                </a:solidFill>
              </a:rPr>
              <a:t>54.6 V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F224DF-C8E9-6C68-BB40-1CF4DA007A5E}"/>
              </a:ext>
            </a:extLst>
          </p:cNvPr>
          <p:cNvSpPr txBox="1"/>
          <p:nvPr/>
        </p:nvSpPr>
        <p:spPr>
          <a:xfrm>
            <a:off x="217807" y="858526"/>
            <a:ext cx="2451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辅助电源耐压范围，</a:t>
            </a:r>
            <a:endParaRPr lang="en-US" altLang="zh-CN" b="1" dirty="0">
              <a:solidFill>
                <a:srgbClr val="0070C0"/>
              </a:solidFill>
              <a:latin typeface="+mn-ea"/>
              <a:cs typeface="Times New Roman" panose="02020603050405020304" pitchFamily="18" charset="0"/>
            </a:endParaRPr>
          </a:p>
          <a:p>
            <a:r>
              <a:rPr lang="en-US" altLang="zh-CN" b="1" dirty="0" err="1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VBus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直流母线计算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78804DD-020D-F56D-177E-6E54BFE2D37B}"/>
              </a:ext>
            </a:extLst>
          </p:cNvPr>
          <p:cNvSpPr/>
          <p:nvPr/>
        </p:nvSpPr>
        <p:spPr>
          <a:xfrm>
            <a:off x="6522558" y="4079686"/>
            <a:ext cx="5095282" cy="2462898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170D614-EAA1-AADE-BD93-EC3BF034C42B}"/>
              </a:ext>
            </a:extLst>
          </p:cNvPr>
          <p:cNvSpPr/>
          <p:nvPr/>
        </p:nvSpPr>
        <p:spPr>
          <a:xfrm>
            <a:off x="8160247" y="3926764"/>
            <a:ext cx="1819903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设计目标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97B29754-DC30-10C0-C5DA-0CDDB6AA4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054" y="4264352"/>
            <a:ext cx="47687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直流母线：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标称 48 V，输入范围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41～55 V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，考虑反电动势，功率器件应设计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&gt;80V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额定输入功率：180 W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相电流：≥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RMS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输出转速：空载约 265 rpm / 额定负载约 160 rpm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开关频率：20 kHz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● 通信接口：CAN / CAN FD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ABB6BD1-22B4-DA01-1B60-5E8F697FF76E}"/>
                  </a:ext>
                </a:extLst>
              </p:cNvPr>
              <p:cNvSpPr txBox="1"/>
              <p:nvPr/>
            </p:nvSpPr>
            <p:spPr>
              <a:xfrm>
                <a:off x="274194" y="4192262"/>
                <a:ext cx="4846445" cy="2208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连续工况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cont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cont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12.5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峰值工况：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peak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peak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18.8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A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考虑器件误差、动态过冲和控制裕量：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𝒄𝒐𝒏𝒕</m:t>
                        </m:r>
                      </m:sub>
                    </m:sSub>
                    <m:r>
                      <a:rPr lang="en-US" altLang="zh-CN" sz="18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𝟏𝟓𝐀</m:t>
                    </m:r>
                    <m:sSub>
                      <m:sSubPr>
                        <m:ctrlPr>
                          <a:rPr lang="zh-CN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𝒑𝒆𝒂𝒌</m:t>
                        </m:r>
                      </m:sub>
                    </m:sSub>
                    <m:r>
                      <a:rPr lang="en-US" altLang="zh-CN" sz="18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𝟐𝟓𝐀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sz="1800" b="1" dirty="0">
                    <a:solidFill>
                      <a:srgbClr val="FF000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堵转，只能短时！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ABB6BD1-22B4-DA01-1B60-5E8F697F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94" y="4192262"/>
                <a:ext cx="4846445" cy="2208169"/>
              </a:xfrm>
              <a:prstGeom prst="rect">
                <a:avLst/>
              </a:prstGeom>
              <a:blipFill>
                <a:blip r:embed="rId5"/>
                <a:stretch>
                  <a:fillRect l="-1132" r="-503" b="-2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B25834-1850-54CE-C129-5CA1697F291C}"/>
              </a:ext>
            </a:extLst>
          </p:cNvPr>
          <p:cNvSpPr/>
          <p:nvPr/>
        </p:nvSpPr>
        <p:spPr>
          <a:xfrm>
            <a:off x="127669" y="3961445"/>
            <a:ext cx="5647489" cy="2635693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0F6305-BBD5-0E25-BDF4-29B7EBB211AE}"/>
              </a:ext>
            </a:extLst>
          </p:cNvPr>
          <p:cNvSpPr txBox="1"/>
          <p:nvPr/>
        </p:nvSpPr>
        <p:spPr>
          <a:xfrm>
            <a:off x="4361329" y="4079686"/>
            <a:ext cx="1327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相电流计算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37" name="右箭头 13">
            <a:extLst>
              <a:ext uri="{FF2B5EF4-FFF2-40B4-BE49-F238E27FC236}">
                <a16:creationId xmlns:a16="http://schemas.microsoft.com/office/drawing/2014/main" id="{2F4089F7-5112-C4EA-9735-C7B91E04135F}"/>
              </a:ext>
            </a:extLst>
          </p:cNvPr>
          <p:cNvSpPr/>
          <p:nvPr/>
        </p:nvSpPr>
        <p:spPr>
          <a:xfrm>
            <a:off x="5638157" y="4992158"/>
            <a:ext cx="1048333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34291" y="457200"/>
            <a:ext cx="349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驱动板整体方案架构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BF726D-F610-1E17-569F-914AC47D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2534"/>
            <a:ext cx="12192000" cy="480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1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6D8C-C01B-4796-2A99-030B8633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D2A6C77-FCEB-DBEF-5E6F-E11BEC632316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663918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驱动电路 </a:t>
            </a:r>
            <a:r>
              <a:rPr lang="en-US" altLang="zh-CN" dirty="0">
                <a:solidFill>
                  <a:schemeClr val="bg1"/>
                </a:solidFill>
              </a:rPr>
              <a:t>MP6539B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033A39D-E587-FC41-5364-22F824BE7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388" y="2048046"/>
            <a:ext cx="7981973" cy="3785767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83D2891B-26C6-9E9C-C3C5-F02A17CBC2F3}"/>
              </a:ext>
            </a:extLst>
          </p:cNvPr>
          <p:cNvGrpSpPr/>
          <p:nvPr/>
        </p:nvGrpSpPr>
        <p:grpSpPr>
          <a:xfrm>
            <a:off x="8656921" y="4383511"/>
            <a:ext cx="3311877" cy="2176749"/>
            <a:chOff x="4826283" y="4123669"/>
            <a:chExt cx="4359338" cy="2176749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9949015F-A6FF-7B6D-7521-DC23E0AEA1D2}"/>
                </a:ext>
              </a:extLst>
            </p:cNvPr>
            <p:cNvSpPr/>
            <p:nvPr/>
          </p:nvSpPr>
          <p:spPr>
            <a:xfrm>
              <a:off x="4826283" y="4292463"/>
              <a:ext cx="4359338" cy="2007955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1D2B24C3-AB0A-92D9-5BA9-C14BBA8A3619}"/>
                </a:ext>
              </a:extLst>
            </p:cNvPr>
            <p:cNvSpPr/>
            <p:nvPr/>
          </p:nvSpPr>
          <p:spPr>
            <a:xfrm>
              <a:off x="5748254" y="4123669"/>
              <a:ext cx="2474069" cy="337588"/>
            </a:xfrm>
            <a:prstGeom prst="roundRect">
              <a:avLst/>
            </a:prstGeom>
            <a:solidFill>
              <a:srgbClr val="0070C0"/>
            </a:solidFill>
            <a:ln w="12700">
              <a:noFill/>
            </a:ln>
            <a:effectLst>
              <a:glow rad="635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内置保护与运放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339DCA1-F888-E432-C670-EB78CD981216}"/>
                </a:ext>
              </a:extLst>
            </p:cNvPr>
            <p:cNvSpPr txBox="1"/>
            <p:nvPr/>
          </p:nvSpPr>
          <p:spPr>
            <a:xfrm>
              <a:off x="4826283" y="4461257"/>
              <a:ext cx="4359338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● 内置</a:t>
              </a:r>
              <a:r>
                <a:rPr lang="en-US" altLang="zh-CN" dirty="0"/>
                <a:t>20 </a:t>
              </a:r>
              <a:r>
                <a:rPr lang="zh-CN" altLang="en-US" dirty="0"/>
                <a:t>倍电流采样放大器，通过</a:t>
              </a:r>
              <a:r>
                <a:rPr lang="en-US" altLang="zh-CN" dirty="0"/>
                <a:t>CSO</a:t>
              </a:r>
              <a:r>
                <a:rPr lang="zh-CN" altLang="en-US" dirty="0"/>
                <a:t>输出模拟电压</a:t>
              </a:r>
              <a:endParaRPr lang="en-US" altLang="zh-CN" dirty="0"/>
            </a:p>
            <a:p>
              <a:r>
                <a:rPr lang="zh-CN" altLang="en-US" dirty="0"/>
                <a:t>● 实际应用场景可以进一步节省空间和成本</a:t>
              </a:r>
              <a:endParaRPr lang="en-US" altLang="zh-CN" dirty="0"/>
            </a:p>
            <a:p>
              <a:r>
                <a:rPr lang="zh-CN" altLang="en-US" dirty="0"/>
                <a:t>● </a:t>
              </a:r>
              <a:r>
                <a:rPr lang="en-US" altLang="zh-CN" dirty="0"/>
                <a:t>VDD</a:t>
              </a:r>
              <a:r>
                <a:rPr lang="zh-CN" altLang="en-US" dirty="0"/>
                <a:t>欠压保护</a:t>
              </a:r>
              <a:r>
                <a:rPr lang="en-US" altLang="zh-CN" dirty="0"/>
                <a:t>UVLO</a:t>
              </a:r>
              <a:r>
                <a:rPr lang="zh-CN" altLang="en-US" dirty="0"/>
                <a:t>，过温保护</a:t>
              </a:r>
              <a:r>
                <a:rPr lang="en-US" altLang="zh-CN" dirty="0"/>
                <a:t>OTP</a:t>
              </a:r>
              <a:endParaRPr lang="zh-CN" altLang="en-US" dirty="0"/>
            </a:p>
          </p:txBody>
        </p:sp>
      </p:grp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56F0AFBD-7C1B-06C2-D287-09DF5CE33D36}"/>
              </a:ext>
            </a:extLst>
          </p:cNvPr>
          <p:cNvSpPr/>
          <p:nvPr/>
        </p:nvSpPr>
        <p:spPr>
          <a:xfrm>
            <a:off x="5549641" y="3797295"/>
            <a:ext cx="1257281" cy="1631189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B52E6FB-B57F-5836-09D4-4DC5BF11A282}"/>
              </a:ext>
            </a:extLst>
          </p:cNvPr>
          <p:cNvCxnSpPr>
            <a:cxnSpLocks/>
          </p:cNvCxnSpPr>
          <p:nvPr/>
        </p:nvCxnSpPr>
        <p:spPr>
          <a:xfrm>
            <a:off x="6634480" y="3797295"/>
            <a:ext cx="5334318" cy="75501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E400EEC1-74B6-59E4-170B-C49C48BB1600}"/>
              </a:ext>
            </a:extLst>
          </p:cNvPr>
          <p:cNvCxnSpPr>
            <a:cxnSpLocks/>
          </p:cNvCxnSpPr>
          <p:nvPr/>
        </p:nvCxnSpPr>
        <p:spPr>
          <a:xfrm>
            <a:off x="6634480" y="5428484"/>
            <a:ext cx="2067766" cy="1131776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E8F3260-D1C7-93F3-6754-6BA7DFD87447}"/>
              </a:ext>
            </a:extLst>
          </p:cNvPr>
          <p:cNvSpPr/>
          <p:nvPr/>
        </p:nvSpPr>
        <p:spPr>
          <a:xfrm>
            <a:off x="1943119" y="2349388"/>
            <a:ext cx="1257281" cy="676678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9E58C1C-9E63-0A73-0130-78A9F95AF916}"/>
              </a:ext>
            </a:extLst>
          </p:cNvPr>
          <p:cNvGrpSpPr/>
          <p:nvPr/>
        </p:nvGrpSpPr>
        <p:grpSpPr>
          <a:xfrm>
            <a:off x="8569848" y="934367"/>
            <a:ext cx="3311877" cy="2368913"/>
            <a:chOff x="4826283" y="4123669"/>
            <a:chExt cx="4359338" cy="2368913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9185395-270D-A7EA-AF53-686C8110C077}"/>
                </a:ext>
              </a:extLst>
            </p:cNvPr>
            <p:cNvSpPr/>
            <p:nvPr/>
          </p:nvSpPr>
          <p:spPr>
            <a:xfrm>
              <a:off x="4826283" y="4292464"/>
              <a:ext cx="4359338" cy="1649162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A7777D78-CDC3-6EEC-5299-3B132B5D3C72}"/>
                </a:ext>
              </a:extLst>
            </p:cNvPr>
            <p:cNvSpPr/>
            <p:nvPr/>
          </p:nvSpPr>
          <p:spPr>
            <a:xfrm>
              <a:off x="5748254" y="4123669"/>
              <a:ext cx="2474069" cy="337588"/>
            </a:xfrm>
            <a:prstGeom prst="roundRect">
              <a:avLst/>
            </a:prstGeom>
            <a:solidFill>
              <a:srgbClr val="0070C0"/>
            </a:solidFill>
            <a:ln w="12700">
              <a:noFill/>
            </a:ln>
            <a:effectLst>
              <a:glow rad="635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驱动能力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ABED3D9-B4F4-0FA6-19E0-496916EE8D8F}"/>
                </a:ext>
              </a:extLst>
            </p:cNvPr>
            <p:cNvSpPr txBox="1"/>
            <p:nvPr/>
          </p:nvSpPr>
          <p:spPr>
            <a:xfrm>
              <a:off x="4826283" y="4461257"/>
              <a:ext cx="4359338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● 集成三路半桥</a:t>
              </a:r>
              <a:r>
                <a:rPr lang="en-US" altLang="zh-CN" dirty="0"/>
                <a:t>NMOS</a:t>
              </a:r>
              <a:r>
                <a:rPr lang="zh-CN" altLang="en-US" dirty="0"/>
                <a:t>驱动</a:t>
              </a:r>
              <a:endParaRPr lang="en-US" altLang="zh-CN" dirty="0"/>
            </a:p>
            <a:p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内置 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Charge Pump + Bootstrap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，高边驱动可长时间维持</a:t>
              </a:r>
              <a:endParaRPr lang="en-US" altLang="zh-CN" b="0" i="0" dirty="0">
                <a:solidFill>
                  <a:srgbClr val="1A1C1F"/>
                </a:solidFill>
                <a:effectLst/>
                <a:latin typeface="-apple-system"/>
              </a:endParaRPr>
            </a:p>
            <a:p>
              <a:r>
                <a:rPr lang="zh-CN" altLang="en-US" dirty="0"/>
                <a:t>●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栅极驱动能力：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0.8A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拉电流 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/ 1A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灌电流</a:t>
              </a:r>
            </a:p>
            <a:p>
              <a:endParaRPr lang="zh-CN" altLang="en-US" b="0" i="0" dirty="0">
                <a:solidFill>
                  <a:srgbClr val="1A1C1F"/>
                </a:solidFill>
                <a:effectLst/>
                <a:latin typeface="-apple-system"/>
              </a:endParaRPr>
            </a:p>
            <a:p>
              <a:endParaRPr lang="zh-CN" altLang="en-US" dirty="0"/>
            </a:p>
          </p:txBody>
        </p:sp>
      </p:grpSp>
      <p:sp>
        <p:nvSpPr>
          <p:cNvPr id="72" name="圆角矩形 61">
            <a:extLst>
              <a:ext uri="{FF2B5EF4-FFF2-40B4-BE49-F238E27FC236}">
                <a16:creationId xmlns:a16="http://schemas.microsoft.com/office/drawing/2014/main" id="{AF81B73F-C874-4906-F7CA-44BA4F65BA82}"/>
              </a:ext>
            </a:extLst>
          </p:cNvPr>
          <p:cNvSpPr/>
          <p:nvPr/>
        </p:nvSpPr>
        <p:spPr>
          <a:xfrm>
            <a:off x="108843" y="4412775"/>
            <a:ext cx="916325" cy="35690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右箭头 13">
            <a:extLst>
              <a:ext uri="{FF2B5EF4-FFF2-40B4-BE49-F238E27FC236}">
                <a16:creationId xmlns:a16="http://schemas.microsoft.com/office/drawing/2014/main" id="{E6FBDE2F-DD3C-45E7-1AFA-4D5D2A7704E4}"/>
              </a:ext>
            </a:extLst>
          </p:cNvPr>
          <p:cNvSpPr/>
          <p:nvPr/>
        </p:nvSpPr>
        <p:spPr>
          <a:xfrm>
            <a:off x="1147088" y="4374944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00DA75CA-DB7C-43F2-B4E9-F38A629413C8}"/>
              </a:ext>
            </a:extLst>
          </p:cNvPr>
          <p:cNvCxnSpPr>
            <a:cxnSpLocks/>
          </p:cNvCxnSpPr>
          <p:nvPr/>
        </p:nvCxnSpPr>
        <p:spPr>
          <a:xfrm flipH="1">
            <a:off x="6512560" y="1148003"/>
            <a:ext cx="2144361" cy="1135522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77E34E3-C6C3-75D9-F84B-950B6574322C}"/>
              </a:ext>
            </a:extLst>
          </p:cNvPr>
          <p:cNvCxnSpPr>
            <a:cxnSpLocks/>
          </p:cNvCxnSpPr>
          <p:nvPr/>
        </p:nvCxnSpPr>
        <p:spPr>
          <a:xfrm flipV="1">
            <a:off x="6512560" y="2752324"/>
            <a:ext cx="5369165" cy="104497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18EA8A7-53AA-9B9E-696E-7DF4D88DCB55}"/>
              </a:ext>
            </a:extLst>
          </p:cNvPr>
          <p:cNvGrpSpPr/>
          <p:nvPr/>
        </p:nvGrpSpPr>
        <p:grpSpPr>
          <a:xfrm>
            <a:off x="295203" y="863589"/>
            <a:ext cx="3311877" cy="1419936"/>
            <a:chOff x="4826283" y="4123669"/>
            <a:chExt cx="4359338" cy="1419936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4B76DA9A-2680-B9D9-3B3C-DF90F5363C9D}"/>
                </a:ext>
              </a:extLst>
            </p:cNvPr>
            <p:cNvSpPr/>
            <p:nvPr/>
          </p:nvSpPr>
          <p:spPr>
            <a:xfrm>
              <a:off x="4826283" y="4292464"/>
              <a:ext cx="4359338" cy="847216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6038AE98-BE43-E21C-4F0D-1729D72BB0CF}"/>
                </a:ext>
              </a:extLst>
            </p:cNvPr>
            <p:cNvSpPr/>
            <p:nvPr/>
          </p:nvSpPr>
          <p:spPr>
            <a:xfrm>
              <a:off x="5748254" y="4123669"/>
              <a:ext cx="2474069" cy="337588"/>
            </a:xfrm>
            <a:prstGeom prst="roundRect">
              <a:avLst/>
            </a:prstGeom>
            <a:solidFill>
              <a:srgbClr val="0070C0"/>
            </a:solidFill>
            <a:ln w="12700">
              <a:noFill/>
            </a:ln>
            <a:effectLst>
              <a:glow rad="635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低功耗设计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FF8E346-10CB-6FC7-6E72-004BA6F6F9DB}"/>
                </a:ext>
              </a:extLst>
            </p:cNvPr>
            <p:cNvSpPr txBox="1"/>
            <p:nvPr/>
          </p:nvSpPr>
          <p:spPr>
            <a:xfrm>
              <a:off x="4826283" y="4461257"/>
              <a:ext cx="4359338" cy="10823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altLang="en-US" dirty="0"/>
                <a:t>●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支持 </a:t>
              </a:r>
              <a:r>
                <a:rPr lang="en-US" altLang="zh-CN" b="0" i="0" dirty="0" err="1">
                  <a:solidFill>
                    <a:srgbClr val="1A1C1F"/>
                  </a:solidFill>
                  <a:effectLst/>
                  <a:latin typeface="-apple-system"/>
                </a:rPr>
                <a:t>nSLEEP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 </a:t>
              </a:r>
              <a:r>
                <a:rPr lang="zh-CN" altLang="en-US" b="0" i="0" dirty="0">
                  <a:solidFill>
                    <a:srgbClr val="1A1C1F"/>
                  </a:solidFill>
                  <a:effectLst/>
                  <a:latin typeface="-apple-system"/>
                </a:rPr>
                <a:t>低功耗休眠，休眠电流典型 </a:t>
              </a:r>
              <a:r>
                <a:rPr lang="en-US" altLang="zh-CN" b="0" i="0" dirty="0">
                  <a:solidFill>
                    <a:srgbClr val="1A1C1F"/>
                  </a:solidFill>
                  <a:effectLst/>
                  <a:latin typeface="-apple-system"/>
                </a:rPr>
                <a:t>2uA</a:t>
              </a:r>
            </a:p>
            <a:p>
              <a:endParaRPr lang="zh-CN" altLang="en-US" b="0" i="0" dirty="0">
                <a:solidFill>
                  <a:srgbClr val="1A1C1F"/>
                </a:solidFill>
                <a:effectLst/>
                <a:latin typeface="-apple-system"/>
              </a:endParaRPr>
            </a:p>
            <a:p>
              <a:endParaRPr lang="zh-CN" altLang="en-US" dirty="0"/>
            </a:p>
          </p:txBody>
        </p:sp>
      </p:grp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FA973C93-06F3-B4C3-8E1F-6D5689C05C04}"/>
              </a:ext>
            </a:extLst>
          </p:cNvPr>
          <p:cNvCxnSpPr>
            <a:cxnSpLocks/>
          </p:cNvCxnSpPr>
          <p:nvPr/>
        </p:nvCxnSpPr>
        <p:spPr>
          <a:xfrm flipH="1">
            <a:off x="3200400" y="1876144"/>
            <a:ext cx="406680" cy="520565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E0495AF-1779-4348-56D9-4DC23FA356C0}"/>
              </a:ext>
            </a:extLst>
          </p:cNvPr>
          <p:cNvCxnSpPr>
            <a:cxnSpLocks/>
          </p:cNvCxnSpPr>
          <p:nvPr/>
        </p:nvCxnSpPr>
        <p:spPr>
          <a:xfrm flipH="1" flipV="1">
            <a:off x="310275" y="1858171"/>
            <a:ext cx="1640866" cy="534202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AD683807-4F68-07BE-4025-18A749C5445E}"/>
              </a:ext>
            </a:extLst>
          </p:cNvPr>
          <p:cNvSpPr/>
          <p:nvPr/>
        </p:nvSpPr>
        <p:spPr>
          <a:xfrm>
            <a:off x="91863" y="5449499"/>
            <a:ext cx="3311877" cy="1303942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583EC173-6D8D-2201-9D76-F2932EC3ABB8}"/>
              </a:ext>
            </a:extLst>
          </p:cNvPr>
          <p:cNvSpPr/>
          <p:nvPr/>
        </p:nvSpPr>
        <p:spPr>
          <a:xfrm>
            <a:off x="808001" y="5298093"/>
            <a:ext cx="1879600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高集成度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A2B2B2E-B64B-9C16-6836-44E89E9AD118}"/>
              </a:ext>
            </a:extLst>
          </p:cNvPr>
          <p:cNvSpPr txBox="1"/>
          <p:nvPr/>
        </p:nvSpPr>
        <p:spPr>
          <a:xfrm>
            <a:off x="80240" y="5635681"/>
            <a:ext cx="3311877" cy="1187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</a:pPr>
            <a:r>
              <a:rPr lang="zh-CN" altLang="en-US" dirty="0"/>
              <a:t>外部只需配置 </a:t>
            </a:r>
            <a:r>
              <a:rPr lang="en-US" altLang="zh-CN" dirty="0"/>
              <a:t>Bootstrap </a:t>
            </a:r>
            <a:r>
              <a:rPr lang="zh-CN" altLang="en-US" dirty="0"/>
              <a:t>电容、死区电阻和采样电阻，外围器件少、布线更简单。</a:t>
            </a:r>
            <a:endParaRPr lang="en-US" altLang="zh-CN" dirty="0"/>
          </a:p>
          <a:p>
            <a:pPr algn="l">
              <a:lnSpc>
                <a:spcPts val="1650"/>
              </a:lnSpc>
            </a:pPr>
            <a:r>
              <a:rPr lang="zh-CN" altLang="en-US" dirty="0"/>
              <a:t>集成六路高低侧栅极驱动、时序逻辑和死区控制</a:t>
            </a:r>
            <a:endParaRPr lang="el-GR" altLang="zh-CN" b="0" i="0" dirty="0">
              <a:solidFill>
                <a:srgbClr val="1A1C1F"/>
              </a:solidFill>
              <a:effectLst/>
              <a:latin typeface="-apple-system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78E75B02-8396-593D-C839-826BBD468920}"/>
              </a:ext>
            </a:extLst>
          </p:cNvPr>
          <p:cNvSpPr/>
          <p:nvPr/>
        </p:nvSpPr>
        <p:spPr>
          <a:xfrm>
            <a:off x="1850250" y="3617714"/>
            <a:ext cx="821654" cy="676678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E044BFD2-9698-F2FD-605B-65BCCE93CA4C}"/>
              </a:ext>
            </a:extLst>
          </p:cNvPr>
          <p:cNvCxnSpPr>
            <a:cxnSpLocks/>
          </p:cNvCxnSpPr>
          <p:nvPr/>
        </p:nvCxnSpPr>
        <p:spPr>
          <a:xfrm flipH="1">
            <a:off x="121464" y="4294392"/>
            <a:ext cx="1728786" cy="1155107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F39B1FDC-AACC-AA1A-DB46-F9CCFF9A6E70}"/>
              </a:ext>
            </a:extLst>
          </p:cNvPr>
          <p:cNvCxnSpPr>
            <a:cxnSpLocks/>
          </p:cNvCxnSpPr>
          <p:nvPr/>
        </p:nvCxnSpPr>
        <p:spPr>
          <a:xfrm flipH="1" flipV="1">
            <a:off x="2701504" y="4290595"/>
            <a:ext cx="713859" cy="118519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12A0D26E-968A-AC78-B4BB-67DC444F0C1C}"/>
              </a:ext>
            </a:extLst>
          </p:cNvPr>
          <p:cNvSpPr/>
          <p:nvPr/>
        </p:nvSpPr>
        <p:spPr>
          <a:xfrm>
            <a:off x="4763017" y="967513"/>
            <a:ext cx="1454904" cy="1096636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BB081AF8-899D-AF77-9ED2-C6B14BE0C4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428"/>
          <a:stretch/>
        </p:blipFill>
        <p:spPr>
          <a:xfrm>
            <a:off x="4763017" y="772020"/>
            <a:ext cx="1592539" cy="131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8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A0BE-ED60-43CB-9509-FBF77425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0F99FF7-D122-C41C-063D-671C27892F76}"/>
              </a:ext>
            </a:extLst>
          </p:cNvPr>
          <p:cNvSpPr>
            <a:spLocks noGrp="1"/>
          </p:cNvSpPr>
          <p:nvPr/>
        </p:nvSpPr>
        <p:spPr>
          <a:xfrm>
            <a:off x="134925" y="203285"/>
            <a:ext cx="1174680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位置传感器 </a:t>
            </a:r>
            <a:r>
              <a:rPr lang="en-US" altLang="zh-CN" dirty="0">
                <a:solidFill>
                  <a:schemeClr val="bg1"/>
                </a:solidFill>
              </a:rPr>
              <a:t>MA600A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C69AC37-2875-EC71-2F8B-3C9513DE5F38}"/>
              </a:ext>
            </a:extLst>
          </p:cNvPr>
          <p:cNvCxnSpPr>
            <a:cxnSpLocks/>
          </p:cNvCxnSpPr>
          <p:nvPr/>
        </p:nvCxnSpPr>
        <p:spPr>
          <a:xfrm flipV="1">
            <a:off x="9350880" y="1345109"/>
            <a:ext cx="0" cy="1562193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26">
            <a:extLst>
              <a:ext uri="{FF2B5EF4-FFF2-40B4-BE49-F238E27FC236}">
                <a16:creationId xmlns:a16="http://schemas.microsoft.com/office/drawing/2014/main" id="{1A4FB234-1EE0-1E85-EF46-60FFDD03CED7}"/>
              </a:ext>
            </a:extLst>
          </p:cNvPr>
          <p:cNvSpPr/>
          <p:nvPr/>
        </p:nvSpPr>
        <p:spPr>
          <a:xfrm>
            <a:off x="7609888" y="1241938"/>
            <a:ext cx="4327886" cy="1769847"/>
          </a:xfrm>
          <a:prstGeom prst="rect">
            <a:avLst/>
          </a:prstGeom>
          <a:noFill/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方正黑体简体" panose="02000000000000000000"/>
              <a:cs typeface="Times New Roman" panose="02020603050405020304" pitchFamily="18" charset="0"/>
            </a:endParaRPr>
          </a:p>
        </p:txBody>
      </p:sp>
      <p:sp>
        <p:nvSpPr>
          <p:cNvPr id="32" name="文本框 85">
            <a:extLst>
              <a:ext uri="{FF2B5EF4-FFF2-40B4-BE49-F238E27FC236}">
                <a16:creationId xmlns:a16="http://schemas.microsoft.com/office/drawing/2014/main" id="{480965D0-C6C6-FC91-F4DD-BE2BFBA37D46}"/>
              </a:ext>
            </a:extLst>
          </p:cNvPr>
          <p:cNvSpPr txBox="1"/>
          <p:nvPr/>
        </p:nvSpPr>
        <p:spPr>
          <a:xfrm>
            <a:off x="7609889" y="872606"/>
            <a:ext cx="4327885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在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轴式</a:t>
            </a: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End-of-Shaft | 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离轴式</a:t>
            </a: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Side-Shaft</a:t>
            </a:r>
            <a:endParaRPr lang="zh-CN" altLang="en-US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6C15121-D5D2-D46E-E5EB-F57995C8861D}"/>
              </a:ext>
            </a:extLst>
          </p:cNvPr>
          <p:cNvGrpSpPr/>
          <p:nvPr/>
        </p:nvGrpSpPr>
        <p:grpSpPr>
          <a:xfrm>
            <a:off x="99274" y="977147"/>
            <a:ext cx="7441837" cy="1935595"/>
            <a:chOff x="99274" y="932697"/>
            <a:chExt cx="7441837" cy="1935595"/>
          </a:xfrm>
        </p:grpSpPr>
        <p:pic>
          <p:nvPicPr>
            <p:cNvPr id="12" name="Picture 4" descr="MA600A | High-Accuracy,">
              <a:extLst>
                <a:ext uri="{FF2B5EF4-FFF2-40B4-BE49-F238E27FC236}">
                  <a16:creationId xmlns:a16="http://schemas.microsoft.com/office/drawing/2014/main" id="{E95F864E-0F61-BB6E-2C91-39A7A9D4DD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0183" y="1128196"/>
              <a:ext cx="2000757" cy="1125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F2B7BEB-5827-B232-D2F6-7BCB8BDC0CC2}"/>
                </a:ext>
              </a:extLst>
            </p:cNvPr>
            <p:cNvSpPr txBox="1"/>
            <p:nvPr/>
          </p:nvSpPr>
          <p:spPr>
            <a:xfrm>
              <a:off x="3114709" y="2199963"/>
              <a:ext cx="1271704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位置传感器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MA600A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32B17EC-8E3B-6DDD-CDF1-D9ECA1639BDD}"/>
                </a:ext>
              </a:extLst>
            </p:cNvPr>
            <p:cNvSpPr txBox="1"/>
            <p:nvPr/>
          </p:nvSpPr>
          <p:spPr>
            <a:xfrm>
              <a:off x="6320852" y="2340053"/>
              <a:ext cx="995405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控制器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2" descr="Microcontroller PNG transparent image download, size: 512x333px">
              <a:extLst>
                <a:ext uri="{FF2B5EF4-FFF2-40B4-BE49-F238E27FC236}">
                  <a16:creationId xmlns:a16="http://schemas.microsoft.com/office/drawing/2014/main" id="{0D6B8FDD-6B2F-D7E2-BAB7-22F4B85477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391890"/>
              <a:ext cx="1445111" cy="939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19B6957C-1A6C-0FA0-71DF-870D9E59C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74" y="932697"/>
              <a:ext cx="3134923" cy="1935595"/>
            </a:xfrm>
            <a:prstGeom prst="rect">
              <a:avLst/>
            </a:prstGeom>
          </p:spPr>
        </p:pic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0B02194F-D044-FAC8-9A73-D647A575C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6427" y="1055403"/>
              <a:ext cx="1129470" cy="546311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48DCC540-885F-E8EA-6ABB-98AF25E8CD8F}"/>
                </a:ext>
              </a:extLst>
            </p:cNvPr>
            <p:cNvSpPr/>
            <p:nvPr/>
          </p:nvSpPr>
          <p:spPr>
            <a:xfrm>
              <a:off x="2937601" y="1055403"/>
              <a:ext cx="1607624" cy="1685666"/>
            </a:xfrm>
            <a:prstGeom prst="roundRect">
              <a:avLst>
                <a:gd name="adj" fmla="val 3237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3809B6BC-C4F4-9587-F884-DCDFC42C56F7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78" y="2041354"/>
              <a:ext cx="1079419" cy="678480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右箭头 13">
              <a:extLst>
                <a:ext uri="{FF2B5EF4-FFF2-40B4-BE49-F238E27FC236}">
                  <a16:creationId xmlns:a16="http://schemas.microsoft.com/office/drawing/2014/main" id="{E8C43DB5-3932-4DD7-6D36-43012B1D262C}"/>
                </a:ext>
              </a:extLst>
            </p:cNvPr>
            <p:cNvSpPr/>
            <p:nvPr/>
          </p:nvSpPr>
          <p:spPr>
            <a:xfrm>
              <a:off x="4545225" y="1674236"/>
              <a:ext cx="1550775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chemeClr val="bg2">
                    <a:lumMod val="60000"/>
                    <a:lumOff val="4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FF401E92-3C3E-32B1-58F4-A935FE9DF651}"/>
                </a:ext>
              </a:extLst>
            </p:cNvPr>
            <p:cNvSpPr/>
            <p:nvPr/>
          </p:nvSpPr>
          <p:spPr>
            <a:xfrm>
              <a:off x="4856603" y="993647"/>
              <a:ext cx="915700" cy="1869205"/>
            </a:xfrm>
            <a:prstGeom prst="roundRect">
              <a:avLst>
                <a:gd name="adj" fmla="val 3237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i="0" dirty="0">
                  <a:solidFill>
                    <a:srgbClr val="0070C0"/>
                  </a:solidFill>
                  <a:effectLst/>
                  <a:latin typeface="-apple-system"/>
                </a:rPr>
                <a:t>SPI</a:t>
              </a:r>
            </a:p>
            <a:p>
              <a:pPr algn="ctr"/>
              <a:r>
                <a:rPr lang="en-US" altLang="zh-CN" sz="2400" b="1" i="0" dirty="0">
                  <a:solidFill>
                    <a:srgbClr val="0070C0"/>
                  </a:solidFill>
                  <a:effectLst/>
                  <a:latin typeface="-apple-system"/>
                </a:rPr>
                <a:t>SSI</a:t>
              </a:r>
            </a:p>
            <a:p>
              <a:pPr algn="ctr"/>
              <a:r>
                <a:rPr lang="en-US" altLang="zh-CN" sz="2400" b="1" i="0" dirty="0">
                  <a:solidFill>
                    <a:srgbClr val="0070C0"/>
                  </a:solidFill>
                  <a:effectLst/>
                  <a:latin typeface="-apple-system"/>
                </a:rPr>
                <a:t>ABZ</a:t>
              </a:r>
            </a:p>
            <a:p>
              <a:pPr algn="ctr"/>
              <a:r>
                <a:rPr lang="en-US" altLang="zh-CN" sz="2400" b="1" i="0" dirty="0">
                  <a:solidFill>
                    <a:srgbClr val="0070C0"/>
                  </a:solidFill>
                  <a:effectLst/>
                  <a:latin typeface="-apple-system"/>
                </a:rPr>
                <a:t>UVW</a:t>
              </a:r>
            </a:p>
            <a:p>
              <a:pPr algn="ctr"/>
              <a:r>
                <a:rPr lang="en-US" altLang="zh-CN" sz="2400" b="1" i="0" dirty="0">
                  <a:solidFill>
                    <a:srgbClr val="0070C0"/>
                  </a:solidFill>
                  <a:effectLst/>
                  <a:latin typeface="-apple-system"/>
                </a:rPr>
                <a:t>PWM</a:t>
              </a:r>
              <a:endParaRPr lang="zh-CN" altLang="en-US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4C9BA0D-D7CB-E1DE-F8B5-9A0655D003DE}"/>
              </a:ext>
            </a:extLst>
          </p:cNvPr>
          <p:cNvSpPr txBox="1"/>
          <p:nvPr/>
        </p:nvSpPr>
        <p:spPr>
          <a:xfrm>
            <a:off x="12247510" y="872606"/>
            <a:ext cx="3946066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其他厂商的产品不用列出来，可以简单口述，主要还是描述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MA600A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本身。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MA600A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TMR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相比霍尔温漂好，精度高；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用户校准，上位机旋转校准呈现下（官网）；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体积小。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MA600A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支持菊花链连接，多颗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IC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做级联。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提一嘴，这里不用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讲完这一页，提一嘴电流采样方式。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892E0A7-AA26-6C69-1263-D1771B3601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310"/>
          <a:stretch/>
        </p:blipFill>
        <p:spPr>
          <a:xfrm>
            <a:off x="7834742" y="1289089"/>
            <a:ext cx="1309372" cy="16182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FB29089-AC16-8839-219D-50A6984773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5313" y="1400494"/>
            <a:ext cx="2462345" cy="1506808"/>
          </a:xfrm>
          <a:prstGeom prst="rect">
            <a:avLst/>
          </a:prstGeom>
        </p:spPr>
      </p:pic>
      <p:sp>
        <p:nvSpPr>
          <p:cNvPr id="36" name="右箭头 13">
            <a:extLst>
              <a:ext uri="{FF2B5EF4-FFF2-40B4-BE49-F238E27FC236}">
                <a16:creationId xmlns:a16="http://schemas.microsoft.com/office/drawing/2014/main" id="{A66AFD62-8892-3920-5BED-798FF7C6677C}"/>
              </a:ext>
            </a:extLst>
          </p:cNvPr>
          <p:cNvSpPr/>
          <p:nvPr/>
        </p:nvSpPr>
        <p:spPr>
          <a:xfrm rot="5400000">
            <a:off x="3323317" y="3129563"/>
            <a:ext cx="87708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435F7D3-5D46-63AC-D402-6AB138179E9A}"/>
              </a:ext>
            </a:extLst>
          </p:cNvPr>
          <p:cNvSpPr txBox="1"/>
          <p:nvPr/>
        </p:nvSpPr>
        <p:spPr>
          <a:xfrm>
            <a:off x="3057601" y="2866537"/>
            <a:ext cx="587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-apple-system"/>
              </a:rPr>
              <a:t>SPI</a:t>
            </a:r>
            <a:endParaRPr lang="zh-CN" altLang="en-US" sz="2400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5612D651-E6A6-0A68-48A6-3D27CAE4AFC8}"/>
              </a:ext>
            </a:extLst>
          </p:cNvPr>
          <p:cNvSpPr/>
          <p:nvPr/>
        </p:nvSpPr>
        <p:spPr>
          <a:xfrm>
            <a:off x="71775" y="3353984"/>
            <a:ext cx="9161126" cy="3224615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B968CE26-DAB7-2FE4-FD51-999C3607A807}"/>
              </a:ext>
            </a:extLst>
          </p:cNvPr>
          <p:cNvSpPr/>
          <p:nvPr/>
        </p:nvSpPr>
        <p:spPr>
          <a:xfrm>
            <a:off x="4466114" y="3191486"/>
            <a:ext cx="2061686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点数字</a:t>
            </a:r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校准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07A8C80-FA52-9892-F094-E0303A75573E}"/>
              </a:ext>
            </a:extLst>
          </p:cNvPr>
          <p:cNvSpPr/>
          <p:nvPr/>
        </p:nvSpPr>
        <p:spPr>
          <a:xfrm>
            <a:off x="238612" y="4382987"/>
            <a:ext cx="1270349" cy="760675"/>
          </a:xfrm>
          <a:prstGeom prst="roundRect">
            <a:avLst>
              <a:gd name="adj" fmla="val 323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参考光电</a:t>
            </a:r>
            <a:endParaRPr lang="en-US" altLang="zh-CN" sz="2000" b="1" dirty="0">
              <a:solidFill>
                <a:srgbClr val="0070C0"/>
              </a:solidFill>
              <a:latin typeface="-apple-system"/>
            </a:endParaRPr>
          </a:p>
          <a:p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编码器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173B497-6444-67DF-BBE9-299D18C1ABF6}"/>
              </a:ext>
            </a:extLst>
          </p:cNvPr>
          <p:cNvGrpSpPr/>
          <p:nvPr/>
        </p:nvGrpSpPr>
        <p:grpSpPr>
          <a:xfrm>
            <a:off x="2162007" y="3772456"/>
            <a:ext cx="2836580" cy="1713912"/>
            <a:chOff x="2564158" y="4253595"/>
            <a:chExt cx="2836580" cy="171391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78F5877-04ED-7213-F98A-D215A481D852}"/>
                </a:ext>
              </a:extLst>
            </p:cNvPr>
            <p:cNvSpPr txBox="1"/>
            <p:nvPr/>
          </p:nvSpPr>
          <p:spPr>
            <a:xfrm>
              <a:off x="2573253" y="4253595"/>
              <a:ext cx="28274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zh-CN" sz="2000" b="1" dirty="0">
                  <a:solidFill>
                    <a:srgbClr val="0070C0"/>
                  </a:solidFill>
                  <a:latin typeface="-apple-system"/>
                </a:rPr>
                <a:t>EVKT-MagAlpha-MagDiff 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5C85E13-E633-D7EE-D38C-20C709AB8E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6" t="10744" r="6471" b="8729"/>
            <a:stretch/>
          </p:blipFill>
          <p:spPr bwMode="auto">
            <a:xfrm>
              <a:off x="2564158" y="4615325"/>
              <a:ext cx="2756146" cy="135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右箭头 13">
            <a:extLst>
              <a:ext uri="{FF2B5EF4-FFF2-40B4-BE49-F238E27FC236}">
                <a16:creationId xmlns:a16="http://schemas.microsoft.com/office/drawing/2014/main" id="{1D3D0127-B5B4-DAE3-98CA-0359B231CA97}"/>
              </a:ext>
            </a:extLst>
          </p:cNvPr>
          <p:cNvSpPr/>
          <p:nvPr/>
        </p:nvSpPr>
        <p:spPr>
          <a:xfrm>
            <a:off x="4953896" y="4549951"/>
            <a:ext cx="650813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F5B24F7-50BD-02B2-E44D-6BF05E3AD959}"/>
              </a:ext>
            </a:extLst>
          </p:cNvPr>
          <p:cNvGrpSpPr/>
          <p:nvPr/>
        </p:nvGrpSpPr>
        <p:grpSpPr>
          <a:xfrm>
            <a:off x="1497173" y="4237113"/>
            <a:ext cx="718931" cy="803339"/>
            <a:chOff x="1873295" y="4215266"/>
            <a:chExt cx="718931" cy="803339"/>
          </a:xfrm>
        </p:grpSpPr>
        <p:sp>
          <p:nvSpPr>
            <p:cNvPr id="38" name="右箭头 13">
              <a:extLst>
                <a:ext uri="{FF2B5EF4-FFF2-40B4-BE49-F238E27FC236}">
                  <a16:creationId xmlns:a16="http://schemas.microsoft.com/office/drawing/2014/main" id="{E6E81A93-3CC0-E380-B5D6-518918DFC965}"/>
                </a:ext>
              </a:extLst>
            </p:cNvPr>
            <p:cNvSpPr/>
            <p:nvPr/>
          </p:nvSpPr>
          <p:spPr>
            <a:xfrm>
              <a:off x="1970971" y="4586039"/>
              <a:ext cx="534021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chemeClr val="bg2">
                    <a:lumMod val="60000"/>
                    <a:lumOff val="4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90D0655-2852-44BF-3586-155E7FBDB83E}"/>
                </a:ext>
              </a:extLst>
            </p:cNvPr>
            <p:cNvSpPr txBox="1"/>
            <p:nvPr/>
          </p:nvSpPr>
          <p:spPr>
            <a:xfrm>
              <a:off x="1873295" y="4215266"/>
              <a:ext cx="7189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70C0"/>
                  </a:solidFill>
                  <a:latin typeface="-apple-system"/>
                </a:rPr>
                <a:t>ABZ</a:t>
              </a:r>
              <a:endParaRPr lang="zh-CN" altLang="en-US" sz="2400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99071254-0EF4-2EE3-2F93-048C9C431D53}"/>
              </a:ext>
            </a:extLst>
          </p:cNvPr>
          <p:cNvSpPr txBox="1"/>
          <p:nvPr/>
        </p:nvSpPr>
        <p:spPr>
          <a:xfrm>
            <a:off x="4928188" y="4211608"/>
            <a:ext cx="859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-apple-system"/>
              </a:rPr>
              <a:t>USB</a:t>
            </a:r>
            <a:endParaRPr lang="zh-CN" altLang="en-US" sz="2400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F20BEDBB-8321-DB88-783F-CDFBE7848C95}"/>
              </a:ext>
            </a:extLst>
          </p:cNvPr>
          <p:cNvSpPr/>
          <p:nvPr/>
        </p:nvSpPr>
        <p:spPr>
          <a:xfrm>
            <a:off x="9431942" y="3352676"/>
            <a:ext cx="2518730" cy="3224615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64F7895C-25B5-387D-E49D-9070A9155805}"/>
              </a:ext>
            </a:extLst>
          </p:cNvPr>
          <p:cNvSpPr/>
          <p:nvPr/>
        </p:nvSpPr>
        <p:spPr>
          <a:xfrm>
            <a:off x="10095738" y="3200690"/>
            <a:ext cx="1174770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BCT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校准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03DF8FC4-C43B-C0EC-E3F2-3E01F3BE1007}"/>
              </a:ext>
            </a:extLst>
          </p:cNvPr>
          <p:cNvGrpSpPr/>
          <p:nvPr/>
        </p:nvGrpSpPr>
        <p:grpSpPr>
          <a:xfrm>
            <a:off x="5670829" y="3507540"/>
            <a:ext cx="2984696" cy="2366991"/>
            <a:chOff x="5717562" y="3501385"/>
            <a:chExt cx="2984696" cy="2366991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EB546B3E-31D1-ACA4-EE2C-024BC00BB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7562" y="3838968"/>
              <a:ext cx="2930554" cy="2029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E1F4F994-8CB9-9727-B0B9-209BF8BFE18F}"/>
                </a:ext>
              </a:extLst>
            </p:cNvPr>
            <p:cNvSpPr txBox="1"/>
            <p:nvPr/>
          </p:nvSpPr>
          <p:spPr>
            <a:xfrm>
              <a:off x="5772303" y="3501385"/>
              <a:ext cx="29299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 err="1">
                  <a:solidFill>
                    <a:srgbClr val="0070C0"/>
                  </a:solidFill>
                  <a:latin typeface="-apple-system"/>
                </a:rPr>
                <a:t>MagAlpha</a:t>
              </a:r>
              <a:r>
                <a:rPr lang="en-US" altLang="zh-CN" sz="2000" b="1" dirty="0">
                  <a:solidFill>
                    <a:srgbClr val="0070C0"/>
                  </a:solidFill>
                  <a:latin typeface="-apple-system"/>
                </a:rPr>
                <a:t> Evaluation App</a:t>
              </a: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A71087B-3CDA-6351-80FF-1F5084529C06}"/>
              </a:ext>
            </a:extLst>
          </p:cNvPr>
          <p:cNvSpPr txBox="1"/>
          <p:nvPr/>
        </p:nvSpPr>
        <p:spPr>
          <a:xfrm>
            <a:off x="247957" y="5879957"/>
            <a:ext cx="890550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可补偿：磁体偏心和倾斜、磁体磁化误差、</a:t>
            </a:r>
            <a:r>
              <a:rPr lang="en-US" altLang="zh-CN" dirty="0"/>
              <a:t>PCB</a:t>
            </a:r>
            <a:r>
              <a:rPr lang="zh-CN" altLang="en-US" dirty="0"/>
              <a:t>与传感器安装误差、</a:t>
            </a:r>
            <a:r>
              <a:rPr lang="en-US" altLang="zh-CN" dirty="0"/>
              <a:t>MA600A</a:t>
            </a:r>
            <a:r>
              <a:rPr lang="zh-CN" altLang="en-US" dirty="0"/>
              <a:t>自身残余非线性。补偿后可达到</a:t>
            </a:r>
            <a:r>
              <a:rPr lang="en-US" altLang="zh-CN" sz="2000" b="1" dirty="0">
                <a:solidFill>
                  <a:srgbClr val="FF0000"/>
                </a:solidFill>
              </a:rPr>
              <a:t> INL</a:t>
            </a:r>
            <a:r>
              <a:rPr lang="zh-CN" altLang="en-US" sz="2000" b="1" dirty="0">
                <a:solidFill>
                  <a:srgbClr val="FF0000"/>
                </a:solidFill>
              </a:rPr>
              <a:t>＜</a:t>
            </a:r>
            <a:r>
              <a:rPr lang="en-US" altLang="zh-CN" sz="2000" b="1" dirty="0">
                <a:solidFill>
                  <a:srgbClr val="FF0000"/>
                </a:solidFill>
              </a:rPr>
              <a:t>0.1</a:t>
            </a:r>
            <a:r>
              <a:rPr lang="zh-CN" altLang="en-US" dirty="0"/>
              <a:t>，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～</a:t>
            </a:r>
            <a:r>
              <a:rPr lang="en-US" altLang="zh-CN" b="1" dirty="0">
                <a:solidFill>
                  <a:srgbClr val="FF0000"/>
                </a:solidFill>
              </a:rPr>
              <a:t>15 bit</a:t>
            </a:r>
            <a:r>
              <a:rPr lang="zh-CN" altLang="en-US" dirty="0"/>
              <a:t>可配置分辨率，</a:t>
            </a:r>
            <a:r>
              <a:rPr lang="en-US" altLang="zh-CN" b="1" dirty="0">
                <a:solidFill>
                  <a:srgbClr val="FF0000"/>
                </a:solidFill>
              </a:rPr>
              <a:t>12 kHz</a:t>
            </a:r>
            <a:r>
              <a:rPr lang="zh-CN" altLang="en-US" b="1" dirty="0">
                <a:solidFill>
                  <a:srgbClr val="FF0000"/>
                </a:solidFill>
              </a:rPr>
              <a:t>带宽。</a:t>
            </a: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5759B877-C777-334D-4CAE-B420F657EB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8319" y="3545244"/>
            <a:ext cx="2168965" cy="1897844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C93B2B6B-DBDB-CB4E-0F60-F112F6505E54}"/>
              </a:ext>
            </a:extLst>
          </p:cNvPr>
          <p:cNvSpPr txBox="1"/>
          <p:nvPr/>
        </p:nvSpPr>
        <p:spPr>
          <a:xfrm>
            <a:off x="9431943" y="5443088"/>
            <a:ext cx="2518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离轴式安装时</a:t>
            </a:r>
            <a:r>
              <a:rPr lang="zh-CN" altLang="en-US" dirty="0"/>
              <a:t>，需要进行</a:t>
            </a:r>
            <a:r>
              <a:rPr lang="en-US" altLang="zh-CN" dirty="0"/>
              <a:t>BCT</a:t>
            </a:r>
            <a:r>
              <a:rPr lang="zh-CN" altLang="en-US" dirty="0"/>
              <a:t>校准。降低周期性误差。</a:t>
            </a:r>
            <a:endParaRPr lang="en-US" altLang="zh-CN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BB04361-8229-8AEA-1805-377EA04B262E}"/>
              </a:ext>
            </a:extLst>
          </p:cNvPr>
          <p:cNvSpPr txBox="1"/>
          <p:nvPr/>
        </p:nvSpPr>
        <p:spPr>
          <a:xfrm>
            <a:off x="2939291" y="747618"/>
            <a:ext cx="1929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  <a:latin typeface="-apple-system"/>
              </a:rPr>
              <a:t>TMR</a:t>
            </a:r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磁敏元件</a:t>
            </a:r>
          </a:p>
        </p:txBody>
      </p:sp>
    </p:spTree>
    <p:extLst>
      <p:ext uri="{BB962C8B-B14F-4D97-AF65-F5344CB8AC3E}">
        <p14:creationId xmlns:p14="http://schemas.microsoft.com/office/powerpoint/2010/main" val="359562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E3E8-CB91-A808-7646-5FACFC4F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EDD3F67-3369-F6D7-C14E-C56AC5ECF61D}"/>
              </a:ext>
            </a:extLst>
          </p:cNvPr>
          <p:cNvSpPr>
            <a:spLocks noGrp="1"/>
          </p:cNvSpPr>
          <p:nvPr/>
        </p:nvSpPr>
        <p:spPr>
          <a:xfrm>
            <a:off x="134925" y="203285"/>
            <a:ext cx="1174680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en-US" altLang="zh-CN" dirty="0">
                <a:solidFill>
                  <a:schemeClr val="bg1"/>
                </a:solidFill>
              </a:rPr>
              <a:t>MA600A </a:t>
            </a:r>
            <a:r>
              <a:rPr lang="zh-CN" altLang="en-US" dirty="0">
                <a:solidFill>
                  <a:schemeClr val="bg1"/>
                </a:solidFill>
              </a:rPr>
              <a:t>与 电流采样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E341245C-3845-A308-6C07-CCEE8AA512F4}"/>
              </a:ext>
            </a:extLst>
          </p:cNvPr>
          <p:cNvGrpSpPr/>
          <p:nvPr/>
        </p:nvGrpSpPr>
        <p:grpSpPr>
          <a:xfrm>
            <a:off x="468675" y="1028699"/>
            <a:ext cx="5507162" cy="5465233"/>
            <a:chOff x="130481" y="1028699"/>
            <a:chExt cx="5507162" cy="5465233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1A45E7E0-72FB-7822-6118-B29424E70570}"/>
                </a:ext>
              </a:extLst>
            </p:cNvPr>
            <p:cNvSpPr/>
            <p:nvPr/>
          </p:nvSpPr>
          <p:spPr>
            <a:xfrm>
              <a:off x="130481" y="1028699"/>
              <a:ext cx="5491385" cy="546523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7EAE1F40-AB12-2777-536A-7EDF32C2D377}"/>
                </a:ext>
              </a:extLst>
            </p:cNvPr>
            <p:cNvSpPr/>
            <p:nvPr/>
          </p:nvSpPr>
          <p:spPr>
            <a:xfrm>
              <a:off x="130482" y="1028700"/>
              <a:ext cx="5491384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MA600A</a:t>
              </a:r>
              <a:r>
                <a:rPr lang="zh-CN" altLang="en-US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菊花链</a:t>
              </a:r>
            </a:p>
            <a:p>
              <a:pPr algn="ctr"/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28BA099-CA07-9A26-C938-6B16EE5A3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7948" y="1447800"/>
              <a:ext cx="3612802" cy="3505021"/>
            </a:xfrm>
            <a:prstGeom prst="rect">
              <a:avLst/>
            </a:prstGeom>
          </p:spPr>
        </p:pic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FEB2DA8-F3C8-9E85-4C04-D74BEB3E50F8}"/>
                </a:ext>
              </a:extLst>
            </p:cNvPr>
            <p:cNvSpPr txBox="1"/>
            <p:nvPr/>
          </p:nvSpPr>
          <p:spPr>
            <a:xfrm>
              <a:off x="146260" y="4952821"/>
              <a:ext cx="549138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多颗</a:t>
              </a:r>
              <a:r>
                <a:rPr lang="en-US" altLang="zh-CN" b="1" dirty="0">
                  <a:solidFill>
                    <a:srgbClr val="FF0000"/>
                  </a:solidFill>
                </a:rPr>
                <a:t>MA600A</a:t>
              </a:r>
              <a:r>
                <a:rPr lang="zh-CN" altLang="en-US" b="1" dirty="0">
                  <a:solidFill>
                    <a:srgbClr val="FF0000"/>
                  </a:solidFill>
                </a:rPr>
                <a:t>首尾串联</a:t>
              </a:r>
              <a:r>
                <a:rPr lang="zh-CN" altLang="en-US" dirty="0"/>
                <a:t>，共用时钟与片选信号，以</a:t>
              </a:r>
              <a:r>
                <a:rPr lang="zh-CN" altLang="en-US" b="1" dirty="0">
                  <a:solidFill>
                    <a:srgbClr val="FF0000"/>
                  </a:solidFill>
                </a:rPr>
                <a:t>更少的控制器</a:t>
              </a:r>
              <a:r>
                <a:rPr lang="en-US" altLang="zh-CN" b="1" dirty="0">
                  <a:solidFill>
                    <a:srgbClr val="FF0000"/>
                  </a:solidFill>
                </a:rPr>
                <a:t>I/O</a:t>
              </a:r>
              <a:r>
                <a:rPr lang="zh-CN" altLang="en-US" dirty="0"/>
                <a:t>和线束，实现多颗角度传感器的集中读取。</a:t>
              </a:r>
              <a:endParaRPr lang="en-US" altLang="zh-CN" dirty="0"/>
            </a:p>
            <a:p>
              <a:r>
                <a:rPr lang="zh-CN" altLang="en-US" dirty="0"/>
                <a:t>在离轴使用时，可用多颗</a:t>
              </a:r>
              <a:r>
                <a:rPr lang="en-US" altLang="zh-CN" dirty="0"/>
                <a:t>MA600A</a:t>
              </a:r>
              <a:r>
                <a:rPr lang="zh-CN" altLang="en-US" dirty="0"/>
                <a:t>，校准角度量。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DF8E6E4-545B-14FE-07FB-3CF8EA7582DC}"/>
              </a:ext>
            </a:extLst>
          </p:cNvPr>
          <p:cNvGrpSpPr/>
          <p:nvPr/>
        </p:nvGrpSpPr>
        <p:grpSpPr>
          <a:xfrm>
            <a:off x="6231942" y="1028699"/>
            <a:ext cx="5507160" cy="5465232"/>
            <a:chOff x="6390340" y="1028700"/>
            <a:chExt cx="5507160" cy="5465232"/>
          </a:xfrm>
        </p:grpSpPr>
        <p:sp>
          <p:nvSpPr>
            <p:cNvPr id="61" name="Rectangle 6">
              <a:extLst>
                <a:ext uri="{FF2B5EF4-FFF2-40B4-BE49-F238E27FC236}">
                  <a16:creationId xmlns:a16="http://schemas.microsoft.com/office/drawing/2014/main" id="{6CE0762E-7C2A-E6EA-0A28-0AAB57E88B75}"/>
                </a:ext>
              </a:extLst>
            </p:cNvPr>
            <p:cNvSpPr/>
            <p:nvPr/>
          </p:nvSpPr>
          <p:spPr>
            <a:xfrm>
              <a:off x="6390340" y="1028700"/>
              <a:ext cx="5491385" cy="5465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62" name="Rectangle 7">
              <a:extLst>
                <a:ext uri="{FF2B5EF4-FFF2-40B4-BE49-F238E27FC236}">
                  <a16:creationId xmlns:a16="http://schemas.microsoft.com/office/drawing/2014/main" id="{0CB32428-72B7-AF47-D2D7-74361F3C6E9F}"/>
                </a:ext>
              </a:extLst>
            </p:cNvPr>
            <p:cNvSpPr/>
            <p:nvPr/>
          </p:nvSpPr>
          <p:spPr>
            <a:xfrm>
              <a:off x="6390341" y="1028700"/>
              <a:ext cx="5491384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/>
            <a:lstStyle/>
            <a:p>
              <a:pPr algn="ctr"/>
              <a:r>
                <a:rPr lang="zh-CN" altLang="en-US" b="1" dirty="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电流采样方式</a:t>
              </a:r>
            </a:p>
          </p:txBody>
        </p:sp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1D85D89D-AD80-EE7E-08A6-E15B52F2B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19347" y="1537335"/>
              <a:ext cx="4026786" cy="3211393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C3DB47D-CACB-E593-F49B-436E3A49AC83}"/>
                </a:ext>
              </a:extLst>
            </p:cNvPr>
            <p:cNvSpPr txBox="1"/>
            <p:nvPr/>
          </p:nvSpPr>
          <p:spPr>
            <a:xfrm>
              <a:off x="6406117" y="4882666"/>
              <a:ext cx="5491383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相电流采样：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zh-CN" altLang="en-US" dirty="0"/>
                <a:t>可直接获取相电流，但共模电压高，对采样电路要求较高；</a:t>
              </a:r>
              <a:br>
                <a:rPr lang="zh-CN" altLang="en-US" dirty="0"/>
              </a:br>
              <a:r>
                <a:rPr lang="zh-CN" altLang="en-US" b="1" dirty="0">
                  <a:solidFill>
                    <a:srgbClr val="FF0000"/>
                  </a:solidFill>
                </a:rPr>
                <a:t>低侧采样：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zh-CN" altLang="en-US" dirty="0"/>
                <a:t>电路简单、共模电压低，但受 </a:t>
              </a:r>
              <a:r>
                <a:rPr lang="en-US" altLang="zh-CN" dirty="0"/>
                <a:t>PWM </a:t>
              </a:r>
              <a:r>
                <a:rPr lang="zh-CN" altLang="en-US" dirty="0"/>
                <a:t>开关状态限制。通常在中心对齐 </a:t>
              </a:r>
              <a:r>
                <a:rPr lang="en-US" altLang="zh-CN" dirty="0"/>
                <a:t>PWM </a:t>
              </a:r>
              <a:r>
                <a:rPr lang="zh-CN" altLang="en-US" dirty="0"/>
                <a:t>通常在载波谷值（</a:t>
              </a:r>
              <a:r>
                <a:rPr lang="en-US" altLang="zh-CN" dirty="0"/>
                <a:t>CTR=ZERO</a:t>
              </a:r>
              <a:r>
                <a:rPr lang="zh-CN" altLang="en-US" dirty="0"/>
                <a:t>）附近触发 </a:t>
              </a:r>
              <a:r>
                <a:rPr lang="en-US" altLang="zh-CN" dirty="0"/>
                <a:t>ADC</a:t>
              </a:r>
              <a:r>
                <a:rPr lang="zh-CN" altLang="en-US" dirty="0"/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03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ACDC15F-C9FB-132A-4CF9-CBC01E73F303}"/>
              </a:ext>
            </a:extLst>
          </p:cNvPr>
          <p:cNvSpPr/>
          <p:nvPr/>
        </p:nvSpPr>
        <p:spPr>
          <a:xfrm>
            <a:off x="217806" y="800638"/>
            <a:ext cx="11663919" cy="2925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942B2F-2EFB-3152-6BC0-F73BE2CF7682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663918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辅助电源 </a:t>
            </a:r>
            <a:r>
              <a:rPr lang="en-US" altLang="zh-CN" dirty="0">
                <a:solidFill>
                  <a:schemeClr val="bg1"/>
                </a:solidFill>
              </a:rPr>
              <a:t>MP4583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MP3632S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右箭头 13">
            <a:extLst>
              <a:ext uri="{FF2B5EF4-FFF2-40B4-BE49-F238E27FC236}">
                <a16:creationId xmlns:a16="http://schemas.microsoft.com/office/drawing/2014/main" id="{62B0EADA-F408-C70C-8252-B225DA2E46D8}"/>
              </a:ext>
            </a:extLst>
          </p:cNvPr>
          <p:cNvSpPr/>
          <p:nvPr/>
        </p:nvSpPr>
        <p:spPr>
          <a:xfrm>
            <a:off x="1549767" y="1969938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" descr="MP4583">
            <a:extLst>
              <a:ext uri="{FF2B5EF4-FFF2-40B4-BE49-F238E27FC236}">
                <a16:creationId xmlns:a16="http://schemas.microsoft.com/office/drawing/2014/main" id="{45AFD319-C8BD-F77B-2F7A-579C37CE7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359712" y="1524059"/>
            <a:ext cx="1421541" cy="132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52E2EE-81E7-64FF-3867-33E829B3D5B4}"/>
              </a:ext>
            </a:extLst>
          </p:cNvPr>
          <p:cNvSpPr txBox="1"/>
          <p:nvPr/>
        </p:nvSpPr>
        <p:spPr>
          <a:xfrm>
            <a:off x="1983490" y="2793868"/>
            <a:ext cx="208797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100V DC-DC 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0FAB73-99BC-4EDA-EA51-5233D3B6C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093" y="604121"/>
            <a:ext cx="1365817" cy="13658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3E7E5C-D883-7686-2B34-59FC8C859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863" y="1335334"/>
            <a:ext cx="1725330" cy="173240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3CD115-2A87-EEDE-3840-C7179EE64FD6}"/>
              </a:ext>
            </a:extLst>
          </p:cNvPr>
          <p:cNvSpPr txBox="1"/>
          <p:nvPr/>
        </p:nvSpPr>
        <p:spPr>
          <a:xfrm>
            <a:off x="4392436" y="2816257"/>
            <a:ext cx="227818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12V DC-DC MPM3632S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A522E3-096D-5C19-21F0-2471A70F3EA9}"/>
              </a:ext>
            </a:extLst>
          </p:cNvPr>
          <p:cNvSpPr txBox="1"/>
          <p:nvPr/>
        </p:nvSpPr>
        <p:spPr>
          <a:xfrm>
            <a:off x="7964230" y="1838840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3FC742-FC2F-392D-305F-2B7B9F049E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8354321" y="2303865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EE7C1E8-C66D-CD10-B401-472D7B82A756}"/>
              </a:ext>
            </a:extLst>
          </p:cNvPr>
          <p:cNvSpPr txBox="1"/>
          <p:nvPr/>
        </p:nvSpPr>
        <p:spPr>
          <a:xfrm>
            <a:off x="7993328" y="3202420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17" name="右箭头 13">
            <a:extLst>
              <a:ext uri="{FF2B5EF4-FFF2-40B4-BE49-F238E27FC236}">
                <a16:creationId xmlns:a16="http://schemas.microsoft.com/office/drawing/2014/main" id="{7C9EC11C-06DC-E122-D3B5-3FEEA966666C}"/>
              </a:ext>
            </a:extLst>
          </p:cNvPr>
          <p:cNvSpPr/>
          <p:nvPr/>
        </p:nvSpPr>
        <p:spPr>
          <a:xfrm>
            <a:off x="3871219" y="1969938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61">
            <a:extLst>
              <a:ext uri="{FF2B5EF4-FFF2-40B4-BE49-F238E27FC236}">
                <a16:creationId xmlns:a16="http://schemas.microsoft.com/office/drawing/2014/main" id="{892160DF-DEB7-6579-015B-71A04574371A}"/>
              </a:ext>
            </a:extLst>
          </p:cNvPr>
          <p:cNvSpPr/>
          <p:nvPr/>
        </p:nvSpPr>
        <p:spPr>
          <a:xfrm>
            <a:off x="310274" y="1980564"/>
            <a:ext cx="1101280" cy="42194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</a:t>
            </a:r>
            <a:r>
              <a:rPr lang="en-US" altLang="zh-CN" sz="1599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Vbat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F67733B-132C-05F1-CF01-9B667D158539}"/>
              </a:ext>
            </a:extLst>
          </p:cNvPr>
          <p:cNvSpPr/>
          <p:nvPr/>
        </p:nvSpPr>
        <p:spPr>
          <a:xfrm>
            <a:off x="6497773" y="1169262"/>
            <a:ext cx="1493428" cy="2064547"/>
          </a:xfrm>
          <a:custGeom>
            <a:avLst/>
            <a:gdLst>
              <a:gd name="connsiteX0" fmla="*/ 0 w 803275"/>
              <a:gd name="connsiteY0" fmla="*/ 617537 h 1470025"/>
              <a:gd name="connsiteX1" fmla="*/ 249237 w 803275"/>
              <a:gd name="connsiteY1" fmla="*/ 617537 h 1470025"/>
              <a:gd name="connsiteX2" fmla="*/ 249237 w 803275"/>
              <a:gd name="connsiteY2" fmla="*/ 388937 h 1470025"/>
              <a:gd name="connsiteX3" fmla="*/ 266700 w 803275"/>
              <a:gd name="connsiteY3" fmla="*/ 315912 h 1470025"/>
              <a:gd name="connsiteX4" fmla="*/ 277812 w 803275"/>
              <a:gd name="connsiteY4" fmla="*/ 260350 h 1470025"/>
              <a:gd name="connsiteX5" fmla="*/ 306387 w 803275"/>
              <a:gd name="connsiteY5" fmla="*/ 209550 h 1470025"/>
              <a:gd name="connsiteX6" fmla="*/ 334962 w 803275"/>
              <a:gd name="connsiteY6" fmla="*/ 171450 h 1470025"/>
              <a:gd name="connsiteX7" fmla="*/ 358775 w 803275"/>
              <a:gd name="connsiteY7" fmla="*/ 146050 h 1470025"/>
              <a:gd name="connsiteX8" fmla="*/ 385762 w 803275"/>
              <a:gd name="connsiteY8" fmla="*/ 127000 h 1470025"/>
              <a:gd name="connsiteX9" fmla="*/ 423862 w 803275"/>
              <a:gd name="connsiteY9" fmla="*/ 109537 h 1470025"/>
              <a:gd name="connsiteX10" fmla="*/ 438150 w 803275"/>
              <a:gd name="connsiteY10" fmla="*/ 100012 h 1470025"/>
              <a:gd name="connsiteX11" fmla="*/ 458787 w 803275"/>
              <a:gd name="connsiteY11" fmla="*/ 98425 h 1470025"/>
              <a:gd name="connsiteX12" fmla="*/ 485775 w 803275"/>
              <a:gd name="connsiteY12" fmla="*/ 96837 h 1470025"/>
              <a:gd name="connsiteX13" fmla="*/ 666750 w 803275"/>
              <a:gd name="connsiteY13" fmla="*/ 96837 h 1470025"/>
              <a:gd name="connsiteX14" fmla="*/ 666750 w 803275"/>
              <a:gd name="connsiteY14" fmla="*/ 0 h 1470025"/>
              <a:gd name="connsiteX15" fmla="*/ 803275 w 803275"/>
              <a:gd name="connsiteY15" fmla="*/ 184150 h 1470025"/>
              <a:gd name="connsiteX16" fmla="*/ 661987 w 803275"/>
              <a:gd name="connsiteY16" fmla="*/ 381000 h 1470025"/>
              <a:gd name="connsiteX17" fmla="*/ 661987 w 803275"/>
              <a:gd name="connsiteY17" fmla="*/ 280987 h 1470025"/>
              <a:gd name="connsiteX18" fmla="*/ 487362 w 803275"/>
              <a:gd name="connsiteY18" fmla="*/ 280987 h 1470025"/>
              <a:gd name="connsiteX19" fmla="*/ 454025 w 803275"/>
              <a:gd name="connsiteY19" fmla="*/ 293687 h 1470025"/>
              <a:gd name="connsiteX20" fmla="*/ 439737 w 803275"/>
              <a:gd name="connsiteY20" fmla="*/ 304800 h 1470025"/>
              <a:gd name="connsiteX21" fmla="*/ 428625 w 803275"/>
              <a:gd name="connsiteY21" fmla="*/ 314325 h 1470025"/>
              <a:gd name="connsiteX22" fmla="*/ 404812 w 803275"/>
              <a:gd name="connsiteY22" fmla="*/ 342900 h 1470025"/>
              <a:gd name="connsiteX23" fmla="*/ 392112 w 803275"/>
              <a:gd name="connsiteY23" fmla="*/ 387350 h 1470025"/>
              <a:gd name="connsiteX24" fmla="*/ 388937 w 803275"/>
              <a:gd name="connsiteY24" fmla="*/ 417512 h 1470025"/>
              <a:gd name="connsiteX25" fmla="*/ 388937 w 803275"/>
              <a:gd name="connsiteY25" fmla="*/ 1008062 h 1470025"/>
              <a:gd name="connsiteX26" fmla="*/ 388937 w 803275"/>
              <a:gd name="connsiteY26" fmla="*/ 1057275 h 1470025"/>
              <a:gd name="connsiteX27" fmla="*/ 390525 w 803275"/>
              <a:gd name="connsiteY27" fmla="*/ 1079500 h 1470025"/>
              <a:gd name="connsiteX28" fmla="*/ 393700 w 803275"/>
              <a:gd name="connsiteY28" fmla="*/ 1084262 h 1470025"/>
              <a:gd name="connsiteX29" fmla="*/ 398462 w 803275"/>
              <a:gd name="connsiteY29" fmla="*/ 1106487 h 1470025"/>
              <a:gd name="connsiteX30" fmla="*/ 409575 w 803275"/>
              <a:gd name="connsiteY30" fmla="*/ 1125537 h 1470025"/>
              <a:gd name="connsiteX31" fmla="*/ 417512 w 803275"/>
              <a:gd name="connsiteY31" fmla="*/ 1146175 h 1470025"/>
              <a:gd name="connsiteX32" fmla="*/ 428625 w 803275"/>
              <a:gd name="connsiteY32" fmla="*/ 1157287 h 1470025"/>
              <a:gd name="connsiteX33" fmla="*/ 446087 w 803275"/>
              <a:gd name="connsiteY33" fmla="*/ 1177925 h 1470025"/>
              <a:gd name="connsiteX34" fmla="*/ 479425 w 803275"/>
              <a:gd name="connsiteY34" fmla="*/ 1189037 h 1470025"/>
              <a:gd name="connsiteX35" fmla="*/ 665162 w 803275"/>
              <a:gd name="connsiteY35" fmla="*/ 1189037 h 1470025"/>
              <a:gd name="connsiteX36" fmla="*/ 665162 w 803275"/>
              <a:gd name="connsiteY36" fmla="*/ 1092200 h 1470025"/>
              <a:gd name="connsiteX37" fmla="*/ 801687 w 803275"/>
              <a:gd name="connsiteY37" fmla="*/ 1282700 h 1470025"/>
              <a:gd name="connsiteX38" fmla="*/ 666750 w 803275"/>
              <a:gd name="connsiteY38" fmla="*/ 1470025 h 1470025"/>
              <a:gd name="connsiteX39" fmla="*/ 666750 w 803275"/>
              <a:gd name="connsiteY39" fmla="*/ 1377950 h 1470025"/>
              <a:gd name="connsiteX40" fmla="*/ 463550 w 803275"/>
              <a:gd name="connsiteY40" fmla="*/ 1377950 h 1470025"/>
              <a:gd name="connsiteX41" fmla="*/ 425450 w 803275"/>
              <a:gd name="connsiteY41" fmla="*/ 1360487 h 1470025"/>
              <a:gd name="connsiteX42" fmla="*/ 411162 w 803275"/>
              <a:gd name="connsiteY42" fmla="*/ 1355725 h 1470025"/>
              <a:gd name="connsiteX43" fmla="*/ 388937 w 803275"/>
              <a:gd name="connsiteY43" fmla="*/ 1343025 h 1470025"/>
              <a:gd name="connsiteX44" fmla="*/ 369887 w 803275"/>
              <a:gd name="connsiteY44" fmla="*/ 1330325 h 1470025"/>
              <a:gd name="connsiteX45" fmla="*/ 355600 w 803275"/>
              <a:gd name="connsiteY45" fmla="*/ 1317625 h 1470025"/>
              <a:gd name="connsiteX46" fmla="*/ 342900 w 803275"/>
              <a:gd name="connsiteY46" fmla="*/ 1303337 h 1470025"/>
              <a:gd name="connsiteX47" fmla="*/ 333375 w 803275"/>
              <a:gd name="connsiteY47" fmla="*/ 1292225 h 1470025"/>
              <a:gd name="connsiteX48" fmla="*/ 322262 w 803275"/>
              <a:gd name="connsiteY48" fmla="*/ 1281112 h 1470025"/>
              <a:gd name="connsiteX49" fmla="*/ 314325 w 803275"/>
              <a:gd name="connsiteY49" fmla="*/ 1265237 h 1470025"/>
              <a:gd name="connsiteX50" fmla="*/ 303212 w 803275"/>
              <a:gd name="connsiteY50" fmla="*/ 1246187 h 1470025"/>
              <a:gd name="connsiteX51" fmla="*/ 284162 w 803275"/>
              <a:gd name="connsiteY51" fmla="*/ 1211262 h 1470025"/>
              <a:gd name="connsiteX52" fmla="*/ 273050 w 803275"/>
              <a:gd name="connsiteY52" fmla="*/ 1176337 h 1470025"/>
              <a:gd name="connsiteX53" fmla="*/ 265112 w 803275"/>
              <a:gd name="connsiteY53" fmla="*/ 1154112 h 1470025"/>
              <a:gd name="connsiteX54" fmla="*/ 260350 w 803275"/>
              <a:gd name="connsiteY54" fmla="*/ 1125537 h 1470025"/>
              <a:gd name="connsiteX55" fmla="*/ 250825 w 803275"/>
              <a:gd name="connsiteY55" fmla="*/ 1104900 h 1470025"/>
              <a:gd name="connsiteX56" fmla="*/ 250825 w 803275"/>
              <a:gd name="connsiteY56" fmla="*/ 1089025 h 1470025"/>
              <a:gd name="connsiteX57" fmla="*/ 250825 w 803275"/>
              <a:gd name="connsiteY57" fmla="*/ 835025 h 1470025"/>
              <a:gd name="connsiteX58" fmla="*/ 0 w 803275"/>
              <a:gd name="connsiteY58" fmla="*/ 835025 h 1470025"/>
              <a:gd name="connsiteX59" fmla="*/ 0 w 803275"/>
              <a:gd name="connsiteY59" fmla="*/ 617537 h 147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803275" h="1470025">
                <a:moveTo>
                  <a:pt x="0" y="617537"/>
                </a:moveTo>
                <a:lnTo>
                  <a:pt x="249237" y="617537"/>
                </a:lnTo>
                <a:lnTo>
                  <a:pt x="249237" y="388937"/>
                </a:lnTo>
                <a:lnTo>
                  <a:pt x="266700" y="315912"/>
                </a:lnTo>
                <a:lnTo>
                  <a:pt x="277812" y="260350"/>
                </a:lnTo>
                <a:lnTo>
                  <a:pt x="306387" y="209550"/>
                </a:lnTo>
                <a:lnTo>
                  <a:pt x="334962" y="171450"/>
                </a:lnTo>
                <a:lnTo>
                  <a:pt x="358775" y="146050"/>
                </a:lnTo>
                <a:lnTo>
                  <a:pt x="385762" y="127000"/>
                </a:lnTo>
                <a:lnTo>
                  <a:pt x="423862" y="109537"/>
                </a:lnTo>
                <a:lnTo>
                  <a:pt x="438150" y="100012"/>
                </a:lnTo>
                <a:lnTo>
                  <a:pt x="458787" y="98425"/>
                </a:lnTo>
                <a:lnTo>
                  <a:pt x="485775" y="96837"/>
                </a:lnTo>
                <a:lnTo>
                  <a:pt x="666750" y="96837"/>
                </a:lnTo>
                <a:lnTo>
                  <a:pt x="666750" y="0"/>
                </a:lnTo>
                <a:lnTo>
                  <a:pt x="803275" y="184150"/>
                </a:lnTo>
                <a:lnTo>
                  <a:pt x="661987" y="381000"/>
                </a:lnTo>
                <a:lnTo>
                  <a:pt x="661987" y="280987"/>
                </a:lnTo>
                <a:lnTo>
                  <a:pt x="487362" y="280987"/>
                </a:lnTo>
                <a:lnTo>
                  <a:pt x="454025" y="293687"/>
                </a:lnTo>
                <a:lnTo>
                  <a:pt x="439737" y="304800"/>
                </a:lnTo>
                <a:lnTo>
                  <a:pt x="428625" y="314325"/>
                </a:lnTo>
                <a:lnTo>
                  <a:pt x="404812" y="342900"/>
                </a:lnTo>
                <a:lnTo>
                  <a:pt x="392112" y="387350"/>
                </a:lnTo>
                <a:lnTo>
                  <a:pt x="388937" y="417512"/>
                </a:lnTo>
                <a:lnTo>
                  <a:pt x="388937" y="1008062"/>
                </a:lnTo>
                <a:lnTo>
                  <a:pt x="388937" y="1057275"/>
                </a:lnTo>
                <a:lnTo>
                  <a:pt x="390525" y="1079500"/>
                </a:lnTo>
                <a:lnTo>
                  <a:pt x="393700" y="1084262"/>
                </a:lnTo>
                <a:lnTo>
                  <a:pt x="398462" y="1106487"/>
                </a:lnTo>
                <a:lnTo>
                  <a:pt x="409575" y="1125537"/>
                </a:lnTo>
                <a:lnTo>
                  <a:pt x="417512" y="1146175"/>
                </a:lnTo>
                <a:lnTo>
                  <a:pt x="428625" y="1157287"/>
                </a:lnTo>
                <a:lnTo>
                  <a:pt x="446087" y="1177925"/>
                </a:lnTo>
                <a:lnTo>
                  <a:pt x="479425" y="1189037"/>
                </a:lnTo>
                <a:lnTo>
                  <a:pt x="665162" y="1189037"/>
                </a:lnTo>
                <a:lnTo>
                  <a:pt x="665162" y="1092200"/>
                </a:lnTo>
                <a:lnTo>
                  <a:pt x="801687" y="1282700"/>
                </a:lnTo>
                <a:lnTo>
                  <a:pt x="666750" y="1470025"/>
                </a:lnTo>
                <a:lnTo>
                  <a:pt x="666750" y="1377950"/>
                </a:lnTo>
                <a:lnTo>
                  <a:pt x="463550" y="1377950"/>
                </a:lnTo>
                <a:lnTo>
                  <a:pt x="425450" y="1360487"/>
                </a:lnTo>
                <a:lnTo>
                  <a:pt x="411162" y="1355725"/>
                </a:lnTo>
                <a:lnTo>
                  <a:pt x="388937" y="1343025"/>
                </a:lnTo>
                <a:lnTo>
                  <a:pt x="369887" y="1330325"/>
                </a:lnTo>
                <a:lnTo>
                  <a:pt x="355600" y="1317625"/>
                </a:lnTo>
                <a:lnTo>
                  <a:pt x="342900" y="1303337"/>
                </a:lnTo>
                <a:lnTo>
                  <a:pt x="333375" y="1292225"/>
                </a:lnTo>
                <a:lnTo>
                  <a:pt x="322262" y="1281112"/>
                </a:lnTo>
                <a:lnTo>
                  <a:pt x="314325" y="1265237"/>
                </a:lnTo>
                <a:lnTo>
                  <a:pt x="303212" y="1246187"/>
                </a:lnTo>
                <a:lnTo>
                  <a:pt x="284162" y="1211262"/>
                </a:lnTo>
                <a:lnTo>
                  <a:pt x="273050" y="1176337"/>
                </a:lnTo>
                <a:lnTo>
                  <a:pt x="265112" y="1154112"/>
                </a:lnTo>
                <a:lnTo>
                  <a:pt x="260350" y="1125537"/>
                </a:lnTo>
                <a:lnTo>
                  <a:pt x="250825" y="1104900"/>
                </a:lnTo>
                <a:lnTo>
                  <a:pt x="250825" y="1089025"/>
                </a:lnTo>
                <a:lnTo>
                  <a:pt x="250825" y="835025"/>
                </a:lnTo>
                <a:lnTo>
                  <a:pt x="0" y="835025"/>
                </a:lnTo>
                <a:lnTo>
                  <a:pt x="0" y="617537"/>
                </a:lnTo>
                <a:close/>
              </a:path>
            </a:pathLst>
          </a:cu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83B114-5206-1F19-D73E-E30EB2AF53AA}"/>
              </a:ext>
            </a:extLst>
          </p:cNvPr>
          <p:cNvSpPr txBox="1"/>
          <p:nvPr/>
        </p:nvSpPr>
        <p:spPr>
          <a:xfrm>
            <a:off x="7033740" y="2832453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17F16D-6C6D-89C5-87DF-6F70DFAC2C43}"/>
              </a:ext>
            </a:extLst>
          </p:cNvPr>
          <p:cNvSpPr txBox="1"/>
          <p:nvPr/>
        </p:nvSpPr>
        <p:spPr>
          <a:xfrm>
            <a:off x="7093559" y="1331620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26" name="右箭头 13">
            <a:extLst>
              <a:ext uri="{FF2B5EF4-FFF2-40B4-BE49-F238E27FC236}">
                <a16:creationId xmlns:a16="http://schemas.microsoft.com/office/drawing/2014/main" id="{AEF40B04-02DA-8B44-15AF-3A253DBDC270}"/>
              </a:ext>
            </a:extLst>
          </p:cNvPr>
          <p:cNvSpPr/>
          <p:nvPr/>
        </p:nvSpPr>
        <p:spPr>
          <a:xfrm>
            <a:off x="9689560" y="1249026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61">
            <a:extLst>
              <a:ext uri="{FF2B5EF4-FFF2-40B4-BE49-F238E27FC236}">
                <a16:creationId xmlns:a16="http://schemas.microsoft.com/office/drawing/2014/main" id="{36C2F67A-EFF2-8746-42E9-227562ACB758}"/>
              </a:ext>
            </a:extLst>
          </p:cNvPr>
          <p:cNvSpPr/>
          <p:nvPr/>
        </p:nvSpPr>
        <p:spPr>
          <a:xfrm>
            <a:off x="10610455" y="1305880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61">
            <a:extLst>
              <a:ext uri="{FF2B5EF4-FFF2-40B4-BE49-F238E27FC236}">
                <a16:creationId xmlns:a16="http://schemas.microsoft.com/office/drawing/2014/main" id="{C0244289-9974-3CF4-BFED-E1A326A7821A}"/>
              </a:ext>
            </a:extLst>
          </p:cNvPr>
          <p:cNvSpPr/>
          <p:nvPr/>
        </p:nvSpPr>
        <p:spPr>
          <a:xfrm>
            <a:off x="10610455" y="2736967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ISO_5V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右箭头 13">
            <a:extLst>
              <a:ext uri="{FF2B5EF4-FFF2-40B4-BE49-F238E27FC236}">
                <a16:creationId xmlns:a16="http://schemas.microsoft.com/office/drawing/2014/main" id="{3695EE12-7042-348E-25AF-A886914D7E6F}"/>
              </a:ext>
            </a:extLst>
          </p:cNvPr>
          <p:cNvSpPr/>
          <p:nvPr/>
        </p:nvSpPr>
        <p:spPr>
          <a:xfrm>
            <a:off x="9689560" y="2693709"/>
            <a:ext cx="694052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302F1B3-5BCC-DD70-AED4-686F980B3961}"/>
              </a:ext>
            </a:extLst>
          </p:cNvPr>
          <p:cNvGrpSpPr/>
          <p:nvPr/>
        </p:nvGrpSpPr>
        <p:grpSpPr>
          <a:xfrm>
            <a:off x="2833005" y="3883427"/>
            <a:ext cx="4097988" cy="2694845"/>
            <a:chOff x="226877" y="3883427"/>
            <a:chExt cx="4097988" cy="2694845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D4222A5-C92D-2498-EFD1-8243008B58D5}"/>
                </a:ext>
              </a:extLst>
            </p:cNvPr>
            <p:cNvGrpSpPr/>
            <p:nvPr/>
          </p:nvGrpSpPr>
          <p:grpSpPr>
            <a:xfrm>
              <a:off x="226877" y="3883427"/>
              <a:ext cx="4028663" cy="2694845"/>
              <a:chOff x="226877" y="3996317"/>
              <a:chExt cx="4731203" cy="2581954"/>
            </a:xfrm>
          </p:grpSpPr>
          <p:sp>
            <p:nvSpPr>
              <p:cNvPr id="31" name="矩形 26">
                <a:extLst>
                  <a:ext uri="{FF2B5EF4-FFF2-40B4-BE49-F238E27FC236}">
                    <a16:creationId xmlns:a16="http://schemas.microsoft.com/office/drawing/2014/main" id="{07F95FF8-0C78-3D8A-4A9E-90E91EF80BA9}"/>
                  </a:ext>
                </a:extLst>
              </p:cNvPr>
              <p:cNvSpPr/>
              <p:nvPr/>
            </p:nvSpPr>
            <p:spPr>
              <a:xfrm>
                <a:off x="226877" y="4365651"/>
                <a:ext cx="4730510" cy="2212620"/>
              </a:xfrm>
              <a:prstGeom prst="rect">
                <a:avLst/>
              </a:prstGeom>
              <a:noFill/>
              <a:ln w="63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文本框 85">
                <a:extLst>
                  <a:ext uri="{FF2B5EF4-FFF2-40B4-BE49-F238E27FC236}">
                    <a16:creationId xmlns:a16="http://schemas.microsoft.com/office/drawing/2014/main" id="{A5ED415C-9AC7-34A0-9278-821BCBC471C2}"/>
                  </a:ext>
                </a:extLst>
              </p:cNvPr>
              <p:cNvSpPr txBox="1"/>
              <p:nvPr/>
            </p:nvSpPr>
            <p:spPr>
              <a:xfrm>
                <a:off x="227570" y="3996317"/>
                <a:ext cx="4730510" cy="353860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方正黑体简体" panose="02000000000000000000"/>
                    <a:cs typeface="Times New Roman" panose="02020603050405020304" pitchFamily="18" charset="0"/>
                  </a:rPr>
                  <a:t>MP4583</a:t>
                </a:r>
                <a:endParaRPr lang="zh-CN" altLang="en-US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61BF823-68A3-7E51-F8FE-3A739BEE18C7}"/>
                </a:ext>
              </a:extLst>
            </p:cNvPr>
            <p:cNvSpPr txBox="1"/>
            <p:nvPr/>
          </p:nvSpPr>
          <p:spPr>
            <a:xfrm>
              <a:off x="296202" y="4314404"/>
              <a:ext cx="4028663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● 宽压输入 </a:t>
              </a:r>
              <a:r>
                <a:rPr lang="en-US" altLang="zh-CN" b="1" dirty="0">
                  <a:solidFill>
                    <a:srgbClr val="FF0000"/>
                  </a:solidFill>
                </a:rPr>
                <a:t>4.5V</a:t>
              </a:r>
              <a:r>
                <a:rPr lang="zh-CN" altLang="en-US" b="1" dirty="0">
                  <a:solidFill>
                    <a:srgbClr val="FF0000"/>
                  </a:solidFill>
                </a:rPr>
                <a:t>～</a:t>
              </a:r>
              <a:r>
                <a:rPr lang="en-US" altLang="zh-CN" b="1" dirty="0">
                  <a:solidFill>
                    <a:srgbClr val="FF0000"/>
                  </a:solidFill>
                </a:rPr>
                <a:t>100V</a:t>
              </a:r>
              <a:r>
                <a:rPr lang="zh-CN" altLang="en-US" dirty="0"/>
                <a:t>，输出 </a:t>
              </a:r>
              <a:r>
                <a:rPr lang="en-US" altLang="zh-CN" dirty="0"/>
                <a:t>3A</a:t>
              </a:r>
              <a:r>
                <a:rPr lang="zh-CN" altLang="en-US" dirty="0"/>
                <a:t>，</a:t>
              </a:r>
              <a:endParaRPr lang="en-US" altLang="zh-CN" dirty="0"/>
            </a:p>
            <a:p>
              <a:r>
                <a:rPr lang="zh-CN" altLang="en-US" dirty="0"/>
                <a:t>● 静态功耗 </a:t>
              </a:r>
              <a:r>
                <a:rPr lang="en-US" altLang="zh-CN" dirty="0"/>
                <a:t>8μA </a:t>
              </a:r>
            </a:p>
            <a:p>
              <a:r>
                <a:rPr lang="en-US" altLang="zh-CN" dirty="0"/>
                <a:t>● </a:t>
              </a:r>
              <a:r>
                <a:rPr lang="zh-CN" altLang="en-US" dirty="0"/>
                <a:t>集成 </a:t>
              </a:r>
              <a:r>
                <a:rPr lang="en-US" altLang="zh-CN" dirty="0"/>
                <a:t>MOSFET</a:t>
              </a:r>
              <a:r>
                <a:rPr lang="zh-CN" altLang="en-US" dirty="0"/>
                <a:t>，内置 </a:t>
              </a:r>
              <a:r>
                <a:rPr lang="en-US" altLang="zh-CN" dirty="0"/>
                <a:t>FCCM </a:t>
              </a:r>
              <a:r>
                <a:rPr lang="zh-CN" altLang="en-US" dirty="0"/>
                <a:t>模式</a:t>
              </a:r>
              <a:endParaRPr lang="en-US" altLang="zh-CN" dirty="0"/>
            </a:p>
            <a:p>
              <a:r>
                <a:rPr lang="zh-CN" altLang="en-US" dirty="0"/>
                <a:t>● 内置</a:t>
              </a:r>
              <a:r>
                <a:rPr lang="en-US" altLang="zh-CN" dirty="0"/>
                <a:t>OCP / SCP / OVP / OTP </a:t>
              </a:r>
              <a:r>
                <a:rPr lang="zh-CN" altLang="en-US" dirty="0"/>
                <a:t>四重保护 </a:t>
              </a:r>
              <a:endParaRPr lang="en-US" altLang="zh-CN" dirty="0"/>
            </a:p>
            <a:p>
              <a:r>
                <a:rPr lang="zh-CN" altLang="en-US" dirty="0"/>
                <a:t>● 内置环路补偿，外围精简</a:t>
              </a:r>
            </a:p>
          </p:txBody>
        </p:sp>
      </p:grpSp>
      <p:sp>
        <p:nvSpPr>
          <p:cNvPr id="49" name="AutoShape 2">
            <a:extLst>
              <a:ext uri="{FF2B5EF4-FFF2-40B4-BE49-F238E27FC236}">
                <a16:creationId xmlns:a16="http://schemas.microsoft.com/office/drawing/2014/main" id="{3524D454-F343-5C47-0624-936BE4B797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3D2B80A-C5B0-EE5F-61F9-5D4C87E497EB}"/>
              </a:ext>
            </a:extLst>
          </p:cNvPr>
          <p:cNvGrpSpPr/>
          <p:nvPr/>
        </p:nvGrpSpPr>
        <p:grpSpPr>
          <a:xfrm>
            <a:off x="6931720" y="3883428"/>
            <a:ext cx="4964078" cy="2694844"/>
            <a:chOff x="226877" y="3996318"/>
            <a:chExt cx="4731203" cy="2581953"/>
          </a:xfrm>
        </p:grpSpPr>
        <p:sp>
          <p:nvSpPr>
            <p:cNvPr id="53" name="矩形 26">
              <a:extLst>
                <a:ext uri="{FF2B5EF4-FFF2-40B4-BE49-F238E27FC236}">
                  <a16:creationId xmlns:a16="http://schemas.microsoft.com/office/drawing/2014/main" id="{7AFACD28-C396-8058-28DD-7CDDEA1E0DDF}"/>
                </a:ext>
              </a:extLst>
            </p:cNvPr>
            <p:cNvSpPr/>
            <p:nvPr/>
          </p:nvSpPr>
          <p:spPr>
            <a:xfrm>
              <a:off x="226877" y="4365651"/>
              <a:ext cx="4730510" cy="2212620"/>
            </a:xfrm>
            <a:prstGeom prst="rect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85">
              <a:extLst>
                <a:ext uri="{FF2B5EF4-FFF2-40B4-BE49-F238E27FC236}">
                  <a16:creationId xmlns:a16="http://schemas.microsoft.com/office/drawing/2014/main" id="{D3863E3E-699B-3A82-8DE6-27EE1630A8DE}"/>
                </a:ext>
              </a:extLst>
            </p:cNvPr>
            <p:cNvSpPr txBox="1"/>
            <p:nvPr/>
          </p:nvSpPr>
          <p:spPr>
            <a:xfrm>
              <a:off x="227570" y="3996318"/>
              <a:ext cx="4730510" cy="35386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rPr>
                <a:t>MP3632S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3E686FDF-D209-16D3-3FBB-1B052C3731D7}"/>
              </a:ext>
            </a:extLst>
          </p:cNvPr>
          <p:cNvSpPr txBox="1"/>
          <p:nvPr/>
        </p:nvSpPr>
        <p:spPr>
          <a:xfrm>
            <a:off x="6931720" y="4314404"/>
            <a:ext cx="49640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● </a:t>
            </a:r>
            <a:r>
              <a:rPr lang="en-US" altLang="zh-CN" dirty="0"/>
              <a:t>EC LGA-10 </a:t>
            </a:r>
            <a:r>
              <a:rPr lang="zh-CN" altLang="en-US" dirty="0"/>
              <a:t>封装，仅 </a:t>
            </a:r>
            <a:r>
              <a:rPr lang="en-US" altLang="zh-CN" dirty="0"/>
              <a:t>3×3×1.45mm,</a:t>
            </a:r>
            <a:r>
              <a:rPr lang="zh-CN" altLang="en-US" dirty="0"/>
              <a:t>且</a:t>
            </a:r>
            <a:r>
              <a:rPr lang="zh-CN" altLang="en-US" b="1" dirty="0">
                <a:solidFill>
                  <a:srgbClr val="FF0000"/>
                </a:solidFill>
              </a:rPr>
              <a:t>集成了电感和部分电容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● </a:t>
            </a:r>
            <a:r>
              <a:rPr lang="en-US" altLang="zh-CN" dirty="0"/>
              <a:t>2.2MHz </a:t>
            </a:r>
            <a:r>
              <a:rPr lang="zh-CN" altLang="en-US" dirty="0"/>
              <a:t>高频 </a:t>
            </a:r>
            <a:r>
              <a:rPr lang="en-US" altLang="zh-CN" dirty="0"/>
              <a:t>COT </a:t>
            </a:r>
            <a:r>
              <a:rPr lang="zh-CN" altLang="en-US" dirty="0"/>
              <a:t>控制，快速负载瞬态响应</a:t>
            </a:r>
            <a:endParaRPr lang="en-US" altLang="zh-CN" dirty="0"/>
          </a:p>
          <a:p>
            <a:r>
              <a:rPr lang="zh-CN" altLang="en-US" dirty="0"/>
              <a:t>● 集成 </a:t>
            </a:r>
            <a:r>
              <a:rPr lang="en-US" altLang="zh-CN" dirty="0"/>
              <a:t>OCP</a:t>
            </a:r>
            <a:r>
              <a:rPr lang="zh-CN" altLang="en-US" dirty="0"/>
              <a:t>（打嗝模式）</a:t>
            </a:r>
            <a:r>
              <a:rPr lang="en-US" altLang="zh-CN" dirty="0"/>
              <a:t>/ OVP / 150°C </a:t>
            </a:r>
            <a:r>
              <a:rPr lang="zh-CN" altLang="en-US" dirty="0"/>
              <a:t>热关断三重保护</a:t>
            </a:r>
            <a:endParaRPr lang="en-US" altLang="zh-CN" dirty="0"/>
          </a:p>
          <a:p>
            <a:r>
              <a:rPr lang="zh-CN" altLang="en-US" dirty="0"/>
              <a:t>● 输出</a:t>
            </a:r>
            <a:r>
              <a:rPr lang="zh-CN" altLang="en-US" b="1" dirty="0">
                <a:solidFill>
                  <a:srgbClr val="FF0000"/>
                </a:solidFill>
              </a:rPr>
              <a:t>精度 </a:t>
            </a:r>
            <a:r>
              <a:rPr lang="en-US" altLang="zh-CN" b="1" dirty="0">
                <a:solidFill>
                  <a:srgbClr val="FF0000"/>
                </a:solidFill>
              </a:rPr>
              <a:t>±0.5%</a:t>
            </a:r>
            <a:r>
              <a:rPr lang="zh-CN" altLang="en-US" dirty="0"/>
              <a:t>，负载</a:t>
            </a:r>
            <a:r>
              <a:rPr lang="en-US" altLang="zh-CN" dirty="0"/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线性调整率均 </a:t>
            </a:r>
            <a:r>
              <a:rPr lang="en-US" altLang="zh-CN" b="1" dirty="0">
                <a:solidFill>
                  <a:srgbClr val="FF0000"/>
                </a:solidFill>
              </a:rPr>
              <a:t>&lt;0.5%</a:t>
            </a:r>
          </a:p>
          <a:p>
            <a:r>
              <a:rPr lang="zh-CN" altLang="en-US" dirty="0"/>
              <a:t>●强制 </a:t>
            </a:r>
            <a:r>
              <a:rPr lang="en-US" altLang="zh-CN" dirty="0"/>
              <a:t>CCM </a:t>
            </a:r>
            <a:r>
              <a:rPr lang="zh-CN" altLang="en-US" dirty="0"/>
              <a:t>模式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A43AC82-C9BA-8342-545A-23FFC63262ED}"/>
              </a:ext>
            </a:extLst>
          </p:cNvPr>
          <p:cNvGrpSpPr/>
          <p:nvPr/>
        </p:nvGrpSpPr>
        <p:grpSpPr>
          <a:xfrm>
            <a:off x="-69151" y="3886449"/>
            <a:ext cx="3237835" cy="2610235"/>
            <a:chOff x="4071465" y="3909632"/>
            <a:chExt cx="3186421" cy="248311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84AEDE8-FF68-D2D8-225E-1186007FE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71465" y="3909632"/>
              <a:ext cx="3186421" cy="248311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9C39E99-906C-FF29-2936-D64C490A56CF}"/>
                </a:ext>
              </a:extLst>
            </p:cNvPr>
            <p:cNvSpPr/>
            <p:nvPr/>
          </p:nvSpPr>
          <p:spPr>
            <a:xfrm rot="2689454">
              <a:off x="5985734" y="5431140"/>
              <a:ext cx="404933" cy="286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1F851B5-E112-DEA2-2E80-3C3CCEAB77D0}"/>
                </a:ext>
              </a:extLst>
            </p:cNvPr>
            <p:cNvSpPr/>
            <p:nvPr/>
          </p:nvSpPr>
          <p:spPr>
            <a:xfrm rot="2689454">
              <a:off x="6007072" y="4791080"/>
              <a:ext cx="334791" cy="2865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8EE73AB8-96CE-8F46-5A33-4552DBAD442D}"/>
              </a:ext>
            </a:extLst>
          </p:cNvPr>
          <p:cNvSpPr txBox="1"/>
          <p:nvPr/>
        </p:nvSpPr>
        <p:spPr>
          <a:xfrm>
            <a:off x="12256064" y="166419"/>
            <a:ext cx="3946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以上用到的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IC 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需要不同的电压等级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所以设计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30280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79064-ECF0-D655-517A-3188A7D4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48F36709-4F2C-3590-4C24-48D9C9182D7E}"/>
              </a:ext>
            </a:extLst>
          </p:cNvPr>
          <p:cNvSpPr/>
          <p:nvPr/>
        </p:nvSpPr>
        <p:spPr>
          <a:xfrm>
            <a:off x="217806" y="800638"/>
            <a:ext cx="11663919" cy="2925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CFA4BB-2104-C961-2E52-71AF7193E8DE}"/>
              </a:ext>
            </a:extLst>
          </p:cNvPr>
          <p:cNvSpPr/>
          <p:nvPr/>
        </p:nvSpPr>
        <p:spPr>
          <a:xfrm>
            <a:off x="7961607" y="800638"/>
            <a:ext cx="3919017" cy="29250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9C1941-567C-1A88-7AAA-3ABCDA3871A1}"/>
              </a:ext>
            </a:extLst>
          </p:cNvPr>
          <p:cNvSpPr/>
          <p:nvPr/>
        </p:nvSpPr>
        <p:spPr>
          <a:xfrm>
            <a:off x="7960507" y="2370512"/>
            <a:ext cx="2000757" cy="1357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DF3BDA6-3532-F529-55AF-BDD3A0D10FD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1663918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辅助电源 </a:t>
            </a:r>
            <a:r>
              <a:rPr lang="en-US" altLang="zh-CN" dirty="0">
                <a:solidFill>
                  <a:schemeClr val="bg1"/>
                </a:solidFill>
              </a:rPr>
              <a:t>MIE1W0505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MP20051DQ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17F36B-252C-9E25-D2E7-E7EDC3FFF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35" y="656386"/>
            <a:ext cx="1365817" cy="136581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DBCB212-BE44-3578-D817-6A7B66FC81E0}"/>
              </a:ext>
            </a:extLst>
          </p:cNvPr>
          <p:cNvSpPr txBox="1"/>
          <p:nvPr/>
        </p:nvSpPr>
        <p:spPr>
          <a:xfrm>
            <a:off x="4964472" y="1938708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LDO 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228410D6-AEC5-2B65-6C33-143558200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3445"/>
          <a:stretch/>
        </p:blipFill>
        <p:spPr bwMode="auto">
          <a:xfrm>
            <a:off x="5325465" y="2261748"/>
            <a:ext cx="1038237" cy="102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65F38DC-E17A-1307-ED86-EDB5F33C01AE}"/>
              </a:ext>
            </a:extLst>
          </p:cNvPr>
          <p:cNvSpPr txBox="1"/>
          <p:nvPr/>
        </p:nvSpPr>
        <p:spPr>
          <a:xfrm>
            <a:off x="4964472" y="3160303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MIE1W0505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隔离电源</a:t>
            </a:r>
          </a:p>
        </p:txBody>
      </p:sp>
      <p:sp>
        <p:nvSpPr>
          <p:cNvPr id="26" name="右箭头 13">
            <a:extLst>
              <a:ext uri="{FF2B5EF4-FFF2-40B4-BE49-F238E27FC236}">
                <a16:creationId xmlns:a16="http://schemas.microsoft.com/office/drawing/2014/main" id="{324441A0-F055-B8C2-A7A8-39B3D67DB8EA}"/>
              </a:ext>
            </a:extLst>
          </p:cNvPr>
          <p:cNvSpPr/>
          <p:nvPr/>
        </p:nvSpPr>
        <p:spPr>
          <a:xfrm>
            <a:off x="6703709" y="1162277"/>
            <a:ext cx="1256797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右箭头 13">
            <a:extLst>
              <a:ext uri="{FF2B5EF4-FFF2-40B4-BE49-F238E27FC236}">
                <a16:creationId xmlns:a16="http://schemas.microsoft.com/office/drawing/2014/main" id="{622B2CDE-237E-782B-92AB-F7D7ED209AB8}"/>
              </a:ext>
            </a:extLst>
          </p:cNvPr>
          <p:cNvSpPr/>
          <p:nvPr/>
        </p:nvSpPr>
        <p:spPr>
          <a:xfrm>
            <a:off x="6689802" y="2557857"/>
            <a:ext cx="1271255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ISO_5V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43BE0BB-2CB2-4E33-BED1-E4266C26D421}"/>
              </a:ext>
            </a:extLst>
          </p:cNvPr>
          <p:cNvGrpSpPr/>
          <p:nvPr/>
        </p:nvGrpSpPr>
        <p:grpSpPr>
          <a:xfrm>
            <a:off x="4325658" y="3875741"/>
            <a:ext cx="4028663" cy="2694844"/>
            <a:chOff x="226877" y="3996318"/>
            <a:chExt cx="4731203" cy="2581953"/>
          </a:xfrm>
        </p:grpSpPr>
        <p:sp>
          <p:nvSpPr>
            <p:cNvPr id="31" name="矩形 26">
              <a:extLst>
                <a:ext uri="{FF2B5EF4-FFF2-40B4-BE49-F238E27FC236}">
                  <a16:creationId xmlns:a16="http://schemas.microsoft.com/office/drawing/2014/main" id="{BF323283-E718-F7C3-177B-CCEB4BE2D785}"/>
                </a:ext>
              </a:extLst>
            </p:cNvPr>
            <p:cNvSpPr/>
            <p:nvPr/>
          </p:nvSpPr>
          <p:spPr>
            <a:xfrm>
              <a:off x="226877" y="4365651"/>
              <a:ext cx="4730510" cy="2212620"/>
            </a:xfrm>
            <a:prstGeom prst="rect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85">
              <a:extLst>
                <a:ext uri="{FF2B5EF4-FFF2-40B4-BE49-F238E27FC236}">
                  <a16:creationId xmlns:a16="http://schemas.microsoft.com/office/drawing/2014/main" id="{29458F3D-ADD9-7E03-65D9-ACB9101A2AB1}"/>
                </a:ext>
              </a:extLst>
            </p:cNvPr>
            <p:cNvSpPr txBox="1"/>
            <p:nvPr/>
          </p:nvSpPr>
          <p:spPr>
            <a:xfrm>
              <a:off x="227570" y="3996318"/>
              <a:ext cx="4730510" cy="35386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rPr>
                <a:t>MIE1W0505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AutoShape 2">
            <a:extLst>
              <a:ext uri="{FF2B5EF4-FFF2-40B4-BE49-F238E27FC236}">
                <a16:creationId xmlns:a16="http://schemas.microsoft.com/office/drawing/2014/main" id="{A07A1D26-CA3B-4F92-D9BF-C7FFBBC38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312609A-763E-6E32-22F5-3056E38F37F8}"/>
              </a:ext>
            </a:extLst>
          </p:cNvPr>
          <p:cNvGrpSpPr/>
          <p:nvPr/>
        </p:nvGrpSpPr>
        <p:grpSpPr>
          <a:xfrm>
            <a:off x="8423056" y="3875741"/>
            <a:ext cx="3465965" cy="2694844"/>
            <a:chOff x="226877" y="3996318"/>
            <a:chExt cx="4731203" cy="2581953"/>
          </a:xfrm>
        </p:grpSpPr>
        <p:sp>
          <p:nvSpPr>
            <p:cNvPr id="53" name="矩形 26">
              <a:extLst>
                <a:ext uri="{FF2B5EF4-FFF2-40B4-BE49-F238E27FC236}">
                  <a16:creationId xmlns:a16="http://schemas.microsoft.com/office/drawing/2014/main" id="{5D3B8C59-352E-BC34-4DA1-4DD5E7CFE720}"/>
                </a:ext>
              </a:extLst>
            </p:cNvPr>
            <p:cNvSpPr/>
            <p:nvPr/>
          </p:nvSpPr>
          <p:spPr>
            <a:xfrm>
              <a:off x="226877" y="4365651"/>
              <a:ext cx="4730510" cy="2212620"/>
            </a:xfrm>
            <a:prstGeom prst="rect">
              <a:avLst/>
            </a:prstGeom>
            <a:noFill/>
            <a:ln w="63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85">
              <a:extLst>
                <a:ext uri="{FF2B5EF4-FFF2-40B4-BE49-F238E27FC236}">
                  <a16:creationId xmlns:a16="http://schemas.microsoft.com/office/drawing/2014/main" id="{D3DDA77F-98EF-D93B-026C-AE5C5658DC06}"/>
                </a:ext>
              </a:extLst>
            </p:cNvPr>
            <p:cNvSpPr txBox="1"/>
            <p:nvPr/>
          </p:nvSpPr>
          <p:spPr>
            <a:xfrm>
              <a:off x="227570" y="3996318"/>
              <a:ext cx="4730510" cy="353860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Times New Roman" panose="02020603050405020304" pitchFamily="18" charset="0"/>
                  <a:ea typeface="方正黑体简体" panose="02000000000000000000"/>
                  <a:cs typeface="Times New Roman" panose="02020603050405020304" pitchFamily="18" charset="0"/>
                </a:rPr>
                <a:t>MP20051DQ</a:t>
              </a:r>
              <a:endPara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151EBCB2-F378-30B2-3273-A89E672ED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41" y="3725640"/>
            <a:ext cx="3744594" cy="293361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3D85573-2741-6D71-4363-3501F297C36A}"/>
              </a:ext>
            </a:extLst>
          </p:cNvPr>
          <p:cNvSpPr txBox="1"/>
          <p:nvPr/>
        </p:nvSpPr>
        <p:spPr>
          <a:xfrm>
            <a:off x="4359662" y="4260336"/>
            <a:ext cx="40286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● </a:t>
            </a:r>
            <a:r>
              <a:rPr lang="en-US" altLang="zh-CN" dirty="0"/>
              <a:t>5V→5V </a:t>
            </a:r>
            <a:r>
              <a:rPr lang="zh-CN" altLang="en-US" dirty="0"/>
              <a:t>工况下可</a:t>
            </a:r>
            <a:r>
              <a:rPr lang="zh-CN" altLang="en-US" b="1" dirty="0">
                <a:solidFill>
                  <a:srgbClr val="FF0000"/>
                </a:solidFill>
              </a:rPr>
              <a:t>提供 ≥</a:t>
            </a:r>
            <a:r>
              <a:rPr lang="en-US" altLang="zh-CN" b="1" dirty="0">
                <a:solidFill>
                  <a:srgbClr val="FF0000"/>
                </a:solidFill>
              </a:rPr>
              <a:t>200mA </a:t>
            </a:r>
            <a:r>
              <a:rPr lang="zh-CN" altLang="en-US" b="1" dirty="0">
                <a:solidFill>
                  <a:srgbClr val="FF0000"/>
                </a:solidFill>
              </a:rPr>
              <a:t>负载电流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● 负载调整率 </a:t>
            </a:r>
            <a:r>
              <a:rPr lang="en-US" altLang="zh-CN" b="1" dirty="0">
                <a:solidFill>
                  <a:srgbClr val="FF0000"/>
                </a:solidFill>
              </a:rPr>
              <a:t>0.5%</a:t>
            </a:r>
            <a:r>
              <a:rPr lang="zh-CN" altLang="en-US" dirty="0"/>
              <a:t>，线性调整率 </a:t>
            </a:r>
            <a:r>
              <a:rPr lang="en-US" altLang="zh-CN" b="1" dirty="0">
                <a:solidFill>
                  <a:srgbClr val="FF0000"/>
                </a:solidFill>
              </a:rPr>
              <a:t>0.2%</a:t>
            </a:r>
          </a:p>
          <a:p>
            <a:r>
              <a:rPr lang="zh-CN" altLang="en-US" dirty="0"/>
              <a:t>● 内置连续短路保护 </a:t>
            </a:r>
            <a:r>
              <a:rPr lang="en-US" altLang="zh-CN" dirty="0"/>
              <a:t>SCP </a:t>
            </a:r>
            <a:r>
              <a:rPr lang="zh-CN" altLang="en-US" dirty="0"/>
              <a:t>和过温保护 </a:t>
            </a:r>
            <a:r>
              <a:rPr lang="en-US" altLang="zh-CN" dirty="0"/>
              <a:t>OTP</a:t>
            </a:r>
          </a:p>
          <a:p>
            <a:r>
              <a:rPr lang="zh-CN" altLang="en-US" dirty="0"/>
              <a:t>● 用于</a:t>
            </a:r>
            <a:r>
              <a:rPr lang="en-US" altLang="zh-CN" dirty="0"/>
              <a:t>CAN</a:t>
            </a:r>
            <a:r>
              <a:rPr lang="zh-CN" altLang="en-US" dirty="0"/>
              <a:t>通讯隔离，提高通讯质量与可靠性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229149-3E87-8301-5078-CF35F92E7311}"/>
              </a:ext>
            </a:extLst>
          </p:cNvPr>
          <p:cNvSpPr txBox="1"/>
          <p:nvPr/>
        </p:nvSpPr>
        <p:spPr>
          <a:xfrm>
            <a:off x="8422330" y="4245073"/>
            <a:ext cx="34666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●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1A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负载下压差仅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140mV</a:t>
            </a:r>
          </a:p>
          <a:p>
            <a:r>
              <a:rPr lang="zh-CN" altLang="en-US" dirty="0"/>
              <a:t>●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典型静态电流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110μA</a:t>
            </a:r>
          </a:p>
          <a:p>
            <a:r>
              <a:rPr lang="zh-CN" altLang="en-US" dirty="0"/>
              <a:t>●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低噪声输出：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13μVRMS</a:t>
            </a:r>
          </a:p>
          <a:p>
            <a:r>
              <a:rPr lang="zh-CN" altLang="en-US" dirty="0"/>
              <a:t>●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-apple-system"/>
              </a:rPr>
              <a:t>QFN-8 3×3mm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封装，适合小尺寸控制板</a:t>
            </a:r>
            <a:endParaRPr lang="en-US" altLang="zh-CN" b="0" i="0" dirty="0">
              <a:solidFill>
                <a:srgbClr val="1A1C1F"/>
              </a:solidFill>
              <a:effectLst/>
              <a:latin typeface="-apple-system"/>
            </a:endParaRPr>
          </a:p>
          <a:p>
            <a:r>
              <a:rPr lang="zh-CN" altLang="en-US" dirty="0"/>
              <a:t>● 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用于生成干净的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3.3V VCC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，供 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-apple-system"/>
              </a:rPr>
              <a:t>MCU</a:t>
            </a:r>
            <a:r>
              <a:rPr lang="zh-CN" altLang="en-US" b="0" i="0" dirty="0">
                <a:solidFill>
                  <a:srgbClr val="1A1C1F"/>
                </a:solidFill>
                <a:effectLst/>
                <a:latin typeface="-apple-system"/>
              </a:rPr>
              <a:t>、编码器和采样电路使用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DB8709-B5FB-416B-338E-73E039373F1F}"/>
              </a:ext>
            </a:extLst>
          </p:cNvPr>
          <p:cNvSpPr txBox="1"/>
          <p:nvPr/>
        </p:nvSpPr>
        <p:spPr>
          <a:xfrm>
            <a:off x="8113074" y="3375746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EC7392D-E0F3-55B8-F1A1-65DF7FF8F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384" y="2408301"/>
            <a:ext cx="1055608" cy="105560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2428E48-2784-03E6-50BF-010CF7FFF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4433" y="2316895"/>
            <a:ext cx="1416331" cy="1219807"/>
          </a:xfrm>
          <a:prstGeom prst="rect">
            <a:avLst/>
          </a:prstGeom>
        </p:spPr>
      </p:pic>
      <p:pic>
        <p:nvPicPr>
          <p:cNvPr id="33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48426758-9691-8148-6CC9-EAF095658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633" y="908617"/>
            <a:ext cx="1445111" cy="93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MA600A | High-Accuracy,">
            <a:extLst>
              <a:ext uri="{FF2B5EF4-FFF2-40B4-BE49-F238E27FC236}">
                <a16:creationId xmlns:a16="http://schemas.microsoft.com/office/drawing/2014/main" id="{CA1AD40B-6490-CD0D-7B32-4669AEA79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744" y="891723"/>
            <a:ext cx="2000757" cy="112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F84BD2D-2294-5529-1C86-70CB721405DC}"/>
              </a:ext>
            </a:extLst>
          </p:cNvPr>
          <p:cNvSpPr txBox="1"/>
          <p:nvPr/>
        </p:nvSpPr>
        <p:spPr>
          <a:xfrm>
            <a:off x="9899933" y="3409711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E08B0E1-D00D-5A23-649B-4D4F1F0674E0}"/>
              </a:ext>
            </a:extLst>
          </p:cNvPr>
          <p:cNvSpPr txBox="1"/>
          <p:nvPr/>
        </p:nvSpPr>
        <p:spPr>
          <a:xfrm>
            <a:off x="8112523" y="20399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6196A1-CAA4-4C30-F682-F02B07B1280F}"/>
              </a:ext>
            </a:extLst>
          </p:cNvPr>
          <p:cNvSpPr txBox="1"/>
          <p:nvPr/>
        </p:nvSpPr>
        <p:spPr>
          <a:xfrm>
            <a:off x="9908484" y="2001529"/>
            <a:ext cx="172533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位置传感器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MA600A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092621FA-7DDD-0095-E118-85CD4050E695}"/>
              </a:ext>
            </a:extLst>
          </p:cNvPr>
          <p:cNvSpPr/>
          <p:nvPr/>
        </p:nvSpPr>
        <p:spPr>
          <a:xfrm>
            <a:off x="3477342" y="1155441"/>
            <a:ext cx="1493428" cy="2064547"/>
          </a:xfrm>
          <a:custGeom>
            <a:avLst/>
            <a:gdLst>
              <a:gd name="connsiteX0" fmla="*/ 0 w 803275"/>
              <a:gd name="connsiteY0" fmla="*/ 617537 h 1470025"/>
              <a:gd name="connsiteX1" fmla="*/ 249237 w 803275"/>
              <a:gd name="connsiteY1" fmla="*/ 617537 h 1470025"/>
              <a:gd name="connsiteX2" fmla="*/ 249237 w 803275"/>
              <a:gd name="connsiteY2" fmla="*/ 388937 h 1470025"/>
              <a:gd name="connsiteX3" fmla="*/ 266700 w 803275"/>
              <a:gd name="connsiteY3" fmla="*/ 315912 h 1470025"/>
              <a:gd name="connsiteX4" fmla="*/ 277812 w 803275"/>
              <a:gd name="connsiteY4" fmla="*/ 260350 h 1470025"/>
              <a:gd name="connsiteX5" fmla="*/ 306387 w 803275"/>
              <a:gd name="connsiteY5" fmla="*/ 209550 h 1470025"/>
              <a:gd name="connsiteX6" fmla="*/ 334962 w 803275"/>
              <a:gd name="connsiteY6" fmla="*/ 171450 h 1470025"/>
              <a:gd name="connsiteX7" fmla="*/ 358775 w 803275"/>
              <a:gd name="connsiteY7" fmla="*/ 146050 h 1470025"/>
              <a:gd name="connsiteX8" fmla="*/ 385762 w 803275"/>
              <a:gd name="connsiteY8" fmla="*/ 127000 h 1470025"/>
              <a:gd name="connsiteX9" fmla="*/ 423862 w 803275"/>
              <a:gd name="connsiteY9" fmla="*/ 109537 h 1470025"/>
              <a:gd name="connsiteX10" fmla="*/ 438150 w 803275"/>
              <a:gd name="connsiteY10" fmla="*/ 100012 h 1470025"/>
              <a:gd name="connsiteX11" fmla="*/ 458787 w 803275"/>
              <a:gd name="connsiteY11" fmla="*/ 98425 h 1470025"/>
              <a:gd name="connsiteX12" fmla="*/ 485775 w 803275"/>
              <a:gd name="connsiteY12" fmla="*/ 96837 h 1470025"/>
              <a:gd name="connsiteX13" fmla="*/ 666750 w 803275"/>
              <a:gd name="connsiteY13" fmla="*/ 96837 h 1470025"/>
              <a:gd name="connsiteX14" fmla="*/ 666750 w 803275"/>
              <a:gd name="connsiteY14" fmla="*/ 0 h 1470025"/>
              <a:gd name="connsiteX15" fmla="*/ 803275 w 803275"/>
              <a:gd name="connsiteY15" fmla="*/ 184150 h 1470025"/>
              <a:gd name="connsiteX16" fmla="*/ 661987 w 803275"/>
              <a:gd name="connsiteY16" fmla="*/ 381000 h 1470025"/>
              <a:gd name="connsiteX17" fmla="*/ 661987 w 803275"/>
              <a:gd name="connsiteY17" fmla="*/ 280987 h 1470025"/>
              <a:gd name="connsiteX18" fmla="*/ 487362 w 803275"/>
              <a:gd name="connsiteY18" fmla="*/ 280987 h 1470025"/>
              <a:gd name="connsiteX19" fmla="*/ 454025 w 803275"/>
              <a:gd name="connsiteY19" fmla="*/ 293687 h 1470025"/>
              <a:gd name="connsiteX20" fmla="*/ 439737 w 803275"/>
              <a:gd name="connsiteY20" fmla="*/ 304800 h 1470025"/>
              <a:gd name="connsiteX21" fmla="*/ 428625 w 803275"/>
              <a:gd name="connsiteY21" fmla="*/ 314325 h 1470025"/>
              <a:gd name="connsiteX22" fmla="*/ 404812 w 803275"/>
              <a:gd name="connsiteY22" fmla="*/ 342900 h 1470025"/>
              <a:gd name="connsiteX23" fmla="*/ 392112 w 803275"/>
              <a:gd name="connsiteY23" fmla="*/ 387350 h 1470025"/>
              <a:gd name="connsiteX24" fmla="*/ 388937 w 803275"/>
              <a:gd name="connsiteY24" fmla="*/ 417512 h 1470025"/>
              <a:gd name="connsiteX25" fmla="*/ 388937 w 803275"/>
              <a:gd name="connsiteY25" fmla="*/ 1008062 h 1470025"/>
              <a:gd name="connsiteX26" fmla="*/ 388937 w 803275"/>
              <a:gd name="connsiteY26" fmla="*/ 1057275 h 1470025"/>
              <a:gd name="connsiteX27" fmla="*/ 390525 w 803275"/>
              <a:gd name="connsiteY27" fmla="*/ 1079500 h 1470025"/>
              <a:gd name="connsiteX28" fmla="*/ 393700 w 803275"/>
              <a:gd name="connsiteY28" fmla="*/ 1084262 h 1470025"/>
              <a:gd name="connsiteX29" fmla="*/ 398462 w 803275"/>
              <a:gd name="connsiteY29" fmla="*/ 1106487 h 1470025"/>
              <a:gd name="connsiteX30" fmla="*/ 409575 w 803275"/>
              <a:gd name="connsiteY30" fmla="*/ 1125537 h 1470025"/>
              <a:gd name="connsiteX31" fmla="*/ 417512 w 803275"/>
              <a:gd name="connsiteY31" fmla="*/ 1146175 h 1470025"/>
              <a:gd name="connsiteX32" fmla="*/ 428625 w 803275"/>
              <a:gd name="connsiteY32" fmla="*/ 1157287 h 1470025"/>
              <a:gd name="connsiteX33" fmla="*/ 446087 w 803275"/>
              <a:gd name="connsiteY33" fmla="*/ 1177925 h 1470025"/>
              <a:gd name="connsiteX34" fmla="*/ 479425 w 803275"/>
              <a:gd name="connsiteY34" fmla="*/ 1189037 h 1470025"/>
              <a:gd name="connsiteX35" fmla="*/ 665162 w 803275"/>
              <a:gd name="connsiteY35" fmla="*/ 1189037 h 1470025"/>
              <a:gd name="connsiteX36" fmla="*/ 665162 w 803275"/>
              <a:gd name="connsiteY36" fmla="*/ 1092200 h 1470025"/>
              <a:gd name="connsiteX37" fmla="*/ 801687 w 803275"/>
              <a:gd name="connsiteY37" fmla="*/ 1282700 h 1470025"/>
              <a:gd name="connsiteX38" fmla="*/ 666750 w 803275"/>
              <a:gd name="connsiteY38" fmla="*/ 1470025 h 1470025"/>
              <a:gd name="connsiteX39" fmla="*/ 666750 w 803275"/>
              <a:gd name="connsiteY39" fmla="*/ 1377950 h 1470025"/>
              <a:gd name="connsiteX40" fmla="*/ 463550 w 803275"/>
              <a:gd name="connsiteY40" fmla="*/ 1377950 h 1470025"/>
              <a:gd name="connsiteX41" fmla="*/ 425450 w 803275"/>
              <a:gd name="connsiteY41" fmla="*/ 1360487 h 1470025"/>
              <a:gd name="connsiteX42" fmla="*/ 411162 w 803275"/>
              <a:gd name="connsiteY42" fmla="*/ 1355725 h 1470025"/>
              <a:gd name="connsiteX43" fmla="*/ 388937 w 803275"/>
              <a:gd name="connsiteY43" fmla="*/ 1343025 h 1470025"/>
              <a:gd name="connsiteX44" fmla="*/ 369887 w 803275"/>
              <a:gd name="connsiteY44" fmla="*/ 1330325 h 1470025"/>
              <a:gd name="connsiteX45" fmla="*/ 355600 w 803275"/>
              <a:gd name="connsiteY45" fmla="*/ 1317625 h 1470025"/>
              <a:gd name="connsiteX46" fmla="*/ 342900 w 803275"/>
              <a:gd name="connsiteY46" fmla="*/ 1303337 h 1470025"/>
              <a:gd name="connsiteX47" fmla="*/ 333375 w 803275"/>
              <a:gd name="connsiteY47" fmla="*/ 1292225 h 1470025"/>
              <a:gd name="connsiteX48" fmla="*/ 322262 w 803275"/>
              <a:gd name="connsiteY48" fmla="*/ 1281112 h 1470025"/>
              <a:gd name="connsiteX49" fmla="*/ 314325 w 803275"/>
              <a:gd name="connsiteY49" fmla="*/ 1265237 h 1470025"/>
              <a:gd name="connsiteX50" fmla="*/ 303212 w 803275"/>
              <a:gd name="connsiteY50" fmla="*/ 1246187 h 1470025"/>
              <a:gd name="connsiteX51" fmla="*/ 284162 w 803275"/>
              <a:gd name="connsiteY51" fmla="*/ 1211262 h 1470025"/>
              <a:gd name="connsiteX52" fmla="*/ 273050 w 803275"/>
              <a:gd name="connsiteY52" fmla="*/ 1176337 h 1470025"/>
              <a:gd name="connsiteX53" fmla="*/ 265112 w 803275"/>
              <a:gd name="connsiteY53" fmla="*/ 1154112 h 1470025"/>
              <a:gd name="connsiteX54" fmla="*/ 260350 w 803275"/>
              <a:gd name="connsiteY54" fmla="*/ 1125537 h 1470025"/>
              <a:gd name="connsiteX55" fmla="*/ 250825 w 803275"/>
              <a:gd name="connsiteY55" fmla="*/ 1104900 h 1470025"/>
              <a:gd name="connsiteX56" fmla="*/ 250825 w 803275"/>
              <a:gd name="connsiteY56" fmla="*/ 1089025 h 1470025"/>
              <a:gd name="connsiteX57" fmla="*/ 250825 w 803275"/>
              <a:gd name="connsiteY57" fmla="*/ 835025 h 1470025"/>
              <a:gd name="connsiteX58" fmla="*/ 0 w 803275"/>
              <a:gd name="connsiteY58" fmla="*/ 835025 h 1470025"/>
              <a:gd name="connsiteX59" fmla="*/ 0 w 803275"/>
              <a:gd name="connsiteY59" fmla="*/ 617537 h 147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803275" h="1470025">
                <a:moveTo>
                  <a:pt x="0" y="617537"/>
                </a:moveTo>
                <a:lnTo>
                  <a:pt x="249237" y="617537"/>
                </a:lnTo>
                <a:lnTo>
                  <a:pt x="249237" y="388937"/>
                </a:lnTo>
                <a:lnTo>
                  <a:pt x="266700" y="315912"/>
                </a:lnTo>
                <a:lnTo>
                  <a:pt x="277812" y="260350"/>
                </a:lnTo>
                <a:lnTo>
                  <a:pt x="306387" y="209550"/>
                </a:lnTo>
                <a:lnTo>
                  <a:pt x="334962" y="171450"/>
                </a:lnTo>
                <a:lnTo>
                  <a:pt x="358775" y="146050"/>
                </a:lnTo>
                <a:lnTo>
                  <a:pt x="385762" y="127000"/>
                </a:lnTo>
                <a:lnTo>
                  <a:pt x="423862" y="109537"/>
                </a:lnTo>
                <a:lnTo>
                  <a:pt x="438150" y="100012"/>
                </a:lnTo>
                <a:lnTo>
                  <a:pt x="458787" y="98425"/>
                </a:lnTo>
                <a:lnTo>
                  <a:pt x="485775" y="96837"/>
                </a:lnTo>
                <a:lnTo>
                  <a:pt x="666750" y="96837"/>
                </a:lnTo>
                <a:lnTo>
                  <a:pt x="666750" y="0"/>
                </a:lnTo>
                <a:lnTo>
                  <a:pt x="803275" y="184150"/>
                </a:lnTo>
                <a:lnTo>
                  <a:pt x="661987" y="381000"/>
                </a:lnTo>
                <a:lnTo>
                  <a:pt x="661987" y="280987"/>
                </a:lnTo>
                <a:lnTo>
                  <a:pt x="487362" y="280987"/>
                </a:lnTo>
                <a:lnTo>
                  <a:pt x="454025" y="293687"/>
                </a:lnTo>
                <a:lnTo>
                  <a:pt x="439737" y="304800"/>
                </a:lnTo>
                <a:lnTo>
                  <a:pt x="428625" y="314325"/>
                </a:lnTo>
                <a:lnTo>
                  <a:pt x="404812" y="342900"/>
                </a:lnTo>
                <a:lnTo>
                  <a:pt x="392112" y="387350"/>
                </a:lnTo>
                <a:lnTo>
                  <a:pt x="388937" y="417512"/>
                </a:lnTo>
                <a:lnTo>
                  <a:pt x="388937" y="1008062"/>
                </a:lnTo>
                <a:lnTo>
                  <a:pt x="388937" y="1057275"/>
                </a:lnTo>
                <a:lnTo>
                  <a:pt x="390525" y="1079500"/>
                </a:lnTo>
                <a:lnTo>
                  <a:pt x="393700" y="1084262"/>
                </a:lnTo>
                <a:lnTo>
                  <a:pt x="398462" y="1106487"/>
                </a:lnTo>
                <a:lnTo>
                  <a:pt x="409575" y="1125537"/>
                </a:lnTo>
                <a:lnTo>
                  <a:pt x="417512" y="1146175"/>
                </a:lnTo>
                <a:lnTo>
                  <a:pt x="428625" y="1157287"/>
                </a:lnTo>
                <a:lnTo>
                  <a:pt x="446087" y="1177925"/>
                </a:lnTo>
                <a:lnTo>
                  <a:pt x="479425" y="1189037"/>
                </a:lnTo>
                <a:lnTo>
                  <a:pt x="665162" y="1189037"/>
                </a:lnTo>
                <a:lnTo>
                  <a:pt x="665162" y="1092200"/>
                </a:lnTo>
                <a:lnTo>
                  <a:pt x="801687" y="1282700"/>
                </a:lnTo>
                <a:lnTo>
                  <a:pt x="666750" y="1470025"/>
                </a:lnTo>
                <a:lnTo>
                  <a:pt x="666750" y="1377950"/>
                </a:lnTo>
                <a:lnTo>
                  <a:pt x="463550" y="1377950"/>
                </a:lnTo>
                <a:lnTo>
                  <a:pt x="425450" y="1360487"/>
                </a:lnTo>
                <a:lnTo>
                  <a:pt x="411162" y="1355725"/>
                </a:lnTo>
                <a:lnTo>
                  <a:pt x="388937" y="1343025"/>
                </a:lnTo>
                <a:lnTo>
                  <a:pt x="369887" y="1330325"/>
                </a:lnTo>
                <a:lnTo>
                  <a:pt x="355600" y="1317625"/>
                </a:lnTo>
                <a:lnTo>
                  <a:pt x="342900" y="1303337"/>
                </a:lnTo>
                <a:lnTo>
                  <a:pt x="333375" y="1292225"/>
                </a:lnTo>
                <a:lnTo>
                  <a:pt x="322262" y="1281112"/>
                </a:lnTo>
                <a:lnTo>
                  <a:pt x="314325" y="1265237"/>
                </a:lnTo>
                <a:lnTo>
                  <a:pt x="303212" y="1246187"/>
                </a:lnTo>
                <a:lnTo>
                  <a:pt x="284162" y="1211262"/>
                </a:lnTo>
                <a:lnTo>
                  <a:pt x="273050" y="1176337"/>
                </a:lnTo>
                <a:lnTo>
                  <a:pt x="265112" y="1154112"/>
                </a:lnTo>
                <a:lnTo>
                  <a:pt x="260350" y="1125537"/>
                </a:lnTo>
                <a:lnTo>
                  <a:pt x="250825" y="1104900"/>
                </a:lnTo>
                <a:lnTo>
                  <a:pt x="250825" y="1089025"/>
                </a:lnTo>
                <a:lnTo>
                  <a:pt x="250825" y="835025"/>
                </a:lnTo>
                <a:lnTo>
                  <a:pt x="0" y="835025"/>
                </a:lnTo>
                <a:lnTo>
                  <a:pt x="0" y="617537"/>
                </a:lnTo>
                <a:close/>
              </a:path>
            </a:pathLst>
          </a:cu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037505B-8DB1-7BA6-03C6-BC34C28CD21A}"/>
              </a:ext>
            </a:extLst>
          </p:cNvPr>
          <p:cNvSpPr txBox="1"/>
          <p:nvPr/>
        </p:nvSpPr>
        <p:spPr>
          <a:xfrm>
            <a:off x="4013309" y="2818632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03FD4E6-D11B-0062-2D4A-E706FF1184B2}"/>
              </a:ext>
            </a:extLst>
          </p:cNvPr>
          <p:cNvSpPr txBox="1"/>
          <p:nvPr/>
        </p:nvSpPr>
        <p:spPr>
          <a:xfrm>
            <a:off x="4073128" y="1317799"/>
            <a:ext cx="101728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5V</a:t>
            </a:r>
          </a:p>
        </p:txBody>
      </p:sp>
      <p:sp>
        <p:nvSpPr>
          <p:cNvPr id="45" name="圆角矩形 61">
            <a:extLst>
              <a:ext uri="{FF2B5EF4-FFF2-40B4-BE49-F238E27FC236}">
                <a16:creationId xmlns:a16="http://schemas.microsoft.com/office/drawing/2014/main" id="{62991476-D21B-7051-4843-068DE05114B8}"/>
              </a:ext>
            </a:extLst>
          </p:cNvPr>
          <p:cNvSpPr/>
          <p:nvPr/>
        </p:nvSpPr>
        <p:spPr>
          <a:xfrm>
            <a:off x="2173316" y="2033323"/>
            <a:ext cx="1101280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33BFD4-E335-CE3E-DE69-0188DA98BD71}"/>
              </a:ext>
            </a:extLst>
          </p:cNvPr>
          <p:cNvSpPr txBox="1"/>
          <p:nvPr/>
        </p:nvSpPr>
        <p:spPr>
          <a:xfrm>
            <a:off x="12076124" y="1334796"/>
            <a:ext cx="39460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MP20051DQ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的高噪声抑制比，要讲出来，为什么要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LDO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，不选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DCDC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。原因要写出来，优势逐个列出来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27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D6A5-F826-9E2C-76A6-A0EA2B41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A94E37D9-977D-494B-40BE-285E625CB88B}"/>
              </a:ext>
            </a:extLst>
          </p:cNvPr>
          <p:cNvGrpSpPr/>
          <p:nvPr/>
        </p:nvGrpSpPr>
        <p:grpSpPr>
          <a:xfrm>
            <a:off x="322561" y="1616845"/>
            <a:ext cx="11455541" cy="4867260"/>
            <a:chOff x="217807" y="1258767"/>
            <a:chExt cx="11455541" cy="48672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E8D832F-C4F7-5F01-4790-0489BA72C46B}"/>
                </a:ext>
              </a:extLst>
            </p:cNvPr>
            <p:cNvSpPr/>
            <p:nvPr/>
          </p:nvSpPr>
          <p:spPr>
            <a:xfrm>
              <a:off x="5865990" y="3931798"/>
              <a:ext cx="3459625" cy="2178271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52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DD893D8-7A04-27BC-DEF3-E81A569D9D53}"/>
                </a:ext>
              </a:extLst>
            </p:cNvPr>
            <p:cNvSpPr/>
            <p:nvPr/>
          </p:nvSpPr>
          <p:spPr>
            <a:xfrm>
              <a:off x="217808" y="3924092"/>
              <a:ext cx="5574493" cy="2193684"/>
            </a:xfrm>
            <a:prstGeom prst="rect">
              <a:avLst/>
            </a:prstGeom>
            <a:gradFill flip="none" rotWithShape="1">
              <a:gsLst>
                <a:gs pos="1000">
                  <a:schemeClr val="accent5">
                    <a:lumMod val="20000"/>
                    <a:lumOff val="80000"/>
                  </a:schemeClr>
                </a:gs>
                <a:gs pos="5200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5E90F3-65FE-EB4B-2274-82DA722BCE7A}"/>
                </a:ext>
              </a:extLst>
            </p:cNvPr>
            <p:cNvSpPr/>
            <p:nvPr/>
          </p:nvSpPr>
          <p:spPr>
            <a:xfrm>
              <a:off x="9437295" y="1258767"/>
              <a:ext cx="2236053" cy="4851302"/>
            </a:xfrm>
            <a:prstGeom prst="rect">
              <a:avLst/>
            </a:prstGeom>
            <a:gradFill flip="none" rotWithShape="1">
              <a:gsLst>
                <a:gs pos="0">
                  <a:schemeClr val="bg2">
                    <a:lumMod val="20000"/>
                    <a:lumOff val="80000"/>
                  </a:schemeClr>
                </a:gs>
                <a:gs pos="52000">
                  <a:schemeClr val="bg2">
                    <a:lumMod val="40000"/>
                    <a:lumOff val="6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5779DF3-B00A-DE9F-BA3D-853DE33ABF7B}"/>
                </a:ext>
              </a:extLst>
            </p:cNvPr>
            <p:cNvSpPr/>
            <p:nvPr/>
          </p:nvSpPr>
          <p:spPr>
            <a:xfrm>
              <a:off x="217807" y="1261621"/>
              <a:ext cx="9107809" cy="2555084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</a:schemeClr>
                </a:gs>
                <a:gs pos="5200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右箭头 13">
              <a:extLst>
                <a:ext uri="{FF2B5EF4-FFF2-40B4-BE49-F238E27FC236}">
                  <a16:creationId xmlns:a16="http://schemas.microsoft.com/office/drawing/2014/main" id="{CF422D78-B026-D6F5-B867-437912F4D8BC}"/>
                </a:ext>
              </a:extLst>
            </p:cNvPr>
            <p:cNvSpPr/>
            <p:nvPr/>
          </p:nvSpPr>
          <p:spPr>
            <a:xfrm>
              <a:off x="1458619" y="2358913"/>
              <a:ext cx="694052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48V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61">
              <a:extLst>
                <a:ext uri="{FF2B5EF4-FFF2-40B4-BE49-F238E27FC236}">
                  <a16:creationId xmlns:a16="http://schemas.microsoft.com/office/drawing/2014/main" id="{152C959D-0A5C-1F92-41ED-B09AC6518D29}"/>
                </a:ext>
              </a:extLst>
            </p:cNvPr>
            <p:cNvSpPr/>
            <p:nvPr/>
          </p:nvSpPr>
          <p:spPr>
            <a:xfrm>
              <a:off x="294832" y="2410899"/>
              <a:ext cx="1101280" cy="324565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99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48 </a:t>
              </a:r>
              <a:r>
                <a:rPr lang="en-US" altLang="zh-CN" sz="1599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Vbat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圆角矩形 100">
              <a:extLst>
                <a:ext uri="{FF2B5EF4-FFF2-40B4-BE49-F238E27FC236}">
                  <a16:creationId xmlns:a16="http://schemas.microsoft.com/office/drawing/2014/main" id="{CE8EDB55-9E23-E4FA-7B0A-A0683E1AA0CC}"/>
                </a:ext>
              </a:extLst>
            </p:cNvPr>
            <p:cNvSpPr/>
            <p:nvPr/>
          </p:nvSpPr>
          <p:spPr>
            <a:xfrm>
              <a:off x="3392084" y="1278545"/>
              <a:ext cx="2759253" cy="357340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辅助电源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Picture 2" descr="MP4583">
              <a:extLst>
                <a:ext uri="{FF2B5EF4-FFF2-40B4-BE49-F238E27FC236}">
                  <a16:creationId xmlns:a16="http://schemas.microsoft.com/office/drawing/2014/main" id="{CEEF1779-4EEF-1199-1B3A-B6E70166D8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81" r="22239"/>
            <a:stretch/>
          </p:blipFill>
          <p:spPr bwMode="auto">
            <a:xfrm>
              <a:off x="2266033" y="2067514"/>
              <a:ext cx="1421541" cy="1324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4971D25-36E1-4F71-7E7B-C8201ECDE7AD}"/>
                </a:ext>
              </a:extLst>
            </p:cNvPr>
            <p:cNvSpPr txBox="1"/>
            <p:nvPr/>
          </p:nvSpPr>
          <p:spPr>
            <a:xfrm>
              <a:off x="1932815" y="3268827"/>
              <a:ext cx="2087975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100V DC-DC MP4583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宽范围高压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Buck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1E2D9A5-19E0-06E8-6B48-07B89D59A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14408" y="1898410"/>
              <a:ext cx="1493428" cy="1493428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8C223B4-36DA-6C26-AE6D-EADFB45A9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15094" y="1802228"/>
              <a:ext cx="1725330" cy="173240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4FEE5FD6-C158-6768-FD1C-2A80716CA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66169" y="1731893"/>
              <a:ext cx="1416331" cy="121980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1E9C3D35-153D-70A4-DEC5-1E7A9140D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2752" y="4454959"/>
              <a:ext cx="1236297" cy="1231188"/>
            </a:xfrm>
            <a:prstGeom prst="rect">
              <a:avLst/>
            </a:prstGeom>
          </p:spPr>
        </p:pic>
        <p:sp>
          <p:nvSpPr>
            <p:cNvPr id="19" name="圆角矩形 100">
              <a:extLst>
                <a:ext uri="{FF2B5EF4-FFF2-40B4-BE49-F238E27FC236}">
                  <a16:creationId xmlns:a16="http://schemas.microsoft.com/office/drawing/2014/main" id="{1B2E5EF6-439B-6052-1EAE-2A0BD2CC38E8}"/>
                </a:ext>
              </a:extLst>
            </p:cNvPr>
            <p:cNvSpPr/>
            <p:nvPr/>
          </p:nvSpPr>
          <p:spPr>
            <a:xfrm>
              <a:off x="6958592" y="3942603"/>
              <a:ext cx="1247931" cy="357340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CAN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100">
              <a:extLst>
                <a:ext uri="{FF2B5EF4-FFF2-40B4-BE49-F238E27FC236}">
                  <a16:creationId xmlns:a16="http://schemas.microsoft.com/office/drawing/2014/main" id="{781241BF-1CE4-9583-04BA-00F35CAE1526}"/>
                </a:ext>
              </a:extLst>
            </p:cNvPr>
            <p:cNvSpPr/>
            <p:nvPr/>
          </p:nvSpPr>
          <p:spPr>
            <a:xfrm>
              <a:off x="9562717" y="1266094"/>
              <a:ext cx="1900353" cy="536134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  <a:r>
                <a:rPr lang="en-US" altLang="zh-CN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</a:t>
              </a:r>
            </a:p>
          </p:txBody>
        </p:sp>
        <p:sp>
          <p:nvSpPr>
            <p:cNvPr id="21" name="圆角矩形 100">
              <a:extLst>
                <a:ext uri="{FF2B5EF4-FFF2-40B4-BE49-F238E27FC236}">
                  <a16:creationId xmlns:a16="http://schemas.microsoft.com/office/drawing/2014/main" id="{D6BF32EA-8F4E-5CD1-912F-9B232523E348}"/>
                </a:ext>
              </a:extLst>
            </p:cNvPr>
            <p:cNvSpPr/>
            <p:nvPr/>
          </p:nvSpPr>
          <p:spPr>
            <a:xfrm>
              <a:off x="2151668" y="3924092"/>
              <a:ext cx="1765066" cy="357340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功率回路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右箭头 13">
              <a:extLst>
                <a:ext uri="{FF2B5EF4-FFF2-40B4-BE49-F238E27FC236}">
                  <a16:creationId xmlns:a16="http://schemas.microsoft.com/office/drawing/2014/main" id="{D4D605A0-3891-197F-42CF-D3F6C95427F2}"/>
                </a:ext>
              </a:extLst>
            </p:cNvPr>
            <p:cNvSpPr/>
            <p:nvPr/>
          </p:nvSpPr>
          <p:spPr>
            <a:xfrm rot="5400000">
              <a:off x="85636" y="3291281"/>
              <a:ext cx="1406445" cy="540414"/>
            </a:xfrm>
            <a:prstGeom prst="rightArrow">
              <a:avLst/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48V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F17674C-77E5-1697-DA27-693D2CCC474F}"/>
                </a:ext>
              </a:extLst>
            </p:cNvPr>
            <p:cNvSpPr txBox="1"/>
            <p:nvPr/>
          </p:nvSpPr>
          <p:spPr>
            <a:xfrm>
              <a:off x="4238667" y="3283151"/>
              <a:ext cx="2278184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12V DC-DC MPM3632S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高集成度次级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Buck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E0D02E-FCB2-FB78-93C3-F65F366C4097}"/>
                </a:ext>
              </a:extLst>
            </p:cNvPr>
            <p:cNvSpPr txBox="1"/>
            <p:nvPr/>
          </p:nvSpPr>
          <p:spPr>
            <a:xfrm>
              <a:off x="6837981" y="3268827"/>
              <a:ext cx="1725330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LDO MP20051DQ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可调低纹波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18F7085-0391-F7A9-70F9-682C77877ECD}"/>
                </a:ext>
              </a:extLst>
            </p:cNvPr>
            <p:cNvSpPr txBox="1"/>
            <p:nvPr/>
          </p:nvSpPr>
          <p:spPr>
            <a:xfrm>
              <a:off x="9668849" y="2868624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Current Sensor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1B4ADBF-102E-92BD-DE0D-24E9347A2E22}"/>
                </a:ext>
              </a:extLst>
            </p:cNvPr>
            <p:cNvSpPr txBox="1"/>
            <p:nvPr/>
          </p:nvSpPr>
          <p:spPr>
            <a:xfrm>
              <a:off x="9650229" y="4215070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Controller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4260519-BF02-6707-6355-3E3A2ED6F7FD}"/>
                </a:ext>
              </a:extLst>
            </p:cNvPr>
            <p:cNvSpPr txBox="1"/>
            <p:nvPr/>
          </p:nvSpPr>
          <p:spPr>
            <a:xfrm>
              <a:off x="7502154" y="5496555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CAN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A297BDA-F1CB-05B9-B4EE-46A1357B1CC1}"/>
                </a:ext>
              </a:extLst>
            </p:cNvPr>
            <p:cNvSpPr txBox="1"/>
            <p:nvPr/>
          </p:nvSpPr>
          <p:spPr>
            <a:xfrm>
              <a:off x="2466778" y="5602807"/>
              <a:ext cx="1725330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MP6539B 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Driver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A7F38F7-CDCC-0824-CADC-9A6C795574AE}"/>
                </a:ext>
              </a:extLst>
            </p:cNvPr>
            <p:cNvSpPr txBox="1"/>
            <p:nvPr/>
          </p:nvSpPr>
          <p:spPr>
            <a:xfrm>
              <a:off x="345686" y="5592742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MOSFET</a:t>
              </a:r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57884C7-1F15-DF59-4974-7B5E1CE37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37015" y="4419217"/>
              <a:ext cx="1055608" cy="1055608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B2C8ADD9-66C0-A392-8198-1902138FA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428"/>
            <a:stretch/>
          </p:blipFill>
          <p:spPr>
            <a:xfrm>
              <a:off x="259489" y="4277751"/>
              <a:ext cx="1592539" cy="1314991"/>
            </a:xfrm>
            <a:prstGeom prst="rect">
              <a:avLst/>
            </a:prstGeom>
          </p:spPr>
        </p:pic>
        <p:pic>
          <p:nvPicPr>
            <p:cNvPr id="34" name="Picture 2" descr="Microcontroller PNG transparent image download, size: 512x333px">
              <a:extLst>
                <a:ext uri="{FF2B5EF4-FFF2-40B4-BE49-F238E27FC236}">
                  <a16:creationId xmlns:a16="http://schemas.microsoft.com/office/drawing/2014/main" id="{B758405D-1E9F-383E-28F9-02FB2DD03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9995" y="3224074"/>
              <a:ext cx="1445111" cy="939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右箭头 13">
              <a:extLst>
                <a:ext uri="{FF2B5EF4-FFF2-40B4-BE49-F238E27FC236}">
                  <a16:creationId xmlns:a16="http://schemas.microsoft.com/office/drawing/2014/main" id="{2198C9B4-12D3-DCE8-4A68-4EA153538679}"/>
                </a:ext>
              </a:extLst>
            </p:cNvPr>
            <p:cNvSpPr/>
            <p:nvPr/>
          </p:nvSpPr>
          <p:spPr>
            <a:xfrm rot="10800000" flipV="1">
              <a:off x="1597170" y="4820365"/>
              <a:ext cx="988560" cy="417036"/>
            </a:xfrm>
            <a:prstGeom prst="rightArrow">
              <a:avLst>
                <a:gd name="adj1" fmla="val 63528"/>
                <a:gd name="adj2" fmla="val 64617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Control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5FEB4FA0-BB72-1176-0DC3-49BF0EEEF7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07" r="23445"/>
            <a:stretch/>
          </p:blipFill>
          <p:spPr bwMode="auto">
            <a:xfrm>
              <a:off x="6439474" y="4419217"/>
              <a:ext cx="1038237" cy="1024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B0BBBEC-F46B-CCDD-B3EF-2ED006E53C2E}"/>
                </a:ext>
              </a:extLst>
            </p:cNvPr>
            <p:cNvSpPr txBox="1"/>
            <p:nvPr/>
          </p:nvSpPr>
          <p:spPr>
            <a:xfrm>
              <a:off x="6095927" y="5496556"/>
              <a:ext cx="1725330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MIE1W0505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隔离电源</a:t>
              </a:r>
            </a:p>
          </p:txBody>
        </p:sp>
        <p:sp>
          <p:nvSpPr>
            <p:cNvPr id="38" name="右箭头 13">
              <a:extLst>
                <a:ext uri="{FF2B5EF4-FFF2-40B4-BE49-F238E27FC236}">
                  <a16:creationId xmlns:a16="http://schemas.microsoft.com/office/drawing/2014/main" id="{76A28452-34A4-4EA7-124E-74006B8D7887}"/>
                </a:ext>
              </a:extLst>
            </p:cNvPr>
            <p:cNvSpPr/>
            <p:nvPr/>
          </p:nvSpPr>
          <p:spPr>
            <a:xfrm rot="10800000" flipV="1">
              <a:off x="3889718" y="4807653"/>
              <a:ext cx="939837" cy="417036"/>
            </a:xfrm>
            <a:prstGeom prst="rightArrow">
              <a:avLst>
                <a:gd name="adj1" fmla="val 63528"/>
                <a:gd name="adj2" fmla="val 64617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9" name="Picture 4" descr="MA600A | High-Accuracy,">
              <a:extLst>
                <a:ext uri="{FF2B5EF4-FFF2-40B4-BE49-F238E27FC236}">
                  <a16:creationId xmlns:a16="http://schemas.microsoft.com/office/drawing/2014/main" id="{E6B1E778-426B-2206-47D5-6CAA619757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9890" y="4555920"/>
              <a:ext cx="2000757" cy="1125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右箭头 13">
              <a:extLst>
                <a:ext uri="{FF2B5EF4-FFF2-40B4-BE49-F238E27FC236}">
                  <a16:creationId xmlns:a16="http://schemas.microsoft.com/office/drawing/2014/main" id="{762F7E89-5291-8601-A642-86EBF7D9BB43}"/>
                </a:ext>
              </a:extLst>
            </p:cNvPr>
            <p:cNvSpPr/>
            <p:nvPr/>
          </p:nvSpPr>
          <p:spPr>
            <a:xfrm>
              <a:off x="3716777" y="2351897"/>
              <a:ext cx="694052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右箭头 13">
              <a:extLst>
                <a:ext uri="{FF2B5EF4-FFF2-40B4-BE49-F238E27FC236}">
                  <a16:creationId xmlns:a16="http://schemas.microsoft.com/office/drawing/2014/main" id="{DB6CA559-F750-648E-BE24-A6B924379CC8}"/>
                </a:ext>
              </a:extLst>
            </p:cNvPr>
            <p:cNvSpPr/>
            <p:nvPr/>
          </p:nvSpPr>
          <p:spPr>
            <a:xfrm>
              <a:off x="6304463" y="2358913"/>
              <a:ext cx="694052" cy="432566"/>
            </a:xfrm>
            <a:prstGeom prst="rightArrow">
              <a:avLst>
                <a:gd name="adj1" fmla="val 63528"/>
                <a:gd name="adj2" fmla="val 50000"/>
              </a:avLst>
            </a:prstGeom>
            <a:gradFill>
              <a:gsLst>
                <a:gs pos="19000">
                  <a:srgbClr val="0051A2">
                    <a:alpha val="7000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rgbClr val="00336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5V</a:t>
              </a:r>
              <a:endPara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7D1BE7A-FEE9-F583-BF9D-93121D7F59DB}"/>
                </a:ext>
              </a:extLst>
            </p:cNvPr>
            <p:cNvSpPr txBox="1"/>
            <p:nvPr/>
          </p:nvSpPr>
          <p:spPr>
            <a:xfrm>
              <a:off x="9650229" y="5732456"/>
              <a:ext cx="1725330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MA600A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圆角矩形 61">
              <a:extLst>
                <a:ext uri="{FF2B5EF4-FFF2-40B4-BE49-F238E27FC236}">
                  <a16:creationId xmlns:a16="http://schemas.microsoft.com/office/drawing/2014/main" id="{5095FB5B-491F-2275-07AC-5932F85DF1B2}"/>
                </a:ext>
              </a:extLst>
            </p:cNvPr>
            <p:cNvSpPr/>
            <p:nvPr/>
          </p:nvSpPr>
          <p:spPr>
            <a:xfrm>
              <a:off x="4848665" y="4853269"/>
              <a:ext cx="904040" cy="324565"/>
            </a:xfrm>
            <a:prstGeom prst="roundRect">
              <a:avLst/>
            </a:prstGeom>
            <a:solidFill>
              <a:srgbClr val="AD8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99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12 Vdc</a:t>
              </a:r>
              <a:endPara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345BB389-5136-426E-EEBC-949C2CB733A4}"/>
              </a:ext>
            </a:extLst>
          </p:cNvPr>
          <p:cNvSpPr/>
          <p:nvPr/>
        </p:nvSpPr>
        <p:spPr>
          <a:xfrm>
            <a:off x="40924" y="1444055"/>
            <a:ext cx="12018817" cy="5273696"/>
          </a:xfrm>
          <a:prstGeom prst="rect">
            <a:avLst/>
          </a:prstGeom>
          <a:noFill/>
          <a:ln w="9525">
            <a:solidFill>
              <a:srgbClr val="AD82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85">
            <a:extLst>
              <a:ext uri="{FF2B5EF4-FFF2-40B4-BE49-F238E27FC236}">
                <a16:creationId xmlns:a16="http://schemas.microsoft.com/office/drawing/2014/main" id="{843019D9-D5B4-4E43-D2DD-3589FD30083B}"/>
              </a:ext>
            </a:extLst>
          </p:cNvPr>
          <p:cNvSpPr txBox="1"/>
          <p:nvPr/>
        </p:nvSpPr>
        <p:spPr>
          <a:xfrm>
            <a:off x="40924" y="1035204"/>
            <a:ext cx="12014621" cy="400110"/>
          </a:xfrm>
          <a:prstGeom prst="rect">
            <a:avLst/>
          </a:prstGeom>
          <a:solidFill>
            <a:srgbClr val="AD8222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Overview of the MPS FOC Solution</a:t>
            </a:r>
            <a:endParaRPr kumimoji="1"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BC32784-F658-9FF5-52A5-AD23ABA637F6}"/>
              </a:ext>
            </a:extLst>
          </p:cNvPr>
          <p:cNvSpPr>
            <a:spLocks noGrp="1"/>
          </p:cNvSpPr>
          <p:nvPr/>
        </p:nvSpPr>
        <p:spPr>
          <a:xfrm>
            <a:off x="40924" y="203285"/>
            <a:ext cx="12014621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5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dirty="0" err="1">
                <a:solidFill>
                  <a:schemeClr val="bg1"/>
                </a:solidFill>
              </a:rPr>
              <a:t>芯片选型</a:t>
            </a:r>
            <a:r>
              <a:rPr lang="zh-CN" altLang="en-US" dirty="0">
                <a:solidFill>
                  <a:schemeClr val="bg1"/>
                </a:solidFill>
              </a:rPr>
              <a:t>总览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076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Layout——板框与四层叠层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57200" y="1009650"/>
            <a:ext cx="6324600" cy="2952750"/>
          </a:xfrm>
          <a:prstGeom prst="rect">
            <a:avLst/>
          </a:prstGeom>
          <a:solidFill>
            <a:srgbClr val="F2F2F2"/>
          </a:solidFill>
          <a:ln w="9525">
            <a:solidFill>
              <a:srgbClr val="AFC7DD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6972300" y="1009650"/>
            <a:ext cx="4762500" cy="2952750"/>
            <a:chOff x="6972300" y="1009650"/>
            <a:chExt cx="4762500" cy="2952750"/>
          </a:xfrm>
        </p:grpSpPr>
        <p:sp>
          <p:nvSpPr>
            <p:cNvPr id="9" name="Rectangle 9"/>
            <p:cNvSpPr/>
            <p:nvPr/>
          </p:nvSpPr>
          <p:spPr>
            <a:xfrm>
              <a:off x="6972300" y="1009650"/>
              <a:ext cx="47625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72300" y="1009650"/>
              <a:ext cx="47625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61701" y="1115854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板框与工艺参数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7098" y="1639729"/>
              <a:ext cx="33164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外形尺寸：约 49.23 × 42.86 mm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7098" y="2039779"/>
              <a:ext cx="186723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板层结构：4 层板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7098" y="2439829"/>
              <a:ext cx="226628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成品板厚：约 1.6 mm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7098" y="2839879"/>
              <a:ext cx="237129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铜厚配置：外层约 1 oz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7098" y="3239929"/>
              <a:ext cx="35579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布局规模：116 个器件，311 个过孔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1482" y="4143851"/>
            <a:ext cx="11303318" cy="2142649"/>
            <a:chOff x="431482" y="4143851"/>
            <a:chExt cx="11303318" cy="2142649"/>
          </a:xfrm>
        </p:grpSpPr>
        <p:sp>
          <p:nvSpPr>
            <p:cNvPr id="18" name="TextBox 18"/>
            <p:cNvSpPr txBox="1"/>
            <p:nvPr/>
          </p:nvSpPr>
          <p:spPr>
            <a:xfrm>
              <a:off x="431482" y="41438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四层叠层职责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4552950"/>
              <a:ext cx="11277600" cy="457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4848" y="4687729"/>
              <a:ext cx="9000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62200" y="4695825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器件布局、功率铜皮、栅极驱动与关键信号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5048250"/>
              <a:ext cx="11277600" cy="38100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AFC7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800" y="5143500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63152" y="5151596"/>
              <a:ext cx="51668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连续参考地平面，为采样、驱动和控制信号提供低阻回流路径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5467350"/>
              <a:ext cx="11277600" cy="38100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800" y="5562600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3152" y="5570696"/>
              <a:ext cx="40266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电源分配与局部铜面，降低供电阻抗并辅助散热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" y="5886450"/>
              <a:ext cx="11277600" cy="381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5800" y="5981700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63152" y="5989796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MCU、驱动与低速控制信号，配合过孔完成上下层互连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44818" y="6514624"/>
            <a:ext cx="40552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紧凑板框下，通过完整地平面和独立电源层控制回流路径与供电阻抗。</a:t>
            </a:r>
          </a:p>
        </p:txBody>
      </p:sp>
      <p:grpSp>
        <p:nvGrpSpPr>
          <p:cNvPr id="35" name="Group 21">
            <a:extLst>
              <a:ext uri="{FF2B5EF4-FFF2-40B4-BE49-F238E27FC236}">
                <a16:creationId xmlns:a16="http://schemas.microsoft.com/office/drawing/2014/main" id="{C9A34308-0DA0-3615-1992-4B541E5D6806}"/>
              </a:ext>
            </a:extLst>
          </p:cNvPr>
          <p:cNvGrpSpPr/>
          <p:nvPr/>
        </p:nvGrpSpPr>
        <p:grpSpPr>
          <a:xfrm>
            <a:off x="457200" y="1021556"/>
            <a:ext cx="6324600" cy="2952750"/>
            <a:chOff x="457200" y="1009650"/>
            <a:chExt cx="6324600" cy="2952750"/>
          </a:xfrm>
        </p:grpSpPr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id="{2E04427E-9FA5-B6A7-28E1-0CDAC98B781B}"/>
                </a:ext>
              </a:extLst>
            </p:cNvPr>
            <p:cNvSpPr/>
            <p:nvPr/>
          </p:nvSpPr>
          <p:spPr>
            <a:xfrm>
              <a:off x="457200" y="1009650"/>
              <a:ext cx="63246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37" name="Image 7">
              <a:extLst>
                <a:ext uri="{FF2B5EF4-FFF2-40B4-BE49-F238E27FC236}">
                  <a16:creationId xmlns:a16="http://schemas.microsoft.com/office/drawing/2014/main" id="{D19AA215-A497-8E0F-BEF5-35EAF7117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298" y="1085850"/>
              <a:ext cx="3640455" cy="2800350"/>
            </a:xfrm>
            <a:prstGeom prst="rect">
              <a:avLst/>
            </a:prstGeom>
          </p:spPr>
        </p:pic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1BA81B5-4FFA-2CF9-912D-63C0A59349D3}"/>
                </a:ext>
              </a:extLst>
            </p:cNvPr>
            <p:cNvSpPr/>
            <p:nvPr/>
          </p:nvSpPr>
          <p:spPr>
            <a:xfrm>
              <a:off x="4781550" y="1200150"/>
              <a:ext cx="1790700" cy="514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9" name="TextBox 9">
              <a:extLst>
                <a:ext uri="{FF2B5EF4-FFF2-40B4-BE49-F238E27FC236}">
                  <a16:creationId xmlns:a16="http://schemas.microsoft.com/office/drawing/2014/main" id="{F00E179D-F1B4-BCAB-1CF6-037D4CD54B74}"/>
                </a:ext>
              </a:extLst>
            </p:cNvPr>
            <p:cNvSpPr txBox="1"/>
            <p:nvPr/>
          </p:nvSpPr>
          <p:spPr>
            <a:xfrm>
              <a:off x="4936808" y="1291114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40" name="TextBox 10">
              <a:extLst>
                <a:ext uri="{FF2B5EF4-FFF2-40B4-BE49-F238E27FC236}">
                  <a16:creationId xmlns:a16="http://schemas.microsoft.com/office/drawing/2014/main" id="{2A2410D6-5ECC-BA3F-4B69-EE72AEA072A4}"/>
                </a:ext>
              </a:extLst>
            </p:cNvPr>
            <p:cNvSpPr txBox="1"/>
            <p:nvPr/>
          </p:nvSpPr>
          <p:spPr>
            <a:xfrm>
              <a:off x="4939665" y="15154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真实顶层铜皮与走线</a:t>
              </a:r>
            </a:p>
          </p:txBody>
        </p:sp>
        <p:sp>
          <p:nvSpPr>
            <p:cNvPr id="41" name="Rectangle 11">
              <a:extLst>
                <a:ext uri="{FF2B5EF4-FFF2-40B4-BE49-F238E27FC236}">
                  <a16:creationId xmlns:a16="http://schemas.microsoft.com/office/drawing/2014/main" id="{896BE9EA-3580-F237-D85E-113A82BAC20D}"/>
                </a:ext>
              </a:extLst>
            </p:cNvPr>
            <p:cNvSpPr/>
            <p:nvPr/>
          </p:nvSpPr>
          <p:spPr>
            <a:xfrm>
              <a:off x="4781550" y="1847850"/>
              <a:ext cx="1790700" cy="51435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00A36C"/>
              </a:solidFill>
            </a:ln>
          </p:spPr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9977AD20-EE85-CC3D-FD9D-4B8FB8689ADA}"/>
                </a:ext>
              </a:extLst>
            </p:cNvPr>
            <p:cNvSpPr txBox="1"/>
            <p:nvPr/>
          </p:nvSpPr>
          <p:spPr>
            <a:xfrm>
              <a:off x="4936808" y="1938814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43" name="TextBox 13">
              <a:extLst>
                <a:ext uri="{FF2B5EF4-FFF2-40B4-BE49-F238E27FC236}">
                  <a16:creationId xmlns:a16="http://schemas.microsoft.com/office/drawing/2014/main" id="{EC1F2676-AB93-3513-F4EF-237AA08B7176}"/>
                </a:ext>
              </a:extLst>
            </p:cNvPr>
            <p:cNvSpPr txBox="1"/>
            <p:nvPr/>
          </p:nvSpPr>
          <p:spPr>
            <a:xfrm>
              <a:off x="4939665" y="216312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连续地平面与过孔</a:t>
              </a:r>
            </a:p>
          </p:txBody>
        </p:sp>
        <p:sp>
          <p:nvSpPr>
            <p:cNvPr id="44" name="Rectangle 14">
              <a:extLst>
                <a:ext uri="{FF2B5EF4-FFF2-40B4-BE49-F238E27FC236}">
                  <a16:creationId xmlns:a16="http://schemas.microsoft.com/office/drawing/2014/main" id="{45CE92B8-1A8C-DB9D-0900-B59CBF815833}"/>
                </a:ext>
              </a:extLst>
            </p:cNvPr>
            <p:cNvSpPr/>
            <p:nvPr/>
          </p:nvSpPr>
          <p:spPr>
            <a:xfrm>
              <a:off x="4781550" y="2495550"/>
              <a:ext cx="1790700" cy="51435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C00000"/>
              </a:solidFill>
            </a:ln>
          </p:spPr>
        </p:sp>
        <p:sp>
          <p:nvSpPr>
            <p:cNvPr id="45" name="TextBox 15">
              <a:extLst>
                <a:ext uri="{FF2B5EF4-FFF2-40B4-BE49-F238E27FC236}">
                  <a16:creationId xmlns:a16="http://schemas.microsoft.com/office/drawing/2014/main" id="{0AA816D0-D0F3-3C3B-DFBD-30D240868C45}"/>
                </a:ext>
              </a:extLst>
            </p:cNvPr>
            <p:cNvSpPr txBox="1"/>
            <p:nvPr/>
          </p:nvSpPr>
          <p:spPr>
            <a:xfrm>
              <a:off x="4936808" y="2586514"/>
              <a:ext cx="9607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46" name="TextBox 16">
              <a:extLst>
                <a:ext uri="{FF2B5EF4-FFF2-40B4-BE49-F238E27FC236}">
                  <a16:creationId xmlns:a16="http://schemas.microsoft.com/office/drawing/2014/main" id="{6176AD29-CEF2-D956-865D-3D1C11BFECB1}"/>
                </a:ext>
              </a:extLst>
            </p:cNvPr>
            <p:cNvSpPr txBox="1"/>
            <p:nvPr/>
          </p:nvSpPr>
          <p:spPr>
            <a:xfrm>
              <a:off x="4939665" y="28108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实际电源铺铜与分区</a:t>
              </a:r>
            </a:p>
          </p:txBody>
        </p:sp>
        <p:sp>
          <p:nvSpPr>
            <p:cNvPr id="47" name="Rectangle 17">
              <a:extLst>
                <a:ext uri="{FF2B5EF4-FFF2-40B4-BE49-F238E27FC236}">
                  <a16:creationId xmlns:a16="http://schemas.microsoft.com/office/drawing/2014/main" id="{C4CC897F-361F-A4EE-E27D-06D2E1351EBD}"/>
                </a:ext>
              </a:extLst>
            </p:cNvPr>
            <p:cNvSpPr/>
            <p:nvPr/>
          </p:nvSpPr>
          <p:spPr>
            <a:xfrm>
              <a:off x="4781550" y="3143250"/>
              <a:ext cx="1790700" cy="5143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8" name="TextBox 18">
              <a:extLst>
                <a:ext uri="{FF2B5EF4-FFF2-40B4-BE49-F238E27FC236}">
                  <a16:creationId xmlns:a16="http://schemas.microsoft.com/office/drawing/2014/main" id="{47FE6D71-D5B0-E09B-8DD6-82FC7DC641BB}"/>
                </a:ext>
              </a:extLst>
            </p:cNvPr>
            <p:cNvSpPr txBox="1"/>
            <p:nvPr/>
          </p:nvSpPr>
          <p:spPr>
            <a:xfrm>
              <a:off x="4936808" y="3234214"/>
              <a:ext cx="10588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49" name="TextBox 19">
              <a:extLst>
                <a:ext uri="{FF2B5EF4-FFF2-40B4-BE49-F238E27FC236}">
                  <a16:creationId xmlns:a16="http://schemas.microsoft.com/office/drawing/2014/main" id="{4850BB8F-5443-3B89-2FE9-65B2F8E75306}"/>
                </a:ext>
              </a:extLst>
            </p:cNvPr>
            <p:cNvSpPr txBox="1"/>
            <p:nvPr/>
          </p:nvSpPr>
          <p:spPr>
            <a:xfrm>
              <a:off x="4939665" y="34585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真实底层布线与铜面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-2985407" y="2497931"/>
            <a:ext cx="27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层板爆炸图展开效果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Layout——功能分区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009650"/>
            <a:ext cx="6724650" cy="5143500"/>
            <a:chOff x="457200" y="1009650"/>
            <a:chExt cx="6724650" cy="514350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724650" cy="51435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1294209"/>
              <a:ext cx="6457950" cy="4574381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48025" y="3295650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59874" y="33975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647825" y="2162175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59674" y="2264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90975" y="4743450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2824" y="4845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600325" y="4314825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12174" y="44167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581650" y="3009900"/>
              <a:ext cx="361950" cy="3619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93499" y="31118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72350" y="1009650"/>
            <a:ext cx="4880420" cy="5143500"/>
            <a:chOff x="7372350" y="1009650"/>
            <a:chExt cx="4880420" cy="5143500"/>
          </a:xfrm>
        </p:grpSpPr>
        <p:sp>
          <p:nvSpPr>
            <p:cNvPr id="19" name="Rectangle 19"/>
            <p:cNvSpPr/>
            <p:nvPr/>
          </p:nvSpPr>
          <p:spPr>
            <a:xfrm>
              <a:off x="7372350" y="1009650"/>
              <a:ext cx="4362450" cy="514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05700" y="1230154"/>
              <a:ext cx="4066985" cy="567690"/>
              <a:chOff x="7505700" y="1230154"/>
              <a:chExt cx="4066985" cy="56769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505700" y="12382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7074" y="13496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00048" y="1230154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磁编码器中心区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03858" y="1538764"/>
                <a:ext cx="35688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MA600A 对准电机轴心，周围限制高电流器件。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7562850" y="187642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505700" y="2077879"/>
              <a:ext cx="4322017" cy="567690"/>
              <a:chOff x="7505700" y="2077879"/>
              <a:chExt cx="4322017" cy="56769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505700" y="208597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7074" y="21974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00048" y="20778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三相功率区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03858" y="2386489"/>
                <a:ext cx="38238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六颗 MOSFET 沿板边展开，缩短相线与散热路径。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562850" y="27241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505700" y="2925604"/>
              <a:ext cx="4747070" cy="567690"/>
              <a:chOff x="7505700" y="2925604"/>
              <a:chExt cx="4747070" cy="56769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505700" y="293370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7074" y="30451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00048" y="2925604"/>
                <a:ext cx="1750479" cy="242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驱动与控制区</a:t>
                </a:r>
                <a:r>
                  <a:rPr lang="en-US" alt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(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背面</a:t>
                </a:r>
                <a:r>
                  <a:rPr lang="en-US" alt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)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003858" y="3234214"/>
                <a:ext cx="424891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MP6539B 靠近功率级，STM32G431 集中管理控制信号。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7562850" y="357187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05700" y="3773329"/>
              <a:ext cx="4551546" cy="567690"/>
              <a:chOff x="7505700" y="3773329"/>
              <a:chExt cx="4551546" cy="56769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505700" y="378142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7074" y="38928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0048" y="37733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三相电流采样区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03858" y="4081939"/>
                <a:ext cx="40533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10 mΩ 分流电阻与 INA240 就近布置，控制采样环路。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7562850" y="44196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505700" y="4621054"/>
              <a:ext cx="3445193" cy="824865"/>
              <a:chOff x="7505700" y="4621054"/>
              <a:chExt cx="3445193" cy="824865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7505700" y="46291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7074" y="47405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00048" y="4621054"/>
                <a:ext cx="202475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辅助电源与隔离通信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03858" y="4929664"/>
                <a:ext cx="2947035" cy="516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025"/>
                  </a:lnSpc>
                </a:pPr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DC-DC、隔离电源与 CAN 接口靠近板边，便于电源入口和外部总线连接。</a:t>
                </a:r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7562850" y="5543550"/>
              <a:ext cx="3962400" cy="4000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85590" y="5663089"/>
              <a:ext cx="431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分区原则：缩短大电流环路，隔离敏感采样与通信边界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6790320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栅极与 </a:t>
              </a:r>
              <a:r>
                <a:rPr lang="en-US" alt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Bootstrap 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回路布局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028700"/>
            <a:ext cx="6705600" cy="2743200"/>
            <a:chOff x="457200" y="1028700"/>
            <a:chExt cx="6705600" cy="274320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705600" cy="2743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67056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18151" y="11253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主功率电流环路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480" y="214026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48 V 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975" y="238363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母线电容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24100" y="1885950"/>
              <a:ext cx="135255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6159" y="2045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半桥 MOSFET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73084" y="2327910"/>
              <a:ext cx="8545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高侧 + 低侧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100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482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相线输出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7874" y="2393156"/>
              <a:ext cx="651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U / V / 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102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484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分流电阻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6837" y="2393156"/>
              <a:ext cx="4336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10 mΩ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79070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19075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6766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0767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2768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6769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57300" y="2628900"/>
              <a:ext cx="5086350" cy="533400"/>
            </a:xfrm>
            <a:custGeom>
              <a:avLst/>
              <a:gdLst/>
              <a:ahLst/>
              <a:cxnLst/>
              <a:rect l="l" t="t" r="r" b="b"/>
              <a:pathLst>
                <a:path w="5086350" h="533400">
                  <a:moveTo>
                    <a:pt x="5086350" y="0"/>
                  </a:moveTo>
                  <a:lnTo>
                    <a:pt x="5086350" y="533400"/>
                  </a:lnTo>
                  <a:lnTo>
                    <a:pt x="0" y="533400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181100" y="26289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9323" y="3358039"/>
              <a:ext cx="37813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环路面积越小，母线尖峰与开关噪声越容易控制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53300" y="1028700"/>
            <a:ext cx="4381500" cy="2743200"/>
            <a:chOff x="7353300" y="1028700"/>
            <a:chExt cx="4381500" cy="2743200"/>
          </a:xfrm>
        </p:grpSpPr>
        <p:sp>
          <p:nvSpPr>
            <p:cNvPr id="31" name="Rectangle 31"/>
            <p:cNvSpPr/>
            <p:nvPr/>
          </p:nvSpPr>
          <p:spPr>
            <a:xfrm>
              <a:off x="7353300" y="1028700"/>
              <a:ext cx="4381500" cy="2743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53300" y="1028700"/>
              <a:ext cx="43815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40093" y="1125379"/>
              <a:ext cx="807914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要点注意</a:t>
              </a:r>
              <a:endPara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7200" y="3962400"/>
            <a:ext cx="5334000" cy="2247900"/>
            <a:chOff x="457200" y="3962400"/>
            <a:chExt cx="5334000" cy="2247900"/>
          </a:xfrm>
        </p:grpSpPr>
        <p:sp>
          <p:nvSpPr>
            <p:cNvPr id="40" name="Rectangle 40"/>
            <p:cNvSpPr/>
            <p:nvPr/>
          </p:nvSpPr>
          <p:spPr>
            <a:xfrm>
              <a:off x="457200" y="3962400"/>
              <a:ext cx="53340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57200" y="3962400"/>
              <a:ext cx="53340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26006" y="4046696"/>
              <a:ext cx="3196389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MPS 官方参考：MP653</a:t>
              </a:r>
              <a:r>
                <a:rPr lang="en-US" altLang="zh-CN" sz="1425" b="1" dirty="0">
                  <a:solidFill>
                    <a:srgbClr val="FF0000"/>
                  </a:solidFill>
                  <a:latin typeface="Arial"/>
                  <a:ea typeface="Microsoft YaHei"/>
                  <a:cs typeface="Arial"/>
                </a:rPr>
                <a:t>X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Demo Board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77" y="4400550"/>
              <a:ext cx="2236496" cy="15621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398526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86212" y="479345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上下管连接极短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86212" y="50792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大电流路径宽铜皮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86212" y="5364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去耦靠近驱动 IC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86212" y="56507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功率地避开信号地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7218" y="59907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来源：MPS AN111 Figure 10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81700" y="3962400"/>
            <a:ext cx="5753100" cy="2247900"/>
            <a:chOff x="5981700" y="3962400"/>
            <a:chExt cx="5753100" cy="2247900"/>
          </a:xfrm>
        </p:grpSpPr>
        <p:sp>
          <p:nvSpPr>
            <p:cNvPr id="51" name="Rectangle 51"/>
            <p:cNvSpPr/>
            <p:nvPr/>
          </p:nvSpPr>
          <p:spPr>
            <a:xfrm>
              <a:off x="5981700" y="3962400"/>
              <a:ext cx="57531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81700" y="3962400"/>
              <a:ext cx="57531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55434" y="4046696"/>
              <a:ext cx="3005631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MPS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官方参考：Bootstrap 元件布局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8601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86962" y="479345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CBOOT 紧贴 HO/HS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86962" y="5079206"/>
              <a:ext cx="12812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CVDD 紧贴供电脚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86962" y="53649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高峰值充电路径短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86962" y="565070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高压/低压走线分离</a:t>
              </a:r>
            </a:p>
          </p:txBody>
        </p:sp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79CF32A1-D592-6885-5558-2272CE22F18A}"/>
              </a:ext>
            </a:extLst>
          </p:cNvPr>
          <p:cNvSpPr/>
          <p:nvPr/>
        </p:nvSpPr>
        <p:spPr>
          <a:xfrm>
            <a:off x="7476251" y="5086350"/>
            <a:ext cx="438390" cy="107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 descr="MPS Bootstrap/Charge Pump 元件布局参考">
            <a:extLst>
              <a:ext uri="{FF2B5EF4-FFF2-40B4-BE49-F238E27FC236}">
                <a16:creationId xmlns:a16="http://schemas.microsoft.com/office/drawing/2014/main" id="{63D6A6A2-5AD1-0CFF-0988-C3E5D49E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124" y="4448658"/>
            <a:ext cx="2315209" cy="123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39988A34-A093-F640-2808-47F36F80EAB1}"/>
              </a:ext>
            </a:extLst>
          </p:cNvPr>
          <p:cNvSpPr txBox="1"/>
          <p:nvPr/>
        </p:nvSpPr>
        <p:spPr>
          <a:xfrm>
            <a:off x="6101690" y="589911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来源：</a:t>
            </a:r>
            <a:r>
              <a:rPr lang="en-US" altLang="zh-CN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MPS AN124</a:t>
            </a:r>
            <a:r>
              <a:rPr lang="zh-CN" altLang="en-US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：旁路、</a:t>
            </a:r>
            <a:r>
              <a:rPr lang="en-US" altLang="zh-CN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Bootstrap/Charge Pump </a:t>
            </a:r>
            <a:r>
              <a:rPr lang="zh-CN" altLang="en-US" sz="975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电容布局参考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3726719-1164-24C4-AE5D-B21010889C2E}"/>
              </a:ext>
            </a:extLst>
          </p:cNvPr>
          <p:cNvSpPr txBox="1"/>
          <p:nvPr/>
        </p:nvSpPr>
        <p:spPr>
          <a:xfrm>
            <a:off x="7370624" y="1466850"/>
            <a:ext cx="4217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上、下桥臂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MOSFET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靠近摆放，缩小换流回路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母线陶瓷电容紧靠功率桥，回路直接返回母线负端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_BOOT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紧贴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BSTx-SHx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_VDD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紧贴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VDD-GND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引脚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Gate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Source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成对、短距离布线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功率回路与低压控制信号分区布置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9" grpId="0"/>
      <p:bldP spid="50" grpId="0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46508" y="266700"/>
            <a:ext cx="11388292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515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Layout——三相电流采样</a:t>
              </a:r>
            </a:p>
          </p:txBody>
        </p:sp>
      </p:grpSp>
      <p:grpSp>
        <p:nvGrpSpPr>
          <p:cNvPr id="4105" name="组合 4104">
            <a:extLst>
              <a:ext uri="{FF2B5EF4-FFF2-40B4-BE49-F238E27FC236}">
                <a16:creationId xmlns:a16="http://schemas.microsoft.com/office/drawing/2014/main" id="{83F985DA-D291-577B-3136-F009788B78A2}"/>
              </a:ext>
            </a:extLst>
          </p:cNvPr>
          <p:cNvGrpSpPr/>
          <p:nvPr/>
        </p:nvGrpSpPr>
        <p:grpSpPr>
          <a:xfrm>
            <a:off x="6269960" y="1433086"/>
            <a:ext cx="2038350" cy="876300"/>
            <a:chOff x="6492441" y="1415054"/>
            <a:chExt cx="2038350" cy="876300"/>
          </a:xfrm>
        </p:grpSpPr>
        <p:sp>
          <p:nvSpPr>
            <p:cNvPr id="7" name="Rectangle 7"/>
            <p:cNvSpPr/>
            <p:nvPr/>
          </p:nvSpPr>
          <p:spPr>
            <a:xfrm>
              <a:off x="6492441" y="1415054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30031" y="1549833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三相分流电阻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95346" y="1869396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R10 / R11 / R12 · 10 mΩ</a:t>
              </a:r>
            </a:p>
          </p:txBody>
        </p:sp>
      </p:grpSp>
      <p:grpSp>
        <p:nvGrpSpPr>
          <p:cNvPr id="4106" name="组合 4105">
            <a:extLst>
              <a:ext uri="{FF2B5EF4-FFF2-40B4-BE49-F238E27FC236}">
                <a16:creationId xmlns:a16="http://schemas.microsoft.com/office/drawing/2014/main" id="{3A09EEE5-626C-C7FB-7391-2B8EBDBEEB84}"/>
              </a:ext>
            </a:extLst>
          </p:cNvPr>
          <p:cNvGrpSpPr/>
          <p:nvPr/>
        </p:nvGrpSpPr>
        <p:grpSpPr>
          <a:xfrm>
            <a:off x="6276346" y="2638715"/>
            <a:ext cx="2038350" cy="876300"/>
            <a:chOff x="9083241" y="1415054"/>
            <a:chExt cx="2038350" cy="876300"/>
          </a:xfrm>
        </p:grpSpPr>
        <p:sp>
          <p:nvSpPr>
            <p:cNvPr id="12" name="Rectangle 12"/>
            <p:cNvSpPr/>
            <p:nvPr/>
          </p:nvSpPr>
          <p:spPr>
            <a:xfrm>
              <a:off x="9083241" y="1415054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00437" y="1549833"/>
              <a:ext cx="403957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75" b="1" dirty="0">
                  <a:solidFill>
                    <a:srgbClr val="FF0000"/>
                  </a:solidFill>
                  <a:latin typeface="Arial"/>
                  <a:ea typeface="Microsoft YaHei"/>
                  <a:cs typeface="Arial"/>
                </a:rPr>
                <a:t>运放</a:t>
              </a:r>
              <a:endParaRPr lang="zh-CN" sz="1575" b="1" dirty="0">
                <a:solidFill>
                  <a:srgbClr val="FF000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3711" y="1869396"/>
              <a:ext cx="9974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增益 20 V/V</a:t>
              </a:r>
            </a:p>
          </p:txBody>
        </p:sp>
      </p:grpSp>
      <p:grpSp>
        <p:nvGrpSpPr>
          <p:cNvPr id="4108" name="组合 4107">
            <a:extLst>
              <a:ext uri="{FF2B5EF4-FFF2-40B4-BE49-F238E27FC236}">
                <a16:creationId xmlns:a16="http://schemas.microsoft.com/office/drawing/2014/main" id="{CEE8179E-8B89-0114-D707-9E9C05BEC122}"/>
              </a:ext>
            </a:extLst>
          </p:cNvPr>
          <p:cNvGrpSpPr/>
          <p:nvPr/>
        </p:nvGrpSpPr>
        <p:grpSpPr>
          <a:xfrm>
            <a:off x="6281354" y="3844344"/>
            <a:ext cx="2059543" cy="876300"/>
            <a:chOff x="6248767" y="3455324"/>
            <a:chExt cx="2059543" cy="876300"/>
          </a:xfrm>
        </p:grpSpPr>
        <p:sp>
          <p:nvSpPr>
            <p:cNvPr id="17" name="Rectangle 17"/>
            <p:cNvSpPr/>
            <p:nvPr/>
          </p:nvSpPr>
          <p:spPr>
            <a:xfrm>
              <a:off x="6259364" y="3455324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30033" y="3590103"/>
              <a:ext cx="12970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输出 RC 滤波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48767" y="3909666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抑制开关尖峰与 ADC 混叠</a:t>
              </a:r>
            </a:p>
          </p:txBody>
        </p:sp>
      </p:grpSp>
      <p:grpSp>
        <p:nvGrpSpPr>
          <p:cNvPr id="4109" name="组合 4108">
            <a:extLst>
              <a:ext uri="{FF2B5EF4-FFF2-40B4-BE49-F238E27FC236}">
                <a16:creationId xmlns:a16="http://schemas.microsoft.com/office/drawing/2014/main" id="{50774CB8-A7AD-C559-6ED0-1636D1802916}"/>
              </a:ext>
            </a:extLst>
          </p:cNvPr>
          <p:cNvGrpSpPr/>
          <p:nvPr/>
        </p:nvGrpSpPr>
        <p:grpSpPr>
          <a:xfrm>
            <a:off x="6283461" y="5077013"/>
            <a:ext cx="2031235" cy="876300"/>
            <a:chOff x="6273516" y="4651187"/>
            <a:chExt cx="2031235" cy="876300"/>
          </a:xfrm>
        </p:grpSpPr>
        <p:sp>
          <p:nvSpPr>
            <p:cNvPr id="22" name="Rectangle 22"/>
            <p:cNvSpPr/>
            <p:nvPr/>
          </p:nvSpPr>
          <p:spPr>
            <a:xfrm>
              <a:off x="6273516" y="4651187"/>
              <a:ext cx="2031235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24150" y="4763786"/>
              <a:ext cx="671900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altLang="zh-CN" sz="1575" b="1" dirty="0">
                  <a:solidFill>
                    <a:srgbClr val="FF0000"/>
                  </a:solidFill>
                  <a:latin typeface="Arial"/>
                  <a:ea typeface="Microsoft YaHei"/>
                  <a:cs typeface="Arial"/>
                </a:rPr>
                <a:t>ADC</a:t>
              </a:r>
              <a:endParaRPr lang="zh-CN" sz="1575" b="1" dirty="0">
                <a:solidFill>
                  <a:srgbClr val="FF000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9779" y="5055184"/>
              <a:ext cx="1597517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同步采样并进入 FOC 电流环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457200" y="3506027"/>
            <a:ext cx="5500838" cy="3105150"/>
          </a:xfrm>
          <a:prstGeom prst="rect">
            <a:avLst/>
          </a:prstGeom>
          <a:solidFill>
            <a:srgbClr val="FFF2F2"/>
          </a:solidFill>
          <a:ln w="19050">
            <a:solidFill>
              <a:srgbClr val="C00000"/>
            </a:solidFill>
            <a:custDash>
              <a:ds d="500000" sp="400000"/>
            </a:custDash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E387CF9-84A0-285A-F6C6-6606AD40F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70847"/>
            <a:ext cx="3750780" cy="2982703"/>
          </a:xfrm>
          <a:prstGeom prst="rect">
            <a:avLst/>
          </a:prstGeom>
        </p:spPr>
      </p:pic>
      <p:sp>
        <p:nvSpPr>
          <p:cNvPr id="49" name="椭圆 48">
            <a:extLst>
              <a:ext uri="{FF2B5EF4-FFF2-40B4-BE49-F238E27FC236}">
                <a16:creationId xmlns:a16="http://schemas.microsoft.com/office/drawing/2014/main" id="{40DCCA3C-1F9F-CF4E-66DF-D2A6F371C057}"/>
              </a:ext>
            </a:extLst>
          </p:cNvPr>
          <p:cNvSpPr/>
          <p:nvPr/>
        </p:nvSpPr>
        <p:spPr>
          <a:xfrm>
            <a:off x="2694057" y="5058602"/>
            <a:ext cx="593585" cy="5715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F6A9FE1-220B-2BCE-5454-38225CFD8746}"/>
              </a:ext>
            </a:extLst>
          </p:cNvPr>
          <p:cNvSpPr/>
          <p:nvPr/>
        </p:nvSpPr>
        <p:spPr>
          <a:xfrm>
            <a:off x="1873024" y="3669703"/>
            <a:ext cx="773144" cy="744379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5074124-B720-F840-15A5-1EAFD91C19EB}"/>
              </a:ext>
            </a:extLst>
          </p:cNvPr>
          <p:cNvSpPr txBox="1"/>
          <p:nvPr/>
        </p:nvSpPr>
        <p:spPr>
          <a:xfrm>
            <a:off x="4284180" y="3654140"/>
            <a:ext cx="1673858" cy="2943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电流采样 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VS 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与 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GND 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之间放置 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0.1 </a:t>
            </a:r>
            <a:r>
              <a:rPr lang="en-US" altLang="zh-CN" sz="1425" dirty="0" err="1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μF</a:t>
            </a:r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 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去耦电容，尽量贴近芯片电源引脚，回流路径短且直接接入参考地平面，滤除电源噪声。</a:t>
            </a:r>
            <a:endParaRPr lang="en-US" altLang="zh-CN" sz="1425" dirty="0">
              <a:solidFill>
                <a:srgbClr val="1A1C1F"/>
              </a:solidFill>
              <a:latin typeface="Arial"/>
              <a:ea typeface="Microsoft YaHei"/>
              <a:cs typeface="Arial"/>
            </a:endParaRPr>
          </a:p>
          <a:p>
            <a:endParaRPr lang="en-US" altLang="zh-CN" sz="1425" dirty="0">
              <a:solidFill>
                <a:srgbClr val="1A1C1F"/>
              </a:solidFill>
              <a:latin typeface="Arial"/>
              <a:ea typeface="Microsoft YaHei"/>
              <a:cs typeface="Arial"/>
            </a:endParaRPr>
          </a:p>
          <a:p>
            <a:endParaRPr lang="en-US" altLang="zh-CN" sz="1425" dirty="0">
              <a:solidFill>
                <a:srgbClr val="1A1C1F"/>
              </a:solidFill>
              <a:latin typeface="Arial"/>
              <a:ea typeface="Microsoft YaHei"/>
              <a:cs typeface="Arial"/>
            </a:endParaRPr>
          </a:p>
          <a:p>
            <a:r>
              <a:rPr lang="en-US" altLang="zh-CN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Kelvin</a:t>
            </a:r>
            <a:r>
              <a:rPr lang="zh-CN" altLang="en-US" sz="1425" dirty="0">
                <a:solidFill>
                  <a:srgbClr val="1A1C1F"/>
                </a:solidFill>
                <a:latin typeface="Arial"/>
                <a:ea typeface="Microsoft YaHei"/>
                <a:cs typeface="Arial"/>
              </a:rPr>
              <a:t>采样连接，避免功率铜皮和焊盘压降进入采样结果。</a:t>
            </a:r>
            <a:endParaRPr lang="zh-CN" alt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F3AE8BC-0142-B5B4-0AA5-848DCC077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69" y="1252433"/>
            <a:ext cx="5437569" cy="2124631"/>
          </a:xfrm>
          <a:prstGeom prst="rect">
            <a:avLst/>
          </a:prstGeom>
        </p:spPr>
      </p:pic>
      <p:sp>
        <p:nvSpPr>
          <p:cNvPr id="4102" name="矩形 26">
            <a:extLst>
              <a:ext uri="{FF2B5EF4-FFF2-40B4-BE49-F238E27FC236}">
                <a16:creationId xmlns:a16="http://schemas.microsoft.com/office/drawing/2014/main" id="{DC0C20DE-FB24-4741-8FD5-85C86DFFC8A7}"/>
              </a:ext>
            </a:extLst>
          </p:cNvPr>
          <p:cNvSpPr/>
          <p:nvPr/>
        </p:nvSpPr>
        <p:spPr>
          <a:xfrm>
            <a:off x="346509" y="1287150"/>
            <a:ext cx="5749491" cy="5447025"/>
          </a:xfrm>
          <a:prstGeom prst="rect">
            <a:avLst/>
          </a:prstGeom>
          <a:noFill/>
          <a:ln w="635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方正黑体简体" panose="02000000000000000000"/>
              <a:cs typeface="Times New Roman" panose="02020603050405020304" pitchFamily="18" charset="0"/>
            </a:endParaRPr>
          </a:p>
        </p:txBody>
      </p:sp>
      <p:sp>
        <p:nvSpPr>
          <p:cNvPr id="4103" name="文本框 85">
            <a:extLst>
              <a:ext uri="{FF2B5EF4-FFF2-40B4-BE49-F238E27FC236}">
                <a16:creationId xmlns:a16="http://schemas.microsoft.com/office/drawing/2014/main" id="{D77651F8-4262-7E20-06DE-B3B77F6AC0B2}"/>
              </a:ext>
            </a:extLst>
          </p:cNvPr>
          <p:cNvSpPr txBox="1"/>
          <p:nvPr/>
        </p:nvSpPr>
        <p:spPr>
          <a:xfrm>
            <a:off x="346508" y="938804"/>
            <a:ext cx="5749491" cy="380304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ea typeface="方正黑体简体" panose="02000000000000000000"/>
                <a:cs typeface="Times New Roman" panose="02020603050405020304" pitchFamily="18" charset="0"/>
              </a:rPr>
              <a:t>开尔文连接</a:t>
            </a:r>
          </a:p>
        </p:txBody>
      </p:sp>
      <p:cxnSp>
        <p:nvCxnSpPr>
          <p:cNvPr id="4111" name="直接箭头连接符 4110">
            <a:extLst>
              <a:ext uri="{FF2B5EF4-FFF2-40B4-BE49-F238E27FC236}">
                <a16:creationId xmlns:a16="http://schemas.microsoft.com/office/drawing/2014/main" id="{1502255E-2ED7-BB6D-EC07-82C8F0065FBD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7289135" y="2309386"/>
            <a:ext cx="6386" cy="3293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直接箭头连接符 4113">
            <a:extLst>
              <a:ext uri="{FF2B5EF4-FFF2-40B4-BE49-F238E27FC236}">
                <a16:creationId xmlns:a16="http://schemas.microsoft.com/office/drawing/2014/main" id="{F2962A55-D2AC-DEAB-1B26-550D2FDA60D7}"/>
              </a:ext>
            </a:extLst>
          </p:cNvPr>
          <p:cNvCxnSpPr>
            <a:cxnSpLocks/>
          </p:cNvCxnSpPr>
          <p:nvPr/>
        </p:nvCxnSpPr>
        <p:spPr>
          <a:xfrm>
            <a:off x="7275345" y="3532041"/>
            <a:ext cx="6386" cy="3293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5" name="直接箭头连接符 4114">
            <a:extLst>
              <a:ext uri="{FF2B5EF4-FFF2-40B4-BE49-F238E27FC236}">
                <a16:creationId xmlns:a16="http://schemas.microsoft.com/office/drawing/2014/main" id="{0B183035-3F4F-2C3B-39BF-79C04905AE17}"/>
              </a:ext>
            </a:extLst>
          </p:cNvPr>
          <p:cNvCxnSpPr>
            <a:cxnSpLocks/>
          </p:cNvCxnSpPr>
          <p:nvPr/>
        </p:nvCxnSpPr>
        <p:spPr>
          <a:xfrm>
            <a:off x="7289134" y="4736478"/>
            <a:ext cx="6386" cy="32932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6" name="Rectangle 9">
            <a:extLst>
              <a:ext uri="{FF2B5EF4-FFF2-40B4-BE49-F238E27FC236}">
                <a16:creationId xmlns:a16="http://schemas.microsoft.com/office/drawing/2014/main" id="{E5BC9227-3BFE-D1E4-C874-AAE05D8E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1422" y="2127044"/>
            <a:ext cx="32340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三相分流电阻、运放与RC滤波器布局保持一致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Kelvin采样线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成对、短距离布线，避免流过功率电流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采样线远离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SHx、SW、栅极驱动及电机相线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RC滤波器靠近ADC引脚，滤波电容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就近返回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模拟地 </a:t>
            </a:r>
          </a:p>
        </p:txBody>
      </p:sp>
      <p:sp>
        <p:nvSpPr>
          <p:cNvPr id="4117" name="矩形: 圆角 4116">
            <a:extLst>
              <a:ext uri="{FF2B5EF4-FFF2-40B4-BE49-F238E27FC236}">
                <a16:creationId xmlns:a16="http://schemas.microsoft.com/office/drawing/2014/main" id="{A5695BAB-CAD2-EBEE-D27B-0C58C796F602}"/>
              </a:ext>
            </a:extLst>
          </p:cNvPr>
          <p:cNvSpPr/>
          <p:nvPr/>
        </p:nvSpPr>
        <p:spPr>
          <a:xfrm>
            <a:off x="8547160" y="1887428"/>
            <a:ext cx="3396684" cy="3544558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2EA5AD-A0D4-21C3-82A5-1989D3C37317}"/>
              </a:ext>
            </a:extLst>
          </p:cNvPr>
          <p:cNvSpPr/>
          <p:nvPr/>
        </p:nvSpPr>
        <p:spPr>
          <a:xfrm>
            <a:off x="4046119" y="3037382"/>
            <a:ext cx="1911919" cy="346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0FDD-4329-395D-06AF-16CF690F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9B537DB-0572-78B4-583D-9CB55195BD37}"/>
              </a:ext>
            </a:extLst>
          </p:cNvPr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52F9FC8-85AC-6BBB-C85F-FC9CEE2FF871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27233A-8667-F929-92F9-DE287746CBD5}"/>
                </a:ext>
              </a:extLst>
            </p:cNvPr>
            <p:cNvSpPr txBox="1"/>
            <p:nvPr/>
          </p:nvSpPr>
          <p:spPr>
            <a:xfrm>
              <a:off x="613410" y="375285"/>
              <a:ext cx="5790047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en-US" alt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DCDC </a:t>
              </a:r>
              <a:r>
                <a:rPr lang="zh-CN" altLang="en-US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电源器件布局</a:t>
              </a:r>
            </a:p>
          </p:txBody>
        </p:sp>
      </p:grpSp>
      <p:sp>
        <p:nvSpPr>
          <p:cNvPr id="8" name="Rectangle 40">
            <a:extLst>
              <a:ext uri="{FF2B5EF4-FFF2-40B4-BE49-F238E27FC236}">
                <a16:creationId xmlns:a16="http://schemas.microsoft.com/office/drawing/2014/main" id="{7274410F-ADA6-614E-1B81-743F0329E1F3}"/>
              </a:ext>
            </a:extLst>
          </p:cNvPr>
          <p:cNvSpPr/>
          <p:nvPr/>
        </p:nvSpPr>
        <p:spPr>
          <a:xfrm>
            <a:off x="6217921" y="1351961"/>
            <a:ext cx="5515104" cy="2440393"/>
          </a:xfrm>
          <a:prstGeom prst="rect">
            <a:avLst/>
          </a:prstGeom>
          <a:solidFill>
            <a:srgbClr val="FFFFFF"/>
          </a:solidFill>
          <a:ln w="9525">
            <a:solidFill>
              <a:srgbClr val="AFC7DD"/>
            </a:solidFill>
          </a:ln>
        </p:spPr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4A8C4805-265A-207A-C886-44C0B12EA01C}"/>
              </a:ext>
            </a:extLst>
          </p:cNvPr>
          <p:cNvSpPr/>
          <p:nvPr/>
        </p:nvSpPr>
        <p:spPr>
          <a:xfrm>
            <a:off x="6217921" y="1011047"/>
            <a:ext cx="5516879" cy="3389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MP4583</a:t>
            </a:r>
            <a:r>
              <a:rPr lang="zh-CN" altLang="en-US" b="1" dirty="0">
                <a:solidFill>
                  <a:schemeClr val="bg1"/>
                </a:solidFill>
              </a:rPr>
              <a:t>｜高压同步 </a:t>
            </a:r>
            <a:r>
              <a:rPr lang="en-US" altLang="zh-CN" b="1" dirty="0">
                <a:solidFill>
                  <a:schemeClr val="bg1"/>
                </a:solidFill>
              </a:rPr>
              <a:t>Buck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2" name="Rectangle 40">
            <a:extLst>
              <a:ext uri="{FF2B5EF4-FFF2-40B4-BE49-F238E27FC236}">
                <a16:creationId xmlns:a16="http://schemas.microsoft.com/office/drawing/2014/main" id="{9236928B-2805-A0DC-B8C2-474A0384EBB7}"/>
              </a:ext>
            </a:extLst>
          </p:cNvPr>
          <p:cNvSpPr/>
          <p:nvPr/>
        </p:nvSpPr>
        <p:spPr>
          <a:xfrm>
            <a:off x="6217921" y="4313646"/>
            <a:ext cx="5516879" cy="18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AFC7DD"/>
            </a:solidFill>
          </a:ln>
        </p:spPr>
      </p:sp>
      <p:sp>
        <p:nvSpPr>
          <p:cNvPr id="23" name="Rectangle 41">
            <a:extLst>
              <a:ext uri="{FF2B5EF4-FFF2-40B4-BE49-F238E27FC236}">
                <a16:creationId xmlns:a16="http://schemas.microsoft.com/office/drawing/2014/main" id="{94A52CE3-157C-2FAC-1513-C70E6AA522BF}"/>
              </a:ext>
            </a:extLst>
          </p:cNvPr>
          <p:cNvSpPr/>
          <p:nvPr/>
        </p:nvSpPr>
        <p:spPr>
          <a:xfrm>
            <a:off x="6217921" y="3970746"/>
            <a:ext cx="5516879" cy="3389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MP20051</a:t>
            </a:r>
            <a:r>
              <a:rPr lang="zh-CN" altLang="en-US" b="1" dirty="0">
                <a:solidFill>
                  <a:schemeClr val="bg1"/>
                </a:solidFill>
              </a:rPr>
              <a:t>｜低噪声</a:t>
            </a:r>
            <a:r>
              <a:rPr lang="en-US" altLang="zh-CN" b="1" dirty="0">
                <a:solidFill>
                  <a:schemeClr val="bg1"/>
                </a:solidFill>
              </a:rPr>
              <a:t>LDO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4" name="Rectangle 40">
            <a:extLst>
              <a:ext uri="{FF2B5EF4-FFF2-40B4-BE49-F238E27FC236}">
                <a16:creationId xmlns:a16="http://schemas.microsoft.com/office/drawing/2014/main" id="{FCE7BECB-54AA-E197-6336-3FDDEA165A41}"/>
              </a:ext>
            </a:extLst>
          </p:cNvPr>
          <p:cNvSpPr/>
          <p:nvPr/>
        </p:nvSpPr>
        <p:spPr>
          <a:xfrm>
            <a:off x="457200" y="1338092"/>
            <a:ext cx="5404586" cy="4872208"/>
          </a:xfrm>
          <a:prstGeom prst="rect">
            <a:avLst/>
          </a:prstGeom>
          <a:solidFill>
            <a:srgbClr val="FFFFFF"/>
          </a:solidFill>
          <a:ln w="9525">
            <a:solidFill>
              <a:srgbClr val="AFC7DD"/>
            </a:solidFill>
          </a:ln>
        </p:spPr>
      </p:sp>
      <p:sp>
        <p:nvSpPr>
          <p:cNvPr id="25" name="Rectangle 41">
            <a:extLst>
              <a:ext uri="{FF2B5EF4-FFF2-40B4-BE49-F238E27FC236}">
                <a16:creationId xmlns:a16="http://schemas.microsoft.com/office/drawing/2014/main" id="{9A235E3D-F4AC-4705-1B02-646B4CEA51EE}"/>
              </a:ext>
            </a:extLst>
          </p:cNvPr>
          <p:cNvSpPr/>
          <p:nvPr/>
        </p:nvSpPr>
        <p:spPr>
          <a:xfrm>
            <a:off x="457199" y="1009061"/>
            <a:ext cx="5404587" cy="34091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MPM3632S</a:t>
            </a:r>
            <a:r>
              <a:rPr lang="zh-CN" altLang="en-US" b="1" dirty="0">
                <a:solidFill>
                  <a:schemeClr val="bg1"/>
                </a:solidFill>
              </a:rPr>
              <a:t>｜集成电源模块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F9D0F22-46EA-F791-708A-EFD621F82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457" y="1521426"/>
            <a:ext cx="2832175" cy="212804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523207D-6A0A-F23C-4479-C99465E12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1" y="1339246"/>
            <a:ext cx="3212537" cy="418066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7006A87-47D7-30E3-1571-FCB17C53FF7B}"/>
              </a:ext>
            </a:extLst>
          </p:cNvPr>
          <p:cNvSpPr txBox="1"/>
          <p:nvPr/>
        </p:nvSpPr>
        <p:spPr>
          <a:xfrm>
            <a:off x="613410" y="5506039"/>
            <a:ext cx="5248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模块虽集成功率器件与电感，外围回流、反馈和散热仍然重要</a:t>
            </a: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49A67183-F03C-19EC-93D6-F9D3FF04D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908" y="2625976"/>
            <a:ext cx="30077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输入电容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靠近VIN/PGND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，输入地回路短而宽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FB与OUT_S连接短而直接，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反馈电阻紧靠芯片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FB等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模拟信号远离SW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及功率电流路径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芯片周围布置GND铜皮和散热过孔，降低温升 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097A1BF-AF44-EA72-72A7-292EC19E7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763" y="4488068"/>
            <a:ext cx="2529491" cy="1568326"/>
          </a:xfrm>
          <a:prstGeom prst="rect">
            <a:avLst/>
          </a:prstGeom>
        </p:spPr>
      </p:pic>
      <p:sp>
        <p:nvSpPr>
          <p:cNvPr id="34" name="Rectangle 4">
            <a:extLst>
              <a:ext uri="{FF2B5EF4-FFF2-40B4-BE49-F238E27FC236}">
                <a16:creationId xmlns:a16="http://schemas.microsoft.com/office/drawing/2014/main" id="{8D8292B2-4FDA-9D2F-E47D-EFCC6EE97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8641" y="1528369"/>
            <a:ext cx="257536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CIN 靠近 VIN/PGND，缩短热环路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功率走线短、宽、直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 铜皮小且远离小信号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FB 靠近芯片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，PGND 多打过孔 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0844E802-37F2-3568-536E-7EA3862CC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254" y="4523309"/>
            <a:ext cx="30077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输入电容紧靠 VIN/GND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输出电容紧靠 OUT/GND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FB 分压靠近引脚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裸焊盘接大面积 GND 并加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散热过孔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，EN勿悬空 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88D2C06-A8D4-756D-09BA-BA917992B62E}"/>
              </a:ext>
            </a:extLst>
          </p:cNvPr>
          <p:cNvSpPr txBox="1"/>
          <p:nvPr/>
        </p:nvSpPr>
        <p:spPr>
          <a:xfrm>
            <a:off x="459631" y="629804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更多专业内容可详见：</a:t>
            </a:r>
            <a:r>
              <a:rPr lang="en-US" altLang="zh-CN" dirty="0">
                <a:hlinkClick r:id="rId6"/>
              </a:rPr>
              <a:t>MPS</a:t>
            </a:r>
            <a:r>
              <a:rPr lang="zh-CN" altLang="en-US" dirty="0">
                <a:hlinkClick r:id="rId6"/>
              </a:rPr>
              <a:t>电源小课堂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012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7A3226B-CD10-6DF3-9047-65FDFB425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135" y="1000211"/>
            <a:ext cx="5370757" cy="47329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18E4D0D-CCC5-F1E7-E30D-51CB5FADB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60" y="1124973"/>
            <a:ext cx="2376067" cy="24294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4D7AF7F-2FCC-E072-5B52-E717A9458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60" y="3684758"/>
            <a:ext cx="2376067" cy="2648103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C1B07104-FBBC-A1E5-D157-4AA4AEA3EB5D}"/>
              </a:ext>
            </a:extLst>
          </p:cNvPr>
          <p:cNvGrpSpPr/>
          <p:nvPr/>
        </p:nvGrpSpPr>
        <p:grpSpPr>
          <a:xfrm>
            <a:off x="2527156" y="1254526"/>
            <a:ext cx="3754979" cy="2029304"/>
            <a:chOff x="6750524" y="1516380"/>
            <a:chExt cx="3754979" cy="2029304"/>
          </a:xfrm>
        </p:grpSpPr>
        <p:sp>
          <p:nvSpPr>
            <p:cNvPr id="30" name="TextBox 27">
              <a:extLst>
                <a:ext uri="{FF2B5EF4-FFF2-40B4-BE49-F238E27FC236}">
                  <a16:creationId xmlns:a16="http://schemas.microsoft.com/office/drawing/2014/main" id="{7F988354-31CA-040A-7340-A6DA735A98B8}"/>
                </a:ext>
              </a:extLst>
            </p:cNvPr>
            <p:cNvSpPr txBox="1"/>
            <p:nvPr/>
          </p:nvSpPr>
          <p:spPr>
            <a:xfrm>
              <a:off x="6750524" y="21050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控制侧</a:t>
              </a:r>
            </a:p>
          </p:txBody>
        </p:sp>
        <p:sp>
          <p:nvSpPr>
            <p:cNvPr id="37" name="TextBox 28">
              <a:extLst>
                <a:ext uri="{FF2B5EF4-FFF2-40B4-BE49-F238E27FC236}">
                  <a16:creationId xmlns:a16="http://schemas.microsoft.com/office/drawing/2014/main" id="{BAAF6E1F-71EA-096D-EFF7-8B0CF17307AA}"/>
                </a:ext>
              </a:extLst>
            </p:cNvPr>
            <p:cNvSpPr txBox="1"/>
            <p:nvPr/>
          </p:nvSpPr>
          <p:spPr>
            <a:xfrm>
              <a:off x="9837324" y="21050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总线侧</a:t>
              </a: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815229A3-A1C8-604A-7864-3018F6E70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8375"/>
            <a:stretch/>
          </p:blipFill>
          <p:spPr>
            <a:xfrm rot="5400000">
              <a:off x="7707296" y="1441611"/>
              <a:ext cx="1888332" cy="2319814"/>
            </a:xfrm>
            <a:prstGeom prst="rect">
              <a:avLst/>
            </a:prstGeom>
          </p:spPr>
        </p:pic>
        <p:sp>
          <p:nvSpPr>
            <p:cNvPr id="39" name="Line 25">
              <a:extLst>
                <a:ext uri="{FF2B5EF4-FFF2-40B4-BE49-F238E27FC236}">
                  <a16:creationId xmlns:a16="http://schemas.microsoft.com/office/drawing/2014/main" id="{9ACCD04D-3CBB-2543-0B0D-05A587854923}"/>
                </a:ext>
              </a:extLst>
            </p:cNvPr>
            <p:cNvSpPr/>
            <p:nvPr/>
          </p:nvSpPr>
          <p:spPr>
            <a:xfrm>
              <a:off x="8419070" y="1516380"/>
              <a:ext cx="57843" cy="2029301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custDash>
                <a:ds d="333333" sp="266666"/>
              </a:custDash>
            </a:ln>
          </p:spPr>
        </p:sp>
      </p:grpSp>
      <p:grpSp>
        <p:nvGrpSpPr>
          <p:cNvPr id="41" name="Group 5">
            <a:extLst>
              <a:ext uri="{FF2B5EF4-FFF2-40B4-BE49-F238E27FC236}">
                <a16:creationId xmlns:a16="http://schemas.microsoft.com/office/drawing/2014/main" id="{9FD0763E-47AD-3C6A-CE7E-22563C153265}"/>
              </a:ext>
            </a:extLst>
          </p:cNvPr>
          <p:cNvGrpSpPr/>
          <p:nvPr/>
        </p:nvGrpSpPr>
        <p:grpSpPr>
          <a:xfrm>
            <a:off x="457200" y="266700"/>
            <a:ext cx="11277600" cy="917106"/>
            <a:chOff x="457200" y="266700"/>
            <a:chExt cx="11277600" cy="917106"/>
          </a:xfrm>
        </p:grpSpPr>
        <p:sp>
          <p:nvSpPr>
            <p:cNvPr id="45" name="Rectangle 3">
              <a:extLst>
                <a:ext uri="{FF2B5EF4-FFF2-40B4-BE49-F238E27FC236}">
                  <a16:creationId xmlns:a16="http://schemas.microsoft.com/office/drawing/2014/main" id="{9D8AA36F-83C2-5CD0-6FAF-A6C48553CE9A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5D186F7D-5387-30A2-3EC6-FCFB343F2525}"/>
                </a:ext>
              </a:extLst>
            </p:cNvPr>
            <p:cNvSpPr txBox="1"/>
            <p:nvPr/>
          </p:nvSpPr>
          <p:spPr>
            <a:xfrm>
              <a:off x="524933" y="337420"/>
              <a:ext cx="7240765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zh-CN" altLang="zh-CN" sz="2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MIE1W0505 + </a:t>
              </a:r>
              <a:r>
                <a:rPr lang="en-US" altLang="zh-CN" sz="2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CAN </a:t>
              </a:r>
              <a:r>
                <a:rPr lang="zh-CN" altLang="zh-CN" sz="2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隔离通信</a:t>
              </a:r>
            </a:p>
            <a:p>
              <a:pPr algn="l"/>
              <a:endParaRPr lang="zh-CN" sz="2700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52" name="Line 25">
            <a:extLst>
              <a:ext uri="{FF2B5EF4-FFF2-40B4-BE49-F238E27FC236}">
                <a16:creationId xmlns:a16="http://schemas.microsoft.com/office/drawing/2014/main" id="{94BB43FC-B901-5884-296A-CDA5D82EF092}"/>
              </a:ext>
            </a:extLst>
          </p:cNvPr>
          <p:cNvSpPr/>
          <p:nvPr/>
        </p:nvSpPr>
        <p:spPr>
          <a:xfrm>
            <a:off x="9350096" y="1076241"/>
            <a:ext cx="102745" cy="4689471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28575">
            <a:solidFill>
              <a:srgbClr val="FF0000"/>
            </a:solidFill>
            <a:custDash>
              <a:ds d="333333" sp="266666"/>
            </a:custDash>
          </a:ln>
        </p:spPr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A4744B9-F0C5-AEB4-32E9-458E61C2D719}"/>
              </a:ext>
            </a:extLst>
          </p:cNvPr>
          <p:cNvSpPr txBox="1"/>
          <p:nvPr/>
        </p:nvSpPr>
        <p:spPr>
          <a:xfrm>
            <a:off x="7068563" y="5809221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隔离边界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禁止铜皮、走线和过孔跨越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E1516F7-EC98-8E9F-950F-7E7AE79E372B}"/>
              </a:ext>
            </a:extLst>
          </p:cNvPr>
          <p:cNvSpPr txBox="1"/>
          <p:nvPr/>
        </p:nvSpPr>
        <p:spPr>
          <a:xfrm>
            <a:off x="12192000" y="1686484"/>
            <a:ext cx="1440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VIN / GND1</a:t>
            </a:r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DA304A4-6035-E311-4084-3145366C8CAF}"/>
              </a:ext>
            </a:extLst>
          </p:cNvPr>
          <p:cNvSpPr txBox="1"/>
          <p:nvPr/>
        </p:nvSpPr>
        <p:spPr>
          <a:xfrm>
            <a:off x="5083431" y="3126055"/>
            <a:ext cx="1548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r>
              <a:rPr lang="en-US" altLang="zh-CN" b="1" dirty="0">
                <a:solidFill>
                  <a:srgbClr val="FF0000"/>
                </a:solidFill>
              </a:rPr>
              <a:t>VIN-Cin-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GND1</a:t>
            </a:r>
            <a:r>
              <a:rPr lang="zh-CN" altLang="en-US" b="1" dirty="0">
                <a:solidFill>
                  <a:srgbClr val="FF0000"/>
                </a:solidFill>
              </a:rPr>
              <a:t>环路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679E856-2982-6E61-E5A6-5A74DB62073C}"/>
              </a:ext>
            </a:extLst>
          </p:cNvPr>
          <p:cNvSpPr txBox="1"/>
          <p:nvPr/>
        </p:nvSpPr>
        <p:spPr>
          <a:xfrm>
            <a:off x="10302911" y="1409485"/>
            <a:ext cx="1889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r>
              <a:rPr lang="en-US" altLang="zh-CN" b="1" dirty="0">
                <a:solidFill>
                  <a:srgbClr val="FF0000"/>
                </a:solidFill>
              </a:rPr>
              <a:t>VOUT-Cout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-GND2</a:t>
            </a:r>
            <a:r>
              <a:rPr lang="zh-CN" altLang="en-US" b="1" dirty="0">
                <a:solidFill>
                  <a:srgbClr val="FF0000"/>
                </a:solidFill>
              </a:rPr>
              <a:t>环路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4748109-53F2-DB65-608C-E63E422BDC6F}"/>
              </a:ext>
            </a:extLst>
          </p:cNvPr>
          <p:cNvSpPr txBox="1"/>
          <p:nvPr/>
        </p:nvSpPr>
        <p:spPr>
          <a:xfrm>
            <a:off x="9487186" y="4783722"/>
            <a:ext cx="2186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预留低</a:t>
            </a:r>
            <a:r>
              <a:rPr lang="en-US" altLang="zh-CN" b="1" dirty="0">
                <a:solidFill>
                  <a:srgbClr val="FF0000"/>
                </a:solidFill>
              </a:rPr>
              <a:t>ESL Y-Cap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75DDB1F6-E1B4-9DED-B854-679B9A611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2553" y="3772386"/>
            <a:ext cx="35038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推荐四层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PCB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，原边与副边铜皮严格分离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、输出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 µF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紧靠器件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最小化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VIN-Cin-GND1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及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VOUT-Cout-GND2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环路</a:t>
            </a:r>
            <a:endParaRPr lang="en-US" altLang="zh-CN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GND1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增加散热铜皮和过孔，副边顶层铜皮不宜过大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隔离边界禁止跨越，并预留低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ESL Y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电容焊盘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E9582C2-6DA3-EFE6-4FE2-8BB98D3D6E27}"/>
              </a:ext>
            </a:extLst>
          </p:cNvPr>
          <p:cNvCxnSpPr>
            <a:cxnSpLocks/>
          </p:cNvCxnSpPr>
          <p:nvPr/>
        </p:nvCxnSpPr>
        <p:spPr>
          <a:xfrm flipV="1">
            <a:off x="6580150" y="2914363"/>
            <a:ext cx="992038" cy="6181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5D92145-FAD8-A1A1-664C-278F12C60202}"/>
              </a:ext>
            </a:extLst>
          </p:cNvPr>
          <p:cNvCxnSpPr>
            <a:cxnSpLocks/>
          </p:cNvCxnSpPr>
          <p:nvPr/>
        </p:nvCxnSpPr>
        <p:spPr>
          <a:xfrm flipH="1">
            <a:off x="10905423" y="2099325"/>
            <a:ext cx="325326" cy="8150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6318FB6-1963-29C1-A80A-ADA4CBAD0057}"/>
              </a:ext>
            </a:extLst>
          </p:cNvPr>
          <p:cNvCxnSpPr>
            <a:cxnSpLocks/>
          </p:cNvCxnSpPr>
          <p:nvPr/>
        </p:nvCxnSpPr>
        <p:spPr>
          <a:xfrm flipH="1" flipV="1">
            <a:off x="9470158" y="4347506"/>
            <a:ext cx="829929" cy="43604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77FB-9E9C-A289-9E2D-57AD20117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435745A-813B-8A3F-B875-9B7217502AAB}"/>
              </a:ext>
            </a:extLst>
          </p:cNvPr>
          <p:cNvGrpSpPr/>
          <p:nvPr/>
        </p:nvGrpSpPr>
        <p:grpSpPr>
          <a:xfrm>
            <a:off x="457200" y="266700"/>
            <a:ext cx="11277600" cy="590550"/>
            <a:chOff x="457200" y="266700"/>
            <a:chExt cx="11277600" cy="59055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C9AF106-32B9-8E08-6F3C-5E4CEC08EF1F}"/>
                </a:ext>
              </a:extLst>
            </p:cNvPr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1EB759-C75C-11E9-1102-B88597DF044D}"/>
                </a:ext>
              </a:extLst>
            </p:cNvPr>
            <p:cNvSpPr txBox="1"/>
            <p:nvPr/>
          </p:nvSpPr>
          <p:spPr>
            <a:xfrm>
              <a:off x="613410" y="375285"/>
              <a:ext cx="4905189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</a:t>
              </a:r>
              <a:r>
                <a:rPr lang="en-US" alt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MA600A</a:t>
              </a:r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编码器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4451FDB-B154-1BF9-37EA-D139C2DF570F}"/>
              </a:ext>
            </a:extLst>
          </p:cNvPr>
          <p:cNvSpPr txBox="1"/>
          <p:nvPr/>
        </p:nvSpPr>
        <p:spPr>
          <a:xfrm>
            <a:off x="2090287" y="1144429"/>
            <a:ext cx="220117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MA600A 磁编码器布局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1D7641D-E96F-BD52-5BEF-E9824DCA3102}"/>
              </a:ext>
            </a:extLst>
          </p:cNvPr>
          <p:cNvGrpSpPr/>
          <p:nvPr/>
        </p:nvGrpSpPr>
        <p:grpSpPr>
          <a:xfrm>
            <a:off x="928207" y="1779445"/>
            <a:ext cx="2556565" cy="2331720"/>
            <a:chOff x="976602" y="2424648"/>
            <a:chExt cx="2556565" cy="2331720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1EF6821E-BE93-FEF3-4985-CA5BC8523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6602" y="2424648"/>
              <a:ext cx="2556565" cy="2331720"/>
            </a:xfrm>
            <a:prstGeom prst="rect">
              <a:avLst/>
            </a:prstGeom>
          </p:spPr>
        </p:pic>
        <p:sp>
          <p:nvSpPr>
            <p:cNvPr id="10" name="Ellipse 10">
              <a:extLst>
                <a:ext uri="{FF2B5EF4-FFF2-40B4-BE49-F238E27FC236}">
                  <a16:creationId xmlns:a16="http://schemas.microsoft.com/office/drawing/2014/main" id="{A5D165F2-52EE-F5DF-FAAF-72A6903EC1E7}"/>
                </a:ext>
              </a:extLst>
            </p:cNvPr>
            <p:cNvSpPr/>
            <p:nvPr/>
          </p:nvSpPr>
          <p:spPr>
            <a:xfrm>
              <a:off x="1690237" y="3028950"/>
              <a:ext cx="990600" cy="9906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custDash>
                <a:ds d="400000" sp="300000"/>
              </a:custDash>
            </a:ln>
          </p:spPr>
        </p:sp>
        <p:sp>
          <p:nvSpPr>
            <p:cNvPr id="11" name="Ellipse 11">
              <a:extLst>
                <a:ext uri="{FF2B5EF4-FFF2-40B4-BE49-F238E27FC236}">
                  <a16:creationId xmlns:a16="http://schemas.microsoft.com/office/drawing/2014/main" id="{A8FDA060-DB96-50EC-917C-F03705171E3D}"/>
                </a:ext>
              </a:extLst>
            </p:cNvPr>
            <p:cNvSpPr/>
            <p:nvPr/>
          </p:nvSpPr>
          <p:spPr>
            <a:xfrm>
              <a:off x="2090287" y="3429000"/>
              <a:ext cx="190500" cy="1905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432E7898-EEBD-A455-37DD-EAD0162025A7}"/>
              </a:ext>
            </a:extLst>
          </p:cNvPr>
          <p:cNvSpPr txBox="1"/>
          <p:nvPr/>
        </p:nvSpPr>
        <p:spPr>
          <a:xfrm>
            <a:off x="168594" y="4341774"/>
            <a:ext cx="44675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传感器中心与磁体、电机轴线准确对齐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电容及磁敏感器件、</a:t>
            </a:r>
            <a:r>
              <a:rPr lang="zh-CN" altLang="en-US" b="1" dirty="0">
                <a:solidFill>
                  <a:srgbClr val="FF0000"/>
                </a:solidFill>
              </a:rPr>
              <a:t>大功率回路</a:t>
            </a:r>
            <a:r>
              <a:rPr lang="zh-CN" altLang="en-US" dirty="0"/>
              <a:t>距芯片中心至少5 mm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功率走线、开关节点和</a:t>
            </a:r>
            <a:r>
              <a:rPr lang="zh-CN" altLang="en-US" b="1" dirty="0">
                <a:solidFill>
                  <a:srgbClr val="FF0000"/>
                </a:solidFill>
              </a:rPr>
              <a:t>大电流回流</a:t>
            </a:r>
            <a:r>
              <a:rPr lang="zh-CN" altLang="en-US" dirty="0"/>
              <a:t>远离传感器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E-PAD保持悬空，降低PCB机械应力影响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863E87E-1F91-9088-E9DB-1C1E7D7CD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716" y="1452205"/>
            <a:ext cx="2638670" cy="333370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2DAEBFA-401C-B625-E909-21A05EBF6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1782" y="1464469"/>
            <a:ext cx="3889521" cy="1928339"/>
          </a:xfrm>
          <a:prstGeom prst="rect">
            <a:avLst/>
          </a:prstGeom>
        </p:spPr>
      </p:pic>
      <p:sp>
        <p:nvSpPr>
          <p:cNvPr id="41" name="Rectangle 6">
            <a:extLst>
              <a:ext uri="{FF2B5EF4-FFF2-40B4-BE49-F238E27FC236}">
                <a16:creationId xmlns:a16="http://schemas.microsoft.com/office/drawing/2014/main" id="{C8077862-47A5-AFAD-740A-782712ABE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4229" y="3631747"/>
            <a:ext cx="40470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AVDD配置1 µF、DVDD配置0.1 µF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低ESR去耦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SPI两侧及下方采用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完整地平面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屏蔽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沿SPI走线布置伴随地过孔，缩短回流路径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SCLK与噪声走线间距≥3倍线宽，并尽量避免过孔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可预留200 Ω/10 pF RC滤波网络 </a:t>
            </a:r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0F0C2B68-7CFA-EBE9-122A-249304BD75C4}"/>
              </a:ext>
            </a:extLst>
          </p:cNvPr>
          <p:cNvSpPr/>
          <p:nvPr/>
        </p:nvSpPr>
        <p:spPr>
          <a:xfrm>
            <a:off x="171290" y="6427703"/>
            <a:ext cx="11772553" cy="381000"/>
          </a:xfrm>
          <a:prstGeom prst="rect">
            <a:avLst/>
          </a:prstGeom>
          <a:solidFill>
            <a:srgbClr val="EDF8F4"/>
          </a:solidFill>
          <a:ln>
            <a:noFill/>
          </a:ln>
        </p:spPr>
      </p:sp>
      <p:sp>
        <p:nvSpPr>
          <p:cNvPr id="46" name="TextBox 35">
            <a:extLst>
              <a:ext uri="{FF2B5EF4-FFF2-40B4-BE49-F238E27FC236}">
                <a16:creationId xmlns:a16="http://schemas.microsoft.com/office/drawing/2014/main" id="{B19DF695-7316-2EDB-7E9F-51F0F5CC48F5}"/>
              </a:ext>
            </a:extLst>
          </p:cNvPr>
          <p:cNvSpPr txBox="1"/>
          <p:nvPr/>
        </p:nvSpPr>
        <p:spPr>
          <a:xfrm>
            <a:off x="3398985" y="6514161"/>
            <a:ext cx="5317161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350" b="1" dirty="0">
                <a:solidFill>
                  <a:srgbClr val="005A9C"/>
                </a:solidFill>
                <a:latin typeface="Arial"/>
                <a:ea typeface="Microsoft YaHei"/>
                <a:cs typeface="Arial"/>
              </a:rPr>
              <a:t>保持磁场洁净、降低机械应力并控制</a:t>
            </a:r>
            <a:r>
              <a:rPr lang="en-US" altLang="zh-CN" sz="1350" b="1" dirty="0">
                <a:solidFill>
                  <a:srgbClr val="005A9C"/>
                </a:solidFill>
                <a:latin typeface="Arial"/>
                <a:ea typeface="Microsoft YaHei"/>
                <a:cs typeface="Arial"/>
              </a:rPr>
              <a:t>SPI</a:t>
            </a:r>
            <a:r>
              <a:rPr lang="zh-CN" altLang="en-US" sz="1350" b="1" dirty="0">
                <a:solidFill>
                  <a:srgbClr val="005A9C"/>
                </a:solidFill>
                <a:latin typeface="Arial"/>
                <a:ea typeface="Microsoft YaHei"/>
                <a:cs typeface="Arial"/>
              </a:rPr>
              <a:t>干扰，保证角度反馈精度。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8884403-4AEE-AB21-DAB3-67B8446138B6}"/>
              </a:ext>
            </a:extLst>
          </p:cNvPr>
          <p:cNvSpPr/>
          <p:nvPr/>
        </p:nvSpPr>
        <p:spPr>
          <a:xfrm>
            <a:off x="4737873" y="1270731"/>
            <a:ext cx="7205971" cy="5043002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43F3217F-B24D-6739-A7B2-11030C8E113E}"/>
              </a:ext>
            </a:extLst>
          </p:cNvPr>
          <p:cNvSpPr/>
          <p:nvPr/>
        </p:nvSpPr>
        <p:spPr>
          <a:xfrm>
            <a:off x="7310015" y="1106539"/>
            <a:ext cx="2061686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与供电布局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44C8415-4EFB-F940-B2F6-112BE71FD04E}"/>
              </a:ext>
            </a:extLst>
          </p:cNvPr>
          <p:cNvSpPr/>
          <p:nvPr/>
        </p:nvSpPr>
        <p:spPr>
          <a:xfrm>
            <a:off x="161891" y="1270731"/>
            <a:ext cx="4359775" cy="5043003"/>
          </a:xfrm>
          <a:prstGeom prst="roundRect">
            <a:avLst>
              <a:gd name="adj" fmla="val 3237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FAA796AE-999B-2703-BD19-2B55D996572E}"/>
              </a:ext>
            </a:extLst>
          </p:cNvPr>
          <p:cNvSpPr/>
          <p:nvPr/>
        </p:nvSpPr>
        <p:spPr>
          <a:xfrm>
            <a:off x="1175647" y="1106806"/>
            <a:ext cx="2061686" cy="337588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r>
              <a:rPr lang="zh-CN" altLang="en-US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与供电布局</a:t>
            </a:r>
          </a:p>
        </p:txBody>
      </p:sp>
    </p:spTree>
    <p:extLst>
      <p:ext uri="{BB962C8B-B14F-4D97-AF65-F5344CB8AC3E}">
        <p14:creationId xmlns:p14="http://schemas.microsoft.com/office/powerpoint/2010/main" val="374839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Layout——散热与设计检查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6438900" cy="5124450"/>
            <a:chOff x="457200" y="1028700"/>
            <a:chExt cx="643890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438900" cy="51244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57300"/>
              <a:ext cx="6019800" cy="2400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66750" y="3829050"/>
              <a:ext cx="6019800" cy="2076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392" y="40238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散热路径设计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155" y="44643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MOSFET 与分流电阻采用大面积铜皮扩散热量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9155" y="4807268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上下层通过并联过孔导热，降低局部热点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51501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功率器件沿板边布置，便于接触外壳或结构件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549306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温升测试后再确定铜厚、过孔数量与外壳导热方案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86600" y="1028700"/>
            <a:ext cx="4648200" cy="5124450"/>
            <a:chOff x="7086600" y="1028700"/>
            <a:chExt cx="4648200" cy="51244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64820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1028700"/>
              <a:ext cx="464820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7678" y="1144429"/>
              <a:ext cx="21460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 设计检查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296150" y="1668304"/>
              <a:ext cx="4337050" cy="734817"/>
              <a:chOff x="7296150" y="1668304"/>
              <a:chExt cx="4337050" cy="734817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296150" y="16954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02162" y="17840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28598" y="1668304"/>
                <a:ext cx="3804602" cy="734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功率路径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zh-CN" altLang="en-US" sz="1600" dirty="0"/>
                  <a:t>母线电容</a:t>
                </a:r>
                <a:r>
                  <a:rPr lang="en-US" altLang="zh-CN" sz="1600" dirty="0"/>
                  <a:t>—</a:t>
                </a:r>
                <a:r>
                  <a:rPr lang="zh-CN" altLang="en-US" sz="1600" dirty="0"/>
                  <a:t>半桥</a:t>
                </a:r>
                <a:r>
                  <a:rPr lang="en-US" altLang="zh-CN" sz="1600" dirty="0"/>
                  <a:t>—</a:t>
                </a:r>
                <a:r>
                  <a:rPr lang="zh-CN" altLang="en-US" sz="1600" dirty="0"/>
                  <a:t>分流电阻路径短而宽，无明显颈缩</a:t>
                </a:r>
                <a:endParaRPr lang="en-US" alt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33360" y="1965960"/>
                <a:ext cx="65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372350" y="23241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96150" y="2506504"/>
              <a:ext cx="4171887" cy="492443"/>
              <a:chOff x="7296150" y="2506504"/>
              <a:chExt cx="4171887" cy="492443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296150" y="25336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02162" y="26222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28599" y="2506504"/>
                <a:ext cx="3639438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回流路径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en-US" altLang="zh-CN" sz="1600" dirty="0"/>
                  <a:t>Gate</a:t>
                </a:r>
                <a:r>
                  <a:rPr lang="zh-CN" altLang="en-US" sz="1600" dirty="0"/>
                  <a:t>与</a:t>
                </a:r>
                <a:r>
                  <a:rPr lang="en-US" altLang="zh-CN" sz="1600" dirty="0"/>
                  <a:t>Source</a:t>
                </a:r>
                <a:r>
                  <a:rPr lang="zh-CN" altLang="en-US" sz="1600" dirty="0"/>
                  <a:t>成对布线，</a:t>
                </a:r>
                <a:r>
                  <a:rPr lang="en-US" altLang="zh-CN" sz="1600" dirty="0"/>
                  <a:t>Bootstrap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VDD</a:t>
                </a:r>
                <a:r>
                  <a:rPr lang="zh-CN" altLang="en-US" sz="1600" dirty="0"/>
                  <a:t>电容紧靠驱动器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33360" y="2804160"/>
                <a:ext cx="65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7372350" y="31623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96150" y="3344704"/>
              <a:ext cx="4337050" cy="492443"/>
              <a:chOff x="7296150" y="3344704"/>
              <a:chExt cx="4337050" cy="492443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96150" y="33718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02162" y="34604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28598" y="3344704"/>
                <a:ext cx="380460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电流采样：</a:t>
                </a:r>
                <a:r>
                  <a:rPr lang="zh-CN" altLang="en-US" sz="1600" dirty="0"/>
                  <a:t>分流电阻采用</a:t>
                </a:r>
                <a:r>
                  <a:rPr lang="en-US" altLang="zh-CN" sz="1600" dirty="0"/>
                  <a:t>Kelvin</a:t>
                </a:r>
                <a:r>
                  <a:rPr lang="zh-CN" altLang="en-US" sz="1600" dirty="0"/>
                  <a:t>引线，采样线避开</a:t>
                </a:r>
                <a:r>
                  <a:rPr lang="en-US" altLang="zh-CN" sz="1600" dirty="0" err="1"/>
                  <a:t>SHx</a:t>
                </a:r>
                <a:r>
                  <a:rPr lang="zh-CN" altLang="en-US" sz="1600" dirty="0"/>
                  <a:t>开关节点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7372350" y="40005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96150" y="4182904"/>
              <a:ext cx="4337051" cy="492443"/>
              <a:chOff x="7296150" y="4182904"/>
              <a:chExt cx="4337051" cy="492443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96150" y="42100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02162" y="42986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28599" y="4182904"/>
                <a:ext cx="380460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敏感信号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zh-CN" altLang="en-US" sz="1600" dirty="0"/>
                  <a:t>编码器、</a:t>
                </a:r>
                <a:r>
                  <a:rPr lang="en-US" altLang="zh-CN" sz="1600" dirty="0"/>
                  <a:t>SPI</a:t>
                </a:r>
                <a:r>
                  <a:rPr lang="zh-CN" altLang="en-US" sz="1600" dirty="0"/>
                  <a:t>和电流采样具有连续地参考，换层处设置回流地过孔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372350" y="48387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96150" y="5021104"/>
              <a:ext cx="4229100" cy="492443"/>
              <a:chOff x="7296150" y="5021104"/>
              <a:chExt cx="4229100" cy="492443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296150" y="50482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02162" y="5136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28598" y="5021104"/>
                <a:ext cx="3696652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隔离</a:t>
                </a:r>
                <a:r>
                  <a:rPr lang="zh-CN" altLang="en-US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：</a:t>
                </a:r>
                <a:r>
                  <a:rPr lang="en-US" altLang="zh-CN" sz="1600" dirty="0"/>
                  <a:t>CAN</a:t>
                </a:r>
                <a:r>
                  <a:rPr lang="zh-CN" altLang="en-US" sz="1600" dirty="0"/>
                  <a:t>隔离两侧保持净空，无走线、过孔和铺铜跨越隔离区域</a:t>
                </a:r>
                <a:endPara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7372350" y="5695950"/>
              <a:ext cx="4095750" cy="2667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48FAA7B1-B175-C246-DD7F-B2FF8291A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115" y="1313293"/>
            <a:ext cx="2545441" cy="229439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62D8DC02-00D6-5C7F-CC08-DBC59D738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54" y="1313291"/>
            <a:ext cx="2561761" cy="22943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9E8A-0EF5-D768-DD2B-F76D2351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A540B9-297A-4065-A713-525CA558460F}"/>
              </a:ext>
            </a:extLst>
          </p:cNvPr>
          <p:cNvSpPr>
            <a:spLocks noGrp="1"/>
          </p:cNvSpPr>
          <p:nvPr/>
        </p:nvSpPr>
        <p:spPr>
          <a:xfrm>
            <a:off x="2298809" y="3332769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/>
              <a:t>同样这个场景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11EBA2-CAA4-6A4F-128C-031A47C4E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908" y="2316967"/>
            <a:ext cx="4074390" cy="30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76766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5127</Words>
  <Application>Microsoft Office PowerPoint</Application>
  <DocSecurity>0</DocSecurity>
  <PresentationFormat>宽屏</PresentationFormat>
  <Paragraphs>497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-apple-system</vt:lpstr>
      <vt:lpstr>等线</vt:lpstr>
      <vt:lpstr>Microsoft YaHei</vt:lpstr>
      <vt:lpstr>Microsoft YaHei</vt:lpstr>
      <vt:lpstr>Arial</vt:lpstr>
      <vt:lpstr>Cambria Math</vt:lpstr>
      <vt:lpstr>Times New Roman</vt:lpstr>
      <vt:lpstr>Wingdings</vt:lpstr>
      <vt:lpstr>腾讯文档 默认主题​</vt:lpstr>
      <vt:lpstr>第二章：硬件设计计算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Rise Sun</cp:lastModifiedBy>
  <cp:revision>739</cp:revision>
  <dcterms:created xsi:type="dcterms:W3CDTF">2026-06-07T05:21:37Z</dcterms:created>
  <dcterms:modified xsi:type="dcterms:W3CDTF">2026-08-28T06:12:35Z</dcterms:modified>
</cp:coreProperties>
</file>