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webp" ContentType="image/webp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omments/comment2.xml" ContentType="application/vnd.openxmlformats-officedocument.presentationml.comment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omments/comment3.xml" ContentType="application/vnd.openxmlformats-officedocument.presentationml.comments+xml"/>
  <Override PartName="/ppt/notesSlides/notesSlide16.xml" ContentType="application/vnd.openxmlformats-officedocument.presentationml.notesSlide+xml"/>
  <Override PartName="/ppt/comments/comment4.xml" ContentType="application/vnd.openxmlformats-officedocument.presentationml.comments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65" r:id="rId4"/>
    <p:sldId id="284" r:id="rId5"/>
    <p:sldId id="258" r:id="rId6"/>
    <p:sldId id="283" r:id="rId7"/>
    <p:sldId id="267" r:id="rId8"/>
    <p:sldId id="268" r:id="rId9"/>
    <p:sldId id="365" r:id="rId10"/>
    <p:sldId id="259" r:id="rId11"/>
    <p:sldId id="266" r:id="rId12"/>
    <p:sldId id="362" r:id="rId13"/>
    <p:sldId id="270" r:id="rId14"/>
    <p:sldId id="271" r:id="rId15"/>
    <p:sldId id="272" r:id="rId16"/>
    <p:sldId id="367" r:id="rId17"/>
    <p:sldId id="260" r:id="rId18"/>
    <p:sldId id="363" r:id="rId19"/>
    <p:sldId id="261" r:id="rId20"/>
    <p:sldId id="366" r:id="rId21"/>
    <p:sldId id="262" r:id="rId22"/>
    <p:sldId id="279" r:id="rId23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AC17FB6-8DBC-C8E7-EA6A-CEBDE8B2FED1}" name="Leofwine (Huiwen) Yang" initials="LY" userId="S::Leofwine.Yang@monolithicpower.com::0932449c-f7f0-431c-862c-019f5987d925" providerId="AD"/>
  <p188:author id="{DBF8D1DB-DC70-CD51-A32D-A25DA2D31ED3}" name="Jessie (Yijun) Guo" initials="JG" userId="S::Jessie.Guo@monolithicpower.com::182e48c2-b88f-4d5b-8f7a-720db1965496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offee (Zhenzhen) Jia" initials="T(J" lastIdx="8" clrIdx="0">
    <p:extLst>
      <p:ext uri="{19B8F6BF-5375-455C-9EA6-DF929625EA0E}">
        <p15:presenceInfo xmlns:p15="http://schemas.microsoft.com/office/powerpoint/2012/main" userId="S-1-5-21-861567501-606747145-725345543-2914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8542034-FE4F-4ADA-92B8-4CA66D0F0DF3}" styleName="腾讯文档-基本">
    <a:wholeTbl>
      <a:tcTxStyle>
        <a:fontRef idx="minor"/>
        <a:srgbClr val="000000"/>
      </a:tcTxStyle>
      <a:tcStyle>
        <a:tcBdr>
          <a:left>
            <a:ln w="12700" cmpd="sng">
              <a:solidFill>
                <a:srgbClr val="999999"/>
              </a:solidFill>
            </a:ln>
          </a:left>
          <a:right>
            <a:ln w="12700" cmpd="sng">
              <a:solidFill>
                <a:srgbClr val="999999"/>
              </a:solidFill>
            </a:ln>
          </a:right>
          <a:top>
            <a:ln w="12700" cmpd="sng">
              <a:solidFill>
                <a:srgbClr val="999999"/>
              </a:solidFill>
            </a:ln>
          </a:top>
          <a:bottom>
            <a:ln w="12700" cmpd="sng">
              <a:solidFill>
                <a:srgbClr val="999999"/>
              </a:solidFill>
            </a:ln>
          </a:bottom>
          <a:insideH>
            <a:ln w="12700" cmpd="sng">
              <a:solidFill>
                <a:srgbClr val="999999"/>
              </a:solidFill>
            </a:ln>
          </a:insideH>
          <a:insideV>
            <a:ln w="12700" cmpd="sng">
              <a:solidFill>
                <a:srgbClr val="999999"/>
              </a:solidFill>
            </a:ln>
          </a:insideV>
        </a:tcBdr>
        <a:fill>
          <a:solidFill>
            <a:srgbClr val="FFFFFF"/>
          </a:solidFill>
        </a:fill>
      </a:tcStyle>
    </a:wholeTb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65283" autoAdjust="0"/>
  </p:normalViewPr>
  <p:slideViewPr>
    <p:cSldViewPr snapToGrid="0">
      <p:cViewPr>
        <p:scale>
          <a:sx n="75" d="100"/>
          <a:sy n="75" d="100"/>
        </p:scale>
        <p:origin x="43" y="-475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8/10/relationships/authors" Target="author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7-23T10:09:36.967" idx="4">
    <p:pos x="10" y="10"/>
    <p:text>这里的转场是否有点跳跃？</p:text>
    <p:extLst>
      <p:ext uri="{C676402C-5697-4E1C-873F-D02D1690AC5C}">
        <p15:threadingInfo xmlns:p15="http://schemas.microsoft.com/office/powerpoint/2012/main" timeZoneBias="-480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7-23T10:09:04.179" idx="3">
    <p:pos x="10" y="10"/>
    <p:text/>
    <p:extLst>
      <p:ext uri="{C676402C-5697-4E1C-873F-D02D1690AC5C}">
        <p15:threadingInfo xmlns:p15="http://schemas.microsoft.com/office/powerpoint/2012/main" timeZoneBias="-480"/>
      </p:ext>
    </p:extLs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7-23T10:04:24.020" idx="1">
    <p:pos x="10" y="10"/>
    <p:text>1、这一页TI需要改成：其他厂家
2、可以解释这两种设计的优劣势，以及为何选MPS方案</p:text>
    <p:extLst>
      <p:ext uri="{C676402C-5697-4E1C-873F-D02D1690AC5C}">
        <p15:threadingInfo xmlns:p15="http://schemas.microsoft.com/office/powerpoint/2012/main" timeZoneBias="-480"/>
      </p:ext>
    </p:extLst>
  </p:cm>
</p:cmLst>
</file>

<file path=ppt/comments/comment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7-23T10:04:24.020" idx="8">
    <p:pos x="10" y="10"/>
    <p:text>1、这一页TI需要改成：其他厂家
2、可以解释这两种设计的优劣势，以及为何选MPS方案</p:text>
    <p:extLst>
      <p:ext uri="{C676402C-5697-4E1C-873F-D02D1690AC5C}">
        <p15:threadingInfo xmlns:p15="http://schemas.microsoft.com/office/powerpoint/2012/main" timeZoneBias="-48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800" b="1" dirty="0"/>
              <a:t>先来几秒钟快闪</a:t>
            </a:r>
            <a:endParaRPr sz="18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1CA033-CB31-999A-7FD0-80F074796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7F1318-F7B0-C534-924F-9381A22E31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8485DB-7BEC-07F9-C239-A63B99694C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lnSpc>
                <a:spcPts val="1650"/>
              </a:lnSpc>
              <a:buNone/>
            </a:pPr>
            <a:r>
              <a:rPr lang="zh-CN" altLang="en-US" sz="2800" b="0" i="0" dirty="0">
                <a:solidFill>
                  <a:srgbClr val="1A1C1F"/>
                </a:solidFill>
                <a:effectLst/>
                <a:latin typeface="-apple-system"/>
              </a:rPr>
              <a:t>好的，大家好！本期视频我们分为上下两部分，上半部分是器件选型，下半部分我们进入硬件设计篇。</a:t>
            </a:r>
            <a:endParaRPr lang="en-US" altLang="zh-CN" sz="2800" b="0" i="0" dirty="0">
              <a:solidFill>
                <a:srgbClr val="1A1C1F"/>
              </a:solidFill>
              <a:effectLst/>
              <a:latin typeface="-apple-system"/>
            </a:endParaRPr>
          </a:p>
          <a:p>
            <a:pPr algn="l">
              <a:lnSpc>
                <a:spcPts val="1650"/>
              </a:lnSpc>
              <a:buNone/>
            </a:pPr>
            <a:endParaRPr lang="zh-CN" altLang="en-US" sz="2800" b="0" i="0" dirty="0">
              <a:solidFill>
                <a:srgbClr val="1A1C1F"/>
              </a:solidFill>
              <a:effectLst/>
              <a:latin typeface="-apple-system"/>
            </a:endParaRPr>
          </a:p>
          <a:p>
            <a:pPr algn="l">
              <a:lnSpc>
                <a:spcPts val="1650"/>
              </a:lnSpc>
              <a:buNone/>
            </a:pPr>
            <a:r>
              <a:rPr lang="zh-CN" altLang="en-US" sz="2800" b="0" i="0" dirty="0">
                <a:solidFill>
                  <a:srgbClr val="1A1C1F"/>
                </a:solidFill>
                <a:effectLst/>
                <a:latin typeface="-apple-system"/>
              </a:rPr>
              <a:t>在这一章节我们会结合关节电机在机器人领域应用的实际指标，分析系统需求和关键参数，给出这套 </a:t>
            </a:r>
            <a:r>
              <a:rPr lang="en-US" altLang="zh-CN" sz="2800" b="0" i="0" dirty="0">
                <a:solidFill>
                  <a:srgbClr val="1A1C1F"/>
                </a:solidFill>
                <a:effectLst/>
                <a:latin typeface="-apple-system"/>
              </a:rPr>
              <a:t>MPS </a:t>
            </a:r>
            <a:r>
              <a:rPr lang="zh-CN" altLang="en-US" sz="2800" b="0" i="0" dirty="0">
                <a:solidFill>
                  <a:srgbClr val="1A1C1F"/>
                </a:solidFill>
                <a:effectLst/>
                <a:latin typeface="-apple-system"/>
              </a:rPr>
              <a:t>方案的选型依据与适用场景。</a:t>
            </a:r>
            <a:endParaRPr lang="en-US" altLang="zh-CN" sz="2800" b="0" i="0" dirty="0">
              <a:solidFill>
                <a:srgbClr val="1A1C1F"/>
              </a:solidFill>
              <a:effectLst/>
              <a:latin typeface="-apple-system"/>
            </a:endParaRPr>
          </a:p>
          <a:p>
            <a:pPr algn="l">
              <a:lnSpc>
                <a:spcPts val="1650"/>
              </a:lnSpc>
              <a:buNone/>
            </a:pPr>
            <a:endParaRPr lang="en-US" altLang="zh-CN" sz="2800" b="0" i="0" dirty="0">
              <a:solidFill>
                <a:srgbClr val="1A1C1F"/>
              </a:solidFill>
              <a:effectLst/>
              <a:latin typeface="-apple-system"/>
            </a:endParaRPr>
          </a:p>
          <a:p>
            <a:pPr algn="l">
              <a:lnSpc>
                <a:spcPts val="1650"/>
              </a:lnSpc>
              <a:buNone/>
            </a:pPr>
            <a:r>
              <a:rPr lang="zh-CN" altLang="en-US" sz="2800" b="0" i="0" dirty="0">
                <a:solidFill>
                  <a:srgbClr val="1A1C1F"/>
                </a:solidFill>
                <a:effectLst/>
                <a:latin typeface="-apple-system"/>
              </a:rPr>
              <a:t>随后，我们会结合器件手册和应用场景，讲解原理图设计与 </a:t>
            </a:r>
            <a:r>
              <a:rPr lang="en-US" altLang="zh-CN" sz="2800" b="0" i="0" dirty="0">
                <a:solidFill>
                  <a:srgbClr val="1A1C1F"/>
                </a:solidFill>
                <a:effectLst/>
                <a:latin typeface="-apple-system"/>
              </a:rPr>
              <a:t>PCB Layout </a:t>
            </a:r>
            <a:r>
              <a:rPr lang="zh-CN" altLang="en-US" sz="2800" b="0" i="0" dirty="0">
                <a:solidFill>
                  <a:srgbClr val="1A1C1F"/>
                </a:solidFill>
                <a:effectLst/>
                <a:latin typeface="-apple-system"/>
              </a:rPr>
              <a:t>的关键思路，将整块 </a:t>
            </a:r>
            <a:r>
              <a:rPr lang="en-US" altLang="zh-CN" sz="2800" b="0" i="0" dirty="0">
                <a:solidFill>
                  <a:srgbClr val="1A1C1F"/>
                </a:solidFill>
                <a:effectLst/>
                <a:latin typeface="-apple-system"/>
              </a:rPr>
              <a:t>FOC </a:t>
            </a:r>
            <a:r>
              <a:rPr lang="zh-CN" altLang="en-US" sz="2800" b="0" i="0" dirty="0">
                <a:solidFill>
                  <a:srgbClr val="1A1C1F"/>
                </a:solidFill>
                <a:effectLst/>
                <a:latin typeface="-apple-system"/>
              </a:rPr>
              <a:t>控制板像剥洋葱一样逐层拆开。</a:t>
            </a:r>
            <a:endParaRPr lang="en-US" altLang="zh-CN" sz="2800" b="0" i="0" dirty="0">
              <a:solidFill>
                <a:srgbClr val="1A1C1F"/>
              </a:solidFill>
              <a:effectLst/>
              <a:latin typeface="-apple-system"/>
            </a:endParaRPr>
          </a:p>
          <a:p>
            <a:pPr algn="l">
              <a:lnSpc>
                <a:spcPts val="1650"/>
              </a:lnSpc>
              <a:buNone/>
            </a:pPr>
            <a:endParaRPr lang="zh-CN" altLang="en-US" sz="2800" b="0" i="0" dirty="0">
              <a:solidFill>
                <a:srgbClr val="1A1C1F"/>
              </a:solidFill>
              <a:effectLst/>
              <a:latin typeface="-apple-system"/>
            </a:endParaRPr>
          </a:p>
          <a:p>
            <a:pPr marL="0" marR="0" lvl="0" indent="0" algn="l" defTabSz="914400" rtl="0" eaLnBrk="1" fontAlgn="auto" latinLnBrk="0" hangingPunct="1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4000" dirty="0"/>
              <a:t>本章结束时，我们会得到一块具备上电和板级验证条件的硬件。下一章再进入代码、闭环调试和完整测试。</a:t>
            </a:r>
          </a:p>
          <a:p>
            <a:pPr algn="l">
              <a:lnSpc>
                <a:spcPts val="1650"/>
              </a:lnSpc>
            </a:pPr>
            <a:endParaRPr lang="en-US" altLang="zh-CN" sz="2800" b="0" i="0" dirty="0">
              <a:solidFill>
                <a:srgbClr val="1A1C1F"/>
              </a:solidFill>
              <a:effectLst/>
              <a:latin typeface="-apple-system"/>
            </a:endParaRPr>
          </a:p>
          <a:p>
            <a:pPr algn="l">
              <a:lnSpc>
                <a:spcPts val="1650"/>
              </a:lnSpc>
            </a:pPr>
            <a:r>
              <a:rPr lang="zh-CN" altLang="en-US" sz="2800" b="0" i="0" dirty="0">
                <a:solidFill>
                  <a:srgbClr val="1A1C1F"/>
                </a:solidFill>
                <a:effectLst/>
                <a:latin typeface="-apple-system"/>
              </a:rPr>
              <a:t>话不多说，让我们先进入接下来的指标分析</a:t>
            </a:r>
            <a:r>
              <a:rPr lang="en-US" altLang="zh-CN" sz="2800" b="0" i="0" dirty="0">
                <a:solidFill>
                  <a:srgbClr val="1A1C1F"/>
                </a:solidFill>
                <a:effectLst/>
                <a:latin typeface="-apple-system"/>
              </a:rPr>
              <a:t>part</a:t>
            </a:r>
            <a:r>
              <a:rPr lang="zh-CN" altLang="en-US" sz="2800" b="0" i="0" dirty="0">
                <a:solidFill>
                  <a:srgbClr val="1A1C1F"/>
                </a:solidFill>
                <a:effectLst/>
                <a:latin typeface="-apple-system"/>
              </a:rPr>
              <a:t>。</a:t>
            </a:r>
          </a:p>
          <a:p>
            <a:pPr marL="0" indent="0" algn="l">
              <a:lnSpc>
                <a:spcPts val="2000"/>
              </a:lnSpc>
              <a:buFont typeface="Arial" panose="020B0604020202020204" pitchFamily="34" charset="0"/>
              <a:buNone/>
            </a:pPr>
            <a:endParaRPr lang="en-US" altLang="zh-CN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883A63-AB65-BA54-1D04-54CFA33D0473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19692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A20AF1-AA35-53E4-997A-D5E5498DD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7EC682-C05E-80C5-0D4A-F5EE523E14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7EF9ED4A-A4EC-0453-C06E-D04ED79BEBAB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b="1" dirty="0"/>
                  <a:t>&gt;&gt;</a:t>
                </a:r>
                <a:r>
                  <a:rPr lang="zh-CN" altLang="en-US" b="1" dirty="0"/>
                  <a:t>机器人的关节电机实际需求 </a:t>
                </a:r>
                <a:r>
                  <a:rPr lang="en-US" altLang="zh-CN" b="1" dirty="0"/>
                  <a:t>(200W,</a:t>
                </a:r>
                <a:r>
                  <a:rPr lang="en-US" altLang="zh-CN" b="1" baseline="0" dirty="0"/>
                  <a:t> 48V) </a:t>
                </a:r>
                <a:r>
                  <a:rPr lang="en-US" altLang="zh-CN" b="1" dirty="0"/>
                  <a:t>&gt;&gt;</a:t>
                </a:r>
                <a:r>
                  <a:rPr lang="zh-CN" altLang="en-US" b="1" dirty="0"/>
                  <a:t>确定设计目标（图中设计目标）</a:t>
                </a:r>
                <a:endParaRPr lang="en-US" altLang="zh-CN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900"/>
                  </a:spcBef>
                  <a:spcAft>
                    <a:spcPts val="9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800" dirty="0"/>
                  <a:t>硬件设计的第一步，定义预期工况。</a:t>
                </a:r>
                <a:endParaRPr lang="en-US" altLang="zh-CN" sz="1800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900"/>
                  </a:spcBef>
                  <a:spcAft>
                    <a:spcPts val="90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sz="1800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900"/>
                  </a:spcBef>
                  <a:spcAft>
                    <a:spcPts val="9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800" dirty="0"/>
                  <a:t>以机器人上肢关节为例，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上肢等效质量取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3 </m:t>
                    </m:r>
                    <m:r>
                      <m:rPr>
                        <m:sty m:val="p"/>
                      </m:rPr>
                      <a:rPr lang="en-US" altLang="zh-CN" sz="18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kg</m:t>
                    </m:r>
                  </m:oMath>
                </a14:m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，质心力臂取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0.20 </m:t>
                    </m:r>
                    <m:r>
                      <m:rPr>
                        <m:sty m:val="p"/>
                      </m:rPr>
                      <a:rPr lang="en-US" altLang="zh-CN" sz="18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m</m:t>
                    </m:r>
                  </m:oMath>
                </a14:m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，考虑启停、制动和外部扰动，加入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1.5</m:t>
                    </m:r>
                  </m:oMath>
                </a14:m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的动态系数，峰值转矩提高至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8.83 </m:t>
                    </m:r>
                    <m:r>
                      <m:rPr>
                        <m:sty m:val="p"/>
                      </m:rPr>
                      <a:rPr lang="en-US" altLang="zh-CN" sz="18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N</m:t>
                    </m:r>
                    <m:r>
                      <a:rPr lang="en-US" altLang="zh-CN" sz="18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US" altLang="zh-CN" sz="18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m</m:t>
                    </m:r>
                  </m:oMath>
                </a14:m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。关节输出转速取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160 </m:t>
                    </m:r>
                    <m:r>
                      <m:rPr>
                        <m:sty m:val="p"/>
                      </m:rPr>
                      <a:rPr lang="en-US" altLang="zh-CN" sz="18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rpm</m:t>
                    </m:r>
                  </m:oMath>
                </a14:m>
                <a:r>
                  <a:rPr lang="zh-CN" altLang="en-US" sz="1200" kern="1200" dirty="0">
                    <a:effectLst/>
                  </a:rPr>
                  <a:t>。</a:t>
                </a:r>
                <a:endParaRPr lang="zh-CN" altLang="zh-CN" sz="1200" kern="1200" dirty="0">
                  <a:effectLst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endParaRPr lang="zh-CN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以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GM6010-8 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关节电机为例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右侧为电机参数。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减速器效率取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85</m:t>
                    </m:r>
                    <m:r>
                      <a:rPr lang="en-US" altLang="zh-CN" sz="18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%</m:t>
                    </m:r>
                  </m:oMath>
                </a14:m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，电机效率取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90</m:t>
                    </m:r>
                    <m:r>
                      <a:rPr lang="en-US" altLang="zh-CN" sz="18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%</m:t>
                    </m:r>
                  </m:oMath>
                </a14:m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，系统总效率约为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76.5</m:t>
                    </m:r>
                    <m:r>
                      <a:rPr lang="en-US" altLang="zh-CN" sz="18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%</m:t>
                    </m:r>
                  </m:oMath>
                </a14:m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。折算后，连续电气功率约为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129 </m:t>
                    </m:r>
                    <m:r>
                      <m:rPr>
                        <m:sty m:val="p"/>
                      </m:rPr>
                      <a:rPr lang="en-US" altLang="zh-CN" sz="18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W</m:t>
                    </m:r>
                  </m:oMath>
                </a14:m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，短时峰值功率约为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193 </m:t>
                    </m:r>
                    <m:r>
                      <m:rPr>
                        <m:sty m:val="p"/>
                      </m:rPr>
                      <a:rPr lang="en-US" altLang="zh-CN" sz="18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W</m:t>
                    </m:r>
                  </m:oMath>
                </a14:m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。</a:t>
                </a:r>
                <a:endParaRPr lang="en-US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endParaRPr lang="zh-CN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连续功率加入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40</m:t>
                    </m:r>
                    <m:r>
                      <a:rPr lang="en-US" altLang="zh-CN" sz="18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%</m:t>
                    </m:r>
                  </m:oMath>
                </a14:m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的设计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。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因此，驱动板按照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180 </m:t>
                    </m:r>
                    <m:r>
                      <m:rPr>
                        <m:sty m:val="p"/>
                      </m:rPr>
                      <a:rPr lang="en-US" altLang="zh-CN" sz="18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W</m:t>
                    </m:r>
                  </m:oMath>
                </a14:m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连续功率设计。</a:t>
                </a:r>
                <a:endParaRPr lang="en-US" altLang="zh-CN" b="1" dirty="0"/>
              </a:p>
            </p:txBody>
          </p:sp>
        </mc:Choice>
        <mc:Fallback xmlns="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7EF9ED4A-A4EC-0453-C06E-D04ED79BEBAB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b="1" dirty="0"/>
                  <a:t>&gt;&gt;</a:t>
                </a:r>
                <a:r>
                  <a:rPr lang="zh-CN" altLang="en-US" b="1" dirty="0"/>
                  <a:t>机器人的关节电机实际需求 </a:t>
                </a:r>
                <a:r>
                  <a:rPr lang="en-US" altLang="zh-CN" b="1" dirty="0"/>
                  <a:t>(200W,</a:t>
                </a:r>
                <a:r>
                  <a:rPr lang="en-US" altLang="zh-CN" b="1" baseline="0" dirty="0"/>
                  <a:t> 48V) </a:t>
                </a:r>
                <a:r>
                  <a:rPr lang="en-US" altLang="zh-CN" b="1" dirty="0"/>
                  <a:t>&gt;&gt;</a:t>
                </a:r>
                <a:r>
                  <a:rPr lang="zh-CN" altLang="en-US" b="1" dirty="0"/>
                  <a:t>确定设计目标（图中设计目标）</a:t>
                </a:r>
                <a:endParaRPr lang="en-US" altLang="zh-CN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dirty="0"/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以机器人肩关节伸展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运动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作为典型工况。上肢等效质量取 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3 kg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，质心力臂取 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0.20 m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，考虑启停、制动和外部扰动，加入 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1.5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的动态系数，峰值转矩提高至 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8.83 N⋅m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。关节输出转速取 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160 rpm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，对应角速度约 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16.76 rad/s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。</a:t>
                </a:r>
                <a:endParaRPr lang="en-US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endParaRPr lang="zh-CN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以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GM6010-8 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电机为例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右侧为电机参数。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减速器效率取 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85%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，电机效率取 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90%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，系统总效率约为 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76.5%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。折算后，连续电气功率约为 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129 W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，短时峰值功率约为 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193 W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。</a:t>
                </a:r>
                <a:endParaRPr lang="en-US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endParaRPr lang="zh-CN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连续功率加入 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40%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的设计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。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因此，驱动板按照 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180 W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连续功率设计。</a:t>
                </a:r>
                <a:endParaRPr lang="en-US" altLang="zh-CN" b="1" dirty="0"/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193EE8-D819-30A6-B7FB-F3104C3CCAB3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872577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b="1" dirty="0"/>
                  <a:t>&gt;&gt;</a:t>
                </a:r>
                <a:r>
                  <a:rPr lang="zh-CN" altLang="en-US" b="1" dirty="0"/>
                  <a:t>机器人的关节电机实际需求 </a:t>
                </a:r>
                <a:r>
                  <a:rPr lang="en-US" altLang="zh-CN" b="1" dirty="0"/>
                  <a:t>(200W,</a:t>
                </a:r>
                <a:r>
                  <a:rPr lang="en-US" altLang="zh-CN" b="1" baseline="0" dirty="0"/>
                  <a:t> 48V) </a:t>
                </a:r>
                <a:r>
                  <a:rPr lang="en-US" altLang="zh-CN" b="1" dirty="0"/>
                  <a:t>&gt;&gt;</a:t>
                </a:r>
                <a:r>
                  <a:rPr lang="zh-CN" altLang="en-US" b="1" dirty="0"/>
                  <a:t>确定设计目标（图中设计目标）</a:t>
                </a:r>
                <a:endParaRPr lang="en-US" altLang="zh-CN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b="1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dirty="0"/>
                  <a:t>下一步是把电机参数转换为设计指标。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具身智能行业，电源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母线侧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普遍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采用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13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串锂电池，典型工作范围约为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39</m:t>
                    </m:r>
                  </m:oMath>
                </a14:m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到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54.6 </m:t>
                    </m:r>
                    <m:r>
                      <m:rPr>
                        <m:sty m:val="p"/>
                      </m:rPr>
                      <a:rPr lang="en-US" altLang="zh-CN" sz="18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V</m:t>
                    </m:r>
                  </m:oMath>
                </a14:m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考虑到</a:t>
                </a:r>
                <a:r>
                  <a:rPr lang="zh-CN" altLang="zh-CN" sz="1200" kern="1200" dirty="0">
                    <a:effectLst/>
                  </a:rPr>
                  <a:t>电机减速和制动时，机械能会通过逆变桥回灌母线</a:t>
                </a:r>
                <a:r>
                  <a:rPr lang="zh-CN" altLang="en-US" sz="1200" kern="1200" dirty="0">
                    <a:effectLst/>
                  </a:rPr>
                  <a:t>，我们按照最恶劣的回馈情况计算，</a:t>
                </a:r>
                <a:r>
                  <a:rPr lang="zh-CN" altLang="zh-CN" sz="1200" kern="1200" dirty="0">
                    <a:effectLst/>
                  </a:rPr>
                  <a:t>如果</a:t>
                </a:r>
                <a:r>
                  <a:rPr lang="en-US" altLang="zh-CN" sz="1200" kern="1200" dirty="0">
                    <a:effectLst/>
                  </a:rPr>
                  <a:t> BMS </a:t>
                </a:r>
                <a:r>
                  <a:rPr lang="zh-CN" altLang="zh-CN" sz="1200" kern="1200" dirty="0">
                    <a:effectLst/>
                  </a:rPr>
                  <a:t>不允许回充</a:t>
                </a:r>
                <a:r>
                  <a:rPr lang="zh-CN" altLang="en-US" sz="1200" kern="1200" dirty="0">
                    <a:effectLst/>
                  </a:rPr>
                  <a:t>，母线电压会被抬高到一个较高值。因此再设计一级辅助电源时，需要额外注意耐压。</a:t>
                </a:r>
                <a:endParaRPr lang="zh-CN" altLang="zh-CN" sz="1200" kern="1200" dirty="0">
                  <a:effectLst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dirty="0"/>
              </a:p>
              <a:p>
                <a:r>
                  <a:rPr lang="zh-CN" altLang="zh-CN" sz="1200" kern="1200" dirty="0">
                    <a:effectLst/>
                  </a:rPr>
                  <a:t>根据电机转矩常数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200" i="1" kern="120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200" i="1" kern="1200">
                            <a:effectLst/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sz="1200" i="1" kern="1200">
                            <a:effectLst/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zh-CN" sz="1200" kern="1200" dirty="0">
                    <a:effectLst/>
                  </a:rPr>
                  <a:t>，可以将前面得到的关节转矩换算为对应的电流需求，具体计算见左下角。在此基础上，综合考虑器件参数偏差、瞬态过冲以及控制裕量，最终将功率级的连续相电流能力确定为 </a:t>
                </a:r>
                <a14:m>
                  <m:oMath xmlns:m="http://schemas.openxmlformats.org/officeDocument/2006/math">
                    <m:r>
                      <a:rPr lang="en-US" altLang="zh-CN" sz="1200" i="1" kern="1200">
                        <a:effectLst/>
                        <a:latin typeface="Cambria Math" panose="02040503050406030204" pitchFamily="18" charset="0"/>
                      </a:rPr>
                      <m:t>15 </m:t>
                    </m:r>
                    <m:r>
                      <m:rPr>
                        <m:sty m:val="p"/>
                      </m:rPr>
                      <a:rPr lang="en-US" altLang="zh-CN" sz="1200" kern="1200">
                        <a:effectLst/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lang="zh-CN" altLang="zh-CN" sz="1200" kern="1200" dirty="0">
                    <a:effectLst/>
                  </a:rPr>
                  <a:t>。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b="1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b="0" dirty="0"/>
                  <a:t>根据上述计算，最终可以得出设计目标。</a:t>
                </a:r>
                <a:endParaRPr lang="en-US" altLang="zh-CN" b="1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b="1" dirty="0"/>
                  <a:t>&gt;&gt;</a:t>
                </a:r>
                <a:r>
                  <a:rPr lang="zh-CN" altLang="en-US" b="1" dirty="0"/>
                  <a:t>机器人的关节电机实际需求 </a:t>
                </a:r>
                <a:r>
                  <a:rPr lang="en-US" altLang="zh-CN" b="1" dirty="0"/>
                  <a:t>(200W,</a:t>
                </a:r>
                <a:r>
                  <a:rPr lang="en-US" altLang="zh-CN" b="1" baseline="0" dirty="0"/>
                  <a:t> 48V) </a:t>
                </a:r>
                <a:r>
                  <a:rPr lang="en-US" altLang="zh-CN" b="1" dirty="0"/>
                  <a:t>&gt;&gt;</a:t>
                </a:r>
                <a:r>
                  <a:rPr lang="zh-CN" altLang="en-US" b="1" dirty="0"/>
                  <a:t>确定设计目标（图中设计目标）</a:t>
                </a:r>
                <a:endParaRPr lang="en-US" altLang="zh-CN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b="1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dirty="0"/>
                  <a:t>下一步是把电机参数转换为设计指标。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具身智能行业，电源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母线侧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普遍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采用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13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串锂电池，典型工作范围约为 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39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到 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54.6 V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考虑到</a:t>
                </a:r>
                <a:r>
                  <a:rPr lang="zh-CN" altLang="zh-CN" sz="1200" kern="1200" dirty="0">
                    <a:effectLst/>
                  </a:rPr>
                  <a:t>电机减速和制动时，机械能会通过逆变桥回灌母线</a:t>
                </a:r>
                <a:r>
                  <a:rPr lang="zh-CN" altLang="en-US" sz="1200" kern="1200" dirty="0">
                    <a:effectLst/>
                  </a:rPr>
                  <a:t>，我们按照最恶劣的回馈情况计算，</a:t>
                </a:r>
                <a:r>
                  <a:rPr lang="zh-CN" altLang="zh-CN" sz="1200" kern="1200" dirty="0">
                    <a:effectLst/>
                  </a:rPr>
                  <a:t>如果</a:t>
                </a:r>
                <a:r>
                  <a:rPr lang="en-US" altLang="zh-CN" sz="1200" kern="1200" dirty="0">
                    <a:effectLst/>
                  </a:rPr>
                  <a:t> BMS </a:t>
                </a:r>
                <a:r>
                  <a:rPr lang="zh-CN" altLang="zh-CN" sz="1200" kern="1200" dirty="0">
                    <a:effectLst/>
                  </a:rPr>
                  <a:t>不允许回充</a:t>
                </a:r>
                <a:r>
                  <a:rPr lang="zh-CN" altLang="en-US" sz="1200" kern="1200" dirty="0">
                    <a:effectLst/>
                  </a:rPr>
                  <a:t>，母线电压会被抬高到一个较高值。因此再设计一级辅助电源时，需要额外注意耐压。</a:t>
                </a:r>
                <a:endParaRPr lang="zh-CN" altLang="zh-CN" sz="1200" kern="1200" dirty="0">
                  <a:effectLst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dirty="0"/>
              </a:p>
              <a:p>
                <a:r>
                  <a:rPr lang="zh-CN" altLang="zh-CN" sz="1200" kern="1200" dirty="0">
                    <a:effectLst/>
                  </a:rPr>
                  <a:t>根据电机转矩常数 </a:t>
                </a:r>
                <a:r>
                  <a:rPr lang="en-US" altLang="zh-CN" sz="1200" i="0" kern="1200">
                    <a:effectLst/>
                  </a:rPr>
                  <a:t>𝐾</a:t>
                </a:r>
                <a:r>
                  <a:rPr lang="zh-CN" altLang="zh-CN" sz="1200" i="0" kern="1200">
                    <a:effectLst/>
                  </a:rPr>
                  <a:t>_</a:t>
                </a:r>
                <a:r>
                  <a:rPr lang="en-US" altLang="zh-CN" sz="1200" i="0" kern="1200">
                    <a:effectLst/>
                  </a:rPr>
                  <a:t>𝑡</a:t>
                </a:r>
                <a:r>
                  <a:rPr lang="zh-CN" altLang="zh-CN" sz="1200" kern="1200" dirty="0">
                    <a:effectLst/>
                  </a:rPr>
                  <a:t>，可以将前面得到的关节转矩换算为对应的电流需求，具体计算见左下角。在此基础上，综合考虑器件参数偏差、瞬态过冲以及控制裕量，最终将功率级的连续相电流能力确定为 </a:t>
                </a:r>
                <a:r>
                  <a:rPr lang="en-US" altLang="zh-CN" sz="1200" i="0" kern="1200">
                    <a:effectLst/>
                  </a:rPr>
                  <a:t>15 A</a:t>
                </a:r>
                <a:r>
                  <a:rPr lang="zh-CN" altLang="zh-CN" sz="1200" kern="1200" dirty="0">
                    <a:effectLst/>
                  </a:rPr>
                  <a:t>。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b="1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b="0" dirty="0"/>
                  <a:t>根据上述计算，最终可以得出设计目标。</a:t>
                </a:r>
                <a:endParaRPr lang="en-US" altLang="zh-CN" b="1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b="1" dirty="0"/>
                  <a:t>&gt;&gt;</a:t>
                </a:r>
                <a:r>
                  <a:rPr lang="zh-CN" altLang="en-US" b="1" dirty="0"/>
                  <a:t>如何设计驱动板：软件</a:t>
                </a:r>
                <a:r>
                  <a:rPr lang="en-US" altLang="zh-CN" b="1" dirty="0" err="1"/>
                  <a:t>FOC</a:t>
                </a:r>
                <a:r>
                  <a:rPr lang="zh-CN" altLang="en-US" b="1" dirty="0"/>
                  <a:t>控制方式</a:t>
                </a:r>
                <a:r>
                  <a:rPr lang="en-US" altLang="zh-CN" b="1" dirty="0"/>
                  <a:t>+</a:t>
                </a:r>
                <a:r>
                  <a:rPr lang="zh-CN" altLang="en-US" b="1" dirty="0"/>
                  <a:t>硬件电源树整体方案 </a:t>
                </a:r>
                <a:r>
                  <a:rPr lang="en-US" altLang="zh-CN" b="1" dirty="0"/>
                  <a:t>(</a:t>
                </a:r>
                <a:r>
                  <a:rPr lang="zh-CN" altLang="en-US" b="1" dirty="0"/>
                  <a:t>系统具体部分）</a:t>
                </a:r>
                <a:endParaRPr lang="en-US" altLang="zh-CN" b="1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b="1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有了设计指标，就可以将其落实到系统架构上。</a:t>
                </a:r>
                <a:endParaRPr lang="en-US" altLang="zh-CN" b="1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b="1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主功率路径最直接：</a:t>
                </a:r>
                <a14:m>
                  <m:oMath xmlns:m="http://schemas.openxmlformats.org/officeDocument/2006/math"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48 </m:t>
                    </m:r>
                    <m:r>
                      <m:rPr>
                        <m:sty m:val="p"/>
                      </m:rPr>
                      <a:rPr lang="en-US" altLang="zh-CN" sz="18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V</m:t>
                    </m:r>
                  </m:oMath>
                </a14:m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母线进入三相逆变桥，六颗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MOSFET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把直流电压合成为电机需要的三相电压。</a:t>
                </a:r>
                <a:r>
                  <a:rPr lang="en-US" altLang="zh-CN" sz="1200" kern="1200" dirty="0">
                    <a:effectLst/>
                  </a:rPr>
                  <a:t>MCU +</a:t>
                </a:r>
                <a:r>
                  <a:rPr lang="zh-CN" altLang="zh-CN" sz="1200" kern="1200" dirty="0">
                    <a:effectLst/>
                  </a:rPr>
                  <a:t>三相预驱动器</a:t>
                </a:r>
                <a:r>
                  <a:rPr lang="zh-CN" altLang="en-US" sz="1200" kern="1200" dirty="0">
                    <a:effectLst/>
                  </a:rPr>
                  <a:t>驱动逆变桥</a:t>
                </a:r>
                <a:r>
                  <a:rPr lang="zh-CN" altLang="zh-CN" sz="1200" kern="1200" dirty="0">
                    <a:effectLst/>
                  </a:rPr>
                  <a:t>，负责</a:t>
                </a:r>
                <a:r>
                  <a:rPr lang="zh-CN" altLang="en-US" sz="1200" kern="1200" dirty="0">
                    <a:effectLst/>
                  </a:rPr>
                  <a:t>功率器件控制</a:t>
                </a:r>
                <a:r>
                  <a:rPr lang="zh-CN" altLang="zh-CN" sz="1200" kern="1200" dirty="0">
                    <a:effectLst/>
                  </a:rPr>
                  <a:t>。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zh-CN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辅助电源则分成几级：先用高压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Buck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把母线降到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12 </m:t>
                    </m:r>
                    <m:r>
                      <m:rPr>
                        <m:sty m:val="p"/>
                      </m:rPr>
                      <a:rPr lang="en-US" altLang="zh-CN" sz="18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V</m:t>
                    </m:r>
                  </m:oMath>
                </a14:m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，给栅极驱动供电；再把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12 </m:t>
                    </m:r>
                    <m:r>
                      <m:rPr>
                        <m:sty m:val="p"/>
                      </m:rPr>
                      <a:rPr lang="en-US" altLang="zh-CN" sz="18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V</m:t>
                    </m:r>
                  </m:oMath>
                </a14:m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降到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5 </m:t>
                    </m:r>
                    <m:r>
                      <m:rPr>
                        <m:sty m:val="p"/>
                      </m:rPr>
                      <a:rPr lang="en-US" altLang="zh-CN" sz="18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V</m:t>
                    </m:r>
                  </m:oMath>
                </a14:m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。</a:t>
                </a:r>
                <a:endParaRPr lang="en-US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sz="1800" kern="12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zh-CN" sz="1200" kern="1200" dirty="0">
                    <a:effectLst/>
                  </a:rPr>
                  <a:t>其中一路通过低噪声</a:t>
                </a:r>
                <a:r>
                  <a:rPr lang="en-US" altLang="zh-CN" sz="1200" kern="1200" dirty="0">
                    <a:effectLst/>
                  </a:rPr>
                  <a:t> LDO </a:t>
                </a:r>
                <a:r>
                  <a:rPr lang="zh-CN" altLang="zh-CN" sz="1200" kern="1200" dirty="0">
                    <a:effectLst/>
                  </a:rPr>
                  <a:t>得到 </a:t>
                </a:r>
                <a14:m>
                  <m:oMath xmlns:m="http://schemas.openxmlformats.org/officeDocument/2006/math">
                    <m:r>
                      <a:rPr lang="en-US" altLang="zh-CN" sz="1200" i="1" kern="1200">
                        <a:effectLst/>
                        <a:latin typeface="Cambria Math" panose="02040503050406030204" pitchFamily="18" charset="0"/>
                      </a:rPr>
                      <m:t>3.3 </m:t>
                    </m:r>
                    <m:r>
                      <m:rPr>
                        <m:sty m:val="p"/>
                      </m:rPr>
                      <a:rPr lang="en-US" altLang="zh-CN" sz="1200" kern="1200">
                        <a:effectLst/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r>
                  <a:rPr lang="zh-CN" altLang="zh-CN" sz="1200" kern="1200" dirty="0">
                    <a:effectLst/>
                  </a:rPr>
                  <a:t>，供</a:t>
                </a:r>
                <a:r>
                  <a:rPr lang="en-US" altLang="zh-CN" sz="1200" kern="1200" dirty="0">
                    <a:effectLst/>
                  </a:rPr>
                  <a:t> MCU</a:t>
                </a:r>
                <a:r>
                  <a:rPr lang="zh-CN" altLang="zh-CN" sz="1200" kern="1200" dirty="0">
                    <a:effectLst/>
                  </a:rPr>
                  <a:t>、编码器和采样电路使用；另一路经过隔离电源生成隔离 </a:t>
                </a:r>
                <a14:m>
                  <m:oMath xmlns:m="http://schemas.openxmlformats.org/officeDocument/2006/math">
                    <m:r>
                      <a:rPr lang="en-US" altLang="zh-CN" sz="1200" i="1" kern="1200">
                        <a:effectLst/>
                        <a:latin typeface="Cambria Math" panose="02040503050406030204" pitchFamily="18" charset="0"/>
                      </a:rPr>
                      <m:t>5 </m:t>
                    </m:r>
                    <m:r>
                      <m:rPr>
                        <m:sty m:val="p"/>
                      </m:rPr>
                      <a:rPr lang="en-US" altLang="zh-CN" sz="1200" kern="1200">
                        <a:effectLst/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r>
                  <a:rPr lang="zh-CN" altLang="zh-CN" sz="1200" kern="1200" dirty="0">
                    <a:effectLst/>
                  </a:rPr>
                  <a:t>，供隔离</a:t>
                </a:r>
                <a:r>
                  <a:rPr lang="en-US" altLang="zh-CN" sz="1200" kern="1200" dirty="0">
                    <a:effectLst/>
                  </a:rPr>
                  <a:t> CAN </a:t>
                </a:r>
                <a:r>
                  <a:rPr lang="zh-CN" altLang="zh-CN" sz="1200" kern="1200" dirty="0">
                    <a:effectLst/>
                  </a:rPr>
                  <a:t>总线侧使用。</a:t>
                </a:r>
              </a:p>
              <a:p>
                <a:endParaRPr lang="en-US" altLang="zh-CN" dirty="0"/>
              </a:p>
              <a:p>
                <a:r>
                  <a:rPr lang="zh-CN" altLang="en-US" dirty="0"/>
                  <a:t>在此过程。电流采样电路负责检测电机相电流，位置传感器负责提供转子位置和电角度，</a:t>
                </a:r>
                <a:r>
                  <a:rPr lang="zh-CN" altLang="en-US" b="0" dirty="0"/>
                  <a:t>二者作为</a:t>
                </a:r>
                <a:r>
                  <a:rPr lang="en-US" altLang="zh-CN" b="0" dirty="0"/>
                  <a:t>FOC</a:t>
                </a:r>
                <a:r>
                  <a:rPr lang="zh-CN" altLang="en-US" b="0" dirty="0"/>
                  <a:t>控制反馈量参与控制。</a:t>
                </a:r>
                <a:endParaRPr lang="en-US" altLang="zh-CN" b="0" dirty="0"/>
              </a:p>
              <a:p>
                <a:endParaRPr lang="en-US" dirty="0"/>
              </a:p>
              <a:p>
                <a:r>
                  <a:rPr lang="zh-CN" altLang="en-US" dirty="0"/>
                  <a:t>接下来就按照这几个功能模块，分别进行芯片选型。</a:t>
                </a:r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b="1" dirty="0"/>
                  <a:t>&gt;&gt;</a:t>
                </a:r>
                <a:r>
                  <a:rPr lang="zh-CN" altLang="en-US" b="1" dirty="0"/>
                  <a:t>如何设计驱动板：软件</a:t>
                </a:r>
                <a:r>
                  <a:rPr lang="en-US" altLang="zh-CN" b="1" dirty="0" err="1"/>
                  <a:t>FOC</a:t>
                </a:r>
                <a:r>
                  <a:rPr lang="zh-CN" altLang="en-US" b="1" dirty="0"/>
                  <a:t>控制方式</a:t>
                </a:r>
                <a:r>
                  <a:rPr lang="en-US" altLang="zh-CN" b="1" dirty="0"/>
                  <a:t>+</a:t>
                </a:r>
                <a:r>
                  <a:rPr lang="zh-CN" altLang="en-US" b="1" dirty="0"/>
                  <a:t>硬件电源树整体方案 </a:t>
                </a:r>
                <a:r>
                  <a:rPr lang="en-US" altLang="zh-CN" b="1" dirty="0"/>
                  <a:t>(</a:t>
                </a:r>
                <a:r>
                  <a:rPr lang="zh-CN" altLang="en-US" b="1" dirty="0"/>
                  <a:t>系统具体部分）</a:t>
                </a:r>
                <a:endParaRPr lang="en-US" altLang="zh-CN" b="1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b="1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有了设计指标，就可以将其落实到系统架构上。</a:t>
                </a:r>
                <a:endParaRPr lang="en-US" altLang="zh-CN" b="1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b="1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主功率路径最直接：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48 V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母线进入三相逆变桥，六颗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MOSFET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把直流电压合成为电机需要的三相电压。</a:t>
                </a:r>
                <a:r>
                  <a:rPr lang="en-US" altLang="zh-CN" sz="1200" kern="1200" dirty="0">
                    <a:effectLst/>
                  </a:rPr>
                  <a:t>MCU +</a:t>
                </a:r>
                <a:r>
                  <a:rPr lang="zh-CN" altLang="zh-CN" sz="1200" kern="1200" dirty="0">
                    <a:effectLst/>
                  </a:rPr>
                  <a:t>三相预驱动器</a:t>
                </a:r>
                <a:r>
                  <a:rPr lang="zh-CN" altLang="en-US" sz="1200" kern="1200" dirty="0">
                    <a:effectLst/>
                  </a:rPr>
                  <a:t>驱动逆变桥</a:t>
                </a:r>
                <a:r>
                  <a:rPr lang="zh-CN" altLang="zh-CN" sz="1200" kern="1200" dirty="0">
                    <a:effectLst/>
                  </a:rPr>
                  <a:t>，负责</a:t>
                </a:r>
                <a:r>
                  <a:rPr lang="zh-CN" altLang="en-US" sz="1200" kern="1200" dirty="0">
                    <a:effectLst/>
                  </a:rPr>
                  <a:t>功率器件控制</a:t>
                </a:r>
                <a:r>
                  <a:rPr lang="zh-CN" altLang="zh-CN" sz="1200" kern="1200" dirty="0">
                    <a:effectLst/>
                  </a:rPr>
                  <a:t>。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zh-CN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辅助电源则分成几级：先用高压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Buck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把母线降到 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12 V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，给栅极驱动供电；再把 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12 V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降到 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5 V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。</a:t>
                </a:r>
                <a:endParaRPr lang="en-US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sz="1800" kern="12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zh-CN" sz="1200" kern="1200" dirty="0">
                    <a:effectLst/>
                  </a:rPr>
                  <a:t>其中一路通过低噪声</a:t>
                </a:r>
                <a:r>
                  <a:rPr lang="en-US" altLang="zh-CN" sz="1200" kern="1200" dirty="0">
                    <a:effectLst/>
                  </a:rPr>
                  <a:t> LDO </a:t>
                </a:r>
                <a:r>
                  <a:rPr lang="zh-CN" altLang="zh-CN" sz="1200" kern="1200" dirty="0">
                    <a:effectLst/>
                  </a:rPr>
                  <a:t>得到 </a:t>
                </a:r>
                <a:r>
                  <a:rPr lang="en-US" altLang="zh-CN" sz="1200" i="0" kern="1200">
                    <a:effectLst/>
                  </a:rPr>
                  <a:t>3.3 V</a:t>
                </a:r>
                <a:r>
                  <a:rPr lang="zh-CN" altLang="zh-CN" sz="1200" kern="1200" dirty="0">
                    <a:effectLst/>
                  </a:rPr>
                  <a:t>，供</a:t>
                </a:r>
                <a:r>
                  <a:rPr lang="en-US" altLang="zh-CN" sz="1200" kern="1200" dirty="0">
                    <a:effectLst/>
                  </a:rPr>
                  <a:t> MCU</a:t>
                </a:r>
                <a:r>
                  <a:rPr lang="zh-CN" altLang="zh-CN" sz="1200" kern="1200" dirty="0">
                    <a:effectLst/>
                  </a:rPr>
                  <a:t>、编码器和采样电路使用；另一路经过隔离电源生成隔离 </a:t>
                </a:r>
                <a:r>
                  <a:rPr lang="en-US" altLang="zh-CN" sz="1200" i="0" kern="1200">
                    <a:effectLst/>
                  </a:rPr>
                  <a:t>5 V</a:t>
                </a:r>
                <a:r>
                  <a:rPr lang="zh-CN" altLang="zh-CN" sz="1200" kern="1200" dirty="0">
                    <a:effectLst/>
                  </a:rPr>
                  <a:t>，供隔离</a:t>
                </a:r>
                <a:r>
                  <a:rPr lang="en-US" altLang="zh-CN" sz="1200" kern="1200" dirty="0">
                    <a:effectLst/>
                  </a:rPr>
                  <a:t> CAN </a:t>
                </a:r>
                <a:r>
                  <a:rPr lang="zh-CN" altLang="zh-CN" sz="1200" kern="1200" dirty="0">
                    <a:effectLst/>
                  </a:rPr>
                  <a:t>总线侧使用。</a:t>
                </a:r>
              </a:p>
              <a:p>
                <a:endParaRPr lang="en-US" altLang="zh-CN" dirty="0"/>
              </a:p>
              <a:p>
                <a:r>
                  <a:rPr lang="zh-CN" altLang="en-US" dirty="0"/>
                  <a:t>在此过程。电流采样电路负责检测电机相电流，位置传感器负责提供转子位置和电角度，</a:t>
                </a:r>
                <a:r>
                  <a:rPr lang="zh-CN" altLang="en-US" b="0" dirty="0"/>
                  <a:t>二者作为</a:t>
                </a:r>
                <a:r>
                  <a:rPr lang="en-US" altLang="zh-CN" b="0" dirty="0"/>
                  <a:t>FOC</a:t>
                </a:r>
                <a:r>
                  <a:rPr lang="zh-CN" altLang="en-US" b="0" dirty="0"/>
                  <a:t>控制反馈量参与控制。</a:t>
                </a:r>
                <a:endParaRPr lang="en-US" altLang="zh-CN" b="0" dirty="0"/>
              </a:p>
              <a:p>
                <a:endParaRPr lang="en-US" dirty="0"/>
              </a:p>
              <a:p>
                <a:r>
                  <a:rPr lang="zh-CN" altLang="en-US" dirty="0"/>
                  <a:t>接下来就按照这几个功能模块，分别进行芯片选型。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3810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4558CD-D45A-DBE2-ECB1-6ECA604BA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B96FE0-EDF7-0E4D-69A0-CC112A5198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61F48679-E6CF-A28B-4B7E-434E617B3781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indent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 b="1" dirty="0"/>
                  <a:t>&gt;&gt;</a:t>
                </a:r>
                <a:r>
                  <a:rPr lang="zh-CN" altLang="en-US" b="1" dirty="0"/>
                  <a:t>硬件电源树整体方案</a:t>
                </a:r>
                <a:r>
                  <a:rPr lang="en-US" altLang="zh-CN" b="1" dirty="0"/>
                  <a:t>-1</a:t>
                </a:r>
                <a:r>
                  <a:rPr lang="zh-CN" altLang="en-US" b="1" dirty="0"/>
                  <a:t>：驱动电路篇</a:t>
                </a:r>
                <a:endParaRPr lang="en-US" altLang="zh-CN" b="1" dirty="0"/>
              </a:p>
              <a:p>
                <a:pPr marL="0" indent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altLang="zh-CN" dirty="0"/>
              </a:p>
              <a:p>
                <a:pPr marL="0" indent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altLang="en-US" dirty="0"/>
                  <a:t>首先是</a:t>
                </a:r>
                <a:r>
                  <a:rPr lang="zh-CN" altLang="zh-CN" sz="1800" dirty="0"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  <a:t>三相预驱动器</a:t>
                </a:r>
                <a:r>
                  <a:rPr lang="zh-CN" altLang="en-US" sz="1800" dirty="0"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:r>
                  <a:rPr lang="zh-CN" altLang="zh-CN" sz="1800" dirty="0"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  <a:t>选择</a:t>
                </a:r>
                <a:r>
                  <a:rPr lang="en-US" altLang="zh-CN" sz="1800" dirty="0"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  <a:t> MP6539B</a:t>
                </a:r>
                <a:r>
                  <a:rPr lang="zh-CN" altLang="en-US" sz="1800" dirty="0"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  <a:t>。</a:t>
                </a:r>
                <a:r>
                  <a:rPr lang="zh-CN" altLang="zh-CN" sz="1800" dirty="0"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  <a:t>它可以驱动由六颗</a:t>
                </a:r>
                <a:r>
                  <a:rPr lang="en-US" altLang="zh-CN" sz="1800" dirty="0"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  <a:t> N </a:t>
                </a:r>
                <a:r>
                  <a:rPr lang="zh-CN" altLang="zh-CN" sz="1800" dirty="0"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  <a:t>沟道</a:t>
                </a:r>
                <a:r>
                  <a:rPr lang="en-US" altLang="zh-CN" sz="1800" dirty="0"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  <a:t> MOSFET </a:t>
                </a:r>
                <a:r>
                  <a:rPr lang="zh-CN" altLang="zh-CN" sz="1800" dirty="0"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  <a:t>组成的三相半桥，母线工作能力覆盖到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100 </m:t>
                    </m:r>
                    <m:r>
                      <m:rPr>
                        <m:sty m:val="p"/>
                      </m:rPr>
                      <a:rPr lang="en-US" altLang="zh-CN" sz="18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V</m:t>
                    </m:r>
                    <m:r>
                      <a:rPr lang="zh-CN" altLang="en-US" sz="1800" i="1" smtClean="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。</m:t>
                    </m:r>
                  </m:oMath>
                </a14:m>
                <a:endParaRPr lang="en-US" b="0" i="0" dirty="0">
                  <a:solidFill>
                    <a:srgbClr val="1A1C1F"/>
                  </a:solidFill>
                  <a:effectLst/>
                  <a:latin typeface="-apple-system"/>
                </a:endParaRPr>
              </a:p>
              <a:p>
                <a:pPr marL="0" indent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b="0" i="0" dirty="0">
                  <a:solidFill>
                    <a:srgbClr val="1A1C1F"/>
                  </a:solidFill>
                  <a:effectLst/>
                  <a:latin typeface="-apple-system"/>
                </a:endParaRPr>
              </a:p>
              <a:p>
                <a:pPr marL="0" indent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altLang="zh-CN" sz="1800" dirty="0"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  <a:t>栅极驱动能力</a:t>
                </a:r>
                <a:r>
                  <a:rPr lang="zh-CN" altLang="en-US" sz="1800" dirty="0"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  <a:t>强，有最大</a:t>
                </a:r>
                <a:r>
                  <a:rPr lang="zh-CN" altLang="zh-CN" sz="1800" dirty="0"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0.8 </m:t>
                    </m:r>
                    <m:r>
                      <m:rPr>
                        <m:sty m:val="p"/>
                      </m:rPr>
                      <a:rPr lang="en-US" altLang="zh-CN" sz="18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A</m:t>
                    </m:r>
                  </m:oMath>
                </a14:m>
                <a:r>
                  <a:rPr lang="en-US" altLang="zh-CN" sz="1800" dirty="0">
                    <a:effectLst/>
                    <a:latin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800" dirty="0"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  <a:t>拉电流和</a:t>
                </a:r>
                <a:r>
                  <a:rPr lang="zh-CN" altLang="en-US" sz="1800" dirty="0"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  <a:t>最大</a:t>
                </a:r>
                <a:r>
                  <a:rPr lang="zh-CN" altLang="zh-CN" sz="1800" dirty="0"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1 </m:t>
                    </m:r>
                    <m:r>
                      <m:rPr>
                        <m:sty m:val="p"/>
                      </m:rPr>
                      <a:rPr lang="en-US" altLang="zh-CN" sz="18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A</m:t>
                    </m:r>
                  </m:oMath>
                </a14:m>
                <a:r>
                  <a:rPr lang="en-US" altLang="zh-CN" sz="1800" dirty="0">
                    <a:effectLst/>
                    <a:latin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800" dirty="0"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  <a:t>灌电流</a:t>
                </a:r>
                <a:r>
                  <a:rPr lang="zh-CN" altLang="en-US" sz="1800" dirty="0"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  <a:t>。</a:t>
                </a:r>
                <a:endParaRPr lang="en-US" altLang="zh-CN" sz="1800" b="0" i="0" dirty="0">
                  <a:solidFill>
                    <a:srgbClr val="1A1C1F"/>
                  </a:solidFill>
                  <a:effectLst/>
                  <a:latin typeface="-apple-system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b="0" i="0" dirty="0">
                  <a:solidFill>
                    <a:srgbClr val="1A1C1F"/>
                  </a:solidFill>
                  <a:effectLst/>
                  <a:latin typeface="-apple-system"/>
                </a:endParaRPr>
              </a:p>
              <a:p>
                <a:pPr marL="0" indent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altLang="en-US" dirty="0"/>
                  <a:t>首先看低功耗。芯片带有 </a:t>
                </a:r>
                <a:r>
                  <a:rPr lang="en-US" altLang="zh-CN" dirty="0" err="1"/>
                  <a:t>nSLEEP</a:t>
                </a:r>
                <a:r>
                  <a:rPr lang="en-US" altLang="zh-CN" dirty="0"/>
                  <a:t> </a:t>
                </a:r>
                <a:r>
                  <a:rPr lang="zh-CN" altLang="en-US" dirty="0"/>
                  <a:t>睡眠控制脚，进入睡眠状态后静态电流只有</a:t>
                </a:r>
                <a:r>
                  <a:rPr lang="en-US" altLang="zh-CN" dirty="0"/>
                  <a:t>2uA</a:t>
                </a:r>
                <a:r>
                  <a:rPr lang="zh-CN" altLang="en-US" dirty="0"/>
                  <a:t>，适合关机或待机时降低整机功耗。</a:t>
                </a:r>
                <a:endParaRPr lang="en-US" altLang="zh-CN" dirty="0"/>
              </a:p>
              <a:p>
                <a:pPr marL="0" indent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dirty="0"/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高侧驱动采用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Bootstrap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，内部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Charge Pump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用于在高侧长时间导通时维持栅极驱动电压。芯片还集成了可调死区、欠压锁定、过温保护和故障输出，能显著减少外围逻辑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:r>
                  <a:rPr lang="zh-CN" altLang="en-US" sz="1800" dirty="0"/>
                  <a:t>符合</a:t>
                </a:r>
                <a:r>
                  <a:rPr lang="en-US" altLang="zh-CN" sz="1800" dirty="0"/>
                  <a:t>MPS</a:t>
                </a:r>
                <a:r>
                  <a:rPr lang="zh-CN" altLang="en-US" sz="1800" dirty="0"/>
                  <a:t>一惯的高集成度理念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。</a:t>
                </a:r>
                <a:endParaRPr lang="en-US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</a:pPr>
                <a:endParaRPr lang="en-US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芯片同时具备低功耗模式，</a:t>
                </a:r>
                <a:r>
                  <a:rPr lang="zh-CN" altLang="zh-CN" sz="1800" dirty="0"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  <a:t>拉低</a:t>
                </a:r>
                <a:r>
                  <a:rPr lang="en-US" altLang="zh-CN" sz="1800" dirty="0"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en-US" altLang="zh-CN" sz="1800" dirty="0" err="1"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  <a:t>nSLEEP</a:t>
                </a:r>
                <a:r>
                  <a:rPr lang="en-US" altLang="zh-CN" sz="1800" dirty="0"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800" dirty="0"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  <a:t>后，典型休眠电流</a:t>
                </a:r>
                <a:r>
                  <a:rPr lang="zh-CN" altLang="en-US" sz="1800" dirty="0"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  <a:t>仅</a:t>
                </a:r>
                <a14:m>
                  <m:oMath xmlns:m="http://schemas.openxmlformats.org/officeDocument/2006/math"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2 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𝜇</m:t>
                    </m:r>
                    <m:r>
                      <m:rPr>
                        <m:sty m:val="p"/>
                      </m:rPr>
                      <a:rPr lang="en-US" altLang="zh-CN" sz="18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A</m:t>
                    </m:r>
                    <m:r>
                      <a:rPr lang="zh-CN" altLang="en-US" sz="1800" i="1" smtClean="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。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61F48679-E6CF-A28B-4B7E-434E617B3781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indent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 b="1" dirty="0"/>
                  <a:t>&gt;&gt;</a:t>
                </a:r>
                <a:r>
                  <a:rPr lang="zh-CN" altLang="en-US" b="1" dirty="0"/>
                  <a:t>硬件电源树整体方案</a:t>
                </a:r>
                <a:r>
                  <a:rPr lang="en-US" altLang="zh-CN" b="1" dirty="0"/>
                  <a:t>-1</a:t>
                </a:r>
                <a:r>
                  <a:rPr lang="zh-CN" altLang="en-US" b="1" dirty="0"/>
                  <a:t>：驱动电路篇</a:t>
                </a:r>
                <a:endParaRPr lang="en-US" altLang="zh-CN" b="1" dirty="0"/>
              </a:p>
              <a:p>
                <a:pPr marL="0" indent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altLang="zh-CN" dirty="0"/>
              </a:p>
              <a:p>
                <a:pPr marL="0" indent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altLang="en-US" dirty="0"/>
                  <a:t>首先是</a:t>
                </a:r>
                <a:r>
                  <a:rPr lang="zh-CN" altLang="zh-CN" sz="1800" dirty="0"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  <a:t>三相预驱动器</a:t>
                </a:r>
                <a:r>
                  <a:rPr lang="zh-CN" altLang="en-US" sz="1800" dirty="0"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:r>
                  <a:rPr lang="zh-CN" altLang="zh-CN" sz="1800" dirty="0"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  <a:t>选择</a:t>
                </a:r>
                <a:r>
                  <a:rPr lang="en-US" altLang="zh-CN" sz="1800" dirty="0"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  <a:t> MP6539B</a:t>
                </a:r>
                <a:r>
                  <a:rPr lang="zh-CN" altLang="en-US" sz="1800" dirty="0"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  <a:t>。</a:t>
                </a:r>
                <a:r>
                  <a:rPr lang="zh-CN" altLang="zh-CN" sz="1800" dirty="0"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  <a:t>它可以驱动由六颗</a:t>
                </a:r>
                <a:r>
                  <a:rPr lang="en-US" altLang="zh-CN" sz="1800" dirty="0"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  <a:t> N </a:t>
                </a:r>
                <a:r>
                  <a:rPr lang="zh-CN" altLang="zh-CN" sz="1800" dirty="0"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  <a:t>沟道</a:t>
                </a:r>
                <a:r>
                  <a:rPr lang="en-US" altLang="zh-CN" sz="1800" dirty="0"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  <a:t> MOSFET </a:t>
                </a:r>
                <a:r>
                  <a:rPr lang="zh-CN" altLang="zh-CN" sz="1800" dirty="0"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  <a:t>组成的三相半桥，母线工作能力覆盖到 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100 V</a:t>
                </a:r>
                <a:r>
                  <a:rPr lang="zh-CN" altLang="en-US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。</a:t>
                </a:r>
                <a:endParaRPr lang="en-US" b="0" i="0" dirty="0">
                  <a:solidFill>
                    <a:srgbClr val="1A1C1F"/>
                  </a:solidFill>
                  <a:effectLst/>
                  <a:latin typeface="-apple-system"/>
                </a:endParaRPr>
              </a:p>
              <a:p>
                <a:pPr marL="0" indent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b="0" i="0" dirty="0">
                  <a:solidFill>
                    <a:srgbClr val="1A1C1F"/>
                  </a:solidFill>
                  <a:effectLst/>
                  <a:latin typeface="-apple-system"/>
                </a:endParaRPr>
              </a:p>
              <a:p>
                <a:pPr marL="0" indent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altLang="zh-CN" sz="1800" dirty="0"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  <a:t>栅极驱动能力</a:t>
                </a:r>
                <a:r>
                  <a:rPr lang="zh-CN" altLang="en-US" sz="1800" dirty="0"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  <a:t>强，有最大</a:t>
                </a:r>
                <a:r>
                  <a:rPr lang="zh-CN" altLang="zh-CN" sz="1800" dirty="0"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0.8 A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800" dirty="0"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  <a:t>拉电流和</a:t>
                </a:r>
                <a:r>
                  <a:rPr lang="zh-CN" altLang="en-US" sz="1800" dirty="0"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  <a:t>最大</a:t>
                </a:r>
                <a:r>
                  <a:rPr lang="zh-CN" altLang="zh-CN" sz="1800" dirty="0"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1 A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800" dirty="0"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  <a:t>灌电流</a:t>
                </a:r>
                <a:r>
                  <a:rPr lang="zh-CN" altLang="en-US" sz="1800" dirty="0"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  <a:t>。</a:t>
                </a:r>
                <a:endParaRPr lang="en-US" altLang="zh-CN" sz="1800" b="0" i="0" dirty="0">
                  <a:solidFill>
                    <a:srgbClr val="1A1C1F"/>
                  </a:solidFill>
                  <a:effectLst/>
                  <a:latin typeface="-apple-system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b="0" i="0" dirty="0">
                  <a:solidFill>
                    <a:srgbClr val="1A1C1F"/>
                  </a:solidFill>
                  <a:effectLst/>
                  <a:latin typeface="-apple-system"/>
                </a:endParaRPr>
              </a:p>
              <a:p>
                <a:pPr marL="0" indent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altLang="en-US" dirty="0"/>
                  <a:t>首先看低功耗。芯片带有 </a:t>
                </a:r>
                <a:r>
                  <a:rPr lang="en-US" altLang="zh-CN" dirty="0" err="1"/>
                  <a:t>nSLEEP</a:t>
                </a:r>
                <a:r>
                  <a:rPr lang="en-US" altLang="zh-CN" dirty="0"/>
                  <a:t> </a:t>
                </a:r>
                <a:r>
                  <a:rPr lang="zh-CN" altLang="en-US" dirty="0"/>
                  <a:t>睡眠控制脚，进入睡眠状态后静态电流只有</a:t>
                </a:r>
                <a:r>
                  <a:rPr lang="en-US" altLang="zh-CN" dirty="0"/>
                  <a:t>2uA</a:t>
                </a:r>
                <a:r>
                  <a:rPr lang="zh-CN" altLang="en-US" dirty="0"/>
                  <a:t>，适合关机或待机时降低整机功耗。</a:t>
                </a:r>
                <a:endParaRPr lang="en-US" altLang="zh-CN" dirty="0"/>
              </a:p>
              <a:p>
                <a:pPr marL="0" indent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dirty="0"/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高侧驱动采用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Bootstrap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，内部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Charge Pump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用于在高侧长时间导通时维持栅极驱动电压。芯片还集成了可调死区、欠压锁定、过温保护和故障输出，能显著减少外围逻辑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:r>
                  <a:rPr lang="zh-CN" altLang="en-US" sz="1800" dirty="0"/>
                  <a:t>符合</a:t>
                </a:r>
                <a:r>
                  <a:rPr lang="en-US" altLang="zh-CN" sz="1800" dirty="0"/>
                  <a:t>MPS</a:t>
                </a:r>
                <a:r>
                  <a:rPr lang="zh-CN" altLang="en-US" sz="1800" dirty="0"/>
                  <a:t>一惯的高集成度理念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。</a:t>
                </a:r>
                <a:endParaRPr lang="en-US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</a:pPr>
                <a:endParaRPr lang="en-US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芯片同时具备低功耗模式，</a:t>
                </a:r>
                <a:r>
                  <a:rPr lang="zh-CN" altLang="zh-CN" sz="1800" dirty="0"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  <a:t>拉低</a:t>
                </a:r>
                <a:r>
                  <a:rPr lang="en-US" altLang="zh-CN" sz="1800" dirty="0"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en-US" altLang="zh-CN" sz="1800" dirty="0" err="1"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  <a:t>nSLEEP</a:t>
                </a:r>
                <a:r>
                  <a:rPr lang="en-US" altLang="zh-CN" sz="1800" dirty="0"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800" dirty="0"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  <a:t>后，典型休眠电流</a:t>
                </a:r>
                <a:r>
                  <a:rPr lang="zh-CN" altLang="en-US" sz="1800" dirty="0"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  <a:t>仅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2 𝜇A</a:t>
                </a:r>
                <a:r>
                  <a:rPr lang="zh-CN" altLang="en-US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。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831CA8-5AB7-608D-2293-F7CBAA12267B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515500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FDE1D3-892B-EDF7-CAA0-7B5DD95D92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584B0C-8937-B4B3-D91E-AE1BF959F8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63182D-070A-796C-5545-4A529BF780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b="1" dirty="0"/>
              <a:t>&gt;&gt;</a:t>
            </a:r>
            <a:r>
              <a:rPr lang="zh-CN" altLang="en-US" b="1" dirty="0"/>
              <a:t>硬件电源树整体方案</a:t>
            </a:r>
            <a:r>
              <a:rPr lang="en-US" altLang="zh-CN" b="1" dirty="0"/>
              <a:t>-2</a:t>
            </a:r>
            <a:r>
              <a:rPr lang="zh-CN" altLang="en-US" b="1" dirty="0"/>
              <a:t>：位置传感器篇</a:t>
            </a:r>
            <a:r>
              <a:rPr lang="en-US" altLang="zh-CN" b="1" dirty="0"/>
              <a:t>+</a:t>
            </a:r>
            <a:r>
              <a:rPr lang="zh-CN" altLang="en-US" b="1" dirty="0"/>
              <a:t>电流检测</a:t>
            </a:r>
            <a:endParaRPr lang="en-US" altLang="zh-CN" b="1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b="0" i="0" dirty="0">
              <a:solidFill>
                <a:srgbClr val="1A1C1F"/>
              </a:solidFill>
              <a:effectLst/>
              <a:latin typeface="-apple-system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b="0" dirty="0"/>
              <a:t>位置传感器选择</a:t>
            </a:r>
            <a:r>
              <a:rPr lang="en-US" altLang="zh-CN" b="0" dirty="0"/>
              <a:t>MPS</a:t>
            </a:r>
            <a:r>
              <a:rPr lang="zh-CN" altLang="en-US" b="0" dirty="0"/>
              <a:t>的一代神片，</a:t>
            </a:r>
            <a:r>
              <a:rPr lang="en-US" altLang="zh-CN" b="0" dirty="0"/>
              <a:t>MA600A</a:t>
            </a:r>
            <a:r>
              <a:rPr lang="zh-CN" altLang="en-US" b="0" dirty="0"/>
              <a:t>。</a:t>
            </a:r>
            <a:r>
              <a:rPr lang="zh-CN" altLang="zh-CN" sz="1800" dirty="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它采用</a:t>
            </a:r>
            <a:r>
              <a:rPr lang="en-US" altLang="zh-CN" sz="1800" dirty="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 TMR </a:t>
            </a:r>
            <a:r>
              <a:rPr lang="zh-CN" altLang="zh-CN" sz="1800" dirty="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磁敏技术</a:t>
            </a:r>
            <a:r>
              <a:rPr lang="zh-CN" altLang="en-US" sz="1800" dirty="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，相较于霍尔传感器</a:t>
            </a:r>
            <a:r>
              <a:rPr lang="zh-CN" altLang="en-US" dirty="0"/>
              <a:t>，具有更高的磁场灵敏度、更低的噪声、温漂。</a:t>
            </a:r>
            <a:r>
              <a:rPr lang="en-US" altLang="zh-CN" dirty="0"/>
              <a:t>MA600A </a:t>
            </a:r>
            <a:r>
              <a:rPr lang="zh-CN" altLang="en-US" dirty="0"/>
              <a:t>有</a:t>
            </a:r>
            <a:r>
              <a:rPr lang="en-US" altLang="zh-CN" dirty="0"/>
              <a:t>16</a:t>
            </a:r>
            <a:r>
              <a:rPr lang="zh-CN" altLang="en-US" dirty="0"/>
              <a:t>位精度，</a:t>
            </a:r>
            <a:r>
              <a:rPr lang="zh-CN" altLang="zh-CN" sz="1800" dirty="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支持</a:t>
            </a:r>
            <a:r>
              <a:rPr lang="en-US" altLang="zh-CN" sz="1800" dirty="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 SPI</a:t>
            </a:r>
            <a:r>
              <a:rPr lang="zh-CN" altLang="zh-CN" sz="1800" dirty="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800" dirty="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SSI</a:t>
            </a:r>
            <a:r>
              <a:rPr lang="zh-CN" altLang="zh-CN" sz="1800" dirty="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800" dirty="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ABZ</a:t>
            </a:r>
            <a:r>
              <a:rPr lang="zh-CN" altLang="zh-CN" sz="1800" dirty="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800" dirty="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UVW </a:t>
            </a:r>
            <a:r>
              <a:rPr lang="zh-CN" altLang="zh-CN" sz="1800" dirty="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1800" dirty="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 PWM </a:t>
            </a:r>
            <a:r>
              <a:rPr lang="zh-CN" altLang="zh-CN" sz="1800" dirty="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等多种接口。</a:t>
            </a:r>
            <a:endParaRPr lang="en-US" altLang="zh-CN" sz="1800" dirty="0">
              <a:effectLst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800" b="0" dirty="0">
              <a:effectLst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机械结构上，它既支持</a:t>
            </a:r>
            <a:r>
              <a:rPr lang="zh-CN" altLang="en-US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轴安装，也支持旁轴安装。如果采用旁轴结构，就需要根据径向与切向磁场比例进行</a:t>
            </a:r>
            <a:r>
              <a:rPr lang="en-US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BCT </a:t>
            </a: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校准，降低周期性角度误差。</a:t>
            </a:r>
            <a:endParaRPr lang="en-US" sz="1800" b="0" dirty="0">
              <a:effectLst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800" dirty="0">
              <a:effectLst/>
              <a:latin typeface="等线" panose="02010600030101010101" pitchFamily="2" charset="-122"/>
              <a:cs typeface="Times New Roman" panose="02020603050405020304" pitchFamily="18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>
                <a:effectLst/>
                <a:latin typeface="等线" panose="02010600030101010101" pitchFamily="2" charset="-122"/>
                <a:cs typeface="Times New Roman" panose="02020603050405020304" pitchFamily="18" charset="0"/>
              </a:rPr>
              <a:t>MA600A </a:t>
            </a:r>
            <a:r>
              <a:rPr lang="zh-CN" altLang="en-US" sz="1800" dirty="0">
                <a:effectLst/>
                <a:latin typeface="等线" panose="02010600030101010101" pitchFamily="2" charset="-122"/>
                <a:cs typeface="Times New Roman" panose="02020603050405020304" pitchFamily="18" charset="0"/>
              </a:rPr>
              <a:t>官方支持</a:t>
            </a:r>
            <a:r>
              <a:rPr lang="en-US" altLang="zh-CN" sz="1800" dirty="0">
                <a:effectLst/>
                <a:latin typeface="等线" panose="02010600030101010101" pitchFamily="2" charset="-122"/>
                <a:cs typeface="Times New Roman" panose="02020603050405020304" pitchFamily="18" charset="0"/>
              </a:rPr>
              <a:t>32</a:t>
            </a:r>
            <a:r>
              <a:rPr lang="zh-CN" altLang="en-US" sz="1800" dirty="0">
                <a:effectLst/>
                <a:latin typeface="等线" panose="02010600030101010101" pitchFamily="2" charset="-122"/>
                <a:cs typeface="Times New Roman" panose="02020603050405020304" pitchFamily="18" charset="0"/>
              </a:rPr>
              <a:t>点数字</a:t>
            </a:r>
            <a:r>
              <a:rPr lang="en-US" altLang="zh-CN" sz="1800" dirty="0">
                <a:effectLst/>
                <a:latin typeface="等线" panose="02010600030101010101" pitchFamily="2" charset="-122"/>
                <a:cs typeface="Times New Roman" panose="02020603050405020304" pitchFamily="18" charset="0"/>
              </a:rPr>
              <a:t>INL</a:t>
            </a:r>
            <a:r>
              <a:rPr lang="zh-CN" altLang="en-US" sz="1800" dirty="0">
                <a:effectLst/>
                <a:latin typeface="等线" panose="02010600030101010101" pitchFamily="2" charset="-122"/>
                <a:cs typeface="Times New Roman" panose="02020603050405020304" pitchFamily="18" charset="0"/>
              </a:rPr>
              <a:t>校准，有一系列的配套板子与上位机。以</a:t>
            </a:r>
            <a:r>
              <a:rPr lang="zh-CN" altLang="en-US" sz="2800" dirty="0"/>
              <a:t>补偿：磁体安装、磁化误差、板子安装等一系列误差。补偿后可达到误差小于</a:t>
            </a:r>
            <a:r>
              <a:rPr lang="en-US" altLang="zh-CN" sz="2800" dirty="0"/>
              <a:t>0.1</a:t>
            </a:r>
            <a:r>
              <a:rPr lang="zh-CN" altLang="en-US" sz="2800" dirty="0"/>
              <a:t>度，</a:t>
            </a:r>
            <a:r>
              <a:rPr lang="zh-CN" altLang="en-US" sz="2800" b="0" i="0" dirty="0">
                <a:solidFill>
                  <a:srgbClr val="1A1C1F"/>
                </a:solidFill>
                <a:effectLst/>
                <a:latin typeface="-apple-system"/>
              </a:rPr>
              <a:t>自带延迟补偿，补偿后延迟到达了夸张的</a:t>
            </a:r>
            <a:r>
              <a:rPr lang="en-US" altLang="zh-CN" sz="2800" b="0" i="0" dirty="0">
                <a:solidFill>
                  <a:srgbClr val="1A1C1F"/>
                </a:solidFill>
                <a:effectLst/>
                <a:latin typeface="-apple-system"/>
              </a:rPr>
              <a:t>1us</a:t>
            </a:r>
            <a:r>
              <a:rPr lang="zh-CN" altLang="en-US" sz="2800" b="0" i="0" dirty="0">
                <a:solidFill>
                  <a:srgbClr val="1A1C1F"/>
                </a:solidFill>
                <a:effectLst/>
                <a:latin typeface="-apple-system"/>
              </a:rPr>
              <a:t>内，有</a:t>
            </a:r>
            <a:r>
              <a:rPr lang="en-US" altLang="zh-CN" sz="2800" dirty="0"/>
              <a:t>12khz</a:t>
            </a:r>
            <a:r>
              <a:rPr lang="zh-CN" altLang="en-US" sz="2800" dirty="0"/>
              <a:t>的带宽。</a:t>
            </a:r>
            <a:endParaRPr lang="en-US" altLang="zh-CN" sz="1800" dirty="0">
              <a:effectLst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800" b="0" dirty="0">
              <a:effectLst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45A39F-5C95-9D70-ECEA-E93633A3DC54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348296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2CCA77-EE6E-A26B-0601-D1ABCA70DE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75A1D8-6BA6-6642-82C9-3E91B6EB13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40BBB5-7A8E-34D2-76E1-25C6C796D5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b="1" dirty="0"/>
              <a:t>&gt;&gt;</a:t>
            </a:r>
            <a:r>
              <a:rPr lang="zh-CN" altLang="en-US" b="1" dirty="0"/>
              <a:t>硬件电源树整体方案</a:t>
            </a:r>
            <a:r>
              <a:rPr lang="en-US" altLang="zh-CN" b="1" dirty="0"/>
              <a:t>-2</a:t>
            </a:r>
            <a:r>
              <a:rPr lang="zh-CN" altLang="en-US" b="1" dirty="0"/>
              <a:t>：位置传感器篇</a:t>
            </a:r>
            <a:r>
              <a:rPr lang="en-US" altLang="zh-CN" b="1" dirty="0"/>
              <a:t>+</a:t>
            </a:r>
            <a:r>
              <a:rPr lang="zh-CN" altLang="en-US" b="1" dirty="0"/>
              <a:t>电流检测</a:t>
            </a:r>
            <a:endParaRPr lang="en-US" altLang="zh-CN" b="1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b="1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b="0" dirty="0"/>
              <a:t>旁轴使用时，可以使用多个</a:t>
            </a:r>
            <a:r>
              <a:rPr lang="en-US" altLang="zh-CN" b="0" dirty="0"/>
              <a:t>MA600A</a:t>
            </a:r>
            <a:r>
              <a:rPr lang="zh-CN" altLang="en-US" b="0" dirty="0"/>
              <a:t>，协同矫正。</a:t>
            </a:r>
            <a:r>
              <a:rPr lang="zh-CN" altLang="en-US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其</a:t>
            </a:r>
            <a:r>
              <a:rPr lang="en-US" altLang="zh-CN" sz="18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支持</a:t>
            </a:r>
            <a:r>
              <a:rPr lang="en-US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SPI </a:t>
            </a:r>
            <a:r>
              <a:rPr lang="en-US" altLang="zh-CN" sz="18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菊花链。多颗传感器可以共享时钟和片选，用较少的</a:t>
            </a:r>
            <a:r>
              <a:rPr lang="en-US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MCU I/O </a:t>
            </a:r>
            <a:r>
              <a:rPr lang="en-US" altLang="zh-CN" sz="18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集中读取多组角度</a:t>
            </a:r>
            <a:r>
              <a:rPr lang="en-US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。</a:t>
            </a: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这为后续扩展留出了空间；</a:t>
            </a:r>
            <a:endParaRPr lang="en-US" altLang="zh-CN" sz="18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800" b="0" i="0" dirty="0">
              <a:solidFill>
                <a:srgbClr val="1A1C1F"/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ts val="900"/>
              </a:spcBef>
              <a:spcAft>
                <a:spcPts val="900"/>
              </a:spcAft>
              <a:buNone/>
            </a:pP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再看电流采样。常见方案包括相线采样和低侧采样。相线采样不受低侧</a:t>
            </a:r>
            <a:r>
              <a:rPr lang="en-US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MOSFET </a:t>
            </a: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开关状态限制，但共模电压高，对放大器和布局要求更高；低侧采样电路简单、共模范围低</a:t>
            </a:r>
            <a:r>
              <a:rPr lang="zh-CN" altLang="en-US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，成本低。</a:t>
            </a:r>
            <a:endParaRPr lang="en-US" altLang="zh-CN" sz="18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800" b="0" i="0" dirty="0">
              <a:solidFill>
                <a:srgbClr val="1A1C1F"/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b="0" i="0" dirty="0">
              <a:solidFill>
                <a:srgbClr val="1A1C1F"/>
              </a:solidFill>
              <a:effectLst/>
              <a:latin typeface="-apple-system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92462B-4DC0-FE98-C0FA-F37BA689F8E3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866526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indent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 b="1" dirty="0"/>
                  <a:t>&gt;&gt;</a:t>
                </a:r>
                <a:r>
                  <a:rPr lang="zh-CN" altLang="en-US" b="1" dirty="0"/>
                  <a:t>硬件电源树整体方案</a:t>
                </a:r>
                <a:r>
                  <a:rPr lang="en-US" altLang="zh-CN" b="1" dirty="0"/>
                  <a:t>-3</a:t>
                </a:r>
                <a:r>
                  <a:rPr lang="zh-CN" altLang="en-US" b="1" dirty="0"/>
                  <a:t>：辅助电源篇</a:t>
                </a:r>
                <a:r>
                  <a:rPr lang="en-US" altLang="zh-CN" b="1" dirty="0"/>
                  <a:t>-1</a:t>
                </a:r>
              </a:p>
              <a:p>
                <a:pPr marL="0" indent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dirty="0"/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辅助电源采用逐级降压。</a:t>
                </a: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第一级是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MP4583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，它支持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4.5</m:t>
                    </m:r>
                  </m:oMath>
                </a14:m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到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100 </m:t>
                    </m:r>
                    <m:r>
                      <m:rPr>
                        <m:sty m:val="p"/>
                      </m:rPr>
                      <a:rPr lang="en-US" altLang="zh-CN" sz="18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V</m:t>
                    </m:r>
                  </m:oMath>
                </a14:m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输入，可以直接覆盖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48 </m:t>
                    </m:r>
                    <m:r>
                      <m:rPr>
                        <m:sty m:val="p"/>
                      </m:rPr>
                      <a:rPr lang="en-US" altLang="zh-CN" sz="18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V</m:t>
                    </m:r>
                  </m:oMath>
                </a14:m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电池平台以及一定的母线抬升，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且可与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MP6539B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的工作范围相配合。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输出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12 </m:t>
                    </m:r>
                    <m:r>
                      <m:rPr>
                        <m:sty m:val="p"/>
                      </m:rPr>
                      <a:rPr lang="en-US" altLang="zh-CN" sz="18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V</m:t>
                    </m:r>
                  </m:oMath>
                </a14:m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给栅极驱动和后级电源。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MP4583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内部集成功率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MOSFET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、环路补偿和多种保护，外围器件较少，适合紧凑控制板。</a:t>
                </a:r>
                <a:endParaRPr lang="en-US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endParaRPr lang="zh-CN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第二级采用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MPM3632S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，把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12 </m:t>
                    </m:r>
                    <m:r>
                      <m:rPr>
                        <m:sty m:val="p"/>
                      </m:rPr>
                      <a:rPr lang="en-US" altLang="zh-CN" sz="18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V</m:t>
                    </m:r>
                  </m:oMath>
                </a14:m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降到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5 </m:t>
                    </m:r>
                    <m:r>
                      <m:rPr>
                        <m:sty m:val="p"/>
                      </m:rPr>
                      <a:rPr lang="en-US" altLang="zh-CN" sz="18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V</m:t>
                    </m:r>
                  </m:oMath>
                </a14:m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。</a:t>
                </a: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它把电感和部分电容集成进约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3</m:t>
                    </m:r>
                    <m:r>
                      <a:rPr lang="en-US" altLang="zh-CN" sz="18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3</m:t>
                    </m:r>
                    <m:r>
                      <a:rPr lang="en-US" altLang="zh-CN" sz="18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1.45 </m:t>
                    </m:r>
                    <m:r>
                      <m:rPr>
                        <m:sty m:val="p"/>
                      </m:rPr>
                      <a:rPr lang="en-US" altLang="zh-CN" sz="18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mm</m:t>
                    </m:r>
                  </m:oMath>
                </a14:m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的模块内，明显缩小电源面积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，集成设计的集大成之作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；采用高频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COT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控制，适合负载快速变化的数字与模拟混合系统。</a:t>
                </a:r>
              </a:p>
              <a:p>
                <a:pPr marL="0" indent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indent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 b="1" dirty="0"/>
                  <a:t>&gt;&gt;</a:t>
                </a:r>
                <a:r>
                  <a:rPr lang="zh-CN" altLang="en-US" b="1" dirty="0"/>
                  <a:t>硬件电源树整体方案</a:t>
                </a:r>
                <a:r>
                  <a:rPr lang="en-US" altLang="zh-CN" b="1" dirty="0"/>
                  <a:t>-3</a:t>
                </a:r>
                <a:r>
                  <a:rPr lang="zh-CN" altLang="en-US" b="1" dirty="0"/>
                  <a:t>：辅助电源篇</a:t>
                </a:r>
                <a:r>
                  <a:rPr lang="en-US" altLang="zh-CN" b="1" dirty="0"/>
                  <a:t>-1</a:t>
                </a:r>
              </a:p>
              <a:p>
                <a:pPr marL="0" indent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dirty="0"/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辅助电源采用逐级降压。</a:t>
                </a: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第一级是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MP4583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，它支持 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4.5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到 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100 V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输入，可以直接覆盖 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48 V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电池平台以及一定的母线抬升，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且可与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MP6539B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的工作范围相配合。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输出 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12 V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给栅极驱动和后级电源。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MP4583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内部集成功率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MOSFET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、环路补偿和多种保护，外围器件较少，适合紧凑控制板。</a:t>
                </a:r>
                <a:endParaRPr lang="en-US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endParaRPr lang="zh-CN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第二级采用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MPM3632S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，把 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12 V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降到 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5 V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。</a:t>
                </a: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它把电感和部分电容集成进约 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3×3×1.45 mm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的模块内，明显缩小电源面积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，集成设计的集大成之作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；采用高频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COT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控制，适合负载快速变化的数字与模拟混合系统。</a:t>
                </a:r>
              </a:p>
              <a:p>
                <a:pPr marL="0" indent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CEF096-8857-FF18-6972-FDA073D84B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D5EDAB-6B05-6D5A-2CB4-52B47F39CB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52796151-F911-BB4F-1A1A-0BEFC6EEDD3B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indent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 b="1" dirty="0"/>
                  <a:t>&gt;&gt;</a:t>
                </a:r>
                <a:r>
                  <a:rPr lang="zh-CN" altLang="en-US" b="1" dirty="0"/>
                  <a:t>硬件电源树整体方案</a:t>
                </a:r>
                <a:r>
                  <a:rPr lang="en-US" altLang="zh-CN" b="1" dirty="0"/>
                  <a:t>-3</a:t>
                </a:r>
                <a:r>
                  <a:rPr lang="zh-CN" altLang="en-US" b="1" dirty="0"/>
                  <a:t>：辅助电源篇</a:t>
                </a:r>
                <a:r>
                  <a:rPr lang="en-US" altLang="zh-CN" b="1" dirty="0"/>
                  <a:t>-2</a:t>
                </a:r>
              </a:p>
              <a:p>
                <a:pPr marL="0" indent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b="0" i="0" dirty="0">
                  <a:solidFill>
                    <a:srgbClr val="1A1C1F"/>
                  </a:solidFill>
                  <a:effectLst/>
                  <a:latin typeface="-apple-system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得到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5 </m:t>
                    </m:r>
                    <m:r>
                      <m:rPr>
                        <m:sty m:val="p"/>
                      </m:rPr>
                      <a:rPr lang="en-US" altLang="zh-CN" sz="18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V</m:t>
                    </m:r>
                  </m:oMath>
                </a14:m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以后，再分成两路。</a:t>
                </a: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第一路通过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MP20051DQ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生成干净的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3.3 </m:t>
                    </m:r>
                    <m:r>
                      <m:rPr>
                        <m:sty m:val="p"/>
                      </m:rPr>
                      <a:rPr lang="en-US" altLang="zh-CN" sz="18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V</m:t>
                    </m:r>
                  </m:oMath>
                </a14:m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。这颗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LDO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在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1 </m:t>
                    </m:r>
                    <m:r>
                      <m:rPr>
                        <m:sty m:val="p"/>
                      </m:rPr>
                      <a:rPr lang="en-US" altLang="zh-CN" sz="18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A</m:t>
                    </m:r>
                  </m:oMath>
                </a14:m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负载下压差约为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140 </m:t>
                    </m:r>
                    <m:r>
                      <m:rPr>
                        <m:sty m:val="p"/>
                      </m:rPr>
                      <a:rPr lang="en-US" altLang="zh-CN" sz="18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mV</m:t>
                    </m:r>
                  </m:oMath>
                </a14:m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，典型输出噪声约为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13 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𝜇</m:t>
                    </m:r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8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V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8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RMS</m:t>
                        </m:r>
                      </m:sub>
                    </m:sSub>
                  </m:oMath>
                </a14:m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。低噪声供电可以减少电源纹波对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ADC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、电流放大器和编码器的影响。</a:t>
                </a: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endParaRPr lang="en-US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第二路通过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MIE1W0505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生成隔离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5 </m:t>
                    </m:r>
                    <m:r>
                      <m:rPr>
                        <m:sty m:val="p"/>
                      </m:rPr>
                      <a:rPr lang="en-US" altLang="zh-CN" sz="18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V</m:t>
                    </m:r>
                  </m:oMath>
                </a14:m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，给隔离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CAN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收发器的总线侧供电。它在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5 </m:t>
                    </m:r>
                    <m:r>
                      <m:rPr>
                        <m:sty m:val="p"/>
                      </m:rPr>
                      <a:rPr lang="en-US" altLang="zh-CN" sz="18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V</m:t>
                    </m:r>
                  </m:oMath>
                </a14:m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输入、</a:t>
                </a:r>
                <a14:m>
                  <m:oMath xmlns:m="http://schemas.openxmlformats.org/officeDocument/2006/math"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5 </m:t>
                    </m:r>
                    <m:r>
                      <m:rPr>
                        <m:sty m:val="p"/>
                      </m:rPr>
                      <a:rPr lang="en-US" altLang="zh-CN" sz="18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V</m:t>
                    </m:r>
                  </m:oMath>
                </a14:m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输出条件下可以提供不低于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200 </m:t>
                    </m:r>
                    <m:r>
                      <m:rPr>
                        <m:sty m:val="p"/>
                      </m:rPr>
                      <a:rPr lang="en-US" altLang="zh-CN" sz="18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mA</m:t>
                    </m:r>
                  </m:oMath>
                </a14:m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的负载能力，并带短路和过温保护。</a:t>
                </a:r>
              </a:p>
              <a:p>
                <a:pPr marL="0" indent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mc:Choice>
        <mc:Fallback xmlns="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52796151-F911-BB4F-1A1A-0BEFC6EEDD3B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indent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 b="1" dirty="0"/>
                  <a:t>&gt;&gt;</a:t>
                </a:r>
                <a:r>
                  <a:rPr lang="zh-CN" altLang="en-US" b="1" dirty="0"/>
                  <a:t>硬件电源树整体方案</a:t>
                </a:r>
                <a:r>
                  <a:rPr lang="en-US" altLang="zh-CN" b="1" dirty="0"/>
                  <a:t>-3</a:t>
                </a:r>
                <a:r>
                  <a:rPr lang="zh-CN" altLang="en-US" b="1" dirty="0"/>
                  <a:t>：辅助电源篇</a:t>
                </a:r>
                <a:r>
                  <a:rPr lang="en-US" altLang="zh-CN" b="1" dirty="0"/>
                  <a:t>-2</a:t>
                </a:r>
              </a:p>
              <a:p>
                <a:pPr marL="0" indent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b="0" i="0" dirty="0">
                  <a:solidFill>
                    <a:srgbClr val="1A1C1F"/>
                  </a:solidFill>
                  <a:effectLst/>
                  <a:latin typeface="-apple-system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得到 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5 V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以后，再分成两路。</a:t>
                </a: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第一路通过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MP20051DQ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生成干净的 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3.3 V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。这颗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LDO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在 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1 A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负载下压差约为 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140 mV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，典型输出噪声约为 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13 𝜇V</a:t>
                </a:r>
                <a:r>
                  <a:rPr lang="zh-CN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_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RMS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。低噪声供电可以减少电源纹波对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ADC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、电流放大器和编码器的影响。</a:t>
                </a: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endParaRPr lang="en-US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第二路通过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MIE1W0505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生成隔离 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5 V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，给隔离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CAN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收发器的总线侧供电。它在 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5 V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输入、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5 V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输出条件下可以提供不低于 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200 mA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的负载能力，并带短路和过温保护。</a:t>
                </a:r>
              </a:p>
              <a:p>
                <a:pPr marL="0" indent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7F815A-0C4C-6A8E-1C24-5128830800B0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125537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900"/>
                  </a:spcBef>
                  <a:spcAft>
                    <a:spcPts val="9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到这里，整套器件关系就清楚了。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让我们来做一个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overview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。本图可以清晰地展示整个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FOC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方案的器件选型</a:t>
                </a:r>
                <a:endParaRPr lang="en-US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endParaRPr lang="zh-CN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电源链从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48 </m:t>
                    </m:r>
                    <m:r>
                      <m:rPr>
                        <m:sty m:val="p"/>
                      </m:rPr>
                      <a:rPr lang="en-US" altLang="zh-CN" sz="18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V</m:t>
                    </m:r>
                  </m:oMath>
                </a14:m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依次得到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12 </m:t>
                    </m:r>
                    <m:r>
                      <m:rPr>
                        <m:sty m:val="p"/>
                      </m:rPr>
                      <a:rPr lang="en-US" altLang="zh-CN" sz="18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V</m:t>
                    </m:r>
                  </m:oMath>
                </a14:m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5 </m:t>
                    </m:r>
                    <m:r>
                      <m:rPr>
                        <m:sty m:val="p"/>
                      </m:rPr>
                      <a:rPr lang="en-US" altLang="zh-CN" sz="18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V</m:t>
                    </m:r>
                  </m:oMath>
                </a14:m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3.3 </m:t>
                    </m:r>
                    <m:r>
                      <m:rPr>
                        <m:sty m:val="p"/>
                      </m:rPr>
                      <a:rPr lang="en-US" altLang="zh-CN" sz="18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V</m:t>
                    </m:r>
                  </m:oMath>
                </a14:m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和隔离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5 </m:t>
                    </m:r>
                    <m:r>
                      <m:rPr>
                        <m:sty m:val="p"/>
                      </m:rPr>
                      <a:rPr lang="en-US" altLang="zh-CN" sz="18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V</m:t>
                    </m:r>
                  </m:oMath>
                </a14:m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；功率链由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MP6539B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驱动六颗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MOSFET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逆变桥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；反馈链由三相电流采样和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MA600A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组成；通信链则由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MCU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、隔离器件和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CAN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收发器组成。</a:t>
                </a:r>
                <a:endParaRPr lang="en-US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endParaRPr lang="en-US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下一步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我们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解决这些器件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在实际设计时需要注意什么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。</a:t>
                </a:r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900"/>
                  </a:spcBef>
                  <a:spcAft>
                    <a:spcPts val="9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到这里，整套器件关系就清楚了。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让我们来做一个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overview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。本图可以清晰地展示整个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FOC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方案的器件选型</a:t>
                </a:r>
                <a:endParaRPr lang="en-US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endParaRPr lang="zh-CN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电源链从 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48 V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依次得到 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12 V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、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5 V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、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3.3 V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和隔离 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5 V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；功率链由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MP6539B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驱动六颗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MOSFET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逆变桥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；反馈链由三相电流采样和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MA600A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组成；通信链则由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MCU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、隔离器件和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CAN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收发器组成。</a:t>
                </a:r>
                <a:endParaRPr lang="en-US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endParaRPr lang="en-US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下一步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我们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解决这些器件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在实际设计时需要注意什么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。</a:t>
                </a:r>
              </a:p>
              <a:p>
                <a:endParaRPr lang="zh-CN" altLang="en-US" dirty="0"/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C230A1-F8EC-4231-839A-37D69409E394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430486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dirty="0"/>
                  <a:t>进入 PCB Layout。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在不到五厘米见方的空间里，需要同时放下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48 </m:t>
                    </m:r>
                    <m:r>
                      <m:rPr>
                        <m:sty m:val="p"/>
                      </m:rPr>
                      <a:rPr lang="en-US" altLang="zh-CN" sz="18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V</m:t>
                    </m:r>
                  </m:oMath>
                </a14:m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功率级、三相采样、磁编码器、辅助电源、主控和隔离通信。顶层负责器件、功率铜皮、栅极驱动和关键信号；</a:t>
                </a:r>
                <a:endParaRPr lang="en-US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endParaRPr lang="en-US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第二层尽量保持连续参考地，为采样和控制信号提供低阻抗回流；第三层用于电源分配和局部铜面；底层布置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MCU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、驱动与低速控制信号，并通过过孔完成上下层连接。</a:t>
                </a:r>
                <a:endParaRPr lang="en-US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endParaRPr lang="zh-CN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dirty="0"/>
                  <a:t>本项目</a:t>
                </a:r>
                <a:r>
                  <a:rPr lang="zh-CN" altLang="zh-CN" dirty="0"/>
                  <a:t>成品厚度约 1.6 毫米，外层铜厚约 1 盎司</a:t>
                </a:r>
                <a:r>
                  <a:rPr lang="zh-CN" altLang="en-US" dirty="0"/>
                  <a:t>，有条件的嘉人可以依照工业标准加厚到</a:t>
                </a:r>
                <a:r>
                  <a:rPr lang="en-US" altLang="zh-CN" dirty="0"/>
                  <a:t>2</a:t>
                </a:r>
                <a:r>
                  <a:rPr lang="zh-CN" altLang="zh-CN" dirty="0"/>
                  <a:t>盎司。</a:t>
                </a:r>
                <a:endParaRPr lang="en-US" altLang="zh-CN" dirty="0"/>
              </a:p>
              <a:p>
                <a:endParaRPr lang="zh-CN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dirty="0"/>
                  <a:t>进入 PCB Layout。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在不到五厘米见方的空间里，需要同时放下 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48 V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功率级、三相采样、磁编码器、辅助电源、主控和隔离通信。顶层负责器件、功率铜皮、栅极驱动和关键信号；</a:t>
                </a:r>
                <a:endParaRPr lang="en-US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endParaRPr lang="en-US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第二层尽量保持连续参考地，为采样和控制信号提供低阻抗回流；第三层用于电源分配和局部铜面；底层布置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MCU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、驱动与低速控制信号，并通过过孔完成上下层连接。</a:t>
                </a:r>
                <a:endParaRPr lang="en-US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endParaRPr lang="zh-CN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dirty="0"/>
                  <a:t>本项目</a:t>
                </a:r>
                <a:r>
                  <a:rPr lang="zh-CN" altLang="zh-CN" dirty="0"/>
                  <a:t>成品厚度约 1.6 毫米，外层铜厚约 1 盎司</a:t>
                </a:r>
                <a:r>
                  <a:rPr lang="zh-CN" altLang="en-US" dirty="0"/>
                  <a:t>，有条件的嘉人可以依照工业标准加厚到</a:t>
                </a:r>
                <a:r>
                  <a:rPr lang="en-US" altLang="zh-CN" dirty="0"/>
                  <a:t>2</a:t>
                </a:r>
                <a:r>
                  <a:rPr lang="zh-CN" altLang="zh-CN" dirty="0"/>
                  <a:t>盎司。</a:t>
                </a:r>
                <a:endParaRPr lang="en-US" altLang="zh-CN" dirty="0"/>
              </a:p>
              <a:p>
                <a:endParaRPr lang="zh-CN" dirty="0"/>
              </a:p>
            </p:txBody>
          </p:sp>
        </mc:Fallback>
      </mc:AlternateContent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ts val="900"/>
              </a:spcBef>
              <a:spcAft>
                <a:spcPts val="900"/>
              </a:spcAft>
              <a:buNone/>
            </a:pP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布局以电机轴线和</a:t>
            </a:r>
            <a:r>
              <a:rPr lang="en-US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MA600A </a:t>
            </a: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为中心展开。编码器对准磁体中心，它的位置先确定，周围再划出磁场洁净区。</a:t>
            </a:r>
            <a:endParaRPr lang="en-US" altLang="zh-CN" sz="18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ts val="900"/>
              </a:spcBef>
              <a:spcAft>
                <a:spcPts val="900"/>
              </a:spcAft>
              <a:buNone/>
            </a:pPr>
            <a:endParaRPr lang="zh-CN" altLang="zh-CN" sz="18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ts val="900"/>
              </a:spcBef>
              <a:spcAft>
                <a:spcPts val="900"/>
              </a:spcAft>
              <a:buNone/>
            </a:pP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六颗</a:t>
            </a:r>
            <a:r>
              <a:rPr lang="en-US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MOSFET </a:t>
            </a: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沿</a:t>
            </a:r>
            <a:r>
              <a:rPr lang="zh-CN" altLang="en-US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外围</a:t>
            </a: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板边分布</a:t>
            </a:r>
            <a:r>
              <a:rPr lang="zh-CN" altLang="en-US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展开</a:t>
            </a: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zh-CN" altLang="en-US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原理中心信号区域。</a:t>
            </a:r>
            <a:endParaRPr lang="en-US" altLang="zh-CN" sz="18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ts val="900"/>
              </a:spcBef>
              <a:spcAft>
                <a:spcPts val="900"/>
              </a:spcAft>
              <a:buNone/>
            </a:pPr>
            <a:endParaRPr lang="zh-CN" altLang="zh-CN" sz="18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ts val="900"/>
              </a:spcBef>
              <a:spcAft>
                <a:spcPts val="900"/>
              </a:spcAft>
              <a:buNone/>
            </a:pPr>
            <a:r>
              <a:rPr lang="en-US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MP6539B </a:t>
            </a: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靠近功率级，</a:t>
            </a:r>
            <a:r>
              <a:rPr lang="en-US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STM32G431 </a:t>
            </a: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和三相采样集中在控制区。辅助电源与隔离</a:t>
            </a:r>
            <a:r>
              <a:rPr lang="en-US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CAN </a:t>
            </a: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放在板边。</a:t>
            </a:r>
            <a:endParaRPr lang="en-US" altLang="zh-CN" sz="18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ts val="900"/>
              </a:spcBef>
              <a:spcAft>
                <a:spcPts val="900"/>
              </a:spcAft>
              <a:buNone/>
            </a:pPr>
            <a:endParaRPr lang="zh-CN" altLang="zh-CN" sz="18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整板分区只有两个原则：第一，缩短大电流与高频换流回路；第二，把编码器、电流采样和通信等敏感区域与开关节点隔开。</a:t>
            </a:r>
          </a:p>
          <a:p>
            <a:endParaRPr lang="zh-CN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功率级最先关注主换流回路。</a:t>
            </a:r>
            <a:endParaRPr lang="en-US" altLang="zh-CN" sz="18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zh-CN" sz="18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电流从母线电容进入半桥，经相线和分流电阻返回母线负端。这个环路面积越大，寄生电感越大，</a:t>
            </a:r>
            <a:r>
              <a:rPr lang="en-US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MOSFET </a:t>
            </a: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开关时的母线尖峰、振铃和电磁干扰就越难控制。因此上下桥臂要靠近摆放，母线陶瓷电容要贴近功率桥，回路尽量短而宽。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8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第二个关键回路是栅极驱动。参考了</a:t>
            </a:r>
            <a:r>
              <a:rPr lang="en-US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MPS </a:t>
            </a: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官方</a:t>
            </a:r>
            <a:r>
              <a:rPr lang="en-US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Demo Board </a:t>
            </a: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和应用笔记的布局。</a:t>
            </a:r>
            <a:r>
              <a:rPr lang="en-US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Gate </a:t>
            </a: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Source </a:t>
            </a: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回路要成对、短距离布线；</a:t>
            </a:r>
            <a:r>
              <a:rPr lang="en-US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Bootstrap </a:t>
            </a: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电容紧贴</a:t>
            </a:r>
            <a:r>
              <a:rPr lang="en-US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BSTx</a:t>
            </a:r>
            <a:r>
              <a:rPr lang="en-US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SHx</a:t>
            </a:r>
            <a:r>
              <a:rPr lang="en-US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引脚，</a:t>
            </a:r>
            <a:r>
              <a:rPr lang="en-US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VDD </a:t>
            </a: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去耦电容也要紧贴</a:t>
            </a:r>
            <a:r>
              <a:rPr lang="en-US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VDD </a:t>
            </a: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GND</a:t>
            </a: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。</a:t>
            </a:r>
            <a:r>
              <a:rPr lang="zh-CN" altLang="zh-CN" sz="1800" dirty="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降低栅极回路电感，减少误导通和振荡。</a:t>
            </a:r>
            <a:endParaRPr lang="zh-CN" altLang="zh-CN" sz="18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BD212C-85B0-8D8E-7F0B-E6FD66F61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95E9CB-FD09-8E94-DAD6-8B2523BB27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3F450D-7BFF-8129-3323-4747298DE8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功率级最先关注主换流回路。</a:t>
            </a:r>
            <a:endParaRPr lang="en-US" altLang="zh-CN" sz="18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zh-CN" sz="18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电流从母线电容进入半桥，经相线和分流电阻返回母线负端。这个环路面积越大，寄生电感越大，</a:t>
            </a:r>
            <a:r>
              <a:rPr lang="en-US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MOSFET </a:t>
            </a: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开关时的母线尖峰、振铃和电磁干扰就越难控制。因此上下桥臂要靠近摆放，母线陶瓷电容要贴近功率桥，回路尽量短而宽。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8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第二个关键回路是栅极驱动。参考了</a:t>
            </a:r>
            <a:r>
              <a:rPr lang="en-US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MPS </a:t>
            </a: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官方</a:t>
            </a:r>
            <a:r>
              <a:rPr lang="en-US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Demo Board </a:t>
            </a: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和应用笔记的布局。</a:t>
            </a:r>
            <a:r>
              <a:rPr lang="en-US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Gate </a:t>
            </a: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Source </a:t>
            </a: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回路要成对、短距离布线；</a:t>
            </a:r>
            <a:r>
              <a:rPr lang="en-US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Bootstrap </a:t>
            </a: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电容紧贴</a:t>
            </a:r>
            <a:r>
              <a:rPr lang="en-US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BSTx</a:t>
            </a:r>
            <a:r>
              <a:rPr lang="en-US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SHx</a:t>
            </a:r>
            <a:r>
              <a:rPr lang="en-US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引脚，</a:t>
            </a:r>
            <a:r>
              <a:rPr lang="en-US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VDD </a:t>
            </a: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去耦电容也要紧贴</a:t>
            </a:r>
            <a:r>
              <a:rPr lang="en-US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VDD </a:t>
            </a: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GND</a:t>
            </a: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。</a:t>
            </a:r>
            <a:r>
              <a:rPr lang="zh-CN" altLang="zh-CN" sz="1800" dirty="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降低栅极回路电感，减少误导通和振荡。</a:t>
            </a:r>
            <a:endParaRPr lang="zh-CN" altLang="zh-CN" sz="18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359103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电流采样部分，</a:t>
            </a:r>
            <a:r>
              <a:rPr lang="zh-CN" dirty="0"/>
              <a:t>三相电流均通过 10 毫欧分流电阻和 INA240A1 采集，整体比例为 0.2 伏每安培。分流电阻两端采用 Kelvin 取样，差分线成对引到 INA240，并避开相位开关节点和栅极走线，输出</a:t>
            </a:r>
            <a:r>
              <a:rPr lang="zh-CN" altLang="en-US" dirty="0"/>
              <a:t>经</a:t>
            </a:r>
            <a:r>
              <a:rPr lang="en-US" altLang="zh-CN" dirty="0"/>
              <a:t>ADC</a:t>
            </a:r>
            <a:r>
              <a:rPr lang="zh-CN" altLang="en-US" dirty="0"/>
              <a:t>处理后，进一步使用数字滤波处理</a:t>
            </a:r>
            <a:r>
              <a:rPr lang="zh-CN" dirty="0"/>
              <a:t>。</a:t>
            </a:r>
            <a:endParaRPr lang="en-US" altLang="zh-CN" dirty="0"/>
          </a:p>
          <a:p>
            <a:endParaRPr lang="en-US" altLang="zh-CN" dirty="0"/>
          </a:p>
          <a:p>
            <a:pPr>
              <a:spcBef>
                <a:spcPts val="900"/>
              </a:spcBef>
              <a:spcAft>
                <a:spcPts val="900"/>
              </a:spcAft>
              <a:buNone/>
            </a:pPr>
            <a:r>
              <a:rPr lang="en-US" altLang="zh-CN" sz="18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三相电流分别通过</a:t>
            </a:r>
            <a:r>
              <a:rPr lang="en-US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分流电阻和</a:t>
            </a:r>
            <a:r>
              <a:rPr lang="zh-CN" altLang="en-US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运放</a:t>
            </a:r>
            <a:r>
              <a:rPr lang="en-US" altLang="zh-CN" sz="18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采集。分流电阻使用</a:t>
            </a:r>
            <a:r>
              <a:rPr lang="en-US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Kelvin </a:t>
            </a:r>
            <a:r>
              <a:rPr lang="en-US" altLang="zh-CN" sz="18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引线</a:t>
            </a:r>
            <a:r>
              <a:rPr lang="en-US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。</a:t>
            </a: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也就是，功率电流从电阻的大焊盘通过，采样差分线从独立取样点成对引出，不与功率铜皮共用一段压降。</a:t>
            </a:r>
            <a:endParaRPr lang="en-US" altLang="zh-CN" sz="18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ts val="900"/>
              </a:spcBef>
              <a:spcAft>
                <a:spcPts val="900"/>
              </a:spcAft>
              <a:buNone/>
            </a:pPr>
            <a:endParaRPr lang="zh-CN" altLang="zh-CN" sz="18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ts val="900"/>
              </a:spcBef>
              <a:spcAft>
                <a:spcPts val="900"/>
              </a:spcAft>
              <a:buNone/>
            </a:pP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差分线要短、对称，并远离</a:t>
            </a:r>
            <a:r>
              <a:rPr lang="en-US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SHx</a:t>
            </a: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SW</a:t>
            </a: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、栅极走线和电机相线。</a:t>
            </a:r>
            <a:endParaRPr lang="en-US" altLang="zh-CN" sz="18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ts val="900"/>
              </a:spcBef>
              <a:spcAft>
                <a:spcPts val="900"/>
              </a:spcAft>
              <a:buNone/>
            </a:pPr>
            <a:endParaRPr lang="zh-CN" altLang="zh-CN" sz="18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ts val="900"/>
              </a:spcBef>
              <a:spcAft>
                <a:spcPts val="900"/>
              </a:spcAft>
              <a:buNone/>
            </a:pP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放大器输出端的</a:t>
            </a:r>
            <a:r>
              <a:rPr lang="en-US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RC </a:t>
            </a: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滤波器靠近</a:t>
            </a:r>
            <a:r>
              <a:rPr lang="en-US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ADC</a:t>
            </a: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。滤波器的作用是抑制开关尖峰和</a:t>
            </a:r>
            <a:r>
              <a:rPr lang="en-US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ADC </a:t>
            </a: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混叠，但截止频率</a:t>
            </a:r>
            <a:r>
              <a:rPr lang="zh-CN" altLang="en-US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注意</a:t>
            </a: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不能低到破坏电流环带宽</a:t>
            </a:r>
            <a:r>
              <a:rPr lang="zh-CN" altLang="en-US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，仅用于滤除一些</a:t>
            </a:r>
            <a:r>
              <a:rPr lang="en-US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10khz</a:t>
            </a:r>
            <a:r>
              <a:rPr lang="zh-CN" altLang="en-US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以上的高频噪声，或开关纹波即可</a:t>
            </a: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。</a:t>
            </a:r>
          </a:p>
          <a:p>
            <a:pPr>
              <a:spcBef>
                <a:spcPts val="900"/>
              </a:spcBef>
              <a:spcAft>
                <a:spcPts val="900"/>
              </a:spcAft>
              <a:buNone/>
            </a:pPr>
            <a:endParaRPr lang="zh-CN" altLang="zh-CN" sz="18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endParaRPr lang="zh-CN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1875A0-D632-8238-9F3F-997DD20E6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50357A-605B-CD95-3BAB-B47431D6ED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08BBE8-EE77-3F1E-CB98-85193B4B80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ts val="900"/>
              </a:spcBef>
              <a:spcAft>
                <a:spcPts val="900"/>
              </a:spcAft>
              <a:buNone/>
            </a:pPr>
            <a:r>
              <a:rPr lang="en-US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DCDC </a:t>
            </a: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布局的核心同样是缩短高频电流环路。</a:t>
            </a:r>
            <a:endParaRPr lang="en-US" altLang="zh-CN" sz="18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ts val="900"/>
              </a:spcBef>
              <a:spcAft>
                <a:spcPts val="900"/>
              </a:spcAft>
              <a:buNone/>
            </a:pPr>
            <a:endParaRPr lang="zh-CN" altLang="zh-CN" sz="18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ts val="900"/>
              </a:spcBef>
              <a:spcAft>
                <a:spcPts val="900"/>
              </a:spcAft>
              <a:buNone/>
            </a:pP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对于</a:t>
            </a:r>
            <a:r>
              <a:rPr lang="en-US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MPM3632S</a:t>
            </a: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，输入电容紧靠</a:t>
            </a:r>
            <a:r>
              <a:rPr lang="en-US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VIN </a:t>
            </a: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PGND</a:t>
            </a: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，反馈电阻靠近</a:t>
            </a:r>
            <a:r>
              <a:rPr lang="en-US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FB</a:t>
            </a: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，引线短而直接；反馈和其他模拟信号远离</a:t>
            </a:r>
            <a:r>
              <a:rPr lang="en-US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SW </a:t>
            </a: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节点。外部输入、输出、反馈与散热回路仍然会</a:t>
            </a:r>
            <a:r>
              <a:rPr lang="zh-CN" altLang="en-US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影响</a:t>
            </a: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实际纹波和温升。</a:t>
            </a:r>
            <a:endParaRPr lang="en-US" altLang="zh-CN" sz="18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ts val="900"/>
              </a:spcBef>
              <a:spcAft>
                <a:spcPts val="900"/>
              </a:spcAft>
              <a:buNone/>
            </a:pPr>
            <a:endParaRPr lang="zh-CN" altLang="zh-CN" sz="18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ts val="900"/>
              </a:spcBef>
              <a:spcAft>
                <a:spcPts val="900"/>
              </a:spcAft>
              <a:buNone/>
            </a:pP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对于</a:t>
            </a:r>
            <a:r>
              <a:rPr lang="en-US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MP4583</a:t>
            </a: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，输入电容同样紧贴</a:t>
            </a:r>
            <a:r>
              <a:rPr lang="en-US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VIN </a:t>
            </a: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PGND</a:t>
            </a: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SW </a:t>
            </a: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铜皮只保留完成换流所需的面积，避免向外扩展成为噪声天线；功率走线短而宽，反馈从安静的输出点取样，并远离开关节点。</a:t>
            </a:r>
            <a:endParaRPr lang="en-US" altLang="zh-CN" sz="18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ts val="900"/>
              </a:spcBef>
              <a:spcAft>
                <a:spcPts val="900"/>
              </a:spcAft>
              <a:buNone/>
            </a:pPr>
            <a:endParaRPr lang="zh-CN" altLang="zh-CN" sz="18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ts val="900"/>
              </a:spcBef>
              <a:spcAft>
                <a:spcPts val="900"/>
              </a:spcAft>
              <a:buNone/>
            </a:pPr>
            <a:r>
              <a:rPr lang="en-US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MP20051 </a:t>
            </a: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的输入、输出电容靠近对应引脚，</a:t>
            </a:r>
            <a:r>
              <a:rPr lang="en-US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FB </a:t>
            </a: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分压靠近</a:t>
            </a:r>
            <a:r>
              <a:rPr lang="en-US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FB</a:t>
            </a:r>
            <a:r>
              <a:rPr lang="zh-CN" altLang="en-US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引脚</a:t>
            </a: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，裸露焊盘连接大面积地铜并布置散热过孔。</a:t>
            </a:r>
            <a:endParaRPr lang="en-US" altLang="zh-CN" sz="18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ts val="900"/>
              </a:spcBef>
              <a:spcAft>
                <a:spcPts val="900"/>
              </a:spcAft>
              <a:buNone/>
            </a:pPr>
            <a:endParaRPr lang="zh-CN" altLang="zh-CN" sz="18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电源芯片布局原则始终一致：先控制高频环路，再处理反馈与散热。</a:t>
            </a:r>
          </a:p>
          <a:p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384801693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ts val="900"/>
              </a:spcBef>
              <a:spcAft>
                <a:spcPts val="900"/>
              </a:spcAft>
              <a:buNone/>
            </a:pP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隔离电源区域</a:t>
            </a:r>
            <a:r>
              <a:rPr lang="zh-CN" altLang="en-US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在满足回路尽量小前提下，还需要注意隔离边界。</a:t>
            </a:r>
            <a:endParaRPr lang="en-US" altLang="zh-CN" sz="18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ts val="900"/>
              </a:spcBef>
              <a:spcAft>
                <a:spcPts val="900"/>
              </a:spcAft>
              <a:buNone/>
            </a:pPr>
            <a:endParaRPr lang="en-US" altLang="zh-CN" sz="18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ts val="900"/>
              </a:spcBef>
              <a:spcAft>
                <a:spcPts val="900"/>
              </a:spcAft>
              <a:buNone/>
            </a:pPr>
            <a:r>
              <a:rPr lang="en-US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MIE1W0505 </a:t>
            </a: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的原边与副边分别使用独立铜皮。</a:t>
            </a:r>
            <a:r>
              <a:rPr lang="zh-CN" altLang="en-US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电容靠近各端电源引脚</a:t>
            </a: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，缩小两侧高频回路。</a:t>
            </a:r>
            <a:endParaRPr lang="en-US" altLang="zh-CN" sz="18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ts val="900"/>
              </a:spcBef>
              <a:spcAft>
                <a:spcPts val="900"/>
              </a:spcAft>
              <a:buNone/>
            </a:pPr>
            <a:endParaRPr lang="zh-CN" altLang="zh-CN" sz="18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ts val="900"/>
              </a:spcBef>
              <a:spcAft>
                <a:spcPts val="900"/>
              </a:spcAft>
              <a:buNone/>
            </a:pPr>
            <a:r>
              <a:rPr lang="en-US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GND</a:t>
            </a: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隔离带保持净空，</a:t>
            </a:r>
            <a:r>
              <a:rPr lang="en-US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CAN </a:t>
            </a: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总线侧只在隔离侧参考地内闭合回流。若需要改善高频共模电流路径，可以按照器件与安规要求预留低</a:t>
            </a:r>
            <a:r>
              <a:rPr lang="en-US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ESL </a:t>
            </a: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Y </a:t>
            </a: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电容位置。让外部总线上的地电位差和共模干扰尽量不要进入</a:t>
            </a:r>
            <a:r>
              <a:rPr lang="en-US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MCU </a:t>
            </a: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与采样地。</a:t>
            </a:r>
            <a:r>
              <a:rPr lang="zh-CN" altLang="en-US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更加详细的信息可以进一步参考官方应用手册。</a:t>
            </a:r>
            <a:endParaRPr lang="zh-CN" altLang="zh-CN" sz="18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endParaRPr lang="zh-CN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16F6DE-152D-C051-88BC-8A0A3EA60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FBC0FD-0787-D56D-5DD3-B7393494F0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6034B983-7F95-8CC1-C32B-90AC1189512E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MA600A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的布局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优先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满足机械对准，再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考虑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电气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特性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。</a:t>
                </a: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传感器中心要与磁体和电机轴线准确对齐；磁敏器件、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功率级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电容、大电流铜皮和开关节点尽量远离芯片中心，当前设计按至少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5 </m:t>
                    </m:r>
                    <m:r>
                      <m:rPr>
                        <m:sty m:val="p"/>
                      </m:rPr>
                      <a:rPr lang="en-US" altLang="zh-CN" sz="18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mm</m:t>
                    </m:r>
                  </m:oMath>
                </a14:m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的洁净距离控制。</a:t>
                </a:r>
                <a:endParaRPr lang="en-US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endParaRPr lang="zh-CN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供电方面，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去耦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电容紧靠引脚。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SPI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两侧和下方尽量保持完整参考地，沿线适当布置地过孔，缩短回流路径。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SCLK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与其他噪声走线保持间距并尽量避免换层。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不过总的来说，这个级别的数字信号只要连上至少都是能工作的。</a:t>
                </a:r>
                <a:endParaRPr lang="zh-CN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endParaRPr lang="zh-CN" dirty="0"/>
              </a:p>
            </p:txBody>
          </p:sp>
        </mc:Choice>
        <mc:Fallback xmlns="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6034B983-7F95-8CC1-C32B-90AC1189512E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MA600A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的布局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优先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满足机械对准，再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考虑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电气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特性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。</a:t>
                </a: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传感器中心要与磁体和电机轴线准确对齐；磁敏器件、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功率级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电容、大电流铜皮和开关节点尽量远离芯片中心，当前设计按至少 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5 mm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的洁净距离控制。</a:t>
                </a:r>
                <a:endParaRPr lang="en-US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endParaRPr lang="zh-CN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供电方面，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去耦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电容紧靠引脚。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SPI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两侧和下方尽量保持完整参考地，沿线适当布置地过孔，缩短回流路径。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SCLK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与其他噪声走线保持间距并尽量避免换层。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不过总的来说，这个级别的数字信号只要连上至少都是能工作的。</a:t>
                </a:r>
                <a:endParaRPr lang="zh-CN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endParaRPr lang="zh-CN" dirty="0"/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12135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ts val="900"/>
              </a:spcBef>
              <a:spcAft>
                <a:spcPts val="900"/>
              </a:spcAft>
              <a:buNone/>
            </a:pPr>
            <a:r>
              <a:rPr lang="zh-CN" altLang="en-US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最后 让我们来做一个回顾</a:t>
            </a:r>
            <a:endParaRPr lang="en-US" altLang="zh-CN" sz="18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ts val="900"/>
              </a:spcBef>
              <a:spcAft>
                <a:spcPts val="900"/>
              </a:spcAft>
              <a:buNone/>
            </a:pPr>
            <a:endParaRPr lang="en-US" altLang="zh-CN" sz="18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ts val="900"/>
              </a:spcBef>
              <a:spcAft>
                <a:spcPts val="900"/>
              </a:spcAft>
              <a:buNone/>
            </a:pPr>
            <a:r>
              <a:rPr lang="en-US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MOSFET </a:t>
            </a: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和分流电阻通过大面积铜皮扩散热量，上下层使用并联过孔导热；功率器件沿板边布置，便于把热量传到外壳或结构件。</a:t>
            </a:r>
          </a:p>
          <a:p>
            <a:pPr>
              <a:spcBef>
                <a:spcPts val="900"/>
              </a:spcBef>
              <a:spcAft>
                <a:spcPts val="900"/>
              </a:spcAft>
              <a:buNone/>
            </a:pPr>
            <a:endParaRPr lang="en-US" altLang="zh-CN" sz="18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ts val="900"/>
              </a:spcBef>
              <a:spcAft>
                <a:spcPts val="900"/>
              </a:spcAft>
              <a:buNone/>
            </a:pP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电气检查则沿五条路径逐项进行：</a:t>
            </a:r>
            <a:endParaRPr lang="en-US" altLang="zh-CN" sz="18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ts val="900"/>
              </a:spcBef>
              <a:spcAft>
                <a:spcPts val="900"/>
              </a:spcAft>
              <a:buNone/>
            </a:pPr>
            <a:endParaRPr lang="en-US" altLang="zh-CN" sz="18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ts val="900"/>
              </a:spcBef>
              <a:spcAft>
                <a:spcPts val="900"/>
              </a:spcAft>
              <a:buNone/>
            </a:pP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功率路径是否短而宽；</a:t>
            </a:r>
            <a:endParaRPr lang="en-US" altLang="zh-CN" sz="18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ts val="900"/>
              </a:spcBef>
              <a:spcAft>
                <a:spcPts val="900"/>
              </a:spcAft>
              <a:buNone/>
            </a:pPr>
            <a:endParaRPr lang="en-US" altLang="zh-CN" sz="18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ts val="900"/>
              </a:spcBef>
              <a:spcAft>
                <a:spcPts val="900"/>
              </a:spcAft>
              <a:buNone/>
            </a:pPr>
            <a:r>
              <a:rPr lang="en-US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Gate </a:t>
            </a: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Source</a:t>
            </a: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Bootstrap </a:t>
            </a: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VDD </a:t>
            </a: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回流是否紧凑；</a:t>
            </a:r>
            <a:endParaRPr lang="en-US" altLang="zh-CN" sz="18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ts val="900"/>
              </a:spcBef>
              <a:spcAft>
                <a:spcPts val="900"/>
              </a:spcAft>
              <a:buNone/>
            </a:pPr>
            <a:endParaRPr lang="en-US" altLang="zh-CN" sz="18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ts val="900"/>
              </a:spcBef>
              <a:spcAft>
                <a:spcPts val="900"/>
              </a:spcAft>
              <a:buNone/>
            </a:pP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分流电阻是否采用</a:t>
            </a:r>
            <a:r>
              <a:rPr lang="en-US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Kelvin </a:t>
            </a: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采样并避开开关节点；</a:t>
            </a:r>
            <a:endParaRPr lang="en-US" altLang="zh-CN" sz="18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ts val="900"/>
              </a:spcBef>
              <a:spcAft>
                <a:spcPts val="900"/>
              </a:spcAft>
              <a:buNone/>
            </a:pPr>
            <a:endParaRPr lang="en-US" altLang="zh-CN" sz="18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ts val="900"/>
              </a:spcBef>
              <a:spcAft>
                <a:spcPts val="900"/>
              </a:spcAft>
              <a:buNone/>
            </a:pP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编码器、</a:t>
            </a:r>
            <a:r>
              <a:rPr lang="en-US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SPI </a:t>
            </a: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与采样信号是否拥有连续参考地；</a:t>
            </a:r>
            <a:endParaRPr lang="en-US" altLang="zh-CN" sz="18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ts val="900"/>
              </a:spcBef>
              <a:spcAft>
                <a:spcPts val="900"/>
              </a:spcAft>
              <a:buNone/>
            </a:pPr>
            <a:endParaRPr lang="en-US" altLang="zh-CN" sz="18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ts val="900"/>
              </a:spcBef>
              <a:spcAft>
                <a:spcPts val="900"/>
              </a:spcAft>
              <a:buNone/>
            </a:pPr>
            <a:r>
              <a:rPr lang="en-US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CAN </a:t>
            </a: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隔离带是否存在跨越的走线、过孔或铺铜。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5C100-F946-DA30-9488-3573BC96A4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37453A-2BDE-5C40-2215-3B5C4DB03F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847052-C30A-CC4B-706D-FF20CBE0BC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ts val="900"/>
              </a:spcBef>
              <a:spcAft>
                <a:spcPts val="900"/>
              </a:spcAft>
              <a:buNone/>
            </a:pPr>
            <a:r>
              <a:rPr lang="zh-CN" altLang="en-US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本期视频结束，</a:t>
            </a: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我们已经得到了一块具备上电验证条件的</a:t>
            </a:r>
            <a:r>
              <a:rPr lang="en-US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FOC </a:t>
            </a: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控制板。</a:t>
            </a:r>
            <a:endParaRPr lang="en-US" altLang="zh-CN" sz="18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ts val="900"/>
              </a:spcBef>
              <a:spcAft>
                <a:spcPts val="900"/>
              </a:spcAft>
              <a:buNone/>
            </a:pPr>
            <a:endParaRPr lang="zh-CN" altLang="zh-CN" sz="18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ts val="900"/>
              </a:spcBef>
              <a:spcAft>
                <a:spcPts val="900"/>
              </a:spcAft>
              <a:buNone/>
            </a:pP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下一章我们会先下载并梳理工程代码，再按照</a:t>
            </a:r>
            <a:r>
              <a:rPr lang="zh-CN" altLang="en-US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从硬件到软件各个模块</a:t>
            </a: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顺序逐级验证，最后完成</a:t>
            </a:r>
            <a:r>
              <a:rPr lang="zh-CN" altLang="en-US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一系列测试</a:t>
            </a: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。让这块板真正稳定地跑起来。</a:t>
            </a:r>
          </a:p>
          <a:p>
            <a:pPr algn="l">
              <a:lnSpc>
                <a:spcPts val="1650"/>
              </a:lnSpc>
              <a:buNone/>
            </a:pPr>
            <a:endParaRPr lang="en-US" altLang="zh-CN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8BFB11-256D-7886-16E8-B53B912CE41D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645815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05752F-A94C-4D47-A51F-610CD25A34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E9A1F76-2D00-455C-ACB9-35E106A785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180289B-D436-482E-AC94-9D23C37057B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F7DC6A6-BF1E-4CE5-B3E6-718B8EA0B82A}" type="datetime1">
              <a:t>2026/9/11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1389B5A-DF29-468F-9B0B-BD486995F56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99FEB5D-F169-492E-899A-79E026BAE90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FC705DF-EB6A-4429-A9CF-8086C29D54D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 1">
            <a:extLst>
              <a:ext uri="{FF2B5EF4-FFF2-40B4-BE49-F238E27FC236}">
                <a16:creationId xmlns:a16="http://schemas.microsoft.com/office/drawing/2014/main" id="{BD73703F-1021-4BA0-A512-F64CFA814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21" name="文本占位符 2">
            <a:extLst>
              <a:ext uri="{FF2B5EF4-FFF2-40B4-BE49-F238E27FC236}">
                <a16:creationId xmlns:a16="http://schemas.microsoft.com/office/drawing/2014/main" id="{9D8C644C-2870-4ACE-8AF0-71DA544373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22" name="日期占位符 3">
            <a:extLst>
              <a:ext uri="{FF2B5EF4-FFF2-40B4-BE49-F238E27FC236}">
                <a16:creationId xmlns:a16="http://schemas.microsoft.com/office/drawing/2014/main" id="{951213E9-A379-4A62-80A0-1F74D0DA623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D5B006A-3E28-4231-AF04-14767498E664}" type="datetime1">
              <a:t>2026/9/11</a:t>
            </a:fld>
            <a:endParaRPr/>
          </a:p>
        </p:txBody>
      </p:sp>
      <p:sp>
        <p:nvSpPr>
          <p:cNvPr id="23" name="页脚占位符 4">
            <a:extLst>
              <a:ext uri="{FF2B5EF4-FFF2-40B4-BE49-F238E27FC236}">
                <a16:creationId xmlns:a16="http://schemas.microsoft.com/office/drawing/2014/main" id="{DAF5303B-F930-443C-B7C4-7A280092722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4" name="灯片编号占位符 5">
            <a:extLst>
              <a:ext uri="{FF2B5EF4-FFF2-40B4-BE49-F238E27FC236}">
                <a16:creationId xmlns:a16="http://schemas.microsoft.com/office/drawing/2014/main" id="{2E2C6D17-EE1C-41F0-A800-9208DDAD4F8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8B94FA0-F740-4CDC-A935-5AEA919A98DA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1">
            <a:extLst>
              <a:ext uri="{FF2B5EF4-FFF2-40B4-BE49-F238E27FC236}">
                <a16:creationId xmlns:a16="http://schemas.microsoft.com/office/drawing/2014/main" id="{C5CCC62B-E18D-4A97-8100-1739F62D1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27" name="内容占位符 2">
            <a:extLst>
              <a:ext uri="{FF2B5EF4-FFF2-40B4-BE49-F238E27FC236}">
                <a16:creationId xmlns:a16="http://schemas.microsoft.com/office/drawing/2014/main" id="{B3A46243-34C0-4FF1-9FF3-10854A9705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28" name="内容占位符 3">
            <a:extLst>
              <a:ext uri="{FF2B5EF4-FFF2-40B4-BE49-F238E27FC236}">
                <a16:creationId xmlns:a16="http://schemas.microsoft.com/office/drawing/2014/main" id="{01B91AEC-A7A2-4A6A-84D3-7C8F85D151EB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29" name="日期占位符 4">
            <a:extLst>
              <a:ext uri="{FF2B5EF4-FFF2-40B4-BE49-F238E27FC236}">
                <a16:creationId xmlns:a16="http://schemas.microsoft.com/office/drawing/2014/main" id="{B3AFA0E3-D000-4A0C-8036-92B4377FB54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1F3BCCF-927F-4C14-9052-F5177C3C439D}" type="datetime1">
              <a:t>2026/9/11</a:t>
            </a:fld>
            <a:endParaRPr/>
          </a:p>
        </p:txBody>
      </p:sp>
      <p:sp>
        <p:nvSpPr>
          <p:cNvPr id="30" name="页脚占位符 5">
            <a:extLst>
              <a:ext uri="{FF2B5EF4-FFF2-40B4-BE49-F238E27FC236}">
                <a16:creationId xmlns:a16="http://schemas.microsoft.com/office/drawing/2014/main" id="{141E3939-A435-48B3-B11F-45A2C831E68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31" name="灯片编号占位符 6">
            <a:extLst>
              <a:ext uri="{FF2B5EF4-FFF2-40B4-BE49-F238E27FC236}">
                <a16:creationId xmlns:a16="http://schemas.microsoft.com/office/drawing/2014/main" id="{19B01B05-0D86-4716-8640-577CC9D24DC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08259AF-2A25-452C-AA5F-7B080E8C5A7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标题 1">
            <a:extLst>
              <a:ext uri="{FF2B5EF4-FFF2-40B4-BE49-F238E27FC236}">
                <a16:creationId xmlns:a16="http://schemas.microsoft.com/office/drawing/2014/main" id="{5968CDCC-4BE8-42F9-9391-E97420D51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4" name="文本占位符 2">
            <a:extLst>
              <a:ext uri="{FF2B5EF4-FFF2-40B4-BE49-F238E27FC236}">
                <a16:creationId xmlns:a16="http://schemas.microsoft.com/office/drawing/2014/main" id="{519788B3-861F-4EF6-9036-11DC12163D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35" name="内容占位符 3">
            <a:extLst>
              <a:ext uri="{FF2B5EF4-FFF2-40B4-BE49-F238E27FC236}">
                <a16:creationId xmlns:a16="http://schemas.microsoft.com/office/drawing/2014/main" id="{EE82DBF0-6B6D-40B0-A193-D2714ACC6FBA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36" name="文本占位符 4">
            <a:extLst>
              <a:ext uri="{FF2B5EF4-FFF2-40B4-BE49-F238E27FC236}">
                <a16:creationId xmlns:a16="http://schemas.microsoft.com/office/drawing/2014/main" id="{81A53F8E-72E1-4A0A-B2C8-267E3399F91A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37" name="内容占位符 5">
            <a:extLst>
              <a:ext uri="{FF2B5EF4-FFF2-40B4-BE49-F238E27FC236}">
                <a16:creationId xmlns:a16="http://schemas.microsoft.com/office/drawing/2014/main" id="{585EEC3A-B65B-470D-9AA4-4B46F66E3BAF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38" name="日期占位符 6">
            <a:extLst>
              <a:ext uri="{FF2B5EF4-FFF2-40B4-BE49-F238E27FC236}">
                <a16:creationId xmlns:a16="http://schemas.microsoft.com/office/drawing/2014/main" id="{820E9D36-4F00-45ED-8795-AD7B64DF6CB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19FF268-CF0C-4595-A6A8-A0B1FC2FEB42}" type="datetime1">
              <a:t>2026/9/11</a:t>
            </a:fld>
            <a:endParaRPr/>
          </a:p>
        </p:txBody>
      </p:sp>
      <p:sp>
        <p:nvSpPr>
          <p:cNvPr id="39" name="页脚占位符 7">
            <a:extLst>
              <a:ext uri="{FF2B5EF4-FFF2-40B4-BE49-F238E27FC236}">
                <a16:creationId xmlns:a16="http://schemas.microsoft.com/office/drawing/2014/main" id="{905516BC-7B07-407B-9AFE-3DFB6A24398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0" name="灯片编号占位符 8">
            <a:extLst>
              <a:ext uri="{FF2B5EF4-FFF2-40B4-BE49-F238E27FC236}">
                <a16:creationId xmlns:a16="http://schemas.microsoft.com/office/drawing/2014/main" id="{6B05C7CF-0D20-43D0-822D-1708E90CE2B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3A90A56-B7DA-460C-8F46-95BFAF0AF95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标题 1">
            <a:extLst>
              <a:ext uri="{FF2B5EF4-FFF2-40B4-BE49-F238E27FC236}">
                <a16:creationId xmlns:a16="http://schemas.microsoft.com/office/drawing/2014/main" id="{684BB998-DAE0-4ACD-86C1-3152824E2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43" name="日期占位符 2">
            <a:extLst>
              <a:ext uri="{FF2B5EF4-FFF2-40B4-BE49-F238E27FC236}">
                <a16:creationId xmlns:a16="http://schemas.microsoft.com/office/drawing/2014/main" id="{A4F13546-3F79-4B24-B0D1-94E048EEBD2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05E0E50-3259-4429-AAEB-7BA10F2285FC}" type="datetime1">
              <a:t>2026/9/11</a:t>
            </a:fld>
            <a:endParaRPr/>
          </a:p>
        </p:txBody>
      </p:sp>
      <p:sp>
        <p:nvSpPr>
          <p:cNvPr id="44" name="页脚占位符 3">
            <a:extLst>
              <a:ext uri="{FF2B5EF4-FFF2-40B4-BE49-F238E27FC236}">
                <a16:creationId xmlns:a16="http://schemas.microsoft.com/office/drawing/2014/main" id="{D7DD0B55-C159-4B6A-B987-1739A5A3C1D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5" name="灯片编号占位符 4">
            <a:extLst>
              <a:ext uri="{FF2B5EF4-FFF2-40B4-BE49-F238E27FC236}">
                <a16:creationId xmlns:a16="http://schemas.microsoft.com/office/drawing/2014/main" id="{0F6A32AA-E2E5-4FD4-8ED9-8BD276E3CE4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2178EC5-58A4-4F44-B83C-34BE3E218AB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日期占位符 1">
            <a:extLst>
              <a:ext uri="{FF2B5EF4-FFF2-40B4-BE49-F238E27FC236}">
                <a16:creationId xmlns:a16="http://schemas.microsoft.com/office/drawing/2014/main" id="{E8F12930-4852-4D9E-93EC-D013F8E0644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3EF5456-EA9D-47AD-816E-BBFCE6D3FB5C}" type="datetime1">
              <a:t>2026/9/11</a:t>
            </a:fld>
            <a:endParaRPr/>
          </a:p>
        </p:txBody>
      </p:sp>
      <p:sp>
        <p:nvSpPr>
          <p:cNvPr id="48" name="页脚占位符 2">
            <a:extLst>
              <a:ext uri="{FF2B5EF4-FFF2-40B4-BE49-F238E27FC236}">
                <a16:creationId xmlns:a16="http://schemas.microsoft.com/office/drawing/2014/main" id="{7E2D8288-E2AA-4492-A489-36AD439D5D6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9" name="灯片编号占位符 3">
            <a:extLst>
              <a:ext uri="{FF2B5EF4-FFF2-40B4-BE49-F238E27FC236}">
                <a16:creationId xmlns:a16="http://schemas.microsoft.com/office/drawing/2014/main" id="{3A3C4ED8-8262-47DB-A4EA-CDE00798A8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3199BA4-F8C4-48F6-BF3D-6D4BD834E81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标题 1">
            <a:extLst>
              <a:ext uri="{FF2B5EF4-FFF2-40B4-BE49-F238E27FC236}">
                <a16:creationId xmlns:a16="http://schemas.microsoft.com/office/drawing/2014/main" id="{67A08238-819F-498D-B263-D954AB3403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52" name="内容占位符 2">
            <a:extLst>
              <a:ext uri="{FF2B5EF4-FFF2-40B4-BE49-F238E27FC236}">
                <a16:creationId xmlns:a16="http://schemas.microsoft.com/office/drawing/2014/main" id="{AF8AA228-5B99-46A9-8B78-2600AA70FD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53" name="文本占位符 3">
            <a:extLst>
              <a:ext uri="{FF2B5EF4-FFF2-40B4-BE49-F238E27FC236}">
                <a16:creationId xmlns:a16="http://schemas.microsoft.com/office/drawing/2014/main" id="{99984A6E-E270-4746-8541-C895451D14C5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54" name="日期占位符 4">
            <a:extLst>
              <a:ext uri="{FF2B5EF4-FFF2-40B4-BE49-F238E27FC236}">
                <a16:creationId xmlns:a16="http://schemas.microsoft.com/office/drawing/2014/main" id="{42CC39A3-DFB3-4780-9A36-B9F75C3C6B9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BDD0B665-21F2-4210-A0AB-1FF516ABB0EC}" type="datetime1">
              <a:t>2026/9/11</a:t>
            </a:fld>
            <a:endParaRPr/>
          </a:p>
        </p:txBody>
      </p:sp>
      <p:sp>
        <p:nvSpPr>
          <p:cNvPr id="55" name="页脚占位符 5">
            <a:extLst>
              <a:ext uri="{FF2B5EF4-FFF2-40B4-BE49-F238E27FC236}">
                <a16:creationId xmlns:a16="http://schemas.microsoft.com/office/drawing/2014/main" id="{B1FE1C3E-67CE-4C50-9CB8-58C7F0CFB69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6" name="灯片编号占位符 6">
            <a:extLst>
              <a:ext uri="{FF2B5EF4-FFF2-40B4-BE49-F238E27FC236}">
                <a16:creationId xmlns:a16="http://schemas.microsoft.com/office/drawing/2014/main" id="{CD7B1B76-2387-44CB-9ABC-EB541061192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3120986-D9F8-450A-8E8A-7B53A97B66E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标题 1">
            <a:extLst>
              <a:ext uri="{FF2B5EF4-FFF2-40B4-BE49-F238E27FC236}">
                <a16:creationId xmlns:a16="http://schemas.microsoft.com/office/drawing/2014/main" id="{9A720774-7948-43C5-A88D-6F2BDC2F84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59" name="图片占位符 2">
            <a:extLst>
              <a:ext uri="{FF2B5EF4-FFF2-40B4-BE49-F238E27FC236}">
                <a16:creationId xmlns:a16="http://schemas.microsoft.com/office/drawing/2014/main" id="{70F083E2-CE4A-4EF6-8EDA-F0FD113FAA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60" name="文本占位符 3">
            <a:extLst>
              <a:ext uri="{FF2B5EF4-FFF2-40B4-BE49-F238E27FC236}">
                <a16:creationId xmlns:a16="http://schemas.microsoft.com/office/drawing/2014/main" id="{0A3C4BF1-61A2-4299-AF91-EEACBFAC8E45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61" name="日期占位符 4">
            <a:extLst>
              <a:ext uri="{FF2B5EF4-FFF2-40B4-BE49-F238E27FC236}">
                <a16:creationId xmlns:a16="http://schemas.microsoft.com/office/drawing/2014/main" id="{A42DC9B9-49B1-47AF-B84A-BF5424FE074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4E233BD8-DB7E-4E6E-9456-6D1E77C88269}" type="datetime1">
              <a:t>2026/9/11</a:t>
            </a:fld>
            <a:endParaRPr/>
          </a:p>
        </p:txBody>
      </p:sp>
      <p:sp>
        <p:nvSpPr>
          <p:cNvPr id="62" name="页脚占位符 5">
            <a:extLst>
              <a:ext uri="{FF2B5EF4-FFF2-40B4-BE49-F238E27FC236}">
                <a16:creationId xmlns:a16="http://schemas.microsoft.com/office/drawing/2014/main" id="{1CACCAB4-19D0-4933-BADF-1C219AF2D68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3" name="灯片编号占位符 6">
            <a:extLst>
              <a:ext uri="{FF2B5EF4-FFF2-40B4-BE49-F238E27FC236}">
                <a16:creationId xmlns:a16="http://schemas.microsoft.com/office/drawing/2014/main" id="{0618521D-6631-463C-9257-F1EFC8CA3FC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47CCC7F-E1A2-469B-A337-764C3DF07313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标题 1">
            <a:extLst>
              <a:ext uri="{FF2B5EF4-FFF2-40B4-BE49-F238E27FC236}">
                <a16:creationId xmlns:a16="http://schemas.microsoft.com/office/drawing/2014/main" id="{17927255-5200-4B6D-A609-B249AFA38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66" name="竖排文字占位符 2">
            <a:extLst>
              <a:ext uri="{FF2B5EF4-FFF2-40B4-BE49-F238E27FC236}">
                <a16:creationId xmlns:a16="http://schemas.microsoft.com/office/drawing/2014/main" id="{7F566ADF-4654-4758-81CF-8E8CCD419A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67" name="日期占位符 3">
            <a:extLst>
              <a:ext uri="{FF2B5EF4-FFF2-40B4-BE49-F238E27FC236}">
                <a16:creationId xmlns:a16="http://schemas.microsoft.com/office/drawing/2014/main" id="{8B85D177-341F-4936-B23F-517D3EEF089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772B07E-4E44-4E95-89AF-F1EF6F4CC7EC}" type="datetime1">
              <a:t>2026/9/11</a:t>
            </a:fld>
            <a:endParaRPr/>
          </a:p>
        </p:txBody>
      </p:sp>
      <p:sp>
        <p:nvSpPr>
          <p:cNvPr id="68" name="页脚占位符 4">
            <a:extLst>
              <a:ext uri="{FF2B5EF4-FFF2-40B4-BE49-F238E27FC236}">
                <a16:creationId xmlns:a16="http://schemas.microsoft.com/office/drawing/2014/main" id="{1DE68863-2042-48C5-9079-213A94D740C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9" name="灯片编号占位符 5">
            <a:extLst>
              <a:ext uri="{FF2B5EF4-FFF2-40B4-BE49-F238E27FC236}">
                <a16:creationId xmlns:a16="http://schemas.microsoft.com/office/drawing/2014/main" id="{E8806AB6-52B2-4800-906E-1ACACECC6A7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0D47AF7-089F-4725-8B45-DEA8A59F6C62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竖排标题 1">
            <a:extLst>
              <a:ext uri="{FF2B5EF4-FFF2-40B4-BE49-F238E27FC236}">
                <a16:creationId xmlns:a16="http://schemas.microsoft.com/office/drawing/2014/main" id="{62E3E628-D729-4A42-87E9-6A13C5F120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t>单击此处编辑母版标题样式</a:t>
            </a:r>
          </a:p>
        </p:txBody>
      </p:sp>
      <p:sp>
        <p:nvSpPr>
          <p:cNvPr id="15" name="竖排文字占位符 2">
            <a:extLst>
              <a:ext uri="{FF2B5EF4-FFF2-40B4-BE49-F238E27FC236}">
                <a16:creationId xmlns:a16="http://schemas.microsoft.com/office/drawing/2014/main" id="{FDE587EA-8235-46EE-8FF4-A0FDC3962B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16" name="日期占位符 3">
            <a:extLst>
              <a:ext uri="{FF2B5EF4-FFF2-40B4-BE49-F238E27FC236}">
                <a16:creationId xmlns:a16="http://schemas.microsoft.com/office/drawing/2014/main" id="{A9891120-669F-4FF5-8A55-D6844A0589B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7AA1729-FFEC-4670-BE57-9BB1B6CF1583}" type="datetime1">
              <a:t>2026/9/11</a:t>
            </a:fld>
            <a:endParaRPr/>
          </a:p>
        </p:txBody>
      </p:sp>
      <p:sp>
        <p:nvSpPr>
          <p:cNvPr id="17" name="页脚占位符 4">
            <a:extLst>
              <a:ext uri="{FF2B5EF4-FFF2-40B4-BE49-F238E27FC236}">
                <a16:creationId xmlns:a16="http://schemas.microsoft.com/office/drawing/2014/main" id="{8A661A29-DC77-45CD-843C-06FB5973731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18" name="灯片编号占位符 5">
            <a:extLst>
              <a:ext uri="{FF2B5EF4-FFF2-40B4-BE49-F238E27FC236}">
                <a16:creationId xmlns:a16="http://schemas.microsoft.com/office/drawing/2014/main" id="{F13B4EB9-E145-46DA-A868-ED33485CF34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7AACFD0-6D64-47CD-A483-D6FD4530736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6936DB4E-841A-4379-B51B-14AD73705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D859996F-A421-494B-AA01-FF66DA425A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10" name="日期占位符 3">
            <a:extLst>
              <a:ext uri="{FF2B5EF4-FFF2-40B4-BE49-F238E27FC236}">
                <a16:creationId xmlns:a16="http://schemas.microsoft.com/office/drawing/2014/main" id="{1FCF9A93-114B-46D2-BCA1-620C3B54B4A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B03108F-6D01-401F-BB83-A4EE273EE035}" type="datetime1">
              <a:t>2026/9/11</a:t>
            </a:fld>
            <a:endParaRPr/>
          </a:p>
        </p:txBody>
      </p:sp>
      <p:sp>
        <p:nvSpPr>
          <p:cNvPr id="11" name="页脚占位符 4">
            <a:extLst>
              <a:ext uri="{FF2B5EF4-FFF2-40B4-BE49-F238E27FC236}">
                <a16:creationId xmlns:a16="http://schemas.microsoft.com/office/drawing/2014/main" id="{CEEB537A-3B55-461F-883A-B648C7964EC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12" name="灯片编号占位符 5">
            <a:extLst>
              <a:ext uri="{FF2B5EF4-FFF2-40B4-BE49-F238E27FC236}">
                <a16:creationId xmlns:a16="http://schemas.microsoft.com/office/drawing/2014/main" id="{36558B55-3DD8-45C4-89BA-6464D3F575D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A18DFAB-279D-45FB-8988-01B47F34F95A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92BDD6-9E4E-4457-9222-ABE3859CF5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8989" y="1178262"/>
            <a:ext cx="10515600" cy="4351338"/>
          </a:xfrm>
          <a:prstGeom prst="rect">
            <a:avLst/>
          </a:prstGeom>
        </p:spPr>
        <p:txBody>
          <a:bodyPr/>
          <a:lstStyle>
            <a:lvl1pPr>
              <a:buNone/>
              <a:defRPr sz="2000">
                <a:latin typeface="Arial"/>
                <a:ea typeface="Arial"/>
                <a:cs typeface="Arial"/>
              </a:defRPr>
            </a:lvl1pPr>
            <a:lvl2pPr marL="685800" indent="-228600">
              <a:buChar char="o"/>
              <a:defRPr sz="1800">
                <a:latin typeface="Arial"/>
                <a:ea typeface="Arial"/>
                <a:cs typeface="Arial"/>
              </a:defRPr>
            </a:lvl2pPr>
            <a:lvl3pPr marL="1143000" indent="-228600">
              <a:buChar char="•"/>
              <a:defRPr sz="1600">
                <a:latin typeface="Arial"/>
                <a:ea typeface="Arial"/>
                <a:cs typeface="Arial"/>
              </a:defRPr>
            </a:lvl3pPr>
            <a:lvl4pPr marL="1600200" indent="-228600">
              <a:buChar char="•"/>
              <a:defRPr sz="1400">
                <a:latin typeface="Arial"/>
                <a:ea typeface="Arial"/>
                <a:cs typeface="Arial"/>
              </a:defRPr>
            </a:lvl4pPr>
            <a:lvl5pPr marL="2057400" indent="-228600">
              <a:buChar char="•"/>
              <a:defRPr sz="1400">
                <a:latin typeface="Arial"/>
                <a:ea typeface="Arial"/>
                <a:cs typeface="Arial"/>
              </a:defRPr>
            </a:lvl5pPr>
          </a:lstStyle>
          <a:p>
            <a:pPr>
              <a:buNone/>
            </a:pPr>
            <a:r>
              <a:t>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BF77787B-9799-44F9-AFF4-755097C6B4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7808" y="203284"/>
            <a:ext cx="6096000" cy="521208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>
              <a:buNone/>
              <a:defRPr sz="2800" b="1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>
            <a:r>
              <a:t>Slide Title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8890" y="456134"/>
            <a:ext cx="10736446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29"/>
              </a:lnSpc>
              <a:spcBef>
                <a:spcPts val="0"/>
              </a:spcBef>
              <a:buNone/>
              <a:defRPr sz="3199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1pPr>
            <a:lvl2pPr marL="593662" indent="0" algn="ctr">
              <a:buNone/>
              <a:defRPr sz="2597"/>
            </a:lvl2pPr>
            <a:lvl3pPr marL="1187323" indent="0" algn="ctr">
              <a:buNone/>
              <a:defRPr sz="2337"/>
            </a:lvl3pPr>
            <a:lvl4pPr marL="1780986" indent="0" algn="ctr">
              <a:buNone/>
              <a:defRPr sz="2078"/>
            </a:lvl4pPr>
            <a:lvl5pPr marL="2374648" indent="0" algn="ctr">
              <a:buNone/>
              <a:defRPr sz="2078"/>
            </a:lvl5pPr>
            <a:lvl6pPr marL="2968309" indent="0" algn="ctr">
              <a:buNone/>
              <a:defRPr sz="2078"/>
            </a:lvl6pPr>
            <a:lvl7pPr marL="3561971" indent="0" algn="ctr">
              <a:buNone/>
              <a:defRPr sz="2078"/>
            </a:lvl7pPr>
            <a:lvl8pPr marL="4155634" indent="0" algn="ctr">
              <a:buNone/>
              <a:defRPr sz="2078"/>
            </a:lvl8pPr>
            <a:lvl9pPr marL="4749295" indent="0" algn="ctr">
              <a:buNone/>
              <a:defRPr sz="2078"/>
            </a:lvl9pPr>
          </a:lstStyle>
          <a:p>
            <a:r>
              <a:t>单击此处添加标题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A4EAA63-3827-DA40-B921-C01084B9DA87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736621" y="1501989"/>
            <a:ext cx="10729365" cy="4690459"/>
          </a:xfrm>
          <a:prstGeom prst="rect">
            <a:avLst/>
          </a:prstGeom>
        </p:spPr>
        <p:txBody>
          <a:bodyPr lIns="0" tIns="0" rIns="0" bIns="0"/>
          <a:lstStyle>
            <a:lvl1pPr marL="12368" indent="0">
              <a:lnSpc>
                <a:spcPct val="100000"/>
              </a:lnSpc>
              <a:spcBef>
                <a:spcPts val="0"/>
              </a:spcBef>
              <a:buNone/>
              <a:defRPr sz="1799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1pPr>
            <a:lvl2pPr marL="525640" indent="-171091">
              <a:buChar char="•"/>
              <a:defRPr sz="1298"/>
            </a:lvl2pPr>
            <a:lvl3pPr marL="525640" indent="-171091">
              <a:buChar char="•"/>
              <a:defRPr sz="1298"/>
            </a:lvl3pPr>
            <a:lvl4pPr marL="525640" indent="-171091">
              <a:buChar char="•"/>
              <a:defRPr sz="1298"/>
            </a:lvl4pPr>
            <a:lvl5pPr marL="525640" indent="-171091">
              <a:buChar char="•"/>
              <a:defRPr sz="1298"/>
            </a:lvl5pPr>
          </a:lstStyle>
          <a:p>
            <a:pPr>
              <a:buNone/>
            </a:pPr>
            <a:r>
              <a:t>单击此处添加文本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8265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A1F7FE5-011F-4F78-BB4D-A8FE09890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038569C-5E1D-42C9-A982-1FCA564F57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5760A08-5F28-430B-BBA1-0F44387ECF1D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4ADBE2-30DF-480B-A5CC-C216012A8DE2}" type="datetime1">
              <a:t>2026/9/11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7B178B1-2438-420A-A962-B9E3A272DE32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B96250C-9417-4EDD-8AC3-89EB383DAB98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09DED9-3562-4003-9ED4-F9F7C2DA97F0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>
        <a:lnSpc>
          <a:spcPct val="130000"/>
        </a:lnSpc>
        <a:spcBef>
          <a:spcPts val="0"/>
        </a:spcBef>
        <a:buNone/>
        <a:defRPr sz="4400">
          <a:solidFill>
            <a:schemeClr val="tx1"/>
          </a:solidFill>
          <a:latin typeface="Arial"/>
          <a:ea typeface="Arial"/>
          <a:cs typeface="Arial"/>
        </a:defRPr>
      </a:lvl1pPr>
    </p:titleStyle>
    <p:bodyStyle>
      <a:lvl1pPr marL="228600" indent="-228600" algn="l">
        <a:lnSpc>
          <a:spcPct val="130000"/>
        </a:lnSpc>
        <a:spcBef>
          <a:spcPts val="1000"/>
        </a:spcBef>
        <a:buChar char="•"/>
        <a:defRPr sz="2800">
          <a:solidFill>
            <a:schemeClr val="tx1"/>
          </a:solidFill>
          <a:latin typeface="Arial"/>
          <a:ea typeface="Arial"/>
          <a:cs typeface="Arial"/>
        </a:defRPr>
      </a:lvl1pPr>
      <a:lvl2pPr marL="685800" indent="-228600" algn="l">
        <a:lnSpc>
          <a:spcPct val="130000"/>
        </a:lnSpc>
        <a:spcBef>
          <a:spcPts val="500"/>
        </a:spcBef>
        <a:buChar char="•"/>
        <a:defRPr sz="2400">
          <a:solidFill>
            <a:schemeClr val="tx1"/>
          </a:solidFill>
          <a:latin typeface="Arial"/>
          <a:ea typeface="Arial"/>
          <a:cs typeface="Arial"/>
        </a:defRPr>
      </a:lvl2pPr>
      <a:lvl3pPr marL="1143000" indent="-228600" algn="l">
        <a:lnSpc>
          <a:spcPct val="130000"/>
        </a:lnSpc>
        <a:spcBef>
          <a:spcPts val="500"/>
        </a:spcBef>
        <a:buChar char="•"/>
        <a:defRPr sz="2000">
          <a:solidFill>
            <a:schemeClr val="tx1"/>
          </a:solidFill>
          <a:latin typeface="Arial"/>
          <a:ea typeface="Arial"/>
          <a:cs typeface="Arial"/>
        </a:defRPr>
      </a:lvl3pPr>
      <a:lvl4pPr marL="1600200" indent="-228600" algn="l">
        <a:lnSpc>
          <a:spcPct val="13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4pPr>
      <a:lvl5pPr marL="2057400" indent="-228600" algn="l">
        <a:lnSpc>
          <a:spcPct val="13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5pPr>
      <a:lvl6pPr marL="2514600" indent="-228600" algn="l">
        <a:lnSpc>
          <a:spcPct val="13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6pPr>
      <a:lvl7pPr marL="2971800" indent="-228600" algn="l">
        <a:lnSpc>
          <a:spcPct val="13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7pPr>
      <a:lvl8pPr marL="3429000" indent="-228600" algn="l">
        <a:lnSpc>
          <a:spcPct val="13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8pPr>
      <a:lvl9pPr marL="3886200" indent="-228600" algn="l">
        <a:lnSpc>
          <a:spcPct val="13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9pPr>
    </p:bodyStyle>
    <p:otherStyle>
      <a:lvl1pPr marL="0" algn="l">
        <a:lnSpc>
          <a:spcPct val="130000"/>
        </a:lnSpc>
        <a:buNone/>
        <a:defRPr sz="1800">
          <a:solidFill>
            <a:schemeClr val="tx1"/>
          </a:solidFill>
          <a:latin typeface="Arial"/>
          <a:ea typeface="Arial"/>
          <a:cs typeface="Arial"/>
        </a:defRPr>
      </a:lvl1pPr>
      <a:lvl2pPr marL="457200" algn="l">
        <a:lnSpc>
          <a:spcPct val="130000"/>
        </a:lnSpc>
        <a:buNone/>
        <a:defRPr sz="1800">
          <a:solidFill>
            <a:schemeClr val="tx1"/>
          </a:solidFill>
          <a:latin typeface="Arial"/>
          <a:ea typeface="Arial"/>
          <a:cs typeface="Arial"/>
        </a:defRPr>
      </a:lvl2pPr>
      <a:lvl3pPr marL="914400" algn="l">
        <a:lnSpc>
          <a:spcPct val="130000"/>
        </a:lnSpc>
        <a:buNone/>
        <a:defRPr sz="1800">
          <a:solidFill>
            <a:schemeClr val="tx1"/>
          </a:solidFill>
          <a:latin typeface="Arial"/>
          <a:ea typeface="Arial"/>
          <a:cs typeface="Arial"/>
        </a:defRPr>
      </a:lvl3pPr>
      <a:lvl4pPr marL="1371600" algn="l">
        <a:lnSpc>
          <a:spcPct val="130000"/>
        </a:lnSpc>
        <a:buNone/>
        <a:defRPr sz="1800">
          <a:solidFill>
            <a:schemeClr val="tx1"/>
          </a:solidFill>
          <a:latin typeface="Arial"/>
          <a:ea typeface="Arial"/>
          <a:cs typeface="Arial"/>
        </a:defRPr>
      </a:lvl4pPr>
      <a:lvl5pPr marL="1828800" algn="l">
        <a:lnSpc>
          <a:spcPct val="130000"/>
        </a:lnSpc>
        <a:buNone/>
        <a:defRPr sz="1800">
          <a:solidFill>
            <a:schemeClr val="tx1"/>
          </a:solidFill>
          <a:latin typeface="Arial"/>
          <a:ea typeface="Arial"/>
          <a:cs typeface="Arial"/>
        </a:defRPr>
      </a:lvl5pPr>
      <a:lvl6pPr marL="2286000" algn="l">
        <a:lnSpc>
          <a:spcPct val="130000"/>
        </a:lnSpc>
        <a:buNone/>
        <a:defRPr sz="1800">
          <a:solidFill>
            <a:schemeClr val="tx1"/>
          </a:solidFill>
          <a:latin typeface="Arial"/>
          <a:ea typeface="Arial"/>
          <a:cs typeface="Arial"/>
        </a:defRPr>
      </a:lvl6pPr>
      <a:lvl7pPr marL="2743200" algn="l">
        <a:lnSpc>
          <a:spcPct val="130000"/>
        </a:lnSpc>
        <a:buNone/>
        <a:defRPr sz="1800">
          <a:solidFill>
            <a:schemeClr val="tx1"/>
          </a:solidFill>
          <a:latin typeface="Arial"/>
          <a:ea typeface="Arial"/>
          <a:cs typeface="Arial"/>
        </a:defRPr>
      </a:lvl7pPr>
      <a:lvl8pPr marL="3200400" algn="l">
        <a:lnSpc>
          <a:spcPct val="130000"/>
        </a:lnSpc>
        <a:buNone/>
        <a:defRPr sz="1800">
          <a:solidFill>
            <a:schemeClr val="tx1"/>
          </a:solidFill>
          <a:latin typeface="Arial"/>
          <a:ea typeface="Arial"/>
          <a:cs typeface="Arial"/>
        </a:defRPr>
      </a:lvl8pPr>
      <a:lvl9pPr marL="3657600" algn="l">
        <a:lnSpc>
          <a:spcPct val="130000"/>
        </a:lnSpc>
        <a:buNone/>
        <a:defRPr sz="1800">
          <a:solidFill>
            <a:schemeClr val="tx1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6" Type="http://schemas.openxmlformats.org/officeDocument/2006/relationships/comments" Target="../comments/commen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microsoft.com/office/2007/relationships/hdphoto" Target="../media/hdphoto1.wdp"/><Relationship Id="rId9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2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9" Type="http://schemas.openxmlformats.org/officeDocument/2006/relationships/comments" Target="../comments/commen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3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10" Type="http://schemas.microsoft.com/office/2007/relationships/hdphoto" Target="../media/hdphoto2.wdp"/><Relationship Id="rId4" Type="http://schemas.openxmlformats.org/officeDocument/2006/relationships/image" Target="../media/image25.png"/><Relationship Id="rId9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2.png"/><Relationship Id="rId7" Type="http://schemas.openxmlformats.org/officeDocument/2006/relationships/image" Target="../media/image29.png"/><Relationship Id="rId12" Type="http://schemas.openxmlformats.org/officeDocument/2006/relationships/image" Target="../media/image3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7.png"/><Relationship Id="rId11" Type="http://schemas.openxmlformats.org/officeDocument/2006/relationships/image" Target="../media/image30.png"/><Relationship Id="rId5" Type="http://schemas.openxmlformats.org/officeDocument/2006/relationships/image" Target="../media/image24.png"/><Relationship Id="rId10" Type="http://schemas.openxmlformats.org/officeDocument/2006/relationships/image" Target="../media/image14.png"/><Relationship Id="rId4" Type="http://schemas.openxmlformats.org/officeDocument/2006/relationships/image" Target="../media/image23.png"/><Relationship Id="rId9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webp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Relationship Id="rId5" Type="http://schemas.openxmlformats.org/officeDocument/2006/relationships/comments" Target="../comments/comment3.xml"/><Relationship Id="rId4" Type="http://schemas.openxmlformats.org/officeDocument/2006/relationships/image" Target="../media/image35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Relationship Id="rId4" Type="http://schemas.openxmlformats.org/officeDocument/2006/relationships/comments" Target="../comments/commen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Relationship Id="rId6" Type="http://schemas.openxmlformats.org/officeDocument/2006/relationships/hyperlink" Target="https://www.monolithicpower.cn/cn/mps-power-tips-videos" TargetMode="Externa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microsoft.com/office/2007/relationships/hdphoto" Target="../media/hdphoto1.wdp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4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FEB23C-872E-47B2-B759-D37544DB24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829791"/>
            <a:ext cx="9144000" cy="1198418"/>
          </a:xfrm>
        </p:spPr>
        <p:txBody>
          <a:bodyPr>
            <a:normAutofit/>
          </a:bodyPr>
          <a:lstStyle/>
          <a:p>
            <a:pPr>
              <a:buNone/>
            </a:pPr>
            <a:r>
              <a:t>第二章：硬件设计计算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296609D-2C54-3ECB-38A6-789FBBFD08B2}"/>
              </a:ext>
            </a:extLst>
          </p:cNvPr>
          <p:cNvSpPr>
            <a:spLocks noGrp="1"/>
          </p:cNvSpPr>
          <p:nvPr/>
        </p:nvSpPr>
        <p:spPr>
          <a:xfrm>
            <a:off x="3048000" y="4687079"/>
            <a:ext cx="6096000" cy="77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/>
              <a:t>需求分析 → 芯片选型 → 原理图设计 → PCB Layout → 测试验证。</a:t>
            </a:r>
          </a:p>
        </p:txBody>
      </p:sp>
    </p:spTree>
    <p:extLst>
      <p:ext uri="{BB962C8B-B14F-4D97-AF65-F5344CB8AC3E}">
        <p14:creationId xmlns:p14="http://schemas.microsoft.com/office/powerpoint/2010/main" val="1233603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98C9B12-92BE-4008-54D0-660E06892BEE}"/>
              </a:ext>
            </a:extLst>
          </p:cNvPr>
          <p:cNvSpPr>
            <a:spLocks noGrp="1"/>
          </p:cNvSpPr>
          <p:nvPr/>
        </p:nvSpPr>
        <p:spPr>
          <a:xfrm>
            <a:off x="338203" y="194153"/>
            <a:ext cx="6942926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0-</a:t>
            </a:r>
            <a:r>
              <a:rPr lang="en-US" dirty="0"/>
              <a:t>5</a:t>
            </a:r>
            <a:r>
              <a:rPr dirty="0"/>
              <a:t>s</a:t>
            </a:r>
            <a:endParaRPr lang="en-US" dirty="0"/>
          </a:p>
          <a:p>
            <a:r>
              <a:rPr lang="zh-CN" altLang="en-US" dirty="0"/>
              <a:t>同样先来几秒钟快闪 大概是板子焊接，然后聚焦于板子的运镜视频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701596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002FAD-1650-A999-118D-FADCB1BD3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88C5147-B793-83FB-2E9A-5A3816DD4BDB}"/>
              </a:ext>
            </a:extLst>
          </p:cNvPr>
          <p:cNvSpPr>
            <a:spLocks noGrp="1"/>
          </p:cNvSpPr>
          <p:nvPr/>
        </p:nvSpPr>
        <p:spPr>
          <a:xfrm>
            <a:off x="2298809" y="3332769"/>
            <a:ext cx="156966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zh-CN" altLang="en-US" dirty="0"/>
              <a:t>同样这个场景</a:t>
            </a:r>
            <a:endParaRPr 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047532B-60EF-776C-99AB-76DD58A8B2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2908" y="2316967"/>
            <a:ext cx="4074390" cy="3055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8122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8821FC-B791-63BE-C237-734F67B6C1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50B76AEA-B9DF-21EF-449C-8426207D2E61}"/>
              </a:ext>
            </a:extLst>
          </p:cNvPr>
          <p:cNvSpPr>
            <a:spLocks noGrp="1"/>
          </p:cNvSpPr>
          <p:nvPr/>
        </p:nvSpPr>
        <p:spPr>
          <a:xfrm>
            <a:off x="217807" y="203285"/>
            <a:ext cx="11400033" cy="521208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txBody>
          <a:bodyPr>
            <a:normAutofit fontScale="59790" lnSpcReduction="20000"/>
          </a:bodyPr>
          <a:lstStyle>
            <a:lvl1pPr algn="l">
              <a:lnSpc>
                <a:spcPct val="13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>
            <a:r>
              <a:rPr dirty="0" err="1">
                <a:solidFill>
                  <a:schemeClr val="bg1"/>
                </a:solidFill>
              </a:rPr>
              <a:t>需求分析</a:t>
            </a:r>
            <a:r>
              <a:rPr dirty="0">
                <a:solidFill>
                  <a:schemeClr val="bg1"/>
                </a:solidFill>
              </a:rPr>
              <a:t>——</a:t>
            </a:r>
            <a:r>
              <a:rPr lang="zh-CN" altLang="en-US" dirty="0">
                <a:solidFill>
                  <a:schemeClr val="bg1"/>
                </a:solidFill>
              </a:rPr>
              <a:t>从机器人需求推导电机参数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7161C47-AF92-A97E-CC12-815B96B177BC}"/>
              </a:ext>
            </a:extLst>
          </p:cNvPr>
          <p:cNvSpPr txBox="1"/>
          <p:nvPr/>
        </p:nvSpPr>
        <p:spPr>
          <a:xfrm>
            <a:off x="12912566" y="820001"/>
            <a:ext cx="3123396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900"/>
              </a:spcBef>
              <a:spcAft>
                <a:spcPts val="900"/>
              </a:spcAft>
              <a:buFont typeface="+mj-lt"/>
              <a:buAutoNum type="arabicPeriod"/>
            </a:pPr>
            <a:r>
              <a:rPr lang="zh-CN" altLang="en-US" b="1" dirty="0">
                <a:solidFill>
                  <a:srgbClr val="FF0000"/>
                </a:solidFill>
                <a:latin typeface="+mj-ea"/>
                <a:ea typeface="+mj-ea"/>
                <a:cs typeface="Times New Roman" panose="02020603050405020304" pitchFamily="18" charset="0"/>
              </a:rPr>
              <a:t>这两个动画数据</a:t>
            </a:r>
            <a:r>
              <a:rPr lang="en-US" altLang="zh-CN" b="1" dirty="0">
                <a:solidFill>
                  <a:srgbClr val="FF0000"/>
                </a:solidFill>
                <a:latin typeface="+mj-ea"/>
                <a:ea typeface="+mj-ea"/>
                <a:cs typeface="Times New Roman" panose="02020603050405020304" pitchFamily="18" charset="0"/>
              </a:rPr>
              <a:t>highlight</a:t>
            </a:r>
          </a:p>
          <a:p>
            <a:pPr marL="342900" indent="-342900">
              <a:spcBef>
                <a:spcPts val="900"/>
              </a:spcBef>
              <a:spcAft>
                <a:spcPts val="900"/>
              </a:spcAft>
              <a:buFont typeface="+mj-lt"/>
              <a:buAutoNum type="arabicPeriod"/>
            </a:pPr>
            <a:r>
              <a:rPr lang="zh-CN" altLang="en-US" sz="1800" b="1" dirty="0">
                <a:solidFill>
                  <a:srgbClr val="FF0000"/>
                </a:solidFill>
                <a:effectLst/>
                <a:latin typeface="+mj-ea"/>
                <a:ea typeface="+mj-ea"/>
                <a:cs typeface="Times New Roman" panose="02020603050405020304" pitchFamily="18" charset="0"/>
              </a:rPr>
              <a:t>数据没有关联性，审一下</a:t>
            </a:r>
            <a:endParaRPr lang="en-US" altLang="zh-CN" sz="1800" b="1" dirty="0">
              <a:solidFill>
                <a:srgbClr val="FF0000"/>
              </a:solidFill>
              <a:effectLst/>
              <a:latin typeface="+mj-ea"/>
              <a:ea typeface="+mj-ea"/>
              <a:cs typeface="Times New Roman" panose="02020603050405020304" pitchFamily="18" charset="0"/>
            </a:endParaRPr>
          </a:p>
          <a:p>
            <a:pPr marL="342900" indent="-342900">
              <a:spcBef>
                <a:spcPts val="900"/>
              </a:spcBef>
              <a:spcAft>
                <a:spcPts val="900"/>
              </a:spcAft>
              <a:buFont typeface="+mj-lt"/>
              <a:buAutoNum type="arabicPeriod"/>
            </a:pPr>
            <a:r>
              <a:rPr lang="zh-CN" altLang="en-US" b="1" dirty="0">
                <a:solidFill>
                  <a:srgbClr val="FF0000"/>
                </a:solidFill>
                <a:latin typeface="+mj-ea"/>
                <a:ea typeface="+mj-ea"/>
                <a:cs typeface="Times New Roman" panose="02020603050405020304" pitchFamily="18" charset="0"/>
              </a:rPr>
              <a:t>案例要找一下</a:t>
            </a:r>
            <a:endParaRPr lang="en-US" altLang="zh-CN" b="1" dirty="0">
              <a:solidFill>
                <a:srgbClr val="FF0000"/>
              </a:solidFill>
              <a:latin typeface="+mj-ea"/>
              <a:ea typeface="+mj-ea"/>
              <a:cs typeface="Times New Roman" panose="02020603050405020304" pitchFamily="18" charset="0"/>
            </a:endParaRPr>
          </a:p>
          <a:p>
            <a:pPr marL="342900" indent="-342900">
              <a:spcBef>
                <a:spcPts val="900"/>
              </a:spcBef>
              <a:spcAft>
                <a:spcPts val="900"/>
              </a:spcAft>
              <a:buFont typeface="+mj-lt"/>
              <a:buAutoNum type="arabicPeriod"/>
            </a:pPr>
            <a:r>
              <a:rPr lang="zh-CN" altLang="en-US" sz="1800" b="1" dirty="0">
                <a:solidFill>
                  <a:srgbClr val="FF0000"/>
                </a:solidFill>
                <a:effectLst/>
                <a:latin typeface="+mj-ea"/>
                <a:ea typeface="+mj-ea"/>
                <a:cs typeface="Times New Roman" panose="02020603050405020304" pitchFamily="18" charset="0"/>
              </a:rPr>
              <a:t>厂商具体名称</a:t>
            </a:r>
            <a:r>
              <a:rPr lang="en-US" altLang="zh-CN" sz="1800" b="1" dirty="0">
                <a:solidFill>
                  <a:srgbClr val="FF0000"/>
                </a:solidFill>
                <a:effectLst/>
                <a:latin typeface="+mj-ea"/>
                <a:ea typeface="+mj-ea"/>
                <a:cs typeface="Times New Roman" panose="02020603050405020304" pitchFamily="18" charset="0"/>
              </a:rPr>
              <a:t>maybe</a:t>
            </a:r>
            <a:r>
              <a:rPr lang="zh-CN" altLang="en-US" sz="1800" b="1" dirty="0">
                <a:solidFill>
                  <a:srgbClr val="FF0000"/>
                </a:solidFill>
                <a:effectLst/>
                <a:latin typeface="+mj-ea"/>
                <a:ea typeface="+mj-ea"/>
                <a:cs typeface="Times New Roman" panose="02020603050405020304" pitchFamily="18" charset="0"/>
              </a:rPr>
              <a:t>需要遮一下</a:t>
            </a:r>
            <a:endParaRPr lang="en-US" altLang="zh-CN" sz="1800" b="1" dirty="0">
              <a:solidFill>
                <a:srgbClr val="FF0000"/>
              </a:solidFill>
              <a:effectLst/>
              <a:latin typeface="+mj-ea"/>
              <a:ea typeface="+mj-ea"/>
              <a:cs typeface="Times New Roman" panose="02020603050405020304" pitchFamily="18" charset="0"/>
            </a:endParaRPr>
          </a:p>
          <a:p>
            <a:pPr marL="342900" indent="-342900">
              <a:spcBef>
                <a:spcPts val="900"/>
              </a:spcBef>
              <a:spcAft>
                <a:spcPts val="900"/>
              </a:spcAft>
              <a:buFont typeface="+mj-lt"/>
              <a:buAutoNum type="arabicPeriod"/>
            </a:pPr>
            <a:r>
              <a:rPr lang="en-US" altLang="zh-CN" b="1" dirty="0">
                <a:solidFill>
                  <a:srgbClr val="FF0000"/>
                </a:solidFill>
                <a:latin typeface="+mj-ea"/>
                <a:ea typeface="+mj-ea"/>
                <a:cs typeface="Times New Roman" panose="02020603050405020304" pitchFamily="18" charset="0"/>
              </a:rPr>
              <a:t>200W</a:t>
            </a:r>
            <a:r>
              <a:rPr lang="zh-CN" altLang="en-US" b="1" dirty="0">
                <a:solidFill>
                  <a:srgbClr val="FF0000"/>
                </a:solidFill>
                <a:latin typeface="+mj-ea"/>
                <a:ea typeface="+mj-ea"/>
                <a:cs typeface="Times New Roman" panose="02020603050405020304" pitchFamily="18" charset="0"/>
              </a:rPr>
              <a:t>功率用来说上肢，找上肢案例。上肢功率在</a:t>
            </a:r>
            <a:r>
              <a:rPr lang="en-US" altLang="zh-CN" b="1" dirty="0">
                <a:solidFill>
                  <a:srgbClr val="FF0000"/>
                </a:solidFill>
                <a:latin typeface="+mj-ea"/>
                <a:ea typeface="+mj-ea"/>
                <a:cs typeface="Times New Roman" panose="02020603050405020304" pitchFamily="18" charset="0"/>
              </a:rPr>
              <a:t>200W</a:t>
            </a:r>
            <a:r>
              <a:rPr lang="zh-CN" altLang="en-US" b="1" dirty="0">
                <a:solidFill>
                  <a:srgbClr val="FF0000"/>
                </a:solidFill>
                <a:latin typeface="+mj-ea"/>
                <a:ea typeface="+mj-ea"/>
                <a:cs typeface="Times New Roman" panose="02020603050405020304" pitchFamily="18" charset="0"/>
              </a:rPr>
              <a:t>以内，所以目标是</a:t>
            </a:r>
            <a:r>
              <a:rPr lang="en-US" altLang="zh-CN" b="1" dirty="0">
                <a:solidFill>
                  <a:srgbClr val="FF0000"/>
                </a:solidFill>
                <a:latin typeface="+mj-ea"/>
                <a:ea typeface="+mj-ea"/>
                <a:cs typeface="Times New Roman" panose="02020603050405020304" pitchFamily="18" charset="0"/>
              </a:rPr>
              <a:t>180W</a:t>
            </a:r>
            <a:r>
              <a:rPr lang="zh-CN" altLang="en-US" b="1" dirty="0">
                <a:solidFill>
                  <a:srgbClr val="FF0000"/>
                </a:solidFill>
                <a:latin typeface="+mj-ea"/>
                <a:ea typeface="+mj-ea"/>
                <a:cs typeface="Times New Roman" panose="02020603050405020304" pitchFamily="18" charset="0"/>
              </a:rPr>
              <a:t>。锁定上肢关节手、肘部，的应用场景。</a:t>
            </a:r>
            <a:endParaRPr lang="en-US" altLang="zh-CN" b="1" dirty="0">
              <a:solidFill>
                <a:srgbClr val="FF0000"/>
              </a:solidFill>
              <a:latin typeface="+mj-ea"/>
              <a:ea typeface="+mj-ea"/>
              <a:cs typeface="Times New Roman" panose="02020603050405020304" pitchFamily="18" charset="0"/>
            </a:endParaRPr>
          </a:p>
          <a:p>
            <a:pPr marL="342900" indent="-342900">
              <a:spcBef>
                <a:spcPts val="900"/>
              </a:spcBef>
              <a:spcAft>
                <a:spcPts val="900"/>
              </a:spcAft>
              <a:buFont typeface="+mj-lt"/>
              <a:buAutoNum type="arabicPeriod"/>
            </a:pPr>
            <a:r>
              <a:rPr lang="zh-CN" altLang="en-US" b="1" dirty="0">
                <a:solidFill>
                  <a:srgbClr val="FF0000"/>
                </a:solidFill>
                <a:latin typeface="+mj-ea"/>
                <a:ea typeface="+mj-ea"/>
                <a:cs typeface="Times New Roman" panose="02020603050405020304" pitchFamily="18" charset="0"/>
              </a:rPr>
              <a:t>需求写的比较模糊点。给一个工作范围。改台词就好了：市面上</a:t>
            </a:r>
            <a:r>
              <a:rPr lang="en-US" altLang="zh-CN" b="1" dirty="0">
                <a:solidFill>
                  <a:srgbClr val="FF0000"/>
                </a:solidFill>
                <a:latin typeface="+mj-ea"/>
                <a:ea typeface="+mj-ea"/>
                <a:cs typeface="Times New Roman" panose="02020603050405020304" pitchFamily="18" charset="0"/>
              </a:rPr>
              <a:t>……</a:t>
            </a:r>
            <a:r>
              <a:rPr lang="zh-CN" altLang="en-US" b="1" dirty="0">
                <a:solidFill>
                  <a:srgbClr val="FF0000"/>
                </a:solidFill>
                <a:latin typeface="+mj-ea"/>
                <a:ea typeface="+mj-ea"/>
                <a:cs typeface="Times New Roman" panose="02020603050405020304" pitchFamily="18" charset="0"/>
              </a:rPr>
              <a:t>所以设计目标是</a:t>
            </a:r>
            <a:r>
              <a:rPr lang="en-US" altLang="zh-CN" b="1" dirty="0">
                <a:solidFill>
                  <a:srgbClr val="FF0000"/>
                </a:solidFill>
                <a:latin typeface="+mj-ea"/>
                <a:ea typeface="+mj-ea"/>
                <a:cs typeface="Times New Roman" panose="02020603050405020304" pitchFamily="18" charset="0"/>
              </a:rPr>
              <a:t>……..</a:t>
            </a:r>
          </a:p>
          <a:p>
            <a:pPr marL="342900" indent="-342900">
              <a:spcBef>
                <a:spcPts val="900"/>
              </a:spcBef>
              <a:spcAft>
                <a:spcPts val="900"/>
              </a:spcAft>
              <a:buFont typeface="+mj-lt"/>
              <a:buAutoNum type="arabicPeriod"/>
            </a:pPr>
            <a:endParaRPr lang="zh-CN" altLang="zh-CN" sz="1800" b="1" dirty="0">
              <a:solidFill>
                <a:srgbClr val="FF0000"/>
              </a:solidFill>
              <a:effectLst/>
              <a:latin typeface="+mj-ea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2050" name="Picture 2" descr="图片预览">
            <a:extLst>
              <a:ext uri="{FF2B5EF4-FFF2-40B4-BE49-F238E27FC236}">
                <a16:creationId xmlns:a16="http://schemas.microsoft.com/office/drawing/2014/main" id="{FA0F2645-E94F-A72B-6B0C-758ADD54FC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09" y="1141671"/>
            <a:ext cx="4571828" cy="30478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9F13C56B-587D-6E17-E9AC-D14181DEB066}"/>
              </a:ext>
            </a:extLst>
          </p:cNvPr>
          <p:cNvSpPr/>
          <p:nvPr/>
        </p:nvSpPr>
        <p:spPr>
          <a:xfrm>
            <a:off x="3262532" y="2082381"/>
            <a:ext cx="909345" cy="887396"/>
          </a:xfrm>
          <a:prstGeom prst="roundRect">
            <a:avLst/>
          </a:prstGeom>
          <a:noFill/>
          <a:ln w="28575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E642699C-E878-A8A8-533B-CD83C015A209}"/>
              </a:ext>
            </a:extLst>
          </p:cNvPr>
          <p:cNvCxnSpPr>
            <a:cxnSpLocks/>
          </p:cNvCxnSpPr>
          <p:nvPr/>
        </p:nvCxnSpPr>
        <p:spPr>
          <a:xfrm flipH="1">
            <a:off x="2569837" y="2951310"/>
            <a:ext cx="1541672" cy="2618045"/>
          </a:xfrm>
          <a:prstGeom prst="line">
            <a:avLst/>
          </a:prstGeom>
          <a:ln w="12700"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FE9A85F0-2538-DDD5-700C-120514BB38AF}"/>
              </a:ext>
            </a:extLst>
          </p:cNvPr>
          <p:cNvCxnSpPr>
            <a:cxnSpLocks/>
          </p:cNvCxnSpPr>
          <p:nvPr/>
        </p:nvCxnSpPr>
        <p:spPr>
          <a:xfrm flipV="1">
            <a:off x="644893" y="2873376"/>
            <a:ext cx="2631525" cy="2497521"/>
          </a:xfrm>
          <a:prstGeom prst="line">
            <a:avLst/>
          </a:prstGeom>
          <a:ln w="12700"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文本框 57">
            <a:extLst>
              <a:ext uri="{FF2B5EF4-FFF2-40B4-BE49-F238E27FC236}">
                <a16:creationId xmlns:a16="http://schemas.microsoft.com/office/drawing/2014/main" id="{0406C24D-ABE8-4F1D-81D6-0AE4311BD103}"/>
              </a:ext>
            </a:extLst>
          </p:cNvPr>
          <p:cNvSpPr txBox="1"/>
          <p:nvPr/>
        </p:nvSpPr>
        <p:spPr>
          <a:xfrm>
            <a:off x="217807" y="1001492"/>
            <a:ext cx="24518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0070C0"/>
                </a:solidFill>
                <a:latin typeface="+mn-ea"/>
                <a:cs typeface="Times New Roman" panose="02020603050405020304" pitchFamily="18" charset="0"/>
              </a:rPr>
              <a:t>机器人上肢工作环境</a:t>
            </a:r>
            <a:endParaRPr lang="zh-CN" altLang="en-US" b="1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D05D9A8D-8014-57E6-080E-DE47F37A27E6}"/>
                  </a:ext>
                </a:extLst>
              </p:cNvPr>
              <p:cNvSpPr txBox="1"/>
              <p:nvPr/>
            </p:nvSpPr>
            <p:spPr>
              <a:xfrm>
                <a:off x="2788765" y="4404347"/>
                <a:ext cx="8967440" cy="23107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b="1" dirty="0">
                    <a:effectLst/>
                    <a:latin typeface="+mn-ea"/>
                    <a:cs typeface="Times New Roman" panose="02020603050405020304" pitchFamily="18" charset="0"/>
                  </a:rPr>
                  <a:t>连续转矩：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𝜏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lang="en-US" altLang="zh-CN" sz="180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zh-CN" sz="180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cont</m:t>
                        </m:r>
                      </m:sub>
                    </m:sSub>
                    <m:r>
                      <a:rPr lang="en-US" altLang="zh-CN" sz="18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𝑙</m:t>
                        </m:r>
                      </m:sub>
                    </m:sSub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𝑔</m:t>
                    </m:r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𝑙</m:t>
                        </m:r>
                      </m:sub>
                    </m:sSub>
                    <m:r>
                      <a:rPr lang="en-US" altLang="zh-CN" sz="18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≈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5.89 </m:t>
                    </m:r>
                    <m:r>
                      <m:rPr>
                        <m:sty m:val="p"/>
                      </m:rPr>
                      <a:rPr lang="en-US" altLang="zh-CN" sz="18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N</m:t>
                    </m:r>
                    <m:r>
                      <a:rPr lang="en-US" altLang="zh-CN" sz="18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US" altLang="zh-CN" sz="18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m</m:t>
                    </m:r>
                  </m:oMath>
                </a14:m>
                <a:r>
                  <a:rPr lang="zh-CN" altLang="en-US" sz="1800" dirty="0">
                    <a:effectLst/>
                    <a:latin typeface="+mn-ea"/>
                    <a:cs typeface="Times New Roman" panose="02020603050405020304" pitchFamily="18" charset="0"/>
                  </a:rPr>
                  <a:t>、</a:t>
                </a:r>
                <a:r>
                  <a:rPr lang="en-US" altLang="zh-CN" sz="1800" b="1" dirty="0" err="1">
                    <a:effectLst/>
                    <a:latin typeface="+mn-ea"/>
                    <a:cs typeface="Times New Roman" panose="02020603050405020304" pitchFamily="18" charset="0"/>
                  </a:rPr>
                  <a:t>峰值转矩</a:t>
                </a:r>
                <a:r>
                  <a:rPr lang="en-US" altLang="zh-CN" sz="1800" b="1" dirty="0">
                    <a:effectLst/>
                    <a:latin typeface="+mn-ea"/>
                    <a:cs typeface="Times New Roman" panose="02020603050405020304" pitchFamily="18" charset="0"/>
                  </a:rPr>
                  <a:t>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𝜏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lang="en-US" altLang="zh-CN" sz="180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zh-CN" sz="180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peak</m:t>
                        </m:r>
                      </m:sub>
                    </m:sSub>
                    <m:r>
                      <a:rPr lang="en-US" altLang="zh-CN" sz="18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sub>
                    </m:sSub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𝜏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lang="en-US" altLang="zh-CN" sz="180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zh-CN" sz="180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cont</m:t>
                        </m:r>
                      </m:sub>
                    </m:sSub>
                    <m:r>
                      <a:rPr lang="en-US" altLang="zh-CN" sz="18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≈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8.83 </m:t>
                    </m:r>
                    <m:r>
                      <m:rPr>
                        <m:sty m:val="p"/>
                      </m:rPr>
                      <a:rPr lang="en-US" altLang="zh-CN" sz="18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N</m:t>
                    </m:r>
                    <m:r>
                      <a:rPr lang="en-US" altLang="zh-CN" sz="18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US" altLang="zh-CN" sz="18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m</m:t>
                    </m:r>
                  </m:oMath>
                </a14:m>
                <a:endParaRPr lang="zh-CN" altLang="zh-CN" sz="1800" dirty="0">
                  <a:effectLst/>
                  <a:latin typeface="+mn-ea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en-US" altLang="zh-CN" sz="1800" b="1" dirty="0" err="1">
                    <a:effectLst/>
                    <a:latin typeface="+mn-ea"/>
                    <a:cs typeface="Times New Roman" panose="02020603050405020304" pitchFamily="18" charset="0"/>
                  </a:rPr>
                  <a:t>关节角速度</a:t>
                </a:r>
                <a:r>
                  <a:rPr lang="en-US" altLang="zh-CN" sz="1800" b="1" dirty="0">
                    <a:effectLst/>
                    <a:latin typeface="+mn-ea"/>
                    <a:cs typeface="Times New Roman" panose="02020603050405020304" pitchFamily="18" charset="0"/>
                  </a:rPr>
                  <a:t>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CN" sz="18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𝜋</m:t>
                        </m:r>
                        <m:sSub>
                          <m:sSubPr>
                            <m:ctrlPr>
                              <a:rPr lang="zh-CN" altLang="zh-CN" sz="1800" i="1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i="1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 sz="1800" i="1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𝑗</m:t>
                            </m:r>
                          </m:sub>
                        </m:sSub>
                      </m:num>
                      <m:den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60</m:t>
                        </m:r>
                      </m:den>
                    </m:f>
                    <m:r>
                      <a:rPr lang="en-US" altLang="zh-CN" sz="18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≈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16.76 </m:t>
                    </m:r>
                    <m:r>
                      <m:rPr>
                        <m:sty m:val="p"/>
                      </m:rPr>
                      <a:rPr lang="en-US" altLang="zh-CN" sz="18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rad</m:t>
                    </m:r>
                    <m:r>
                      <a:rPr lang="en-US" altLang="zh-CN" sz="18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18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s</m:t>
                    </m:r>
                  </m:oMath>
                </a14:m>
                <a:r>
                  <a:rPr lang="zh-CN" altLang="en-US" sz="1800" dirty="0">
                    <a:effectLst/>
                    <a:latin typeface="+mn-ea"/>
                    <a:cs typeface="Times New Roman" panose="02020603050405020304" pitchFamily="18" charset="0"/>
                  </a:rPr>
                  <a:t>、</a:t>
                </a:r>
                <a:r>
                  <a:rPr lang="en-US" altLang="zh-CN" sz="1800" b="1" dirty="0" err="1">
                    <a:effectLst/>
                    <a:latin typeface="+mn-ea"/>
                    <a:cs typeface="Times New Roman" panose="02020603050405020304" pitchFamily="18" charset="0"/>
                  </a:rPr>
                  <a:t>系统总效率</a:t>
                </a:r>
                <a:r>
                  <a:rPr lang="en-US" altLang="zh-CN" sz="1800" b="1" dirty="0">
                    <a:effectLst/>
                    <a:latin typeface="+mn-ea"/>
                    <a:cs typeface="Times New Roman" panose="02020603050405020304" pitchFamily="18" charset="0"/>
                  </a:rPr>
                  <a:t>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𝜂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80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sys</m:t>
                        </m:r>
                      </m:sub>
                    </m:sSub>
                    <m:r>
                      <a:rPr lang="en-US" altLang="zh-CN" sz="18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𝜂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𝑔</m:t>
                        </m:r>
                      </m:sub>
                    </m:sSub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𝜂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sub>
                    </m:sSub>
                    <m:r>
                      <a:rPr lang="en-US" altLang="zh-CN" sz="18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0.765</m:t>
                    </m:r>
                  </m:oMath>
                </a14:m>
                <a:endParaRPr lang="zh-CN" altLang="zh-CN" sz="1800" dirty="0">
                  <a:effectLst/>
                  <a:latin typeface="+mn-ea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en-US" altLang="zh-CN" sz="1800" b="1" dirty="0" err="1">
                    <a:effectLst/>
                    <a:latin typeface="+mn-ea"/>
                    <a:cs typeface="Times New Roman" panose="02020603050405020304" pitchFamily="18" charset="0"/>
                  </a:rPr>
                  <a:t>连续电气功率</a:t>
                </a:r>
                <a:r>
                  <a:rPr lang="en-US" altLang="zh-CN" sz="1800" dirty="0">
                    <a:effectLst/>
                    <a:latin typeface="+mn-ea"/>
                    <a:cs typeface="Times New Roman" panose="02020603050405020304" pitchFamily="18" charset="0"/>
                  </a:rPr>
                  <a:t>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  <m:r>
                          <a:rPr lang="en-US" altLang="zh-CN" sz="180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zh-CN" sz="180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cont</m:t>
                        </m:r>
                      </m:sub>
                    </m:sSub>
                    <m:r>
                      <a:rPr lang="en-US" altLang="zh-CN" sz="18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CN" altLang="zh-CN" sz="1800" i="1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i="1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US" altLang="zh-CN" sz="1800" i="1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𝑗</m:t>
                            </m:r>
                            <m:r>
                              <a:rPr lang="en-US" altLang="zh-CN" sz="180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r>
                              <m:rPr>
                                <m:sty m:val="p"/>
                              </m:rPr>
                              <a:rPr lang="en-US" altLang="zh-CN" sz="180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cont</m:t>
                            </m:r>
                          </m:sub>
                        </m:sSub>
                        <m:sSub>
                          <m:sSubPr>
                            <m:ctrlPr>
                              <a:rPr lang="zh-CN" altLang="zh-CN" sz="1800" i="1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i="1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CN" sz="1800" i="1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𝑗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zh-CN" altLang="zh-CN" sz="1800" i="1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i="1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𝜂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180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sys</m:t>
                            </m:r>
                          </m:sub>
                        </m:sSub>
                      </m:den>
                    </m:f>
                    <m:r>
                      <a:rPr lang="en-US" altLang="zh-CN" sz="18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≈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129 </m:t>
                    </m:r>
                    <m:r>
                      <m:rPr>
                        <m:sty m:val="p"/>
                      </m:rPr>
                      <a:rPr lang="en-US" altLang="zh-CN" sz="18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W</m:t>
                    </m:r>
                  </m:oMath>
                </a14:m>
                <a:r>
                  <a:rPr lang="zh-CN" altLang="en-US" sz="1800" dirty="0">
                    <a:effectLst/>
                    <a:latin typeface="+mn-ea"/>
                    <a:cs typeface="Times New Roman" panose="02020603050405020304" pitchFamily="18" charset="0"/>
                  </a:rPr>
                  <a:t>、</a:t>
                </a:r>
                <a:r>
                  <a:rPr lang="en-US" altLang="zh-CN" sz="1800" b="1" dirty="0" err="1">
                    <a:effectLst/>
                    <a:latin typeface="+mn-ea"/>
                    <a:cs typeface="Times New Roman" panose="02020603050405020304" pitchFamily="18" charset="0"/>
                  </a:rPr>
                  <a:t>短时峰值功率</a:t>
                </a:r>
                <a:r>
                  <a:rPr lang="en-US" altLang="zh-CN" sz="1800" b="1" dirty="0">
                    <a:effectLst/>
                    <a:latin typeface="+mn-ea"/>
                    <a:cs typeface="Times New Roman" panose="02020603050405020304" pitchFamily="18" charset="0"/>
                  </a:rPr>
                  <a:t>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  <m:r>
                          <a:rPr lang="en-US" altLang="zh-CN" sz="180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zh-CN" sz="180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peak</m:t>
                        </m:r>
                      </m:sub>
                    </m:sSub>
                    <m:r>
                      <a:rPr lang="en-US" altLang="zh-CN" sz="18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CN" altLang="zh-CN" sz="1800" i="1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i="1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US" altLang="zh-CN" sz="1800" i="1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𝑗</m:t>
                            </m:r>
                            <m:r>
                              <a:rPr lang="en-US" altLang="zh-CN" sz="180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r>
                              <m:rPr>
                                <m:sty m:val="p"/>
                              </m:rPr>
                              <a:rPr lang="en-US" altLang="zh-CN" sz="180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peak</m:t>
                            </m:r>
                          </m:sub>
                        </m:sSub>
                        <m:sSub>
                          <m:sSubPr>
                            <m:ctrlPr>
                              <a:rPr lang="zh-CN" altLang="zh-CN" sz="1800" i="1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i="1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CN" sz="1800" i="1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𝑗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zh-CN" altLang="zh-CN" sz="1800" i="1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i="1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𝜂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180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sys</m:t>
                            </m:r>
                          </m:sub>
                        </m:sSub>
                      </m:den>
                    </m:f>
                    <m:r>
                      <a:rPr lang="en-US" altLang="zh-CN" sz="18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≈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193 </m:t>
                    </m:r>
                    <m:r>
                      <m:rPr>
                        <m:sty m:val="p"/>
                      </m:rPr>
                      <a:rPr lang="en-US" altLang="zh-CN" sz="18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W</m:t>
                    </m:r>
                  </m:oMath>
                </a14:m>
                <a:endParaRPr lang="zh-CN" altLang="zh-CN" sz="1800" dirty="0">
                  <a:effectLst/>
                  <a:latin typeface="+mn-ea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b="1" dirty="0">
                    <a:effectLst/>
                    <a:latin typeface="+mn-ea"/>
                    <a:cs typeface="Times New Roman" panose="02020603050405020304" pitchFamily="18" charset="0"/>
                  </a:rPr>
                  <a:t>连续功率加入</a:t>
                </a:r>
                <a:r>
                  <a:rPr lang="en-US" altLang="zh-CN" sz="1800" b="1" dirty="0">
                    <a:effectLst/>
                    <a:latin typeface="+mn-ea"/>
                    <a:cs typeface="Times New Roman" panose="02020603050405020304" pitchFamily="18" charset="0"/>
                  </a:rPr>
                  <a:t>40%</a:t>
                </a:r>
                <a:r>
                  <a:rPr lang="zh-CN" altLang="zh-CN" sz="1800" b="1" dirty="0">
                    <a:effectLst/>
                    <a:latin typeface="+mn-ea"/>
                    <a:cs typeface="Times New Roman" panose="02020603050405020304" pitchFamily="18" charset="0"/>
                  </a:rPr>
                  <a:t>设计裕量：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sub>
                    </m:sSub>
                    <m:r>
                      <a:rPr lang="en-US" altLang="zh-CN" sz="18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</m:sub>
                    </m:sSub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  <m:r>
                          <a:rPr lang="en-US" altLang="zh-CN" sz="180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zh-CN" sz="180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cont</m:t>
                        </m:r>
                      </m:sub>
                    </m:sSub>
                    <m:r>
                      <a:rPr lang="en-US" altLang="zh-CN" sz="18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≈</m:t>
                    </m:r>
                    <m:r>
                      <a:rPr lang="en-US" altLang="zh-CN" sz="1800" b="1" i="1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𝟏𝟖𝟏</m:t>
                    </m:r>
                    <m:r>
                      <a:rPr lang="en-US" altLang="zh-CN" sz="1800" b="1" i="1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 </m:t>
                    </m:r>
                    <m:r>
                      <a:rPr lang="en-US" altLang="zh-CN" sz="1800" b="1" i="1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𝐖</m:t>
                    </m:r>
                  </m:oMath>
                </a14:m>
                <a:endParaRPr lang="zh-CN" altLang="zh-CN" sz="1800" dirty="0">
                  <a:effectLst/>
                  <a:latin typeface="+mn-ea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D05D9A8D-8014-57E6-080E-DE47F37A27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8765" y="4404347"/>
                <a:ext cx="8967440" cy="2310761"/>
              </a:xfrm>
              <a:prstGeom prst="rect">
                <a:avLst/>
              </a:prstGeom>
              <a:blipFill>
                <a:blip r:embed="rId4"/>
                <a:stretch>
                  <a:fillRect l="-543" t="-13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矩形: 圆角 64">
            <a:extLst>
              <a:ext uri="{FF2B5EF4-FFF2-40B4-BE49-F238E27FC236}">
                <a16:creationId xmlns:a16="http://schemas.microsoft.com/office/drawing/2014/main" id="{328CB3F5-D29A-52E5-344E-43054560AACD}"/>
              </a:ext>
            </a:extLst>
          </p:cNvPr>
          <p:cNvSpPr/>
          <p:nvPr/>
        </p:nvSpPr>
        <p:spPr>
          <a:xfrm>
            <a:off x="188419" y="4312642"/>
            <a:ext cx="11490172" cy="2412094"/>
          </a:xfrm>
          <a:prstGeom prst="roundRect">
            <a:avLst>
              <a:gd name="adj" fmla="val 3237"/>
            </a:avLst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7" name="图片 66">
            <a:extLst>
              <a:ext uri="{FF2B5EF4-FFF2-40B4-BE49-F238E27FC236}">
                <a16:creationId xmlns:a16="http://schemas.microsoft.com/office/drawing/2014/main" id="{08905D8C-FF9D-68BF-C33F-D5B722C7AE4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1105" r="14019" b="3268"/>
          <a:stretch/>
        </p:blipFill>
        <p:spPr>
          <a:xfrm>
            <a:off x="501795" y="4822604"/>
            <a:ext cx="2118217" cy="1886114"/>
          </a:xfrm>
          <a:prstGeom prst="rect">
            <a:avLst/>
          </a:prstGeom>
        </p:spPr>
      </p:pic>
      <p:sp>
        <p:nvSpPr>
          <p:cNvPr id="72" name="文本框 71">
            <a:extLst>
              <a:ext uri="{FF2B5EF4-FFF2-40B4-BE49-F238E27FC236}">
                <a16:creationId xmlns:a16="http://schemas.microsoft.com/office/drawing/2014/main" id="{08E0DBBB-126F-2732-A795-92F8347E6597}"/>
              </a:ext>
            </a:extLst>
          </p:cNvPr>
          <p:cNvSpPr txBox="1"/>
          <p:nvPr/>
        </p:nvSpPr>
        <p:spPr>
          <a:xfrm>
            <a:off x="266033" y="4360939"/>
            <a:ext cx="185740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0070C0"/>
                </a:solidFill>
                <a:latin typeface="+mn-ea"/>
                <a:cs typeface="Times New Roman" panose="02020603050405020304" pitchFamily="18" charset="0"/>
              </a:rPr>
              <a:t>GM6010-8</a:t>
            </a:r>
            <a:r>
              <a:rPr lang="zh-CN" altLang="en-US" b="1" dirty="0">
                <a:solidFill>
                  <a:srgbClr val="0070C0"/>
                </a:solidFill>
                <a:latin typeface="+mn-ea"/>
                <a:cs typeface="Times New Roman" panose="02020603050405020304" pitchFamily="18" charset="0"/>
              </a:rPr>
              <a:t>电机功率计算</a:t>
            </a:r>
            <a:endParaRPr lang="zh-CN" altLang="en-US" b="1" dirty="0">
              <a:solidFill>
                <a:srgbClr val="0070C0"/>
              </a:solidFill>
            </a:endParaRPr>
          </a:p>
          <a:p>
            <a:endParaRPr lang="zh-CN" altLang="en-US" b="1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9" name="表格 78">
                <a:extLst>
                  <a:ext uri="{FF2B5EF4-FFF2-40B4-BE49-F238E27FC236}">
                    <a16:creationId xmlns:a16="http://schemas.microsoft.com/office/drawing/2014/main" id="{7908EA1D-2F12-03AD-54E0-889B8419F1F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98637074"/>
                  </p:ext>
                </p:extLst>
              </p:nvPr>
            </p:nvGraphicFramePr>
            <p:xfrm>
              <a:off x="4664705" y="1001492"/>
              <a:ext cx="6953135" cy="3122319"/>
            </p:xfrm>
            <a:graphic>
              <a:graphicData uri="http://schemas.openxmlformats.org/drawingml/2006/table">
                <a:tbl>
                  <a:tblPr firstRow="1" bandRow="1" bandCol="1">
                    <a:tableStyleId>{5C22544A-7EE6-4342-B048-85BDC9FD1C3A}</a:tableStyleId>
                  </a:tblPr>
                  <a:tblGrid>
                    <a:gridCol w="2638646">
                      <a:extLst>
                        <a:ext uri="{9D8B030D-6E8A-4147-A177-3AD203B41FA5}">
                          <a16:colId xmlns:a16="http://schemas.microsoft.com/office/drawing/2014/main" val="3789980292"/>
                        </a:ext>
                      </a:extLst>
                    </a:gridCol>
                    <a:gridCol w="4314489">
                      <a:extLst>
                        <a:ext uri="{9D8B030D-6E8A-4147-A177-3AD203B41FA5}">
                          <a16:colId xmlns:a16="http://schemas.microsoft.com/office/drawing/2014/main" val="3694205943"/>
                        </a:ext>
                      </a:extLst>
                    </a:gridCol>
                  </a:tblGrid>
                  <a:tr h="343104"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  <a:buNone/>
                          </a:pPr>
                          <a:r>
                            <a:rPr lang="zh-CN" altLang="en-US" sz="1800" dirty="0">
                              <a:effectLst/>
                              <a:latin typeface="+mj-ea"/>
                              <a:ea typeface="+mj-ea"/>
                            </a:rPr>
                            <a:t>机器人工况与电机参数</a:t>
                          </a:r>
                          <a:endParaRPr lang="en-US" sz="1800" dirty="0">
                            <a:effectLst/>
                            <a:latin typeface="+mj-ea"/>
                            <a:ea typeface="+mj-ea"/>
                          </a:endParaRPr>
                        </a:p>
                      </a:txBody>
                      <a:tcPr marL="68580" marR="68580" marT="0" marB="0" anchor="b"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  <a:buNone/>
                          </a:pPr>
                          <a:r>
                            <a:rPr lang="en-US" sz="1800">
                              <a:effectLst/>
                              <a:latin typeface="+mj-ea"/>
                              <a:ea typeface="+mj-ea"/>
                            </a:rPr>
                            <a:t>统一取值</a:t>
                          </a:r>
                          <a:endParaRPr lang="zh-CN" sz="1800">
                            <a:effectLst/>
                            <a:latin typeface="+mj-ea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extLst>
                      <a:ext uri="{0D108BD9-81ED-4DB2-BD59-A6C34878D82A}">
                        <a16:rowId xmlns:a16="http://schemas.microsoft.com/office/drawing/2014/main" val="2129514993"/>
                      </a:ext>
                    </a:extLst>
                  </a:tr>
                  <a:tr h="343104">
                    <a:tc>
                      <a:txBody>
                        <a:bodyPr/>
                        <a:lstStyle/>
                        <a:p>
                          <a:pPr algn="l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  <a:buNone/>
                          </a:pPr>
                          <a:r>
                            <a:rPr lang="en-US" sz="1800" dirty="0" err="1">
                              <a:effectLst/>
                              <a:latin typeface="+mj-ea"/>
                              <a:ea typeface="+mj-ea"/>
                            </a:rPr>
                            <a:t>上肢工况</a:t>
                          </a:r>
                          <a:endParaRPr lang="zh-CN" sz="1800" dirty="0">
                            <a:effectLst/>
                            <a:latin typeface="+mj-ea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  <a:buNone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zh-CN" sz="1800" i="1">
                                      <a:effectLst/>
                                      <a:latin typeface="Cambria Math" panose="02040503050406030204" pitchFamily="18" charset="0"/>
                                      <a:ea typeface="+mj-ea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>
                                      <a:effectLst/>
                                      <a:latin typeface="Cambria Math" panose="02040503050406030204" pitchFamily="18" charset="0"/>
                                      <a:ea typeface="+mj-ea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sz="1800">
                                      <a:effectLst/>
                                      <a:latin typeface="Cambria Math" panose="02040503050406030204" pitchFamily="18" charset="0"/>
                                      <a:ea typeface="+mj-ea"/>
                                    </a:rPr>
                                    <m:t>𝑙</m:t>
                                  </m:r>
                                </m:sub>
                              </m:sSub>
                              <m:r>
                                <a:rPr lang="en-US" sz="1800">
                                  <a:effectLst/>
                                  <a:latin typeface="Cambria Math" panose="02040503050406030204" pitchFamily="18" charset="0"/>
                                  <a:ea typeface="+mj-ea"/>
                                </a:rPr>
                                <m:t>=3</m:t>
                              </m:r>
                              <m:r>
                                <m:rPr>
                                  <m:sty m:val="p"/>
                                </m:rPr>
                                <a:rPr lang="en-US" sz="1800">
                                  <a:effectLst/>
                                  <a:latin typeface="Cambria Math" panose="02040503050406030204" pitchFamily="18" charset="0"/>
                                  <a:ea typeface="+mj-ea"/>
                                </a:rPr>
                                <m:t>kg</m:t>
                              </m:r>
                            </m:oMath>
                          </a14:m>
                          <a:r>
                            <a:rPr lang="en-US" sz="1800" dirty="0">
                              <a:effectLst/>
                              <a:latin typeface="+mj-ea"/>
                              <a:ea typeface="+mj-ea"/>
                            </a:rPr>
                            <a:t>，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zh-CN" sz="1800" i="1">
                                      <a:effectLst/>
                                      <a:latin typeface="Cambria Math" panose="02040503050406030204" pitchFamily="18" charset="0"/>
                                      <a:ea typeface="+mj-ea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>
                                      <a:effectLst/>
                                      <a:latin typeface="Cambria Math" panose="02040503050406030204" pitchFamily="18" charset="0"/>
                                      <a:ea typeface="+mj-ea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sz="1800">
                                      <a:effectLst/>
                                      <a:latin typeface="Cambria Math" panose="02040503050406030204" pitchFamily="18" charset="0"/>
                                      <a:ea typeface="+mj-ea"/>
                                    </a:rPr>
                                    <m:t>𝑙</m:t>
                                  </m:r>
                                </m:sub>
                              </m:sSub>
                              <m:r>
                                <a:rPr lang="en-US" sz="1800">
                                  <a:effectLst/>
                                  <a:latin typeface="Cambria Math" panose="02040503050406030204" pitchFamily="18" charset="0"/>
                                  <a:ea typeface="+mj-ea"/>
                                </a:rPr>
                                <m:t>=0.20</m:t>
                              </m:r>
                              <m:r>
                                <m:rPr>
                                  <m:sty m:val="p"/>
                                </m:rPr>
                                <a:rPr lang="en-US" sz="1800">
                                  <a:effectLst/>
                                  <a:latin typeface="Cambria Math" panose="02040503050406030204" pitchFamily="18" charset="0"/>
                                  <a:ea typeface="+mj-ea"/>
                                </a:rPr>
                                <m:t>m</m:t>
                              </m:r>
                            </m:oMath>
                          </a14:m>
                          <a:r>
                            <a:rPr lang="en-US" sz="1800" dirty="0">
                              <a:effectLst/>
                              <a:latin typeface="+mj-ea"/>
                              <a:ea typeface="+mj-ea"/>
                            </a:rPr>
                            <a:t>，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zh-CN" sz="1800" i="1">
                                      <a:effectLst/>
                                      <a:latin typeface="Cambria Math" panose="02040503050406030204" pitchFamily="18" charset="0"/>
                                      <a:ea typeface="+mj-ea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>
                                      <a:effectLst/>
                                      <a:latin typeface="Cambria Math" panose="02040503050406030204" pitchFamily="18" charset="0"/>
                                      <a:ea typeface="+mj-ea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sz="1800">
                                      <a:effectLst/>
                                      <a:latin typeface="Cambria Math" panose="02040503050406030204" pitchFamily="18" charset="0"/>
                                      <a:ea typeface="+mj-ea"/>
                                    </a:rPr>
                                    <m:t>𝑑</m:t>
                                  </m:r>
                                </m:sub>
                              </m:sSub>
                              <m:r>
                                <a:rPr lang="en-US" sz="1800">
                                  <a:effectLst/>
                                  <a:latin typeface="Cambria Math" panose="02040503050406030204" pitchFamily="18" charset="0"/>
                                  <a:ea typeface="+mj-ea"/>
                                </a:rPr>
                                <m:t>=1.5</m:t>
                              </m:r>
                            </m:oMath>
                          </a14:m>
                          <a:endParaRPr lang="zh-CN" sz="1800" dirty="0">
                            <a:effectLst/>
                            <a:latin typeface="+mj-ea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966734924"/>
                      </a:ext>
                    </a:extLst>
                  </a:tr>
                  <a:tr h="443212">
                    <a:tc>
                      <a:txBody>
                        <a:bodyPr/>
                        <a:lstStyle/>
                        <a:p>
                          <a:pPr algn="l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  <a:buNone/>
                          </a:pPr>
                          <a:r>
                            <a:rPr lang="en-US" sz="1800" dirty="0" err="1">
                              <a:effectLst/>
                              <a:latin typeface="+mj-ea"/>
                              <a:ea typeface="+mj-ea"/>
                            </a:rPr>
                            <a:t>关节设计转速</a:t>
                          </a:r>
                          <a:endParaRPr lang="zh-CN" sz="1800" dirty="0">
                            <a:effectLst/>
                            <a:latin typeface="+mj-ea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CN" sz="1800" i="1">
                                        <a:effectLst/>
                                        <a:latin typeface="Cambria Math" panose="02040503050406030204" pitchFamily="18" charset="0"/>
                                        <a:ea typeface="+mj-ea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>
                                        <a:effectLst/>
                                        <a:latin typeface="Cambria Math" panose="02040503050406030204" pitchFamily="18" charset="0"/>
                                        <a:ea typeface="+mj-ea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US" sz="1800">
                                        <a:effectLst/>
                                        <a:latin typeface="Cambria Math" panose="02040503050406030204" pitchFamily="18" charset="0"/>
                                        <a:ea typeface="+mj-ea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  <a:ea typeface="+mj-ea"/>
                                  </a:rPr>
                                  <m:t>=160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  <a:ea typeface="+mj-ea"/>
                                  </a:rPr>
                                  <m:t>rpm</m:t>
                                </m:r>
                              </m:oMath>
                            </m:oMathPara>
                          </a14:m>
                          <a:endParaRPr lang="zh-CN" sz="1800" dirty="0">
                            <a:effectLst/>
                            <a:latin typeface="+mj-ea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483693379"/>
                      </a:ext>
                    </a:extLst>
                  </a:tr>
                  <a:tr h="392177">
                    <a:tc>
                      <a:txBody>
                        <a:bodyPr/>
                        <a:lstStyle/>
                        <a:p>
                          <a:pPr algn="l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  <a:buNone/>
                          </a:pPr>
                          <a:r>
                            <a:rPr lang="en-US" sz="1800">
                              <a:effectLst/>
                              <a:latin typeface="+mj-ea"/>
                              <a:ea typeface="+mj-ea"/>
                            </a:rPr>
                            <a:t>效率与功率裕量</a:t>
                          </a:r>
                          <a:endParaRPr lang="zh-CN" sz="1800">
                            <a:effectLst/>
                            <a:latin typeface="+mj-ea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  <a:buNone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zh-CN" sz="1800" i="1">
                                      <a:effectLst/>
                                      <a:latin typeface="Cambria Math" panose="02040503050406030204" pitchFamily="18" charset="0"/>
                                      <a:ea typeface="+mj-ea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>
                                      <a:effectLst/>
                                      <a:latin typeface="Cambria Math" panose="02040503050406030204" pitchFamily="18" charset="0"/>
                                      <a:ea typeface="+mj-ea"/>
                                    </a:rPr>
                                    <m:t>𝜂</m:t>
                                  </m:r>
                                </m:e>
                                <m:sub>
                                  <m:r>
                                    <a:rPr lang="en-US" sz="1800">
                                      <a:effectLst/>
                                      <a:latin typeface="Cambria Math" panose="02040503050406030204" pitchFamily="18" charset="0"/>
                                      <a:ea typeface="+mj-ea"/>
                                    </a:rPr>
                                    <m:t>𝑔</m:t>
                                  </m:r>
                                </m:sub>
                              </m:sSub>
                              <m:r>
                                <a:rPr lang="en-US" sz="1800">
                                  <a:effectLst/>
                                  <a:latin typeface="Cambria Math" panose="02040503050406030204" pitchFamily="18" charset="0"/>
                                  <a:ea typeface="+mj-ea"/>
                                </a:rPr>
                                <m:t>=0.85</m:t>
                              </m:r>
                            </m:oMath>
                          </a14:m>
                          <a:r>
                            <a:rPr lang="en-US" sz="1800" dirty="0">
                              <a:effectLst/>
                              <a:latin typeface="+mj-ea"/>
                              <a:ea typeface="+mj-ea"/>
                            </a:rPr>
                            <a:t>，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zh-CN" sz="1800" i="1">
                                      <a:effectLst/>
                                      <a:latin typeface="Cambria Math" panose="02040503050406030204" pitchFamily="18" charset="0"/>
                                      <a:ea typeface="+mj-ea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>
                                      <a:effectLst/>
                                      <a:latin typeface="Cambria Math" panose="02040503050406030204" pitchFamily="18" charset="0"/>
                                      <a:ea typeface="+mj-ea"/>
                                    </a:rPr>
                                    <m:t>𝜂</m:t>
                                  </m:r>
                                </m:e>
                                <m:sub>
                                  <m:r>
                                    <a:rPr lang="en-US" sz="1800">
                                      <a:effectLst/>
                                      <a:latin typeface="Cambria Math" panose="02040503050406030204" pitchFamily="18" charset="0"/>
                                      <a:ea typeface="+mj-ea"/>
                                    </a:rPr>
                                    <m:t>𝑚</m:t>
                                  </m:r>
                                </m:sub>
                              </m:sSub>
                              <m:r>
                                <a:rPr lang="en-US" sz="1800">
                                  <a:effectLst/>
                                  <a:latin typeface="Cambria Math" panose="02040503050406030204" pitchFamily="18" charset="0"/>
                                  <a:ea typeface="+mj-ea"/>
                                </a:rPr>
                                <m:t>=0.90</m:t>
                              </m:r>
                            </m:oMath>
                          </a14:m>
                          <a:r>
                            <a:rPr lang="en-US" sz="1800" dirty="0">
                              <a:effectLst/>
                              <a:latin typeface="+mj-ea"/>
                              <a:ea typeface="+mj-ea"/>
                            </a:rPr>
                            <a:t>，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zh-CN" sz="1800" i="1">
                                      <a:effectLst/>
                                      <a:latin typeface="Cambria Math" panose="02040503050406030204" pitchFamily="18" charset="0"/>
                                      <a:ea typeface="+mj-ea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>
                                      <a:effectLst/>
                                      <a:latin typeface="Cambria Math" panose="02040503050406030204" pitchFamily="18" charset="0"/>
                                      <a:ea typeface="+mj-ea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sz="1800">
                                      <a:effectLst/>
                                      <a:latin typeface="Cambria Math" panose="02040503050406030204" pitchFamily="18" charset="0"/>
                                      <a:ea typeface="+mj-ea"/>
                                    </a:rPr>
                                    <m:t>𝑃</m:t>
                                  </m:r>
                                </m:sub>
                              </m:sSub>
                              <m:r>
                                <a:rPr lang="en-US" sz="1800">
                                  <a:effectLst/>
                                  <a:latin typeface="Cambria Math" panose="02040503050406030204" pitchFamily="18" charset="0"/>
                                  <a:ea typeface="+mj-ea"/>
                                </a:rPr>
                                <m:t>=1.4</m:t>
                              </m:r>
                            </m:oMath>
                          </a14:m>
                          <a:endParaRPr lang="zh-CN" sz="1800" dirty="0">
                            <a:effectLst/>
                            <a:latin typeface="+mj-ea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740825387"/>
                      </a:ext>
                    </a:extLst>
                  </a:tr>
                  <a:tr h="343104">
                    <a:tc>
                      <a:txBody>
                        <a:bodyPr/>
                        <a:lstStyle/>
                        <a:p>
                          <a:pPr algn="l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  <a:buNone/>
                          </a:pPr>
                          <a:r>
                            <a:rPr lang="en-US" sz="1800" dirty="0" err="1">
                              <a:effectLst/>
                              <a:latin typeface="+mj-ea"/>
                              <a:ea typeface="+mj-ea"/>
                            </a:rPr>
                            <a:t>减速比与极对数</a:t>
                          </a:r>
                          <a:endParaRPr lang="zh-CN" sz="1800" dirty="0">
                            <a:effectLst/>
                            <a:latin typeface="+mj-ea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US" sz="1800">
                                  <a:effectLst/>
                                  <a:latin typeface="Cambria Math" panose="02040503050406030204" pitchFamily="18" charset="0"/>
                                  <a:ea typeface="+mj-ea"/>
                                </a:rPr>
                                <m:t>𝑖</m:t>
                              </m:r>
                              <m:r>
                                <a:rPr lang="en-US" sz="1800">
                                  <a:effectLst/>
                                  <a:latin typeface="Cambria Math" panose="02040503050406030204" pitchFamily="18" charset="0"/>
                                  <a:ea typeface="+mj-ea"/>
                                </a:rPr>
                                <m:t>=8</m:t>
                              </m:r>
                            </m:oMath>
                          </a14:m>
                          <a:r>
                            <a:rPr lang="en-US" sz="1800">
                              <a:effectLst/>
                              <a:latin typeface="+mj-ea"/>
                              <a:ea typeface="+mj-ea"/>
                            </a:rPr>
                            <a:t>，</a:t>
                          </a:r>
                          <a14:m>
                            <m:oMath xmlns:m="http://schemas.openxmlformats.org/officeDocument/2006/math">
                              <m:r>
                                <a:rPr lang="en-US" sz="1800">
                                  <a:effectLst/>
                                  <a:latin typeface="Cambria Math" panose="02040503050406030204" pitchFamily="18" charset="0"/>
                                  <a:ea typeface="+mj-ea"/>
                                </a:rPr>
                                <m:t>𝑝</m:t>
                              </m:r>
                              <m:r>
                                <a:rPr lang="en-US" sz="1800">
                                  <a:effectLst/>
                                  <a:latin typeface="Cambria Math" panose="02040503050406030204" pitchFamily="18" charset="0"/>
                                  <a:ea typeface="+mj-ea"/>
                                </a:rPr>
                                <m:t>=14</m:t>
                              </m:r>
                            </m:oMath>
                          </a14:m>
                          <a:endParaRPr lang="zh-CN" sz="1800">
                            <a:effectLst/>
                            <a:latin typeface="+mj-ea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462310943"/>
                      </a:ext>
                    </a:extLst>
                  </a:tr>
                  <a:tr h="407203">
                    <a:tc>
                      <a:txBody>
                        <a:bodyPr/>
                        <a:lstStyle/>
                        <a:p>
                          <a:pPr algn="l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  <a:buNone/>
                          </a:pPr>
                          <a:r>
                            <a:rPr lang="en-US" sz="1800" dirty="0" err="1">
                              <a:effectLst/>
                              <a:latin typeface="+mj-ea"/>
                              <a:ea typeface="+mj-ea"/>
                            </a:rPr>
                            <a:t>输出侧转矩常数</a:t>
                          </a:r>
                          <a:endParaRPr lang="zh-CN" sz="1800" dirty="0">
                            <a:effectLst/>
                            <a:latin typeface="+mj-ea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CN" sz="1800" i="1">
                                        <a:effectLst/>
                                        <a:latin typeface="Cambria Math" panose="02040503050406030204" pitchFamily="18" charset="0"/>
                                        <a:ea typeface="+mj-ea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>
                                        <a:effectLst/>
                                        <a:latin typeface="Cambria Math" panose="02040503050406030204" pitchFamily="18" charset="0"/>
                                        <a:ea typeface="+mj-ea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sz="1800">
                                        <a:effectLst/>
                                        <a:latin typeface="Cambria Math" panose="02040503050406030204" pitchFamily="18" charset="0"/>
                                        <a:ea typeface="+mj-ea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  <a:ea typeface="+mj-ea"/>
                                  </a:rPr>
                                  <m:t>=0.47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  <a:ea typeface="+mj-ea"/>
                                  </a:rPr>
                                  <m:t>N</m:t>
                                </m:r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  <a:ea typeface="+mj-ea"/>
                                  </a:rPr>
                                  <m:t>⋅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  <a:ea typeface="+mj-ea"/>
                                  </a:rPr>
                                  <m:t>m</m:t>
                                </m:r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  <a:ea typeface="+mj-ea"/>
                                  </a:rPr>
                                  <m:t>/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  <a:ea typeface="+mj-ea"/>
                                  </a:rPr>
                                  <m:t>A</m:t>
                                </m:r>
                              </m:oMath>
                            </m:oMathPara>
                          </a14:m>
                          <a:endParaRPr lang="zh-CN" sz="1800" dirty="0">
                            <a:effectLst/>
                            <a:latin typeface="+mj-ea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304910507"/>
                      </a:ext>
                    </a:extLst>
                  </a:tr>
                  <a:tr h="407203">
                    <a:tc>
                      <a:txBody>
                        <a:bodyPr/>
                        <a:lstStyle/>
                        <a:p>
                          <a:pPr algn="l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  <a:buNone/>
                          </a:pPr>
                          <a:r>
                            <a:rPr lang="en-US" sz="1800" dirty="0" err="1">
                              <a:effectLst/>
                              <a:latin typeface="+mj-ea"/>
                              <a:ea typeface="+mj-ea"/>
                            </a:rPr>
                            <a:t>反电动势系数</a:t>
                          </a:r>
                          <a:endParaRPr lang="zh-CN" sz="1800" dirty="0">
                            <a:effectLst/>
                            <a:latin typeface="+mj-ea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CN" sz="1800" i="1">
                                        <a:effectLst/>
                                        <a:latin typeface="Cambria Math" panose="02040503050406030204" pitchFamily="18" charset="0"/>
                                        <a:ea typeface="+mj-ea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>
                                        <a:effectLst/>
                                        <a:latin typeface="Cambria Math" panose="02040503050406030204" pitchFamily="18" charset="0"/>
                                        <a:ea typeface="+mj-ea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sz="1800">
                                        <a:effectLst/>
                                        <a:latin typeface="Cambria Math" panose="02040503050406030204" pitchFamily="18" charset="0"/>
                                        <a:ea typeface="+mj-ea"/>
                                      </a:rPr>
                                      <m:t>𝑒</m:t>
                                    </m:r>
                                  </m:sub>
                                </m:sSub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  <a:ea typeface="+mj-ea"/>
                                  </a:rPr>
                                  <m:t>=0.054∼0.057</m:t>
                                </m:r>
                                <m:sSub>
                                  <m:sSubPr>
                                    <m:ctrlPr>
                                      <a:rPr lang="zh-CN" sz="1800" i="1">
                                        <a:effectLst/>
                                        <a:latin typeface="Cambria Math" panose="02040503050406030204" pitchFamily="18" charset="0"/>
                                        <a:ea typeface="+mj-ea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800">
                                        <a:effectLst/>
                                        <a:latin typeface="Cambria Math" panose="02040503050406030204" pitchFamily="18" charset="0"/>
                                        <a:ea typeface="+mj-ea"/>
                                      </a:rPr>
                                      <m:t>V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1800">
                                        <a:effectLst/>
                                        <a:latin typeface="Cambria Math" panose="02040503050406030204" pitchFamily="18" charset="0"/>
                                        <a:ea typeface="+mj-ea"/>
                                      </a:rPr>
                                      <m:t>RMS</m:t>
                                    </m:r>
                                  </m:sub>
                                </m:sSub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  <a:ea typeface="+mj-ea"/>
                                  </a:rPr>
                                  <m:t>/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  <a:ea typeface="+mj-ea"/>
                                  </a:rPr>
                                  <m:t>rpm</m:t>
                                </m:r>
                              </m:oMath>
                            </m:oMathPara>
                          </a14:m>
                          <a:endParaRPr lang="zh-CN" sz="1800" dirty="0">
                            <a:effectLst/>
                            <a:latin typeface="+mj-ea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93353144"/>
                      </a:ext>
                    </a:extLst>
                  </a:tr>
                  <a:tr h="443212">
                    <a:tc>
                      <a:txBody>
                        <a:bodyPr/>
                        <a:lstStyle/>
                        <a:p>
                          <a:pPr algn="l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  <a:buNone/>
                          </a:pPr>
                          <a:r>
                            <a:rPr lang="en-US" sz="1800" dirty="0" err="1">
                              <a:effectLst/>
                              <a:latin typeface="+mj-ea"/>
                              <a:ea typeface="+mj-ea"/>
                            </a:rPr>
                            <a:t>再生制动假设</a:t>
                          </a:r>
                          <a:endParaRPr lang="zh-CN" sz="1800" dirty="0">
                            <a:effectLst/>
                            <a:latin typeface="+mj-ea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CN" sz="1800" i="1">
                                        <a:effectLst/>
                                        <a:latin typeface="Cambria Math" panose="02040503050406030204" pitchFamily="18" charset="0"/>
                                        <a:ea typeface="+mj-ea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>
                                        <a:effectLst/>
                                        <a:latin typeface="Cambria Math" panose="02040503050406030204" pitchFamily="18" charset="0"/>
                                        <a:ea typeface="+mj-ea"/>
                                      </a:rPr>
                                      <m:t>𝜂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1800">
                                        <a:effectLst/>
                                        <a:latin typeface="Cambria Math" panose="02040503050406030204" pitchFamily="18" charset="0"/>
                                        <a:ea typeface="+mj-ea"/>
                                      </a:rPr>
                                      <m:t>regen</m:t>
                                    </m:r>
                                  </m:sub>
                                </m:sSub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  <a:ea typeface="+mj-ea"/>
                                  </a:rPr>
                                  <m:t>=70%</m:t>
                                </m:r>
                              </m:oMath>
                            </m:oMathPara>
                          </a14:m>
                          <a:endParaRPr lang="zh-CN" sz="1800" dirty="0">
                            <a:effectLst/>
                            <a:latin typeface="+mj-ea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56637536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9" name="表格 78">
                <a:extLst>
                  <a:ext uri="{FF2B5EF4-FFF2-40B4-BE49-F238E27FC236}">
                    <a16:creationId xmlns:a16="http://schemas.microsoft.com/office/drawing/2014/main" id="{7908EA1D-2F12-03AD-54E0-889B8419F1F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98637074"/>
                  </p:ext>
                </p:extLst>
              </p:nvPr>
            </p:nvGraphicFramePr>
            <p:xfrm>
              <a:off x="4664705" y="1001492"/>
              <a:ext cx="6953135" cy="3122319"/>
            </p:xfrm>
            <a:graphic>
              <a:graphicData uri="http://schemas.openxmlformats.org/drawingml/2006/table">
                <a:tbl>
                  <a:tblPr firstRow="1" bandRow="1" bandCol="1">
                    <a:tableStyleId>{5C22544A-7EE6-4342-B048-85BDC9FD1C3A}</a:tableStyleId>
                  </a:tblPr>
                  <a:tblGrid>
                    <a:gridCol w="2638646">
                      <a:extLst>
                        <a:ext uri="{9D8B030D-6E8A-4147-A177-3AD203B41FA5}">
                          <a16:colId xmlns:a16="http://schemas.microsoft.com/office/drawing/2014/main" val="3789980292"/>
                        </a:ext>
                      </a:extLst>
                    </a:gridCol>
                    <a:gridCol w="4314489">
                      <a:extLst>
                        <a:ext uri="{9D8B030D-6E8A-4147-A177-3AD203B41FA5}">
                          <a16:colId xmlns:a16="http://schemas.microsoft.com/office/drawing/2014/main" val="3694205943"/>
                        </a:ext>
                      </a:extLst>
                    </a:gridCol>
                  </a:tblGrid>
                  <a:tr h="343104"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  <a:buNone/>
                          </a:pPr>
                          <a:r>
                            <a:rPr lang="zh-CN" altLang="en-US" sz="1800" dirty="0">
                              <a:effectLst/>
                              <a:latin typeface="+mj-ea"/>
                              <a:ea typeface="+mj-ea"/>
                            </a:rPr>
                            <a:t>机器人工况与电机参数</a:t>
                          </a:r>
                          <a:endParaRPr lang="en-US" sz="1800" dirty="0">
                            <a:effectLst/>
                            <a:latin typeface="+mj-ea"/>
                            <a:ea typeface="+mj-ea"/>
                          </a:endParaRPr>
                        </a:p>
                      </a:txBody>
                      <a:tcPr marL="68580" marR="68580" marT="0" marB="0" anchor="b"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  <a:buNone/>
                          </a:pPr>
                          <a:r>
                            <a:rPr lang="en-US" sz="1800">
                              <a:effectLst/>
                              <a:latin typeface="+mj-ea"/>
                              <a:ea typeface="+mj-ea"/>
                            </a:rPr>
                            <a:t>统一取值</a:t>
                          </a:r>
                          <a:endParaRPr lang="zh-CN" sz="1800">
                            <a:effectLst/>
                            <a:latin typeface="+mj-ea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extLst>
                      <a:ext uri="{0D108BD9-81ED-4DB2-BD59-A6C34878D82A}">
                        <a16:rowId xmlns:a16="http://schemas.microsoft.com/office/drawing/2014/main" val="2129514993"/>
                      </a:ext>
                    </a:extLst>
                  </a:tr>
                  <a:tr h="343104">
                    <a:tc>
                      <a:txBody>
                        <a:bodyPr/>
                        <a:lstStyle/>
                        <a:p>
                          <a:pPr algn="l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  <a:buNone/>
                          </a:pPr>
                          <a:r>
                            <a:rPr lang="en-US" sz="1800" dirty="0" err="1">
                              <a:effectLst/>
                              <a:latin typeface="+mj-ea"/>
                              <a:ea typeface="+mj-ea"/>
                            </a:rPr>
                            <a:t>上肢工况</a:t>
                          </a:r>
                          <a:endParaRPr lang="zh-CN" sz="1800" dirty="0">
                            <a:effectLst/>
                            <a:latin typeface="+mj-ea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>
                        <a:blipFill>
                          <a:blip r:embed="rId6"/>
                          <a:stretch>
                            <a:fillRect l="-61299" t="-100000" r="-565" b="-7070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66734924"/>
                      </a:ext>
                    </a:extLst>
                  </a:tr>
                  <a:tr h="443212">
                    <a:tc>
                      <a:txBody>
                        <a:bodyPr/>
                        <a:lstStyle/>
                        <a:p>
                          <a:pPr algn="l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  <a:buNone/>
                          </a:pPr>
                          <a:r>
                            <a:rPr lang="en-US" sz="1800" dirty="0" err="1">
                              <a:effectLst/>
                              <a:latin typeface="+mj-ea"/>
                              <a:ea typeface="+mj-ea"/>
                            </a:rPr>
                            <a:t>关节设计转速</a:t>
                          </a:r>
                          <a:endParaRPr lang="zh-CN" sz="1800" dirty="0">
                            <a:effectLst/>
                            <a:latin typeface="+mj-ea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>
                        <a:blipFill>
                          <a:blip r:embed="rId6"/>
                          <a:stretch>
                            <a:fillRect l="-61299" t="-156164" r="-565" b="-45205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83693379"/>
                      </a:ext>
                    </a:extLst>
                  </a:tr>
                  <a:tr h="392177">
                    <a:tc>
                      <a:txBody>
                        <a:bodyPr/>
                        <a:lstStyle/>
                        <a:p>
                          <a:pPr algn="l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  <a:buNone/>
                          </a:pPr>
                          <a:r>
                            <a:rPr lang="en-US" sz="1800">
                              <a:effectLst/>
                              <a:latin typeface="+mj-ea"/>
                              <a:ea typeface="+mj-ea"/>
                            </a:rPr>
                            <a:t>效率与功率裕量</a:t>
                          </a:r>
                          <a:endParaRPr lang="zh-CN" sz="1800">
                            <a:effectLst/>
                            <a:latin typeface="+mj-ea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>
                        <a:blipFill>
                          <a:blip r:embed="rId6"/>
                          <a:stretch>
                            <a:fillRect l="-61299" t="-292188" r="-565" b="-41562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40825387"/>
                      </a:ext>
                    </a:extLst>
                  </a:tr>
                  <a:tr h="343104">
                    <a:tc>
                      <a:txBody>
                        <a:bodyPr/>
                        <a:lstStyle/>
                        <a:p>
                          <a:pPr algn="l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  <a:buNone/>
                          </a:pPr>
                          <a:r>
                            <a:rPr lang="en-US" sz="1800" dirty="0" err="1">
                              <a:effectLst/>
                              <a:latin typeface="+mj-ea"/>
                              <a:ea typeface="+mj-ea"/>
                            </a:rPr>
                            <a:t>减速比与极对数</a:t>
                          </a:r>
                          <a:endParaRPr lang="zh-CN" sz="1800" dirty="0">
                            <a:effectLst/>
                            <a:latin typeface="+mj-ea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>
                        <a:blipFill>
                          <a:blip r:embed="rId6"/>
                          <a:stretch>
                            <a:fillRect l="-61299" t="-448214" r="-565" b="-37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62310943"/>
                      </a:ext>
                    </a:extLst>
                  </a:tr>
                  <a:tr h="407203">
                    <a:tc>
                      <a:txBody>
                        <a:bodyPr/>
                        <a:lstStyle/>
                        <a:p>
                          <a:pPr algn="l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  <a:buNone/>
                          </a:pPr>
                          <a:r>
                            <a:rPr lang="en-US" sz="1800" dirty="0" err="1">
                              <a:effectLst/>
                              <a:latin typeface="+mj-ea"/>
                              <a:ea typeface="+mj-ea"/>
                            </a:rPr>
                            <a:t>输出侧转矩常数</a:t>
                          </a:r>
                          <a:endParaRPr lang="zh-CN" sz="1800" dirty="0">
                            <a:effectLst/>
                            <a:latin typeface="+mj-ea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>
                        <a:blipFill>
                          <a:blip r:embed="rId6"/>
                          <a:stretch>
                            <a:fillRect l="-61299" t="-458209" r="-565" b="-2134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4910507"/>
                      </a:ext>
                    </a:extLst>
                  </a:tr>
                  <a:tr h="407203">
                    <a:tc>
                      <a:txBody>
                        <a:bodyPr/>
                        <a:lstStyle/>
                        <a:p>
                          <a:pPr algn="l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  <a:buNone/>
                          </a:pPr>
                          <a:r>
                            <a:rPr lang="en-US" sz="1800" dirty="0" err="1">
                              <a:effectLst/>
                              <a:latin typeface="+mj-ea"/>
                              <a:ea typeface="+mj-ea"/>
                            </a:rPr>
                            <a:t>反电动势系数</a:t>
                          </a:r>
                          <a:endParaRPr lang="zh-CN" sz="1800" dirty="0">
                            <a:effectLst/>
                            <a:latin typeface="+mj-ea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>
                        <a:blipFill>
                          <a:blip r:embed="rId6"/>
                          <a:stretch>
                            <a:fillRect l="-61299" t="-558209" r="-565" b="-1134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3353144"/>
                      </a:ext>
                    </a:extLst>
                  </a:tr>
                  <a:tr h="443212">
                    <a:tc>
                      <a:txBody>
                        <a:bodyPr/>
                        <a:lstStyle/>
                        <a:p>
                          <a:pPr algn="l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  <a:buNone/>
                          </a:pPr>
                          <a:r>
                            <a:rPr lang="en-US" sz="1800" dirty="0" err="1">
                              <a:effectLst/>
                              <a:latin typeface="+mj-ea"/>
                              <a:ea typeface="+mj-ea"/>
                            </a:rPr>
                            <a:t>再生制动假设</a:t>
                          </a:r>
                          <a:endParaRPr lang="zh-CN" sz="1800" dirty="0">
                            <a:effectLst/>
                            <a:latin typeface="+mj-ea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>
                        <a:blipFill>
                          <a:blip r:embed="rId6"/>
                          <a:stretch>
                            <a:fillRect l="-61299" t="-604110" r="-565" b="-411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6637536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797706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>
            <a:extLst>
              <a:ext uri="{FF2B5EF4-FFF2-40B4-BE49-F238E27FC236}">
                <a16:creationId xmlns:a16="http://schemas.microsoft.com/office/drawing/2014/main" id="{CDEBCB21-4F9F-701A-AD37-584949D67F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668" y="1281964"/>
            <a:ext cx="3234454" cy="2156303"/>
          </a:xfrm>
          <a:prstGeom prst="rect">
            <a:avLst/>
          </a:prstGeom>
        </p:spPr>
      </p:pic>
      <p:sp>
        <p:nvSpPr>
          <p:cNvPr id="5" name="标题 4">
            <a:extLst>
              <a:ext uri="{FF2B5EF4-FFF2-40B4-BE49-F238E27FC236}">
                <a16:creationId xmlns:a16="http://schemas.microsoft.com/office/drawing/2014/main" id="{29942B2F-2EFB-3152-6BC0-F73BE2CF7682}"/>
              </a:ext>
            </a:extLst>
          </p:cNvPr>
          <p:cNvSpPr>
            <a:spLocks noGrp="1"/>
          </p:cNvSpPr>
          <p:nvPr/>
        </p:nvSpPr>
        <p:spPr>
          <a:xfrm>
            <a:off x="217807" y="203285"/>
            <a:ext cx="11400033" cy="521208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txBody>
          <a:bodyPr>
            <a:normAutofit fontScale="59790" lnSpcReduction="20000"/>
          </a:bodyPr>
          <a:lstStyle>
            <a:lvl1pPr algn="l">
              <a:lnSpc>
                <a:spcPct val="13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>
            <a:r>
              <a:rPr dirty="0" err="1">
                <a:solidFill>
                  <a:schemeClr val="bg1"/>
                </a:solidFill>
              </a:rPr>
              <a:t>需求分析</a:t>
            </a:r>
            <a:r>
              <a:rPr dirty="0">
                <a:solidFill>
                  <a:schemeClr val="bg1"/>
                </a:solidFill>
              </a:rPr>
              <a:t>——</a:t>
            </a:r>
            <a:r>
              <a:rPr lang="zh-CN" altLang="en-US" dirty="0">
                <a:solidFill>
                  <a:schemeClr val="bg1"/>
                </a:solidFill>
              </a:rPr>
              <a:t>从电机参数推导板级指标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FC9E1AA-FD7E-7AD5-C815-E3821D2CC778}"/>
              </a:ext>
            </a:extLst>
          </p:cNvPr>
          <p:cNvSpPr txBox="1"/>
          <p:nvPr/>
        </p:nvSpPr>
        <p:spPr>
          <a:xfrm>
            <a:off x="12865758" y="2777060"/>
            <a:ext cx="3946066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900"/>
              </a:spcBef>
              <a:spcAft>
                <a:spcPts val="900"/>
              </a:spcAft>
              <a:buFont typeface="+mj-lt"/>
              <a:buAutoNum type="arabicPeriod"/>
            </a:pPr>
            <a:r>
              <a:rPr lang="zh-CN" altLang="en-US" b="1" dirty="0">
                <a:solidFill>
                  <a:srgbClr val="FF0000"/>
                </a:solidFill>
                <a:latin typeface="+mj-ea"/>
                <a:ea typeface="+mj-ea"/>
                <a:cs typeface="Times New Roman" panose="02020603050405020304" pitchFamily="18" charset="0"/>
              </a:rPr>
              <a:t>电机参数作为衔接。例如</a:t>
            </a:r>
            <a:r>
              <a:rPr lang="en-US" altLang="zh-CN" b="1" dirty="0">
                <a:solidFill>
                  <a:srgbClr val="FF0000"/>
                </a:solidFill>
                <a:latin typeface="+mj-ea"/>
                <a:ea typeface="+mj-ea"/>
                <a:cs typeface="Times New Roman" panose="02020603050405020304" pitchFamily="18" charset="0"/>
              </a:rPr>
              <a:t>Kt</a:t>
            </a:r>
            <a:r>
              <a:rPr lang="zh-CN" altLang="en-US" b="1" dirty="0">
                <a:solidFill>
                  <a:srgbClr val="FF0000"/>
                </a:solidFill>
                <a:latin typeface="+mj-ea"/>
                <a:ea typeface="+mj-ea"/>
                <a:cs typeface="Times New Roman" panose="02020603050405020304" pitchFamily="18" charset="0"/>
              </a:rPr>
              <a:t>值要放出来</a:t>
            </a:r>
            <a:r>
              <a:rPr lang="en-US" altLang="zh-CN" b="1" dirty="0">
                <a:solidFill>
                  <a:srgbClr val="FF0000"/>
                </a:solidFill>
                <a:latin typeface="+mj-ea"/>
                <a:ea typeface="+mj-ea"/>
                <a:cs typeface="Times New Roman" panose="02020603050405020304" pitchFamily="18" charset="0"/>
              </a:rPr>
              <a:t>…..</a:t>
            </a:r>
            <a:r>
              <a:rPr lang="zh-CN" altLang="en-US" b="1" dirty="0">
                <a:solidFill>
                  <a:srgbClr val="FF0000"/>
                </a:solidFill>
                <a:latin typeface="+mj-ea"/>
                <a:ea typeface="+mj-ea"/>
                <a:cs typeface="Times New Roman" panose="02020603050405020304" pitchFamily="18" charset="0"/>
              </a:rPr>
              <a:t>给出具体参数。推导一下几个参数</a:t>
            </a:r>
            <a:endParaRPr lang="en-US" altLang="zh-CN" b="1" dirty="0">
              <a:solidFill>
                <a:srgbClr val="FF0000"/>
              </a:solidFill>
              <a:latin typeface="+mj-ea"/>
              <a:ea typeface="+mj-ea"/>
              <a:cs typeface="Times New Roman" panose="02020603050405020304" pitchFamily="18" charset="0"/>
            </a:endParaRPr>
          </a:p>
          <a:p>
            <a:pPr marL="342900" indent="-342900">
              <a:spcBef>
                <a:spcPts val="900"/>
              </a:spcBef>
              <a:spcAft>
                <a:spcPts val="900"/>
              </a:spcAft>
              <a:buFont typeface="+mj-lt"/>
              <a:buAutoNum type="arabicPeriod"/>
            </a:pPr>
            <a:r>
              <a:rPr lang="zh-CN" altLang="en-US" b="1" dirty="0">
                <a:solidFill>
                  <a:srgbClr val="FF0000"/>
                </a:solidFill>
                <a:latin typeface="+mj-ea"/>
                <a:ea typeface="+mj-ea"/>
                <a:cs typeface="Times New Roman" panose="02020603050405020304" pitchFamily="18" charset="0"/>
              </a:rPr>
              <a:t>考虑标称反电动势</a:t>
            </a:r>
            <a:r>
              <a:rPr lang="en-US" altLang="zh-CN" b="1" dirty="0">
                <a:solidFill>
                  <a:srgbClr val="FF0000"/>
                </a:solidFill>
                <a:latin typeface="+mj-ea"/>
                <a:ea typeface="+mj-ea"/>
                <a:cs typeface="Times New Roman" panose="02020603050405020304" pitchFamily="18" charset="0"/>
              </a:rPr>
              <a:t>-&gt;100V</a:t>
            </a:r>
            <a:r>
              <a:rPr lang="zh-CN" altLang="en-US" b="1" dirty="0">
                <a:solidFill>
                  <a:srgbClr val="FF0000"/>
                </a:solidFill>
                <a:latin typeface="+mj-ea"/>
                <a:ea typeface="+mj-ea"/>
                <a:cs typeface="Times New Roman" panose="02020603050405020304" pitchFamily="18" charset="0"/>
              </a:rPr>
              <a:t>耐压。输入范围</a:t>
            </a:r>
            <a:r>
              <a:rPr lang="en-US" altLang="zh-CN" b="1" dirty="0">
                <a:solidFill>
                  <a:srgbClr val="FF0000"/>
                </a:solidFill>
                <a:latin typeface="+mj-ea"/>
                <a:ea typeface="+mj-ea"/>
                <a:cs typeface="Times New Roman" panose="02020603050405020304" pitchFamily="18" charset="0"/>
              </a:rPr>
              <a:t>-----</a:t>
            </a:r>
          </a:p>
          <a:p>
            <a:pPr marL="342900" indent="-342900">
              <a:spcBef>
                <a:spcPts val="900"/>
              </a:spcBef>
              <a:spcAft>
                <a:spcPts val="900"/>
              </a:spcAft>
              <a:buFont typeface="+mj-lt"/>
              <a:buAutoNum type="arabicPeriod"/>
            </a:pPr>
            <a:r>
              <a:rPr lang="zh-CN" altLang="en-US" b="1" dirty="0">
                <a:solidFill>
                  <a:srgbClr val="FF0000"/>
                </a:solidFill>
                <a:latin typeface="+mj-ea"/>
                <a:ea typeface="+mj-ea"/>
                <a:cs typeface="Times New Roman" panose="02020603050405020304" pitchFamily="18" charset="0"/>
              </a:rPr>
              <a:t>不写范围了，考虑标称</a:t>
            </a:r>
            <a:r>
              <a:rPr lang="en-US" altLang="zh-CN" b="1" dirty="0">
                <a:solidFill>
                  <a:srgbClr val="FF0000"/>
                </a:solidFill>
                <a:latin typeface="+mj-ea"/>
                <a:ea typeface="+mj-ea"/>
                <a:cs typeface="Times New Roman" panose="02020603050405020304" pitchFamily="18" charset="0"/>
              </a:rPr>
              <a:t>48V</a:t>
            </a:r>
            <a:r>
              <a:rPr lang="zh-CN" altLang="en-US" b="1" dirty="0">
                <a:solidFill>
                  <a:srgbClr val="FF0000"/>
                </a:solidFill>
                <a:latin typeface="+mj-ea"/>
                <a:ea typeface="+mj-ea"/>
                <a:cs typeface="Times New Roman" panose="02020603050405020304" pitchFamily="18" charset="0"/>
              </a:rPr>
              <a:t>，满电，反电动势，得出选型依据。</a:t>
            </a:r>
            <a:endParaRPr lang="en-US" altLang="zh-CN" b="1" dirty="0">
              <a:solidFill>
                <a:srgbClr val="FF0000"/>
              </a:solidFill>
              <a:latin typeface="+mj-ea"/>
              <a:ea typeface="+mj-ea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62437FCF-99DC-D247-BB89-6062EDCB9978}"/>
                  </a:ext>
                </a:extLst>
              </p:cNvPr>
              <p:cNvSpPr txBox="1"/>
              <p:nvPr/>
            </p:nvSpPr>
            <p:spPr>
              <a:xfrm>
                <a:off x="3206630" y="946940"/>
                <a:ext cx="8455177" cy="28263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dirty="0">
                    <a:effectLst/>
                    <a:latin typeface="+mn-ea"/>
                    <a:cs typeface="Times New Roman" panose="02020603050405020304" pitchFamily="18" charset="0"/>
                  </a:rPr>
                  <a:t>在额定转速</a:t>
                </a:r>
                <a:r>
                  <a:rPr lang="en-US" altLang="zh-CN" sz="1800" dirty="0">
                    <a:effectLst/>
                    <a:latin typeface="+mn-ea"/>
                    <a:cs typeface="Times New Roman" panose="02020603050405020304" pitchFamily="18" charset="0"/>
                  </a:rPr>
                  <a:t>160 </a:t>
                </a:r>
                <a:r>
                  <a:rPr lang="en-US" altLang="zh-CN" sz="1800" dirty="0" err="1">
                    <a:effectLst/>
                    <a:latin typeface="+mn-ea"/>
                    <a:cs typeface="Times New Roman" panose="02020603050405020304" pitchFamily="18" charset="0"/>
                  </a:rPr>
                  <a:t>rpm时</a:t>
                </a:r>
                <a:r>
                  <a:rPr lang="en-US" altLang="zh-CN" sz="1800" dirty="0">
                    <a:effectLst/>
                    <a:latin typeface="+mn-ea"/>
                    <a:cs typeface="Times New Roman" panose="02020603050405020304" pitchFamily="18" charset="0"/>
                  </a:rPr>
                  <a:t>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𝑅𝑀𝑆</m:t>
                        </m:r>
                      </m:sub>
                    </m:sSub>
                    <m:r>
                      <a:rPr lang="en-US" altLang="zh-CN" sz="18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sub>
                    </m:sSub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altLang="zh-CN" sz="18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≈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8.6</m:t>
                    </m:r>
                    <m:r>
                      <a:rPr lang="en-US" altLang="zh-CN" sz="18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∼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9.1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𝑉</m:t>
                    </m:r>
                  </m:oMath>
                </a14:m>
                <a:endParaRPr lang="zh-CN" altLang="zh-CN" sz="1800" dirty="0">
                  <a:effectLst/>
                  <a:latin typeface="+mn-ea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dirty="0">
                    <a:effectLst/>
                    <a:latin typeface="+mn-ea"/>
                    <a:cs typeface="Times New Roman" panose="02020603050405020304" pitchFamily="18" charset="0"/>
                  </a:rPr>
                  <a:t>快速制动机械功率约</a:t>
                </a:r>
                <a:r>
                  <a:rPr lang="en-US" altLang="zh-CN" sz="1800" dirty="0">
                    <a:effectLst/>
                    <a:latin typeface="+mn-ea"/>
                    <a:cs typeface="Times New Roman" panose="02020603050405020304" pitchFamily="18" charset="0"/>
                  </a:rPr>
                  <a:t>148 W</a:t>
                </a:r>
                <a:r>
                  <a:rPr lang="zh-CN" altLang="zh-CN" sz="1800" dirty="0">
                    <a:effectLst/>
                    <a:latin typeface="+mn-ea"/>
                    <a:cs typeface="Times New Roman" panose="02020603050405020304" pitchFamily="18" charset="0"/>
                  </a:rPr>
                  <a:t>，按</a:t>
                </a:r>
                <a:r>
                  <a:rPr lang="en-US" altLang="zh-CN" sz="1800" dirty="0">
                    <a:effectLst/>
                    <a:latin typeface="+mn-ea"/>
                    <a:cs typeface="Times New Roman" panose="02020603050405020304" pitchFamily="18" charset="0"/>
                  </a:rPr>
                  <a:t>70%</a:t>
                </a:r>
                <a:r>
                  <a:rPr lang="zh-CN" altLang="zh-CN" sz="1800" dirty="0">
                    <a:effectLst/>
                    <a:latin typeface="+mn-ea"/>
                    <a:cs typeface="Times New Roman" panose="02020603050405020304" pitchFamily="18" charset="0"/>
                  </a:rPr>
                  <a:t>再生效率计算：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𝑟𝑒𝑔𝑒𝑛</m:t>
                        </m:r>
                      </m:sub>
                    </m:sSub>
                    <m:r>
                      <a:rPr lang="en-US" altLang="zh-CN" sz="18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148</m:t>
                    </m:r>
                    <m:r>
                      <a:rPr lang="en-US" altLang="zh-CN" sz="18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70</m:t>
                    </m:r>
                    <m:r>
                      <a:rPr lang="en-US" altLang="zh-CN" sz="18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%≈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104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𝑊</m:t>
                    </m:r>
                  </m:oMath>
                </a14:m>
                <a:endParaRPr lang="zh-CN" altLang="zh-CN" sz="1800" dirty="0">
                  <a:effectLst/>
                  <a:latin typeface="+mn-ea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dirty="0">
                    <a:effectLst/>
                    <a:latin typeface="+mn-ea"/>
                    <a:cs typeface="Times New Roman" panose="02020603050405020304" pitchFamily="18" charset="0"/>
                  </a:rPr>
                  <a:t>满电</a:t>
                </a:r>
                <a:r>
                  <a:rPr lang="en-US" altLang="zh-CN" sz="1800" dirty="0">
                    <a:effectLst/>
                    <a:latin typeface="+mn-ea"/>
                    <a:cs typeface="Times New Roman" panose="02020603050405020304" pitchFamily="18" charset="0"/>
                  </a:rPr>
                  <a:t>54.6 V</a:t>
                </a:r>
                <a:r>
                  <a:rPr lang="zh-CN" altLang="zh-CN" sz="1800" dirty="0">
                    <a:effectLst/>
                    <a:latin typeface="+mn-ea"/>
                    <a:cs typeface="Times New Roman" panose="02020603050405020304" pitchFamily="18" charset="0"/>
                  </a:rPr>
                  <a:t>时，回馈电流为：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𝑟𝑒𝑔𝑒𝑛</m:t>
                        </m:r>
                      </m:sub>
                    </m:sSub>
                    <m:r>
                      <a:rPr lang="en-US" altLang="zh-CN" sz="18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104</m:t>
                        </m:r>
                      </m:num>
                      <m:den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54.6</m:t>
                        </m:r>
                      </m:den>
                    </m:f>
                    <m:r>
                      <a:rPr lang="en-US" altLang="zh-CN" sz="18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≈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1.9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endParaRPr lang="zh-CN" altLang="zh-CN" sz="1800" dirty="0">
                  <a:effectLst/>
                  <a:latin typeface="+mn-ea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dirty="0">
                    <a:effectLst/>
                    <a:latin typeface="+mn-ea"/>
                    <a:cs typeface="Times New Roman" panose="02020603050405020304" pitchFamily="18" charset="0"/>
                  </a:rPr>
                  <a:t>若</a:t>
                </a:r>
                <a:r>
                  <a:rPr lang="en-US" altLang="zh-CN" sz="1800" dirty="0">
                    <a:effectLst/>
                    <a:latin typeface="+mn-ea"/>
                    <a:cs typeface="Times New Roman" panose="02020603050405020304" pitchFamily="18" charset="0"/>
                  </a:rPr>
                  <a:t>BMS</a:t>
                </a:r>
                <a:r>
                  <a:rPr lang="zh-CN" altLang="zh-CN" sz="1800" dirty="0">
                    <a:effectLst/>
                    <a:latin typeface="+mn-ea"/>
                    <a:cs typeface="Times New Roman" panose="02020603050405020304" pitchFamily="18" charset="0"/>
                  </a:rPr>
                  <a:t>禁止回充，回馈能量进入母线电容：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𝑏𝑢𝑠</m:t>
                        </m:r>
                      </m:sub>
                    </m:sSub>
                    <m:r>
                      <a:rPr lang="en-US" altLang="zh-CN" sz="18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𝑡</m:t>
                    </m:r>
                    <m:r>
                      <a:rPr lang="en-US" altLang="zh-CN" sz="18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)=</m:t>
                    </m:r>
                    <m:rad>
                      <m:radPr>
                        <m:degHide m:val="on"/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sSubSup>
                          <m:sSubSupPr>
                            <m:ctrlPr>
                              <a:rPr lang="zh-CN" altLang="zh-CN" sz="1800" i="1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800" i="1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altLang="zh-CN" sz="1800" i="1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altLang="zh-CN" sz="1800" i="1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altLang="zh-CN" sz="180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zh-CN" altLang="zh-CN" sz="1800" i="1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1800" i="1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  <m:sSub>
                              <m:sSubPr>
                                <m:ctrlPr>
                                  <a:rPr lang="zh-CN" altLang="zh-CN" sz="1800" i="1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800" i="1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altLang="zh-CN" sz="1800" i="1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𝑟𝑒𝑔𝑒𝑛</m:t>
                                </m:r>
                              </m:sub>
                            </m:sSub>
                            <m:r>
                              <a:rPr lang="en-US" altLang="zh-CN" sz="1800" i="1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num>
                          <m:den>
                            <m:sSub>
                              <m:sSubPr>
                                <m:ctrlPr>
                                  <a:rPr lang="zh-CN" altLang="zh-CN" sz="1800" i="1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800" i="1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altLang="zh-CN" sz="1800" i="1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𝑑𝑐</m:t>
                                </m:r>
                              </m:sub>
                            </m:sSub>
                          </m:den>
                        </m:f>
                      </m:e>
                    </m:rad>
                  </m:oMath>
                </a14:m>
                <a:endParaRPr lang="zh-CN" altLang="zh-CN" sz="1800" dirty="0">
                  <a:effectLst/>
                  <a:latin typeface="+mn-ea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zh-CN" altLang="en-US" sz="1800" dirty="0">
                    <a:effectLst/>
                    <a:latin typeface="+mn-ea"/>
                    <a:cs typeface="Times New Roman" panose="02020603050405020304" pitchFamily="18" charset="0"/>
                  </a:rPr>
                  <a:t>这会显著抬升母线电压，一级辅助电源需要为此留出耐压裕量。</a:t>
                </a:r>
                <a:r>
                  <a:rPr lang="zh-CN" altLang="en-US" dirty="0"/>
                  <a:t>结合实际工况选型。</a:t>
                </a:r>
                <a:endParaRPr lang="zh-CN" altLang="zh-CN" sz="1800" dirty="0">
                  <a:effectLst/>
                  <a:latin typeface="+mn-ea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62437FCF-99DC-D247-BB89-6062EDCB99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6630" y="946940"/>
                <a:ext cx="8455177" cy="2826351"/>
              </a:xfrm>
              <a:prstGeom prst="rect">
                <a:avLst/>
              </a:prstGeom>
              <a:blipFill>
                <a:blip r:embed="rId4"/>
                <a:stretch>
                  <a:fillRect l="-577" t="-1078" r="-2812" b="-23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481C6EA3-F2DC-5475-4981-7322DE5EA144}"/>
              </a:ext>
            </a:extLst>
          </p:cNvPr>
          <p:cNvSpPr/>
          <p:nvPr/>
        </p:nvSpPr>
        <p:spPr>
          <a:xfrm>
            <a:off x="127668" y="849664"/>
            <a:ext cx="11490172" cy="3007575"/>
          </a:xfrm>
          <a:prstGeom prst="roundRect">
            <a:avLst>
              <a:gd name="adj" fmla="val 3237"/>
            </a:avLst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9B96D5E-B059-2FB8-64EA-D6DFB9BD3E6C}"/>
              </a:ext>
            </a:extLst>
          </p:cNvPr>
          <p:cNvSpPr txBox="1"/>
          <p:nvPr/>
        </p:nvSpPr>
        <p:spPr>
          <a:xfrm>
            <a:off x="574160" y="3224236"/>
            <a:ext cx="24518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人形机器人电池：</a:t>
            </a:r>
            <a:endParaRPr lang="en-US" altLang="zh-CN" b="1" dirty="0"/>
          </a:p>
          <a:p>
            <a:r>
              <a:rPr lang="zh-CN" altLang="en-US" b="1" dirty="0"/>
              <a:t>标称</a:t>
            </a:r>
            <a:r>
              <a:rPr lang="en-US" altLang="zh-CN" b="1" dirty="0"/>
              <a:t>48V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A3F224DF-C8E9-6C68-BB40-1CF4DA007A5E}"/>
              </a:ext>
            </a:extLst>
          </p:cNvPr>
          <p:cNvSpPr txBox="1"/>
          <p:nvPr/>
        </p:nvSpPr>
        <p:spPr>
          <a:xfrm>
            <a:off x="308252" y="1085257"/>
            <a:ext cx="24518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0070C0"/>
                </a:solidFill>
                <a:latin typeface="+mn-ea"/>
                <a:cs typeface="Times New Roman" panose="02020603050405020304" pitchFamily="18" charset="0"/>
              </a:rPr>
              <a:t>供电系统与耐压选型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F78804DD-020D-F56D-177E-6E54BFE2D37B}"/>
              </a:ext>
            </a:extLst>
          </p:cNvPr>
          <p:cNvSpPr/>
          <p:nvPr/>
        </p:nvSpPr>
        <p:spPr>
          <a:xfrm>
            <a:off x="6522558" y="4079686"/>
            <a:ext cx="5095282" cy="2462898"/>
          </a:xfrm>
          <a:prstGeom prst="roundRect">
            <a:avLst>
              <a:gd name="adj" fmla="val 3237"/>
            </a:avLst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C170D614-EAA1-AADE-BD93-EC3BF034C42B}"/>
              </a:ext>
            </a:extLst>
          </p:cNvPr>
          <p:cNvSpPr/>
          <p:nvPr/>
        </p:nvSpPr>
        <p:spPr>
          <a:xfrm>
            <a:off x="8160247" y="3926764"/>
            <a:ext cx="1819903" cy="337588"/>
          </a:xfrm>
          <a:prstGeom prst="roundRect">
            <a:avLst/>
          </a:prstGeom>
          <a:solidFill>
            <a:srgbClr val="0070C0"/>
          </a:solidFill>
          <a:ln w="12700">
            <a:noFill/>
          </a:ln>
          <a:effectLst>
            <a:glow rad="635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设计目标</a:t>
            </a:r>
          </a:p>
        </p:txBody>
      </p:sp>
      <p:sp>
        <p:nvSpPr>
          <p:cNvPr id="29" name="Rectangle 2">
            <a:extLst>
              <a:ext uri="{FF2B5EF4-FFF2-40B4-BE49-F238E27FC236}">
                <a16:creationId xmlns:a16="http://schemas.microsoft.com/office/drawing/2014/main" id="{97B29754-DC30-10C0-C5DA-0CDDB6AA4E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95054" y="4264352"/>
            <a:ext cx="4768785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● 直流母线：</a:t>
            </a:r>
            <a:r>
              <a:rPr kumimoji="0" lang="zh-CN" altLang="zh-CN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标称 48 V，输入范围 </a:t>
            </a: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41～55 V</a:t>
            </a:r>
            <a:r>
              <a:rPr kumimoji="0" lang="zh-CN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，考虑反电动势，功率器件应设计</a:t>
            </a:r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</a:rPr>
              <a:t>&gt;80V</a:t>
            </a:r>
            <a:b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● 额定输入功率：180 W</a:t>
            </a:r>
            <a:b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● 相电流：≥ </a:t>
            </a:r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15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RMS</a:t>
            </a:r>
            <a:b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● 输出转速：空载约 265 rpm / 额定负载约 160 rpm</a:t>
            </a:r>
            <a:b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● 开关频率：20 kHz</a:t>
            </a:r>
            <a:b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● 通信接口：CAN / CAN FD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1ABB6BD1-22B4-DA01-1B60-5E8F697FF76E}"/>
                  </a:ext>
                </a:extLst>
              </p:cNvPr>
              <p:cNvSpPr txBox="1"/>
              <p:nvPr/>
            </p:nvSpPr>
            <p:spPr>
              <a:xfrm>
                <a:off x="274194" y="4192262"/>
                <a:ext cx="4846445" cy="22081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en-US" altLang="zh-CN" sz="1800" dirty="0" err="1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连续工况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𝑞</m:t>
                        </m:r>
                        <m:r>
                          <a:rPr lang="en-US" altLang="zh-CN" sz="18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zh-CN" sz="18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cont</m:t>
                        </m:r>
                      </m:sub>
                    </m:sSub>
                    <m:r>
                      <a:rPr lang="en-US" altLang="zh-CN" sz="18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CN" altLang="zh-CN" sz="1800" i="1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i="1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US" altLang="zh-CN" sz="1800" i="1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𝑗</m:t>
                            </m:r>
                            <m:r>
                              <a:rPr lang="en-US" altLang="zh-CN" sz="1800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,</m:t>
                            </m:r>
                            <m:r>
                              <m:rPr>
                                <m:sty m:val="p"/>
                              </m:rPr>
                              <a:rPr lang="en-US" altLang="zh-CN" sz="1800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cont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zh-CN" altLang="zh-CN" sz="1800" i="1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i="1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en-US" altLang="zh-CN" sz="1800" i="1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b>
                        </m:sSub>
                      </m:den>
                    </m:f>
                    <m:r>
                      <a:rPr lang="en-US" altLang="zh-CN" sz="18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≈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12.5</m:t>
                    </m:r>
                    <m:r>
                      <m:rPr>
                        <m:sty m:val="p"/>
                      </m:rPr>
                      <a:rPr lang="en-US" altLang="zh-CN" sz="18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A</m:t>
                    </m:r>
                  </m:oMath>
                </a14:m>
                <a:endParaRPr lang="zh-CN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峰值工况：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𝑞</m:t>
                        </m:r>
                        <m:r>
                          <a:rPr lang="en-US" altLang="zh-CN" sz="18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zh-CN" sz="18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peak</m:t>
                        </m:r>
                      </m:sub>
                    </m:sSub>
                    <m:r>
                      <a:rPr lang="en-US" altLang="zh-CN" sz="18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CN" altLang="zh-CN" sz="1800" i="1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i="1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US" altLang="zh-CN" sz="1800" i="1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𝑗</m:t>
                            </m:r>
                            <m:r>
                              <a:rPr lang="en-US" altLang="zh-CN" sz="1800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,</m:t>
                            </m:r>
                            <m:r>
                              <m:rPr>
                                <m:sty m:val="p"/>
                              </m:rPr>
                              <a:rPr lang="en-US" altLang="zh-CN" sz="1800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peak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zh-CN" altLang="zh-CN" sz="1800" i="1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i="1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en-US" altLang="zh-CN" sz="1800" i="1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b>
                        </m:sSub>
                      </m:den>
                    </m:f>
                    <m:r>
                      <a:rPr lang="en-US" altLang="zh-CN" sz="18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≈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18.8</m:t>
                    </m:r>
                    <m:r>
                      <m:rPr>
                        <m:sty m:val="p"/>
                      </m:rPr>
                      <a:rPr lang="en-US" altLang="zh-CN" sz="18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A</m:t>
                    </m:r>
                  </m:oMath>
                </a14:m>
                <a:endParaRPr lang="zh-CN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考虑器件误差、动态过冲和控制裕量：</a:t>
                </a:r>
                <a:endParaRPr lang="en-US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1800" b="1" i="1" smtClean="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1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𝑰</m:t>
                          </m:r>
                        </m:e>
                        <m:sub>
                          <m:r>
                            <a:rPr lang="en-US" altLang="zh-CN" sz="1800" b="1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𝒄𝒐𝒏𝒕</m:t>
                          </m:r>
                        </m:sub>
                      </m:sSub>
                      <m:r>
                        <a:rPr lang="en-US" altLang="zh-CN" sz="1800" b="1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≥</m:t>
                      </m:r>
                      <m:r>
                        <a:rPr lang="en-US" altLang="zh-CN" sz="1800" b="1" i="1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𝟏𝟓𝐀</m:t>
                      </m:r>
                    </m:oMath>
                  </m:oMathPara>
                </a14:m>
                <a:endParaRPr lang="zh-CN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1ABB6BD1-22B4-DA01-1B60-5E8F697FF7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194" y="4192262"/>
                <a:ext cx="4846445" cy="2208169"/>
              </a:xfrm>
              <a:prstGeom prst="rect">
                <a:avLst/>
              </a:prstGeom>
              <a:blipFill>
                <a:blip r:embed="rId5"/>
                <a:stretch>
                  <a:fillRect l="-11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BCB25834-1850-54CE-C129-5CA1697F291C}"/>
              </a:ext>
            </a:extLst>
          </p:cNvPr>
          <p:cNvSpPr/>
          <p:nvPr/>
        </p:nvSpPr>
        <p:spPr>
          <a:xfrm>
            <a:off x="127669" y="3961445"/>
            <a:ext cx="5647489" cy="2635693"/>
          </a:xfrm>
          <a:prstGeom prst="roundRect">
            <a:avLst>
              <a:gd name="adj" fmla="val 3237"/>
            </a:avLst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1C0F6305-BBD5-0E25-BDF4-29B7EBB211AE}"/>
              </a:ext>
            </a:extLst>
          </p:cNvPr>
          <p:cNvSpPr txBox="1"/>
          <p:nvPr/>
        </p:nvSpPr>
        <p:spPr>
          <a:xfrm>
            <a:off x="4361329" y="4079686"/>
            <a:ext cx="13272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0070C0"/>
                </a:solidFill>
                <a:latin typeface="+mn-ea"/>
                <a:cs typeface="Times New Roman" panose="02020603050405020304" pitchFamily="18" charset="0"/>
              </a:rPr>
              <a:t>相电流计算</a:t>
            </a:r>
            <a:endParaRPr lang="zh-CN" altLang="en-US" b="1" dirty="0">
              <a:solidFill>
                <a:srgbClr val="0070C0"/>
              </a:solidFill>
            </a:endParaRPr>
          </a:p>
        </p:txBody>
      </p:sp>
      <p:sp>
        <p:nvSpPr>
          <p:cNvPr id="37" name="右箭头 13">
            <a:extLst>
              <a:ext uri="{FF2B5EF4-FFF2-40B4-BE49-F238E27FC236}">
                <a16:creationId xmlns:a16="http://schemas.microsoft.com/office/drawing/2014/main" id="{2F4089F7-5112-C4EA-9735-C7B91E04135F}"/>
              </a:ext>
            </a:extLst>
          </p:cNvPr>
          <p:cNvSpPr/>
          <p:nvPr/>
        </p:nvSpPr>
        <p:spPr>
          <a:xfrm>
            <a:off x="5638157" y="4992158"/>
            <a:ext cx="1048333" cy="432566"/>
          </a:xfrm>
          <a:prstGeom prst="rightArrow">
            <a:avLst>
              <a:gd name="adj1" fmla="val 63528"/>
              <a:gd name="adj2" fmla="val 50000"/>
            </a:avLst>
          </a:prstGeom>
          <a:gradFill>
            <a:gsLst>
              <a:gs pos="19000">
                <a:schemeClr val="bg2">
                  <a:lumMod val="60000"/>
                  <a:lumOff val="40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2">
                  <a:lumMod val="7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28060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734291" y="457200"/>
            <a:ext cx="34913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驱动板整体方案架构</a:t>
            </a:r>
            <a:endParaRPr lang="en-US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4BBF726D-F610-1E17-569F-914AC47D84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42534"/>
            <a:ext cx="12192000" cy="4805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7145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EA6D8C-C01B-4796-2A99-030B8633B8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BD2A6C77-FCEB-DBEF-5E6F-E11BEC632316}"/>
              </a:ext>
            </a:extLst>
          </p:cNvPr>
          <p:cNvSpPr>
            <a:spLocks noGrp="1"/>
          </p:cNvSpPr>
          <p:nvPr/>
        </p:nvSpPr>
        <p:spPr>
          <a:xfrm>
            <a:off x="217807" y="203285"/>
            <a:ext cx="11663918" cy="521208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txBody>
          <a:bodyPr>
            <a:normAutofit fontScale="59790" lnSpcReduction="20000"/>
          </a:bodyPr>
          <a:lstStyle>
            <a:lvl1pPr algn="l">
              <a:lnSpc>
                <a:spcPct val="13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>
            <a:r>
              <a:rPr dirty="0" err="1">
                <a:solidFill>
                  <a:schemeClr val="bg1"/>
                </a:solidFill>
              </a:rPr>
              <a:t>芯片选型</a:t>
            </a:r>
            <a:r>
              <a:rPr dirty="0">
                <a:solidFill>
                  <a:schemeClr val="bg1"/>
                </a:solidFill>
              </a:rPr>
              <a:t>——</a:t>
            </a:r>
            <a:r>
              <a:rPr lang="zh-CN" altLang="en-US" dirty="0">
                <a:solidFill>
                  <a:schemeClr val="bg1"/>
                </a:solidFill>
              </a:rPr>
              <a:t>驱动电路 </a:t>
            </a:r>
            <a:r>
              <a:rPr lang="en-US" altLang="zh-CN" dirty="0">
                <a:solidFill>
                  <a:schemeClr val="bg1"/>
                </a:solidFill>
              </a:rPr>
              <a:t>MP6539B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27" name="图片 26">
            <a:extLst>
              <a:ext uri="{FF2B5EF4-FFF2-40B4-BE49-F238E27FC236}">
                <a16:creationId xmlns:a16="http://schemas.microsoft.com/office/drawing/2014/main" id="{3033A39D-E587-FC41-5364-22F824BE7E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5388" y="2048046"/>
            <a:ext cx="7981973" cy="3785767"/>
          </a:xfrm>
          <a:prstGeom prst="rect">
            <a:avLst/>
          </a:prstGeom>
        </p:spPr>
      </p:pic>
      <p:grpSp>
        <p:nvGrpSpPr>
          <p:cNvPr id="56" name="组合 55">
            <a:extLst>
              <a:ext uri="{FF2B5EF4-FFF2-40B4-BE49-F238E27FC236}">
                <a16:creationId xmlns:a16="http://schemas.microsoft.com/office/drawing/2014/main" id="{83D2891B-26C6-9E9C-C3C5-F02A17CBC2F3}"/>
              </a:ext>
            </a:extLst>
          </p:cNvPr>
          <p:cNvGrpSpPr/>
          <p:nvPr/>
        </p:nvGrpSpPr>
        <p:grpSpPr>
          <a:xfrm>
            <a:off x="8656921" y="4383511"/>
            <a:ext cx="3311877" cy="2176749"/>
            <a:chOff x="4826283" y="4123669"/>
            <a:chExt cx="4359338" cy="2176749"/>
          </a:xfrm>
        </p:grpSpPr>
        <p:sp>
          <p:nvSpPr>
            <p:cNvPr id="57" name="矩形: 圆角 56">
              <a:extLst>
                <a:ext uri="{FF2B5EF4-FFF2-40B4-BE49-F238E27FC236}">
                  <a16:creationId xmlns:a16="http://schemas.microsoft.com/office/drawing/2014/main" id="{9949015F-A6FF-7B6D-7521-DC23E0AEA1D2}"/>
                </a:ext>
              </a:extLst>
            </p:cNvPr>
            <p:cNvSpPr/>
            <p:nvPr/>
          </p:nvSpPr>
          <p:spPr>
            <a:xfrm>
              <a:off x="4826283" y="4292463"/>
              <a:ext cx="4359338" cy="2007955"/>
            </a:xfrm>
            <a:prstGeom prst="roundRect">
              <a:avLst>
                <a:gd name="adj" fmla="val 3237"/>
              </a:avLst>
            </a:prstGeom>
            <a:noFill/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矩形: 圆角 57">
              <a:extLst>
                <a:ext uri="{FF2B5EF4-FFF2-40B4-BE49-F238E27FC236}">
                  <a16:creationId xmlns:a16="http://schemas.microsoft.com/office/drawing/2014/main" id="{1D2B24C3-AB0A-92D9-5BA9-C14BBA8A3619}"/>
                </a:ext>
              </a:extLst>
            </p:cNvPr>
            <p:cNvSpPr/>
            <p:nvPr/>
          </p:nvSpPr>
          <p:spPr>
            <a:xfrm>
              <a:off x="5748254" y="4123669"/>
              <a:ext cx="2474069" cy="337588"/>
            </a:xfrm>
            <a:prstGeom prst="roundRect">
              <a:avLst/>
            </a:prstGeom>
            <a:solidFill>
              <a:srgbClr val="0070C0"/>
            </a:solidFill>
            <a:ln w="12700">
              <a:noFill/>
            </a:ln>
            <a:effectLst>
              <a:glow rad="635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内置保护与运放</a:t>
              </a:r>
            </a:p>
          </p:txBody>
        </p:sp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3339DCA1-F888-E432-C670-EB78CD981216}"/>
                </a:ext>
              </a:extLst>
            </p:cNvPr>
            <p:cNvSpPr txBox="1"/>
            <p:nvPr/>
          </p:nvSpPr>
          <p:spPr>
            <a:xfrm>
              <a:off x="4826283" y="4461257"/>
              <a:ext cx="4359338" cy="175432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dirty="0"/>
                <a:t>● 内置</a:t>
              </a:r>
              <a:r>
                <a:rPr lang="en-US" altLang="zh-CN" dirty="0"/>
                <a:t>20 </a:t>
              </a:r>
              <a:r>
                <a:rPr lang="zh-CN" altLang="en-US" dirty="0"/>
                <a:t>倍电流采样放大器，通过</a:t>
              </a:r>
              <a:r>
                <a:rPr lang="en-US" altLang="zh-CN" dirty="0"/>
                <a:t>CSO</a:t>
              </a:r>
              <a:r>
                <a:rPr lang="zh-CN" altLang="en-US" dirty="0"/>
                <a:t>输出模拟电压</a:t>
              </a:r>
              <a:endParaRPr lang="en-US" altLang="zh-CN" dirty="0"/>
            </a:p>
            <a:p>
              <a:r>
                <a:rPr lang="zh-CN" altLang="en-US" dirty="0"/>
                <a:t>● 实际应用场景可以进一步节省空间和成本</a:t>
              </a:r>
              <a:endParaRPr lang="en-US" altLang="zh-CN" dirty="0"/>
            </a:p>
            <a:p>
              <a:r>
                <a:rPr lang="zh-CN" altLang="en-US" dirty="0"/>
                <a:t>● </a:t>
              </a:r>
              <a:r>
                <a:rPr lang="en-US" altLang="zh-CN" dirty="0"/>
                <a:t>VDD</a:t>
              </a:r>
              <a:r>
                <a:rPr lang="zh-CN" altLang="en-US" dirty="0"/>
                <a:t>欠压保护</a:t>
              </a:r>
              <a:r>
                <a:rPr lang="en-US" altLang="zh-CN" dirty="0"/>
                <a:t>UVLO</a:t>
              </a:r>
              <a:r>
                <a:rPr lang="zh-CN" altLang="en-US" dirty="0"/>
                <a:t>，过温保护</a:t>
              </a:r>
              <a:r>
                <a:rPr lang="en-US" altLang="zh-CN" dirty="0"/>
                <a:t>OTP</a:t>
              </a:r>
              <a:endParaRPr lang="zh-CN" altLang="en-US" dirty="0"/>
            </a:p>
          </p:txBody>
        </p:sp>
      </p:grpSp>
      <p:sp>
        <p:nvSpPr>
          <p:cNvPr id="60" name="矩形: 圆角 59">
            <a:extLst>
              <a:ext uri="{FF2B5EF4-FFF2-40B4-BE49-F238E27FC236}">
                <a16:creationId xmlns:a16="http://schemas.microsoft.com/office/drawing/2014/main" id="{56F0AFBD-7C1B-06C2-D287-09DF5CE33D36}"/>
              </a:ext>
            </a:extLst>
          </p:cNvPr>
          <p:cNvSpPr/>
          <p:nvPr/>
        </p:nvSpPr>
        <p:spPr>
          <a:xfrm>
            <a:off x="5549641" y="3797295"/>
            <a:ext cx="1257281" cy="1631189"/>
          </a:xfrm>
          <a:prstGeom prst="roundRect">
            <a:avLst/>
          </a:prstGeom>
          <a:noFill/>
          <a:ln w="28575"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1" name="直接连接符 60">
            <a:extLst>
              <a:ext uri="{FF2B5EF4-FFF2-40B4-BE49-F238E27FC236}">
                <a16:creationId xmlns:a16="http://schemas.microsoft.com/office/drawing/2014/main" id="{3B52E6FB-B57F-5836-09D4-4DC5BF11A282}"/>
              </a:ext>
            </a:extLst>
          </p:cNvPr>
          <p:cNvCxnSpPr>
            <a:cxnSpLocks/>
          </p:cNvCxnSpPr>
          <p:nvPr/>
        </p:nvCxnSpPr>
        <p:spPr>
          <a:xfrm>
            <a:off x="6634480" y="3797295"/>
            <a:ext cx="5334318" cy="755010"/>
          </a:xfrm>
          <a:prstGeom prst="line">
            <a:avLst/>
          </a:prstGeom>
          <a:ln w="12700"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连接符 62">
            <a:extLst>
              <a:ext uri="{FF2B5EF4-FFF2-40B4-BE49-F238E27FC236}">
                <a16:creationId xmlns:a16="http://schemas.microsoft.com/office/drawing/2014/main" id="{E400EEC1-74B6-59E4-170B-C49C48BB1600}"/>
              </a:ext>
            </a:extLst>
          </p:cNvPr>
          <p:cNvCxnSpPr>
            <a:cxnSpLocks/>
          </p:cNvCxnSpPr>
          <p:nvPr/>
        </p:nvCxnSpPr>
        <p:spPr>
          <a:xfrm>
            <a:off x="6634480" y="5428484"/>
            <a:ext cx="2067766" cy="1131776"/>
          </a:xfrm>
          <a:prstGeom prst="line">
            <a:avLst/>
          </a:prstGeom>
          <a:ln w="12700"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矩形: 圆角 64">
            <a:extLst>
              <a:ext uri="{FF2B5EF4-FFF2-40B4-BE49-F238E27FC236}">
                <a16:creationId xmlns:a16="http://schemas.microsoft.com/office/drawing/2014/main" id="{EE8F3260-D1C7-93F3-6754-6BA7DFD87447}"/>
              </a:ext>
            </a:extLst>
          </p:cNvPr>
          <p:cNvSpPr/>
          <p:nvPr/>
        </p:nvSpPr>
        <p:spPr>
          <a:xfrm>
            <a:off x="1943119" y="2349388"/>
            <a:ext cx="1257281" cy="676678"/>
          </a:xfrm>
          <a:prstGeom prst="roundRect">
            <a:avLst/>
          </a:prstGeom>
          <a:noFill/>
          <a:ln w="28575"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66" name="组合 65">
            <a:extLst>
              <a:ext uri="{FF2B5EF4-FFF2-40B4-BE49-F238E27FC236}">
                <a16:creationId xmlns:a16="http://schemas.microsoft.com/office/drawing/2014/main" id="{29E58C1C-9E63-0A73-0130-78A9F95AF916}"/>
              </a:ext>
            </a:extLst>
          </p:cNvPr>
          <p:cNvGrpSpPr/>
          <p:nvPr/>
        </p:nvGrpSpPr>
        <p:grpSpPr>
          <a:xfrm>
            <a:off x="8569848" y="934367"/>
            <a:ext cx="3311877" cy="2368913"/>
            <a:chOff x="4826283" y="4123669"/>
            <a:chExt cx="4359338" cy="2368913"/>
          </a:xfrm>
        </p:grpSpPr>
        <p:sp>
          <p:nvSpPr>
            <p:cNvPr id="67" name="矩形: 圆角 66">
              <a:extLst>
                <a:ext uri="{FF2B5EF4-FFF2-40B4-BE49-F238E27FC236}">
                  <a16:creationId xmlns:a16="http://schemas.microsoft.com/office/drawing/2014/main" id="{99185395-270D-A7EA-AF53-686C8110C077}"/>
                </a:ext>
              </a:extLst>
            </p:cNvPr>
            <p:cNvSpPr/>
            <p:nvPr/>
          </p:nvSpPr>
          <p:spPr>
            <a:xfrm>
              <a:off x="4826283" y="4292464"/>
              <a:ext cx="4359338" cy="1649162"/>
            </a:xfrm>
            <a:prstGeom prst="roundRect">
              <a:avLst>
                <a:gd name="adj" fmla="val 3237"/>
              </a:avLst>
            </a:prstGeom>
            <a:noFill/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" name="矩形: 圆角 67">
              <a:extLst>
                <a:ext uri="{FF2B5EF4-FFF2-40B4-BE49-F238E27FC236}">
                  <a16:creationId xmlns:a16="http://schemas.microsoft.com/office/drawing/2014/main" id="{A7777D78-CDC3-6EEC-5299-3B132B5D3C72}"/>
                </a:ext>
              </a:extLst>
            </p:cNvPr>
            <p:cNvSpPr/>
            <p:nvPr/>
          </p:nvSpPr>
          <p:spPr>
            <a:xfrm>
              <a:off x="5748254" y="4123669"/>
              <a:ext cx="2474069" cy="337588"/>
            </a:xfrm>
            <a:prstGeom prst="roundRect">
              <a:avLst/>
            </a:prstGeom>
            <a:solidFill>
              <a:srgbClr val="0070C0"/>
            </a:solidFill>
            <a:ln w="12700">
              <a:noFill/>
            </a:ln>
            <a:effectLst>
              <a:glow rad="635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驱动能力</a:t>
              </a:r>
            </a:p>
          </p:txBody>
        </p:sp>
        <p:sp>
          <p:nvSpPr>
            <p:cNvPr id="69" name="文本框 68">
              <a:extLst>
                <a:ext uri="{FF2B5EF4-FFF2-40B4-BE49-F238E27FC236}">
                  <a16:creationId xmlns:a16="http://schemas.microsoft.com/office/drawing/2014/main" id="{CABED3D9-B4F4-0FA6-19E0-496916EE8D8F}"/>
                </a:ext>
              </a:extLst>
            </p:cNvPr>
            <p:cNvSpPr txBox="1"/>
            <p:nvPr/>
          </p:nvSpPr>
          <p:spPr>
            <a:xfrm>
              <a:off x="4826283" y="4461257"/>
              <a:ext cx="4359338" cy="203132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dirty="0"/>
                <a:t>● 集成三路半桥</a:t>
              </a:r>
              <a:r>
                <a:rPr lang="en-US" altLang="zh-CN" dirty="0"/>
                <a:t>NMOS</a:t>
              </a:r>
              <a:r>
                <a:rPr lang="zh-CN" altLang="en-US" dirty="0"/>
                <a:t>驱动</a:t>
              </a:r>
              <a:endParaRPr lang="en-US" altLang="zh-CN" dirty="0"/>
            </a:p>
            <a:p>
              <a:r>
                <a:rPr lang="zh-CN" altLang="en-US" b="0" i="0" dirty="0">
                  <a:solidFill>
                    <a:srgbClr val="1A1C1F"/>
                  </a:solidFill>
                  <a:effectLst/>
                  <a:latin typeface="-apple-system"/>
                </a:rPr>
                <a:t>内置 </a:t>
              </a:r>
              <a:r>
                <a:rPr lang="en-US" altLang="zh-CN" b="0" i="0" dirty="0">
                  <a:solidFill>
                    <a:srgbClr val="1A1C1F"/>
                  </a:solidFill>
                  <a:effectLst/>
                  <a:latin typeface="-apple-system"/>
                </a:rPr>
                <a:t>Charge Pump + Bootstrap</a:t>
              </a:r>
              <a:r>
                <a:rPr lang="zh-CN" altLang="en-US" b="0" i="0" dirty="0">
                  <a:solidFill>
                    <a:srgbClr val="1A1C1F"/>
                  </a:solidFill>
                  <a:effectLst/>
                  <a:latin typeface="-apple-system"/>
                </a:rPr>
                <a:t>，高边驱动可长时间维持</a:t>
              </a:r>
              <a:endParaRPr lang="en-US" altLang="zh-CN" b="0" i="0" dirty="0">
                <a:solidFill>
                  <a:srgbClr val="1A1C1F"/>
                </a:solidFill>
                <a:effectLst/>
                <a:latin typeface="-apple-system"/>
              </a:endParaRPr>
            </a:p>
            <a:p>
              <a:r>
                <a:rPr lang="zh-CN" altLang="en-US" dirty="0"/>
                <a:t>● </a:t>
              </a:r>
              <a:r>
                <a:rPr lang="zh-CN" altLang="en-US" b="0" i="0" dirty="0">
                  <a:solidFill>
                    <a:srgbClr val="1A1C1F"/>
                  </a:solidFill>
                  <a:effectLst/>
                  <a:latin typeface="-apple-system"/>
                </a:rPr>
                <a:t>栅极驱动能力：</a:t>
              </a:r>
              <a:r>
                <a:rPr lang="en-US" altLang="zh-CN" b="0" i="0" dirty="0">
                  <a:solidFill>
                    <a:srgbClr val="1A1C1F"/>
                  </a:solidFill>
                  <a:effectLst/>
                  <a:latin typeface="-apple-system"/>
                </a:rPr>
                <a:t>0.8A </a:t>
              </a:r>
              <a:r>
                <a:rPr lang="zh-CN" altLang="en-US" b="0" i="0" dirty="0">
                  <a:solidFill>
                    <a:srgbClr val="1A1C1F"/>
                  </a:solidFill>
                  <a:effectLst/>
                  <a:latin typeface="-apple-system"/>
                </a:rPr>
                <a:t>拉电流 </a:t>
              </a:r>
              <a:r>
                <a:rPr lang="en-US" altLang="zh-CN" b="0" i="0" dirty="0">
                  <a:solidFill>
                    <a:srgbClr val="1A1C1F"/>
                  </a:solidFill>
                  <a:effectLst/>
                  <a:latin typeface="-apple-system"/>
                </a:rPr>
                <a:t>/ 1A </a:t>
              </a:r>
              <a:r>
                <a:rPr lang="zh-CN" altLang="en-US" b="0" i="0" dirty="0">
                  <a:solidFill>
                    <a:srgbClr val="1A1C1F"/>
                  </a:solidFill>
                  <a:effectLst/>
                  <a:latin typeface="-apple-system"/>
                </a:rPr>
                <a:t>灌电流</a:t>
              </a:r>
            </a:p>
            <a:p>
              <a:endParaRPr lang="zh-CN" altLang="en-US" b="0" i="0" dirty="0">
                <a:solidFill>
                  <a:srgbClr val="1A1C1F"/>
                </a:solidFill>
                <a:effectLst/>
                <a:latin typeface="-apple-system"/>
              </a:endParaRPr>
            </a:p>
            <a:p>
              <a:endParaRPr lang="zh-CN" altLang="en-US" dirty="0"/>
            </a:p>
          </p:txBody>
        </p:sp>
      </p:grpSp>
      <p:sp>
        <p:nvSpPr>
          <p:cNvPr id="72" name="圆角矩形 61">
            <a:extLst>
              <a:ext uri="{FF2B5EF4-FFF2-40B4-BE49-F238E27FC236}">
                <a16:creationId xmlns:a16="http://schemas.microsoft.com/office/drawing/2014/main" id="{AF81B73F-C874-4906-F7CA-44BA4F65BA82}"/>
              </a:ext>
            </a:extLst>
          </p:cNvPr>
          <p:cNvSpPr/>
          <p:nvPr/>
        </p:nvSpPr>
        <p:spPr>
          <a:xfrm>
            <a:off x="108843" y="4412775"/>
            <a:ext cx="916325" cy="356904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599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12 Vdc</a:t>
            </a:r>
            <a:endParaRPr lang="zh-CN" altLang="en-US" sz="1599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3" name="右箭头 13">
            <a:extLst>
              <a:ext uri="{FF2B5EF4-FFF2-40B4-BE49-F238E27FC236}">
                <a16:creationId xmlns:a16="http://schemas.microsoft.com/office/drawing/2014/main" id="{E6FBDE2F-DD3C-45E7-1AFA-4D5D2A7704E4}"/>
              </a:ext>
            </a:extLst>
          </p:cNvPr>
          <p:cNvSpPr/>
          <p:nvPr/>
        </p:nvSpPr>
        <p:spPr>
          <a:xfrm>
            <a:off x="1147088" y="4374944"/>
            <a:ext cx="694052" cy="432566"/>
          </a:xfrm>
          <a:prstGeom prst="rightArrow">
            <a:avLst>
              <a:gd name="adj1" fmla="val 63528"/>
              <a:gd name="adj2" fmla="val 50000"/>
            </a:avLst>
          </a:prstGeom>
          <a:gradFill>
            <a:gsLst>
              <a:gs pos="19000">
                <a:schemeClr val="bg2">
                  <a:lumMod val="60000"/>
                  <a:lumOff val="40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2">
                  <a:lumMod val="7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12V</a:t>
            </a:r>
            <a:endParaRPr lang="zh-CN" altLang="en-US" sz="12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6" name="直接连接符 75">
            <a:extLst>
              <a:ext uri="{FF2B5EF4-FFF2-40B4-BE49-F238E27FC236}">
                <a16:creationId xmlns:a16="http://schemas.microsoft.com/office/drawing/2014/main" id="{00DA75CA-DB7C-43F2-B4E9-F38A629413C8}"/>
              </a:ext>
            </a:extLst>
          </p:cNvPr>
          <p:cNvCxnSpPr>
            <a:cxnSpLocks/>
          </p:cNvCxnSpPr>
          <p:nvPr/>
        </p:nvCxnSpPr>
        <p:spPr>
          <a:xfrm flipH="1">
            <a:off x="6512560" y="1148003"/>
            <a:ext cx="2144361" cy="1135522"/>
          </a:xfrm>
          <a:prstGeom prst="line">
            <a:avLst/>
          </a:prstGeom>
          <a:ln w="12700"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接连接符 78">
            <a:extLst>
              <a:ext uri="{FF2B5EF4-FFF2-40B4-BE49-F238E27FC236}">
                <a16:creationId xmlns:a16="http://schemas.microsoft.com/office/drawing/2014/main" id="{777E34E3-C6C3-75D9-F84B-950B6574322C}"/>
              </a:ext>
            </a:extLst>
          </p:cNvPr>
          <p:cNvCxnSpPr>
            <a:cxnSpLocks/>
          </p:cNvCxnSpPr>
          <p:nvPr/>
        </p:nvCxnSpPr>
        <p:spPr>
          <a:xfrm flipV="1">
            <a:off x="6512560" y="2752324"/>
            <a:ext cx="5369165" cy="1044971"/>
          </a:xfrm>
          <a:prstGeom prst="line">
            <a:avLst/>
          </a:prstGeom>
          <a:ln w="12700"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2" name="组合 81">
            <a:extLst>
              <a:ext uri="{FF2B5EF4-FFF2-40B4-BE49-F238E27FC236}">
                <a16:creationId xmlns:a16="http://schemas.microsoft.com/office/drawing/2014/main" id="{A18EA8A7-53AA-9B9E-696E-7DF4D88DCB55}"/>
              </a:ext>
            </a:extLst>
          </p:cNvPr>
          <p:cNvGrpSpPr/>
          <p:nvPr/>
        </p:nvGrpSpPr>
        <p:grpSpPr>
          <a:xfrm>
            <a:off x="295203" y="863589"/>
            <a:ext cx="3311877" cy="1419936"/>
            <a:chOff x="4826283" y="4123669"/>
            <a:chExt cx="4359338" cy="1419936"/>
          </a:xfrm>
        </p:grpSpPr>
        <p:sp>
          <p:nvSpPr>
            <p:cNvPr id="83" name="矩形: 圆角 82">
              <a:extLst>
                <a:ext uri="{FF2B5EF4-FFF2-40B4-BE49-F238E27FC236}">
                  <a16:creationId xmlns:a16="http://schemas.microsoft.com/office/drawing/2014/main" id="{4B76DA9A-2680-B9D9-3B3C-DF90F5363C9D}"/>
                </a:ext>
              </a:extLst>
            </p:cNvPr>
            <p:cNvSpPr/>
            <p:nvPr/>
          </p:nvSpPr>
          <p:spPr>
            <a:xfrm>
              <a:off x="4826283" y="4292464"/>
              <a:ext cx="4359338" cy="847216"/>
            </a:xfrm>
            <a:prstGeom prst="roundRect">
              <a:avLst>
                <a:gd name="adj" fmla="val 3237"/>
              </a:avLst>
            </a:prstGeom>
            <a:noFill/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4" name="矩形: 圆角 83">
              <a:extLst>
                <a:ext uri="{FF2B5EF4-FFF2-40B4-BE49-F238E27FC236}">
                  <a16:creationId xmlns:a16="http://schemas.microsoft.com/office/drawing/2014/main" id="{6038AE98-BE43-E21C-4F0D-1729D72BB0CF}"/>
                </a:ext>
              </a:extLst>
            </p:cNvPr>
            <p:cNvSpPr/>
            <p:nvPr/>
          </p:nvSpPr>
          <p:spPr>
            <a:xfrm>
              <a:off x="5748254" y="4123669"/>
              <a:ext cx="2474069" cy="337588"/>
            </a:xfrm>
            <a:prstGeom prst="roundRect">
              <a:avLst/>
            </a:prstGeom>
            <a:solidFill>
              <a:srgbClr val="0070C0"/>
            </a:solidFill>
            <a:ln w="12700">
              <a:noFill/>
            </a:ln>
            <a:effectLst>
              <a:glow rad="635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低功耗设计</a:t>
              </a:r>
            </a:p>
          </p:txBody>
        </p:sp>
        <p:sp>
          <p:nvSpPr>
            <p:cNvPr id="85" name="文本框 84">
              <a:extLst>
                <a:ext uri="{FF2B5EF4-FFF2-40B4-BE49-F238E27FC236}">
                  <a16:creationId xmlns:a16="http://schemas.microsoft.com/office/drawing/2014/main" id="{9FF8E346-10CB-6FC7-6E72-004BA6F6F9DB}"/>
                </a:ext>
              </a:extLst>
            </p:cNvPr>
            <p:cNvSpPr txBox="1"/>
            <p:nvPr/>
          </p:nvSpPr>
          <p:spPr>
            <a:xfrm>
              <a:off x="4826283" y="4461257"/>
              <a:ext cx="4359338" cy="108234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altLang="en-US" dirty="0"/>
                <a:t>● </a:t>
              </a:r>
              <a:r>
                <a:rPr lang="zh-CN" altLang="en-US" b="0" i="0" dirty="0">
                  <a:solidFill>
                    <a:srgbClr val="1A1C1F"/>
                  </a:solidFill>
                  <a:effectLst/>
                  <a:latin typeface="-apple-system"/>
                </a:rPr>
                <a:t>支持 </a:t>
              </a:r>
              <a:r>
                <a:rPr lang="en-US" altLang="zh-CN" b="0" i="0" dirty="0" err="1">
                  <a:solidFill>
                    <a:srgbClr val="1A1C1F"/>
                  </a:solidFill>
                  <a:effectLst/>
                  <a:latin typeface="-apple-system"/>
                </a:rPr>
                <a:t>nSLEEP</a:t>
              </a:r>
              <a:r>
                <a:rPr lang="en-US" altLang="zh-CN" b="0" i="0" dirty="0">
                  <a:solidFill>
                    <a:srgbClr val="1A1C1F"/>
                  </a:solidFill>
                  <a:effectLst/>
                  <a:latin typeface="-apple-system"/>
                </a:rPr>
                <a:t> </a:t>
              </a:r>
              <a:r>
                <a:rPr lang="zh-CN" altLang="en-US" b="0" i="0" dirty="0">
                  <a:solidFill>
                    <a:srgbClr val="1A1C1F"/>
                  </a:solidFill>
                  <a:effectLst/>
                  <a:latin typeface="-apple-system"/>
                </a:rPr>
                <a:t>低功耗休眠，休眠电流典型 </a:t>
              </a:r>
              <a:r>
                <a:rPr lang="en-US" altLang="zh-CN" b="0" i="0" dirty="0">
                  <a:solidFill>
                    <a:srgbClr val="1A1C1F"/>
                  </a:solidFill>
                  <a:effectLst/>
                  <a:latin typeface="-apple-system"/>
                </a:rPr>
                <a:t>2uA</a:t>
              </a:r>
            </a:p>
            <a:p>
              <a:endParaRPr lang="zh-CN" altLang="en-US" b="0" i="0" dirty="0">
                <a:solidFill>
                  <a:srgbClr val="1A1C1F"/>
                </a:solidFill>
                <a:effectLst/>
                <a:latin typeface="-apple-system"/>
              </a:endParaRPr>
            </a:p>
            <a:p>
              <a:endParaRPr lang="zh-CN" altLang="en-US" dirty="0"/>
            </a:p>
          </p:txBody>
        </p:sp>
      </p:grpSp>
      <p:cxnSp>
        <p:nvCxnSpPr>
          <p:cNvPr id="86" name="直接连接符 85">
            <a:extLst>
              <a:ext uri="{FF2B5EF4-FFF2-40B4-BE49-F238E27FC236}">
                <a16:creationId xmlns:a16="http://schemas.microsoft.com/office/drawing/2014/main" id="{FA973C93-06F3-B4C3-8E1F-6D5689C05C04}"/>
              </a:ext>
            </a:extLst>
          </p:cNvPr>
          <p:cNvCxnSpPr>
            <a:cxnSpLocks/>
          </p:cNvCxnSpPr>
          <p:nvPr/>
        </p:nvCxnSpPr>
        <p:spPr>
          <a:xfrm flipH="1">
            <a:off x="3200400" y="1876144"/>
            <a:ext cx="406680" cy="520565"/>
          </a:xfrm>
          <a:prstGeom prst="line">
            <a:avLst/>
          </a:prstGeom>
          <a:ln w="12700"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接连接符 87">
            <a:extLst>
              <a:ext uri="{FF2B5EF4-FFF2-40B4-BE49-F238E27FC236}">
                <a16:creationId xmlns:a16="http://schemas.microsoft.com/office/drawing/2014/main" id="{6E0495AF-1779-4348-56D9-4DC23FA356C0}"/>
              </a:ext>
            </a:extLst>
          </p:cNvPr>
          <p:cNvCxnSpPr>
            <a:cxnSpLocks/>
          </p:cNvCxnSpPr>
          <p:nvPr/>
        </p:nvCxnSpPr>
        <p:spPr>
          <a:xfrm flipH="1" flipV="1">
            <a:off x="310275" y="1858171"/>
            <a:ext cx="1640866" cy="534202"/>
          </a:xfrm>
          <a:prstGeom prst="line">
            <a:avLst/>
          </a:prstGeom>
          <a:ln w="12700"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矩形: 圆角 94">
            <a:extLst>
              <a:ext uri="{FF2B5EF4-FFF2-40B4-BE49-F238E27FC236}">
                <a16:creationId xmlns:a16="http://schemas.microsoft.com/office/drawing/2014/main" id="{AD683807-4F68-07BE-4025-18A749C5445E}"/>
              </a:ext>
            </a:extLst>
          </p:cNvPr>
          <p:cNvSpPr/>
          <p:nvPr/>
        </p:nvSpPr>
        <p:spPr>
          <a:xfrm>
            <a:off x="91863" y="5449499"/>
            <a:ext cx="3311877" cy="1303942"/>
          </a:xfrm>
          <a:prstGeom prst="roundRect">
            <a:avLst>
              <a:gd name="adj" fmla="val 3237"/>
            </a:avLst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6" name="矩形: 圆角 95">
            <a:extLst>
              <a:ext uri="{FF2B5EF4-FFF2-40B4-BE49-F238E27FC236}">
                <a16:creationId xmlns:a16="http://schemas.microsoft.com/office/drawing/2014/main" id="{583EC173-6D8D-2201-9D76-F2932EC3ABB8}"/>
              </a:ext>
            </a:extLst>
          </p:cNvPr>
          <p:cNvSpPr/>
          <p:nvPr/>
        </p:nvSpPr>
        <p:spPr>
          <a:xfrm>
            <a:off x="808001" y="5298093"/>
            <a:ext cx="1879600" cy="337588"/>
          </a:xfrm>
          <a:prstGeom prst="roundRect">
            <a:avLst/>
          </a:prstGeom>
          <a:solidFill>
            <a:srgbClr val="0070C0"/>
          </a:solidFill>
          <a:ln w="12700">
            <a:noFill/>
          </a:ln>
          <a:effectLst>
            <a:glow rad="635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高集成度</a:t>
            </a:r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1A2B2B2E-B64B-9C16-6836-44E89E9AD118}"/>
              </a:ext>
            </a:extLst>
          </p:cNvPr>
          <p:cNvSpPr txBox="1"/>
          <p:nvPr/>
        </p:nvSpPr>
        <p:spPr>
          <a:xfrm>
            <a:off x="80240" y="5635681"/>
            <a:ext cx="3311877" cy="11875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50"/>
              </a:lnSpc>
            </a:pPr>
            <a:r>
              <a:rPr lang="zh-CN" altLang="en-US" dirty="0"/>
              <a:t>外部只需配置 </a:t>
            </a:r>
            <a:r>
              <a:rPr lang="en-US" altLang="zh-CN" dirty="0"/>
              <a:t>Bootstrap </a:t>
            </a:r>
            <a:r>
              <a:rPr lang="zh-CN" altLang="en-US" dirty="0"/>
              <a:t>电容、死区电阻和采样电阻，外围器件少、布线更简单。</a:t>
            </a:r>
            <a:endParaRPr lang="en-US" altLang="zh-CN" dirty="0"/>
          </a:p>
          <a:p>
            <a:pPr algn="l">
              <a:lnSpc>
                <a:spcPts val="1650"/>
              </a:lnSpc>
            </a:pPr>
            <a:r>
              <a:rPr lang="zh-CN" altLang="en-US" dirty="0"/>
              <a:t>集成六路高低侧栅极驱动、时序逻辑和死区控制</a:t>
            </a:r>
            <a:endParaRPr lang="el-GR" altLang="zh-CN" b="0" i="0" dirty="0">
              <a:solidFill>
                <a:srgbClr val="1A1C1F"/>
              </a:solidFill>
              <a:effectLst/>
              <a:latin typeface="-apple-system"/>
            </a:endParaRPr>
          </a:p>
        </p:txBody>
      </p:sp>
      <p:sp>
        <p:nvSpPr>
          <p:cNvPr id="98" name="矩形: 圆角 97">
            <a:extLst>
              <a:ext uri="{FF2B5EF4-FFF2-40B4-BE49-F238E27FC236}">
                <a16:creationId xmlns:a16="http://schemas.microsoft.com/office/drawing/2014/main" id="{78E75B02-8396-593D-C839-826BBD468920}"/>
              </a:ext>
            </a:extLst>
          </p:cNvPr>
          <p:cNvSpPr/>
          <p:nvPr/>
        </p:nvSpPr>
        <p:spPr>
          <a:xfrm>
            <a:off x="1850250" y="3617714"/>
            <a:ext cx="821654" cy="676678"/>
          </a:xfrm>
          <a:prstGeom prst="roundRect">
            <a:avLst/>
          </a:prstGeom>
          <a:noFill/>
          <a:ln w="28575"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9" name="直接连接符 98">
            <a:extLst>
              <a:ext uri="{FF2B5EF4-FFF2-40B4-BE49-F238E27FC236}">
                <a16:creationId xmlns:a16="http://schemas.microsoft.com/office/drawing/2014/main" id="{E044BFD2-9698-F2FD-605B-65BCCE93CA4C}"/>
              </a:ext>
            </a:extLst>
          </p:cNvPr>
          <p:cNvCxnSpPr>
            <a:cxnSpLocks/>
          </p:cNvCxnSpPr>
          <p:nvPr/>
        </p:nvCxnSpPr>
        <p:spPr>
          <a:xfrm flipH="1">
            <a:off x="121464" y="4294392"/>
            <a:ext cx="1728786" cy="1155107"/>
          </a:xfrm>
          <a:prstGeom prst="line">
            <a:avLst/>
          </a:prstGeom>
          <a:ln w="12700"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接连接符 101">
            <a:extLst>
              <a:ext uri="{FF2B5EF4-FFF2-40B4-BE49-F238E27FC236}">
                <a16:creationId xmlns:a16="http://schemas.microsoft.com/office/drawing/2014/main" id="{F39B1FDC-AACC-AA1A-DB46-F9CCFF9A6E70}"/>
              </a:ext>
            </a:extLst>
          </p:cNvPr>
          <p:cNvCxnSpPr>
            <a:cxnSpLocks/>
          </p:cNvCxnSpPr>
          <p:nvPr/>
        </p:nvCxnSpPr>
        <p:spPr>
          <a:xfrm flipH="1" flipV="1">
            <a:off x="2701504" y="4290595"/>
            <a:ext cx="713859" cy="1185191"/>
          </a:xfrm>
          <a:prstGeom prst="line">
            <a:avLst/>
          </a:prstGeom>
          <a:ln w="12700"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矩形: 圆角 106">
            <a:extLst>
              <a:ext uri="{FF2B5EF4-FFF2-40B4-BE49-F238E27FC236}">
                <a16:creationId xmlns:a16="http://schemas.microsoft.com/office/drawing/2014/main" id="{12A0D26E-968A-AC78-B4BB-67DC444F0C1C}"/>
              </a:ext>
            </a:extLst>
          </p:cNvPr>
          <p:cNvSpPr/>
          <p:nvPr/>
        </p:nvSpPr>
        <p:spPr>
          <a:xfrm>
            <a:off x="4763017" y="967513"/>
            <a:ext cx="1454904" cy="1096636"/>
          </a:xfrm>
          <a:prstGeom prst="roundRect">
            <a:avLst>
              <a:gd name="adj" fmla="val 3237"/>
            </a:avLst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8" name="图片 107">
            <a:extLst>
              <a:ext uri="{FF2B5EF4-FFF2-40B4-BE49-F238E27FC236}">
                <a16:creationId xmlns:a16="http://schemas.microsoft.com/office/drawing/2014/main" id="{BB081AF8-899D-AF77-9ED2-C6B14BE0C41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7428"/>
          <a:stretch/>
        </p:blipFill>
        <p:spPr>
          <a:xfrm>
            <a:off x="4763017" y="772020"/>
            <a:ext cx="1592539" cy="1314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03879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C8A0BE-ED60-43CB-9509-FBF77425C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2E6DAB05-D6BE-28E6-95FF-62722297B5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 contrast="-20000"/>
                    </a14:imgEffect>
                  </a14:imgLayer>
                </a14:imgProps>
              </a:ext>
            </a:extLst>
          </a:blip>
          <a:srcRect l="38755" t="32547" r="40846" b="41733"/>
          <a:stretch/>
        </p:blipFill>
        <p:spPr>
          <a:xfrm>
            <a:off x="197006" y="883640"/>
            <a:ext cx="2388028" cy="2007473"/>
          </a:xfrm>
          <a:prstGeom prst="rect">
            <a:avLst/>
          </a:prstGeom>
        </p:spPr>
      </p:pic>
      <p:sp>
        <p:nvSpPr>
          <p:cNvPr id="5" name="标题 4">
            <a:extLst>
              <a:ext uri="{FF2B5EF4-FFF2-40B4-BE49-F238E27FC236}">
                <a16:creationId xmlns:a16="http://schemas.microsoft.com/office/drawing/2014/main" id="{70F99FF7-D122-C41C-063D-671C27892F76}"/>
              </a:ext>
            </a:extLst>
          </p:cNvPr>
          <p:cNvSpPr>
            <a:spLocks noGrp="1"/>
          </p:cNvSpPr>
          <p:nvPr/>
        </p:nvSpPr>
        <p:spPr>
          <a:xfrm>
            <a:off x="134925" y="203285"/>
            <a:ext cx="11746800" cy="521208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txBody>
          <a:bodyPr>
            <a:normAutofit fontScale="59790" lnSpcReduction="20000"/>
          </a:bodyPr>
          <a:lstStyle>
            <a:lvl1pPr algn="l">
              <a:lnSpc>
                <a:spcPct val="13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>
            <a:r>
              <a:rPr dirty="0" err="1">
                <a:solidFill>
                  <a:schemeClr val="bg1"/>
                </a:solidFill>
              </a:rPr>
              <a:t>芯片选型</a:t>
            </a:r>
            <a:r>
              <a:rPr dirty="0">
                <a:solidFill>
                  <a:schemeClr val="bg1"/>
                </a:solidFill>
              </a:rPr>
              <a:t>——</a:t>
            </a:r>
            <a:r>
              <a:rPr lang="zh-CN" altLang="en-US" dirty="0">
                <a:solidFill>
                  <a:schemeClr val="bg1"/>
                </a:solidFill>
              </a:rPr>
              <a:t>位置传感器 </a:t>
            </a:r>
            <a:r>
              <a:rPr lang="en-US" altLang="zh-CN" dirty="0">
                <a:solidFill>
                  <a:schemeClr val="bg1"/>
                </a:solidFill>
              </a:rPr>
              <a:t>MA600A</a:t>
            </a:r>
            <a:endParaRPr dirty="0">
              <a:solidFill>
                <a:schemeClr val="bg1"/>
              </a:solidFill>
            </a:endParaRPr>
          </a:p>
        </p:txBody>
      </p: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0C69AC37-2875-EC71-2F8B-3C9513DE5F38}"/>
              </a:ext>
            </a:extLst>
          </p:cNvPr>
          <p:cNvCxnSpPr>
            <a:cxnSpLocks/>
          </p:cNvCxnSpPr>
          <p:nvPr/>
        </p:nvCxnSpPr>
        <p:spPr>
          <a:xfrm flipV="1">
            <a:off x="9350880" y="1345109"/>
            <a:ext cx="0" cy="1562193"/>
          </a:xfrm>
          <a:prstGeom prst="line">
            <a:avLst/>
          </a:prstGeom>
          <a:ln w="12700"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矩形 26">
            <a:extLst>
              <a:ext uri="{FF2B5EF4-FFF2-40B4-BE49-F238E27FC236}">
                <a16:creationId xmlns:a16="http://schemas.microsoft.com/office/drawing/2014/main" id="{1A4FB234-1EE0-1E85-EF46-60FFDD03CED7}"/>
              </a:ext>
            </a:extLst>
          </p:cNvPr>
          <p:cNvSpPr/>
          <p:nvPr/>
        </p:nvSpPr>
        <p:spPr>
          <a:xfrm>
            <a:off x="7609888" y="1241938"/>
            <a:ext cx="4327886" cy="1769847"/>
          </a:xfrm>
          <a:prstGeom prst="rect">
            <a:avLst/>
          </a:prstGeom>
          <a:noFill/>
          <a:ln w="6350" cap="flat" cmpd="sng" algn="ctr">
            <a:solidFill>
              <a:srgbClr val="0070C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方正黑体简体" panose="02000000000000000000"/>
              <a:cs typeface="Times New Roman" panose="02020603050405020304" pitchFamily="18" charset="0"/>
            </a:endParaRPr>
          </a:p>
        </p:txBody>
      </p:sp>
      <p:sp>
        <p:nvSpPr>
          <p:cNvPr id="32" name="文本框 85">
            <a:extLst>
              <a:ext uri="{FF2B5EF4-FFF2-40B4-BE49-F238E27FC236}">
                <a16:creationId xmlns:a16="http://schemas.microsoft.com/office/drawing/2014/main" id="{480965D0-C6C6-FC91-F4DD-BE2BFBA37D46}"/>
              </a:ext>
            </a:extLst>
          </p:cNvPr>
          <p:cNvSpPr txBox="1"/>
          <p:nvPr/>
        </p:nvSpPr>
        <p:spPr>
          <a:xfrm>
            <a:off x="7609889" y="872606"/>
            <a:ext cx="4327885" cy="369332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prstClr val="white"/>
                </a:solidFill>
                <a:latin typeface="Times New Roman" panose="02020603050405020304" pitchFamily="18" charset="0"/>
                <a:ea typeface="方正黑体简体" panose="02000000000000000000"/>
                <a:cs typeface="Times New Roman" panose="02020603050405020304" pitchFamily="18" charset="0"/>
              </a:rPr>
              <a:t>在</a:t>
            </a:r>
            <a:r>
              <a:rPr lang="zh-CN" altLang="en-US" b="1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轴式</a:t>
            </a:r>
            <a:r>
              <a:rPr lang="en-US" altLang="zh-CN" b="1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End-of-Shaft | </a:t>
            </a:r>
            <a:r>
              <a:rPr lang="zh-CN" altLang="en-US" b="1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离轴式</a:t>
            </a:r>
            <a:r>
              <a:rPr lang="en-US" altLang="zh-CN" b="1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Side-Shaft</a:t>
            </a:r>
            <a:endParaRPr lang="zh-CN" altLang="en-US" b="1" dirty="0">
              <a:solidFill>
                <a:prstClr val="whit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4" descr="MA600A | High-Accuracy,">
            <a:extLst>
              <a:ext uri="{FF2B5EF4-FFF2-40B4-BE49-F238E27FC236}">
                <a16:creationId xmlns:a16="http://schemas.microsoft.com/office/drawing/2014/main" id="{E95F864E-0F61-BB6E-2C91-39A7A9D4DD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0183" y="1172646"/>
            <a:ext cx="2000757" cy="1125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EF2B7BEB-5827-B232-D2F6-7BCB8BDC0CC2}"/>
              </a:ext>
            </a:extLst>
          </p:cNvPr>
          <p:cNvSpPr txBox="1"/>
          <p:nvPr/>
        </p:nvSpPr>
        <p:spPr>
          <a:xfrm>
            <a:off x="3114709" y="2244413"/>
            <a:ext cx="1271704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indent="0" algn="ctr" fontAlgn="auto">
              <a:lnSpc>
                <a:spcPct val="100000"/>
              </a:lnSpc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位置传感器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indent="0" algn="ctr" fontAlgn="auto">
              <a:lnSpc>
                <a:spcPct val="100000"/>
              </a:lnSpc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MA600A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32B17EC-8E3B-6DDD-CDF1-D9ECA1639BDD}"/>
              </a:ext>
            </a:extLst>
          </p:cNvPr>
          <p:cNvSpPr txBox="1"/>
          <p:nvPr/>
        </p:nvSpPr>
        <p:spPr>
          <a:xfrm>
            <a:off x="6320852" y="2384503"/>
            <a:ext cx="995405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indent="0" algn="ctr" fontAlgn="auto">
              <a:lnSpc>
                <a:spcPct val="100000"/>
              </a:lnSpc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控制器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8" name="Picture 2" descr="Microcontroller PNG transparent image download, size: 512x333px">
            <a:extLst>
              <a:ext uri="{FF2B5EF4-FFF2-40B4-BE49-F238E27FC236}">
                <a16:creationId xmlns:a16="http://schemas.microsoft.com/office/drawing/2014/main" id="{0D6B8FDD-6B2F-D7E2-BAB7-22F4B85477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436340"/>
            <a:ext cx="1445111" cy="939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0B02194F-D044-FAC8-9A73-D647A575C5CD}"/>
              </a:ext>
            </a:extLst>
          </p:cNvPr>
          <p:cNvCxnSpPr>
            <a:cxnSpLocks/>
            <a:stCxn id="8" idx="0"/>
          </p:cNvCxnSpPr>
          <p:nvPr/>
        </p:nvCxnSpPr>
        <p:spPr>
          <a:xfrm flipV="1">
            <a:off x="1425683" y="1099853"/>
            <a:ext cx="1530214" cy="582229"/>
          </a:xfrm>
          <a:prstGeom prst="line">
            <a:avLst/>
          </a:prstGeom>
          <a:ln w="12700"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矩形: 圆角 50">
            <a:extLst>
              <a:ext uri="{FF2B5EF4-FFF2-40B4-BE49-F238E27FC236}">
                <a16:creationId xmlns:a16="http://schemas.microsoft.com/office/drawing/2014/main" id="{48DCC540-885F-E8EA-6ABB-98AF25E8CD8F}"/>
              </a:ext>
            </a:extLst>
          </p:cNvPr>
          <p:cNvSpPr/>
          <p:nvPr/>
        </p:nvSpPr>
        <p:spPr>
          <a:xfrm>
            <a:off x="2937601" y="1099853"/>
            <a:ext cx="1607624" cy="1685666"/>
          </a:xfrm>
          <a:prstGeom prst="roundRect">
            <a:avLst>
              <a:gd name="adj" fmla="val 3237"/>
            </a:avLst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3" name="直接连接符 52">
            <a:extLst>
              <a:ext uri="{FF2B5EF4-FFF2-40B4-BE49-F238E27FC236}">
                <a16:creationId xmlns:a16="http://schemas.microsoft.com/office/drawing/2014/main" id="{3809B6BC-C4F4-9587-F884-DCDFC42C56F7}"/>
              </a:ext>
            </a:extLst>
          </p:cNvPr>
          <p:cNvCxnSpPr>
            <a:cxnSpLocks/>
            <a:stCxn id="8" idx="4"/>
          </p:cNvCxnSpPr>
          <p:nvPr/>
        </p:nvCxnSpPr>
        <p:spPr>
          <a:xfrm>
            <a:off x="1425683" y="2203290"/>
            <a:ext cx="1530214" cy="560994"/>
          </a:xfrm>
          <a:prstGeom prst="line">
            <a:avLst/>
          </a:prstGeom>
          <a:ln w="12700"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右箭头 13">
            <a:extLst>
              <a:ext uri="{FF2B5EF4-FFF2-40B4-BE49-F238E27FC236}">
                <a16:creationId xmlns:a16="http://schemas.microsoft.com/office/drawing/2014/main" id="{E8C43DB5-3932-4DD7-6D36-43012B1D262C}"/>
              </a:ext>
            </a:extLst>
          </p:cNvPr>
          <p:cNvSpPr/>
          <p:nvPr/>
        </p:nvSpPr>
        <p:spPr>
          <a:xfrm>
            <a:off x="4545225" y="1718686"/>
            <a:ext cx="1550775" cy="432566"/>
          </a:xfrm>
          <a:prstGeom prst="rightArrow">
            <a:avLst>
              <a:gd name="adj1" fmla="val 63528"/>
              <a:gd name="adj2" fmla="val 50000"/>
            </a:avLst>
          </a:prstGeom>
          <a:gradFill>
            <a:gsLst>
              <a:gs pos="19000">
                <a:schemeClr val="bg2">
                  <a:lumMod val="60000"/>
                  <a:lumOff val="40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2">
                  <a:lumMod val="7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矩形: 圆角 56">
            <a:extLst>
              <a:ext uri="{FF2B5EF4-FFF2-40B4-BE49-F238E27FC236}">
                <a16:creationId xmlns:a16="http://schemas.microsoft.com/office/drawing/2014/main" id="{FF401E92-3C3E-32B1-58F4-A935FE9DF651}"/>
              </a:ext>
            </a:extLst>
          </p:cNvPr>
          <p:cNvSpPr/>
          <p:nvPr/>
        </p:nvSpPr>
        <p:spPr>
          <a:xfrm>
            <a:off x="4856603" y="1038097"/>
            <a:ext cx="915700" cy="1869205"/>
          </a:xfrm>
          <a:prstGeom prst="roundRect">
            <a:avLst>
              <a:gd name="adj" fmla="val 3237"/>
            </a:avLst>
          </a:prstGeom>
          <a:solidFill>
            <a:schemeClr val="bg1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i="0" dirty="0">
                <a:solidFill>
                  <a:srgbClr val="0070C0"/>
                </a:solidFill>
                <a:effectLst/>
                <a:latin typeface="-apple-system"/>
              </a:rPr>
              <a:t>SPI</a:t>
            </a:r>
          </a:p>
          <a:p>
            <a:pPr algn="ctr"/>
            <a:r>
              <a:rPr lang="en-US" altLang="zh-CN" sz="2400" b="1" i="0" dirty="0">
                <a:solidFill>
                  <a:srgbClr val="0070C0"/>
                </a:solidFill>
                <a:effectLst/>
                <a:latin typeface="-apple-system"/>
              </a:rPr>
              <a:t>SSI</a:t>
            </a:r>
          </a:p>
          <a:p>
            <a:pPr algn="ctr"/>
            <a:r>
              <a:rPr lang="en-US" altLang="zh-CN" sz="2400" b="1" i="0" dirty="0">
                <a:solidFill>
                  <a:srgbClr val="0070C0"/>
                </a:solidFill>
                <a:effectLst/>
                <a:latin typeface="-apple-system"/>
              </a:rPr>
              <a:t>ABZ</a:t>
            </a:r>
          </a:p>
          <a:p>
            <a:pPr algn="ctr"/>
            <a:r>
              <a:rPr lang="en-US" altLang="zh-CN" sz="2400" b="1" i="0" dirty="0">
                <a:solidFill>
                  <a:srgbClr val="0070C0"/>
                </a:solidFill>
                <a:effectLst/>
                <a:latin typeface="-apple-system"/>
              </a:rPr>
              <a:t>UVW</a:t>
            </a:r>
          </a:p>
          <a:p>
            <a:pPr algn="ctr"/>
            <a:r>
              <a:rPr lang="en-US" altLang="zh-CN" sz="2400" b="1" i="0" dirty="0">
                <a:solidFill>
                  <a:srgbClr val="0070C0"/>
                </a:solidFill>
                <a:effectLst/>
                <a:latin typeface="-apple-system"/>
              </a:rPr>
              <a:t>PWM</a:t>
            </a:r>
            <a:endParaRPr lang="zh-CN" altLang="en-US" sz="2400" b="1" dirty="0">
              <a:solidFill>
                <a:srgbClr val="0070C0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4C9BA0D-D7CB-E1DE-F8B5-9A0655D003DE}"/>
              </a:ext>
            </a:extLst>
          </p:cNvPr>
          <p:cNvSpPr txBox="1"/>
          <p:nvPr/>
        </p:nvSpPr>
        <p:spPr>
          <a:xfrm>
            <a:off x="12247510" y="872606"/>
            <a:ext cx="3946066" cy="45704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900"/>
              </a:spcBef>
              <a:spcAft>
                <a:spcPts val="900"/>
              </a:spcAft>
              <a:buFont typeface="+mj-lt"/>
              <a:buAutoNum type="arabicPeriod"/>
            </a:pPr>
            <a:r>
              <a:rPr lang="zh-CN" altLang="en-US" b="1" dirty="0">
                <a:solidFill>
                  <a:srgbClr val="FF0000"/>
                </a:solidFill>
                <a:latin typeface="+mj-ea"/>
                <a:ea typeface="+mj-ea"/>
                <a:cs typeface="Times New Roman" panose="02020603050405020304" pitchFamily="18" charset="0"/>
              </a:rPr>
              <a:t>其他厂商的产品不用列出来，可以简单口述，主要还是描述</a:t>
            </a:r>
            <a:r>
              <a:rPr lang="en-US" altLang="zh-CN" b="1" dirty="0">
                <a:solidFill>
                  <a:srgbClr val="FF0000"/>
                </a:solidFill>
                <a:latin typeface="+mj-ea"/>
                <a:ea typeface="+mj-ea"/>
                <a:cs typeface="Times New Roman" panose="02020603050405020304" pitchFamily="18" charset="0"/>
              </a:rPr>
              <a:t>MA600A</a:t>
            </a:r>
            <a:r>
              <a:rPr lang="zh-CN" altLang="en-US" b="1" dirty="0">
                <a:solidFill>
                  <a:srgbClr val="FF0000"/>
                </a:solidFill>
                <a:latin typeface="+mj-ea"/>
                <a:ea typeface="+mj-ea"/>
                <a:cs typeface="Times New Roman" panose="02020603050405020304" pitchFamily="18" charset="0"/>
              </a:rPr>
              <a:t>本身。</a:t>
            </a:r>
            <a:endParaRPr lang="en-US" altLang="zh-CN" b="1" dirty="0">
              <a:solidFill>
                <a:srgbClr val="FF0000"/>
              </a:solidFill>
              <a:latin typeface="+mj-ea"/>
              <a:ea typeface="+mj-ea"/>
              <a:cs typeface="Times New Roman" panose="02020603050405020304" pitchFamily="18" charset="0"/>
            </a:endParaRPr>
          </a:p>
          <a:p>
            <a:pPr marL="342900" indent="-342900">
              <a:spcBef>
                <a:spcPts val="900"/>
              </a:spcBef>
              <a:spcAft>
                <a:spcPts val="900"/>
              </a:spcAft>
              <a:buFont typeface="+mj-lt"/>
              <a:buAutoNum type="arabicPeriod"/>
            </a:pPr>
            <a:r>
              <a:rPr lang="en-US" altLang="zh-CN" b="1" dirty="0">
                <a:solidFill>
                  <a:srgbClr val="FF0000"/>
                </a:solidFill>
                <a:latin typeface="+mj-ea"/>
                <a:ea typeface="+mj-ea"/>
                <a:cs typeface="Times New Roman" panose="02020603050405020304" pitchFamily="18" charset="0"/>
              </a:rPr>
              <a:t>MA600A</a:t>
            </a:r>
            <a:r>
              <a:rPr lang="zh-CN" altLang="en-US" b="1" dirty="0">
                <a:solidFill>
                  <a:srgbClr val="FF0000"/>
                </a:solidFill>
                <a:latin typeface="+mj-ea"/>
                <a:ea typeface="+mj-ea"/>
                <a:cs typeface="Times New Roman" panose="02020603050405020304" pitchFamily="18" charset="0"/>
              </a:rPr>
              <a:t>，</a:t>
            </a:r>
            <a:r>
              <a:rPr lang="en-US" altLang="zh-CN" b="1" dirty="0">
                <a:solidFill>
                  <a:srgbClr val="FF0000"/>
                </a:solidFill>
                <a:latin typeface="+mj-ea"/>
                <a:ea typeface="+mj-ea"/>
                <a:cs typeface="Times New Roman" panose="02020603050405020304" pitchFamily="18" charset="0"/>
              </a:rPr>
              <a:t>TMR</a:t>
            </a:r>
            <a:r>
              <a:rPr lang="zh-CN" altLang="en-US" b="1" dirty="0">
                <a:solidFill>
                  <a:srgbClr val="FF0000"/>
                </a:solidFill>
                <a:latin typeface="+mj-ea"/>
                <a:ea typeface="+mj-ea"/>
                <a:cs typeface="Times New Roman" panose="02020603050405020304" pitchFamily="18" charset="0"/>
              </a:rPr>
              <a:t>相比霍尔温漂好，精度高；</a:t>
            </a:r>
            <a:endParaRPr lang="en-US" altLang="zh-CN" b="1" dirty="0">
              <a:solidFill>
                <a:srgbClr val="FF0000"/>
              </a:solidFill>
              <a:latin typeface="+mj-ea"/>
              <a:ea typeface="+mj-ea"/>
              <a:cs typeface="Times New Roman" panose="02020603050405020304" pitchFamily="18" charset="0"/>
            </a:endParaRPr>
          </a:p>
          <a:p>
            <a:pPr marL="342900" indent="-342900">
              <a:spcBef>
                <a:spcPts val="900"/>
              </a:spcBef>
              <a:spcAft>
                <a:spcPts val="900"/>
              </a:spcAft>
              <a:buFont typeface="+mj-lt"/>
              <a:buAutoNum type="arabicPeriod"/>
            </a:pPr>
            <a:r>
              <a:rPr lang="zh-CN" altLang="en-US" b="1" dirty="0">
                <a:solidFill>
                  <a:srgbClr val="FF0000"/>
                </a:solidFill>
                <a:latin typeface="+mj-ea"/>
                <a:ea typeface="+mj-ea"/>
                <a:cs typeface="Times New Roman" panose="02020603050405020304" pitchFamily="18" charset="0"/>
              </a:rPr>
              <a:t>用户校准，上位机旋转校准呈现下（官网）；</a:t>
            </a:r>
            <a:endParaRPr lang="en-US" altLang="zh-CN" b="1" dirty="0">
              <a:solidFill>
                <a:srgbClr val="FF0000"/>
              </a:solidFill>
              <a:latin typeface="+mj-ea"/>
              <a:ea typeface="+mj-ea"/>
              <a:cs typeface="Times New Roman" panose="02020603050405020304" pitchFamily="18" charset="0"/>
            </a:endParaRPr>
          </a:p>
          <a:p>
            <a:pPr marL="342900" indent="-342900">
              <a:spcBef>
                <a:spcPts val="900"/>
              </a:spcBef>
              <a:spcAft>
                <a:spcPts val="900"/>
              </a:spcAft>
              <a:buFont typeface="+mj-lt"/>
              <a:buAutoNum type="arabicPeriod"/>
            </a:pPr>
            <a:r>
              <a:rPr lang="zh-CN" altLang="en-US" b="1" dirty="0">
                <a:solidFill>
                  <a:srgbClr val="FF0000"/>
                </a:solidFill>
                <a:latin typeface="+mj-ea"/>
                <a:ea typeface="+mj-ea"/>
                <a:cs typeface="Times New Roman" panose="02020603050405020304" pitchFamily="18" charset="0"/>
              </a:rPr>
              <a:t>体积小。</a:t>
            </a:r>
            <a:endParaRPr lang="en-US" altLang="zh-CN" b="1" dirty="0">
              <a:solidFill>
                <a:srgbClr val="FF0000"/>
              </a:solidFill>
              <a:latin typeface="+mj-ea"/>
              <a:ea typeface="+mj-ea"/>
              <a:cs typeface="Times New Roman" panose="02020603050405020304" pitchFamily="18" charset="0"/>
            </a:endParaRPr>
          </a:p>
          <a:p>
            <a:pPr marL="342900" indent="-342900">
              <a:spcBef>
                <a:spcPts val="900"/>
              </a:spcBef>
              <a:spcAft>
                <a:spcPts val="900"/>
              </a:spcAft>
              <a:buFont typeface="+mj-lt"/>
              <a:buAutoNum type="arabicPeriod"/>
            </a:pPr>
            <a:r>
              <a:rPr lang="en-US" altLang="zh-CN" b="1" dirty="0">
                <a:solidFill>
                  <a:srgbClr val="FF0000"/>
                </a:solidFill>
                <a:latin typeface="+mj-ea"/>
                <a:ea typeface="+mj-ea"/>
                <a:cs typeface="Times New Roman" panose="02020603050405020304" pitchFamily="18" charset="0"/>
              </a:rPr>
              <a:t>MA600A</a:t>
            </a:r>
            <a:r>
              <a:rPr lang="zh-CN" altLang="en-US" b="1" dirty="0">
                <a:solidFill>
                  <a:srgbClr val="FF0000"/>
                </a:solidFill>
                <a:latin typeface="+mj-ea"/>
                <a:ea typeface="+mj-ea"/>
                <a:cs typeface="Times New Roman" panose="02020603050405020304" pitchFamily="18" charset="0"/>
              </a:rPr>
              <a:t>支持菊花链连接，多颗</a:t>
            </a:r>
            <a:r>
              <a:rPr lang="en-US" altLang="zh-CN" b="1" dirty="0">
                <a:solidFill>
                  <a:srgbClr val="FF0000"/>
                </a:solidFill>
                <a:latin typeface="+mj-ea"/>
                <a:ea typeface="+mj-ea"/>
                <a:cs typeface="Times New Roman" panose="02020603050405020304" pitchFamily="18" charset="0"/>
              </a:rPr>
              <a:t>IC</a:t>
            </a:r>
            <a:r>
              <a:rPr lang="zh-CN" altLang="en-US" b="1" dirty="0">
                <a:solidFill>
                  <a:srgbClr val="FF0000"/>
                </a:solidFill>
                <a:latin typeface="+mj-ea"/>
                <a:ea typeface="+mj-ea"/>
                <a:cs typeface="Times New Roman" panose="02020603050405020304" pitchFamily="18" charset="0"/>
              </a:rPr>
              <a:t>做级联。</a:t>
            </a:r>
            <a:r>
              <a:rPr lang="en-US" altLang="zh-CN" b="1" dirty="0">
                <a:solidFill>
                  <a:srgbClr val="FF0000"/>
                </a:solidFill>
                <a:latin typeface="+mj-ea"/>
                <a:ea typeface="+mj-ea"/>
                <a:cs typeface="Times New Roman" panose="02020603050405020304" pitchFamily="18" charset="0"/>
              </a:rPr>
              <a:t>(</a:t>
            </a:r>
            <a:r>
              <a:rPr lang="zh-CN" altLang="en-US" b="1" dirty="0">
                <a:solidFill>
                  <a:srgbClr val="FF0000"/>
                </a:solidFill>
                <a:latin typeface="+mj-ea"/>
                <a:ea typeface="+mj-ea"/>
                <a:cs typeface="Times New Roman" panose="02020603050405020304" pitchFamily="18" charset="0"/>
              </a:rPr>
              <a:t>提一嘴，这里不用</a:t>
            </a:r>
            <a:r>
              <a:rPr lang="en-US" altLang="zh-CN" b="1" dirty="0">
                <a:solidFill>
                  <a:srgbClr val="FF0000"/>
                </a:solidFill>
                <a:latin typeface="+mj-ea"/>
                <a:ea typeface="+mj-ea"/>
                <a:cs typeface="Times New Roman" panose="02020603050405020304" pitchFamily="18" charset="0"/>
              </a:rPr>
              <a:t>)</a:t>
            </a:r>
          </a:p>
          <a:p>
            <a:pPr marL="342900" indent="-342900">
              <a:spcBef>
                <a:spcPts val="900"/>
              </a:spcBef>
              <a:spcAft>
                <a:spcPts val="900"/>
              </a:spcAft>
              <a:buFont typeface="+mj-lt"/>
              <a:buAutoNum type="arabicPeriod"/>
            </a:pPr>
            <a:r>
              <a:rPr lang="zh-CN" altLang="en-US" b="1" dirty="0">
                <a:solidFill>
                  <a:srgbClr val="FF0000"/>
                </a:solidFill>
                <a:latin typeface="+mj-ea"/>
                <a:ea typeface="+mj-ea"/>
                <a:cs typeface="Times New Roman" panose="02020603050405020304" pitchFamily="18" charset="0"/>
              </a:rPr>
              <a:t>讲完这一页，提一嘴电流采样方式。</a:t>
            </a:r>
            <a:endParaRPr lang="en-US" altLang="zh-CN" b="1" dirty="0">
              <a:solidFill>
                <a:srgbClr val="FF0000"/>
              </a:solidFill>
              <a:latin typeface="+mj-ea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A892E0A7-AA26-6C69-1263-D1771B3601EB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b="7310"/>
          <a:stretch/>
        </p:blipFill>
        <p:spPr>
          <a:xfrm>
            <a:off x="7834742" y="1289089"/>
            <a:ext cx="1309372" cy="1618213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9FB29089-AC16-8839-219D-50A69847738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25313" y="1400494"/>
            <a:ext cx="2462345" cy="1506808"/>
          </a:xfrm>
          <a:prstGeom prst="rect">
            <a:avLst/>
          </a:prstGeom>
        </p:spPr>
      </p:pic>
      <p:sp>
        <p:nvSpPr>
          <p:cNvPr id="36" name="右箭头 13">
            <a:extLst>
              <a:ext uri="{FF2B5EF4-FFF2-40B4-BE49-F238E27FC236}">
                <a16:creationId xmlns:a16="http://schemas.microsoft.com/office/drawing/2014/main" id="{A66AFD62-8892-3920-5BED-798FF7C6677C}"/>
              </a:ext>
            </a:extLst>
          </p:cNvPr>
          <p:cNvSpPr/>
          <p:nvPr/>
        </p:nvSpPr>
        <p:spPr>
          <a:xfrm rot="5400000">
            <a:off x="3323317" y="3129563"/>
            <a:ext cx="877081" cy="432566"/>
          </a:xfrm>
          <a:prstGeom prst="rightArrow">
            <a:avLst>
              <a:gd name="adj1" fmla="val 63528"/>
              <a:gd name="adj2" fmla="val 50000"/>
            </a:avLst>
          </a:prstGeom>
          <a:gradFill>
            <a:gsLst>
              <a:gs pos="19000">
                <a:schemeClr val="bg2">
                  <a:lumMod val="60000"/>
                  <a:lumOff val="40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2">
                  <a:lumMod val="7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4435F7D3-5D46-63AC-D402-6AB138179E9A}"/>
              </a:ext>
            </a:extLst>
          </p:cNvPr>
          <p:cNvSpPr txBox="1"/>
          <p:nvPr/>
        </p:nvSpPr>
        <p:spPr>
          <a:xfrm>
            <a:off x="3057601" y="2866537"/>
            <a:ext cx="5872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0070C0"/>
                </a:solidFill>
                <a:latin typeface="-apple-system"/>
              </a:rPr>
              <a:t>SPI</a:t>
            </a:r>
            <a:endParaRPr lang="zh-CN" altLang="en-US" sz="2400" dirty="0"/>
          </a:p>
        </p:txBody>
      </p:sp>
      <p:sp>
        <p:nvSpPr>
          <p:cNvPr id="68" name="矩形: 圆角 67">
            <a:extLst>
              <a:ext uri="{FF2B5EF4-FFF2-40B4-BE49-F238E27FC236}">
                <a16:creationId xmlns:a16="http://schemas.microsoft.com/office/drawing/2014/main" id="{5612D651-E6A6-0A68-48A6-3D27CAE4AFC8}"/>
              </a:ext>
            </a:extLst>
          </p:cNvPr>
          <p:cNvSpPr/>
          <p:nvPr/>
        </p:nvSpPr>
        <p:spPr>
          <a:xfrm>
            <a:off x="71775" y="3353984"/>
            <a:ext cx="9161126" cy="3224615"/>
          </a:xfrm>
          <a:prstGeom prst="roundRect">
            <a:avLst>
              <a:gd name="adj" fmla="val 3237"/>
            </a:avLst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矩形: 圆角 68">
            <a:extLst>
              <a:ext uri="{FF2B5EF4-FFF2-40B4-BE49-F238E27FC236}">
                <a16:creationId xmlns:a16="http://schemas.microsoft.com/office/drawing/2014/main" id="{B968CE26-DAB7-2FE4-FD51-999C3607A807}"/>
              </a:ext>
            </a:extLst>
          </p:cNvPr>
          <p:cNvSpPr/>
          <p:nvPr/>
        </p:nvSpPr>
        <p:spPr>
          <a:xfrm>
            <a:off x="4466114" y="3191486"/>
            <a:ext cx="2061686" cy="337588"/>
          </a:xfrm>
          <a:prstGeom prst="roundRect">
            <a:avLst/>
          </a:prstGeom>
          <a:solidFill>
            <a:srgbClr val="0070C0"/>
          </a:solidFill>
          <a:ln w="12700">
            <a:noFill/>
          </a:ln>
          <a:effectLst>
            <a:glow rad="635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32</a:t>
            </a:r>
            <a:r>
              <a:rPr lang="zh-CN" altLang="en-US" b="1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点数字</a:t>
            </a:r>
            <a:r>
              <a:rPr lang="en-US" altLang="zh-CN" b="1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INL</a:t>
            </a:r>
            <a:r>
              <a:rPr lang="zh-CN" altLang="en-US" b="1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校准</a:t>
            </a: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C07A8C80-FA52-9892-F094-E0303A75573E}"/>
              </a:ext>
            </a:extLst>
          </p:cNvPr>
          <p:cNvSpPr/>
          <p:nvPr/>
        </p:nvSpPr>
        <p:spPr>
          <a:xfrm>
            <a:off x="238612" y="4382987"/>
            <a:ext cx="1270349" cy="760675"/>
          </a:xfrm>
          <a:prstGeom prst="roundRect">
            <a:avLst>
              <a:gd name="adj" fmla="val 3237"/>
            </a:avLst>
          </a:prstGeom>
          <a:solidFill>
            <a:schemeClr val="bg1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000" b="1" dirty="0">
                <a:solidFill>
                  <a:srgbClr val="0070C0"/>
                </a:solidFill>
                <a:latin typeface="-apple-system"/>
              </a:rPr>
              <a:t>参考光电</a:t>
            </a:r>
            <a:endParaRPr lang="en-US" altLang="zh-CN" sz="2000" b="1" dirty="0">
              <a:solidFill>
                <a:srgbClr val="0070C0"/>
              </a:solidFill>
              <a:latin typeface="-apple-system"/>
            </a:endParaRPr>
          </a:p>
          <a:p>
            <a:r>
              <a:rPr lang="zh-CN" altLang="en-US" sz="2000" b="1" dirty="0">
                <a:solidFill>
                  <a:srgbClr val="0070C0"/>
                </a:solidFill>
                <a:latin typeface="-apple-system"/>
              </a:rPr>
              <a:t>编码器</a:t>
            </a:r>
            <a:endParaRPr lang="zh-CN" altLang="en-US" sz="2000" b="1" dirty="0">
              <a:solidFill>
                <a:srgbClr val="0070C0"/>
              </a:solidFill>
            </a:endParaRPr>
          </a:p>
        </p:txBody>
      </p:sp>
      <p:grpSp>
        <p:nvGrpSpPr>
          <p:cNvPr id="72" name="组合 71">
            <a:extLst>
              <a:ext uri="{FF2B5EF4-FFF2-40B4-BE49-F238E27FC236}">
                <a16:creationId xmlns:a16="http://schemas.microsoft.com/office/drawing/2014/main" id="{4173B497-6444-67DF-BBE9-299D18C1ABF6}"/>
              </a:ext>
            </a:extLst>
          </p:cNvPr>
          <p:cNvGrpSpPr/>
          <p:nvPr/>
        </p:nvGrpSpPr>
        <p:grpSpPr>
          <a:xfrm>
            <a:off x="2162007" y="3772456"/>
            <a:ext cx="2836580" cy="1713912"/>
            <a:chOff x="2564158" y="4253595"/>
            <a:chExt cx="2836580" cy="171391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A78F5877-04ED-7213-F98A-D215A481D852}"/>
                </a:ext>
              </a:extLst>
            </p:cNvPr>
            <p:cNvSpPr txBox="1"/>
            <p:nvPr/>
          </p:nvSpPr>
          <p:spPr>
            <a:xfrm>
              <a:off x="2573253" y="4253595"/>
              <a:ext cx="2827485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zh-CN" altLang="zh-CN" sz="2000" b="1" dirty="0">
                  <a:solidFill>
                    <a:srgbClr val="0070C0"/>
                  </a:solidFill>
                  <a:latin typeface="-apple-system"/>
                </a:rPr>
                <a:t>EVKT-MagAlpha-MagDiff </a:t>
              </a:r>
            </a:p>
          </p:txBody>
        </p:sp>
        <p:pic>
          <p:nvPicPr>
            <p:cNvPr id="1028" name="Picture 4">
              <a:extLst>
                <a:ext uri="{FF2B5EF4-FFF2-40B4-BE49-F238E27FC236}">
                  <a16:creationId xmlns:a16="http://schemas.microsoft.com/office/drawing/2014/main" id="{F5C85E13-E633-D7EE-D38C-20C709AB8EE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306" t="10744" r="6471" b="8729"/>
            <a:stretch/>
          </p:blipFill>
          <p:spPr bwMode="auto">
            <a:xfrm>
              <a:off x="2564158" y="4615325"/>
              <a:ext cx="2756146" cy="135218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47" name="右箭头 13">
            <a:extLst>
              <a:ext uri="{FF2B5EF4-FFF2-40B4-BE49-F238E27FC236}">
                <a16:creationId xmlns:a16="http://schemas.microsoft.com/office/drawing/2014/main" id="{1D3D0127-B5B4-DAE3-98CA-0359B231CA97}"/>
              </a:ext>
            </a:extLst>
          </p:cNvPr>
          <p:cNvSpPr/>
          <p:nvPr/>
        </p:nvSpPr>
        <p:spPr>
          <a:xfrm>
            <a:off x="4953896" y="4549951"/>
            <a:ext cx="650813" cy="432566"/>
          </a:xfrm>
          <a:prstGeom prst="rightArrow">
            <a:avLst>
              <a:gd name="adj1" fmla="val 63528"/>
              <a:gd name="adj2" fmla="val 50000"/>
            </a:avLst>
          </a:prstGeom>
          <a:gradFill>
            <a:gsLst>
              <a:gs pos="19000">
                <a:schemeClr val="bg2">
                  <a:lumMod val="60000"/>
                  <a:lumOff val="40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2">
                  <a:lumMod val="7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74" name="组合 73">
            <a:extLst>
              <a:ext uri="{FF2B5EF4-FFF2-40B4-BE49-F238E27FC236}">
                <a16:creationId xmlns:a16="http://schemas.microsoft.com/office/drawing/2014/main" id="{4F5B24F7-50BD-02B2-E44D-6BF05E3AD959}"/>
              </a:ext>
            </a:extLst>
          </p:cNvPr>
          <p:cNvGrpSpPr/>
          <p:nvPr/>
        </p:nvGrpSpPr>
        <p:grpSpPr>
          <a:xfrm>
            <a:off x="1497173" y="4237113"/>
            <a:ext cx="718931" cy="803339"/>
            <a:chOff x="1873295" y="4215266"/>
            <a:chExt cx="718931" cy="803339"/>
          </a:xfrm>
        </p:grpSpPr>
        <p:sp>
          <p:nvSpPr>
            <p:cNvPr id="38" name="右箭头 13">
              <a:extLst>
                <a:ext uri="{FF2B5EF4-FFF2-40B4-BE49-F238E27FC236}">
                  <a16:creationId xmlns:a16="http://schemas.microsoft.com/office/drawing/2014/main" id="{E6E81A93-3CC0-E380-B5D6-518918DFC965}"/>
                </a:ext>
              </a:extLst>
            </p:cNvPr>
            <p:cNvSpPr/>
            <p:nvPr/>
          </p:nvSpPr>
          <p:spPr>
            <a:xfrm>
              <a:off x="1970971" y="4586039"/>
              <a:ext cx="534021" cy="432566"/>
            </a:xfrm>
            <a:prstGeom prst="rightArrow">
              <a:avLst>
                <a:gd name="adj1" fmla="val 63528"/>
                <a:gd name="adj2" fmla="val 50000"/>
              </a:avLst>
            </a:prstGeom>
            <a:gradFill>
              <a:gsLst>
                <a:gs pos="19000">
                  <a:schemeClr val="bg2">
                    <a:lumMod val="60000"/>
                    <a:lumOff val="40000"/>
                  </a:schemeClr>
                </a:gs>
                <a:gs pos="0">
                  <a:schemeClr val="bg1">
                    <a:alpha val="0"/>
                  </a:schemeClr>
                </a:gs>
                <a:gs pos="100000">
                  <a:schemeClr val="bg2">
                    <a:lumMod val="75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2" name="文本框 51">
              <a:extLst>
                <a:ext uri="{FF2B5EF4-FFF2-40B4-BE49-F238E27FC236}">
                  <a16:creationId xmlns:a16="http://schemas.microsoft.com/office/drawing/2014/main" id="{C90D0655-2852-44BF-3586-155E7FBDB83E}"/>
                </a:ext>
              </a:extLst>
            </p:cNvPr>
            <p:cNvSpPr txBox="1"/>
            <p:nvPr/>
          </p:nvSpPr>
          <p:spPr>
            <a:xfrm>
              <a:off x="1873295" y="4215266"/>
              <a:ext cx="718931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400" b="1" dirty="0">
                  <a:solidFill>
                    <a:srgbClr val="0070C0"/>
                  </a:solidFill>
                  <a:latin typeface="-apple-system"/>
                </a:rPr>
                <a:t>ABZ</a:t>
              </a:r>
              <a:endParaRPr lang="zh-CN" altLang="en-US" sz="2400" dirty="0"/>
            </a:p>
          </p:txBody>
        </p:sp>
      </p:grpSp>
      <p:sp>
        <p:nvSpPr>
          <p:cNvPr id="54" name="文本框 53">
            <a:extLst>
              <a:ext uri="{FF2B5EF4-FFF2-40B4-BE49-F238E27FC236}">
                <a16:creationId xmlns:a16="http://schemas.microsoft.com/office/drawing/2014/main" id="{99071254-0EF4-2EE3-2F93-048C9C431D53}"/>
              </a:ext>
            </a:extLst>
          </p:cNvPr>
          <p:cNvSpPr txBox="1"/>
          <p:nvPr/>
        </p:nvSpPr>
        <p:spPr>
          <a:xfrm>
            <a:off x="4928188" y="4211608"/>
            <a:ext cx="85957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0070C0"/>
                </a:solidFill>
                <a:latin typeface="-apple-system"/>
              </a:rPr>
              <a:t>USB</a:t>
            </a:r>
            <a:endParaRPr lang="zh-CN" altLang="en-US" sz="2400" dirty="0"/>
          </a:p>
        </p:txBody>
      </p:sp>
      <p:sp>
        <p:nvSpPr>
          <p:cNvPr id="76" name="矩形: 圆角 75">
            <a:extLst>
              <a:ext uri="{FF2B5EF4-FFF2-40B4-BE49-F238E27FC236}">
                <a16:creationId xmlns:a16="http://schemas.microsoft.com/office/drawing/2014/main" id="{F20BEDBB-8321-DB88-783F-CDFBE7848C95}"/>
              </a:ext>
            </a:extLst>
          </p:cNvPr>
          <p:cNvSpPr/>
          <p:nvPr/>
        </p:nvSpPr>
        <p:spPr>
          <a:xfrm>
            <a:off x="9431942" y="3352676"/>
            <a:ext cx="2518730" cy="3224615"/>
          </a:xfrm>
          <a:prstGeom prst="roundRect">
            <a:avLst>
              <a:gd name="adj" fmla="val 3237"/>
            </a:avLst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矩形: 圆角 72">
            <a:extLst>
              <a:ext uri="{FF2B5EF4-FFF2-40B4-BE49-F238E27FC236}">
                <a16:creationId xmlns:a16="http://schemas.microsoft.com/office/drawing/2014/main" id="{64F7895C-25B5-387D-E49D-9070A9155805}"/>
              </a:ext>
            </a:extLst>
          </p:cNvPr>
          <p:cNvSpPr/>
          <p:nvPr/>
        </p:nvSpPr>
        <p:spPr>
          <a:xfrm>
            <a:off x="10095738" y="3200690"/>
            <a:ext cx="1174770" cy="337588"/>
          </a:xfrm>
          <a:prstGeom prst="roundRect">
            <a:avLst/>
          </a:prstGeom>
          <a:solidFill>
            <a:srgbClr val="0070C0"/>
          </a:solidFill>
          <a:ln w="12700">
            <a:noFill/>
          </a:ln>
          <a:effectLst>
            <a:glow rad="635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BCT</a:t>
            </a: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校准</a:t>
            </a:r>
          </a:p>
        </p:txBody>
      </p:sp>
      <p:grpSp>
        <p:nvGrpSpPr>
          <p:cNvPr id="79" name="组合 78">
            <a:extLst>
              <a:ext uri="{FF2B5EF4-FFF2-40B4-BE49-F238E27FC236}">
                <a16:creationId xmlns:a16="http://schemas.microsoft.com/office/drawing/2014/main" id="{03DF8FC4-C43B-C0EC-E3F2-3E01F3BE1007}"/>
              </a:ext>
            </a:extLst>
          </p:cNvPr>
          <p:cNvGrpSpPr/>
          <p:nvPr/>
        </p:nvGrpSpPr>
        <p:grpSpPr>
          <a:xfrm>
            <a:off x="5670829" y="3507540"/>
            <a:ext cx="2984696" cy="2366991"/>
            <a:chOff x="5717562" y="3501385"/>
            <a:chExt cx="2984696" cy="2366991"/>
          </a:xfrm>
        </p:grpSpPr>
        <p:pic>
          <p:nvPicPr>
            <p:cNvPr id="1030" name="Picture 6">
              <a:extLst>
                <a:ext uri="{FF2B5EF4-FFF2-40B4-BE49-F238E27FC236}">
                  <a16:creationId xmlns:a16="http://schemas.microsoft.com/office/drawing/2014/main" id="{EB546B3E-31D1-ACA4-EE2C-024BC00BBCA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17562" y="3838968"/>
              <a:ext cx="2930554" cy="202940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8" name="文本框 77">
              <a:extLst>
                <a:ext uri="{FF2B5EF4-FFF2-40B4-BE49-F238E27FC236}">
                  <a16:creationId xmlns:a16="http://schemas.microsoft.com/office/drawing/2014/main" id="{E1F4F994-8CB9-9727-B0B9-209BF8BFE18F}"/>
                </a:ext>
              </a:extLst>
            </p:cNvPr>
            <p:cNvSpPr txBox="1"/>
            <p:nvPr/>
          </p:nvSpPr>
          <p:spPr>
            <a:xfrm>
              <a:off x="5772303" y="3501385"/>
              <a:ext cx="2929955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 b="1" dirty="0" err="1">
                  <a:solidFill>
                    <a:srgbClr val="0070C0"/>
                  </a:solidFill>
                  <a:latin typeface="-apple-system"/>
                </a:rPr>
                <a:t>MagAlpha</a:t>
              </a:r>
              <a:r>
                <a:rPr lang="en-US" altLang="zh-CN" sz="2000" b="1" dirty="0">
                  <a:solidFill>
                    <a:srgbClr val="0070C0"/>
                  </a:solidFill>
                  <a:latin typeface="-apple-system"/>
                </a:rPr>
                <a:t> Evaluation App</a:t>
              </a:r>
            </a:p>
          </p:txBody>
        </p:sp>
      </p:grpSp>
      <p:sp>
        <p:nvSpPr>
          <p:cNvPr id="81" name="文本框 80">
            <a:extLst>
              <a:ext uri="{FF2B5EF4-FFF2-40B4-BE49-F238E27FC236}">
                <a16:creationId xmlns:a16="http://schemas.microsoft.com/office/drawing/2014/main" id="{8A71087B-3CDA-6351-80FF-1F5084529C06}"/>
              </a:ext>
            </a:extLst>
          </p:cNvPr>
          <p:cNvSpPr txBox="1"/>
          <p:nvPr/>
        </p:nvSpPr>
        <p:spPr>
          <a:xfrm>
            <a:off x="247957" y="5879957"/>
            <a:ext cx="8905502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dirty="0"/>
              <a:t>可补偿：磁体偏心和倾斜、磁体磁化误差、</a:t>
            </a:r>
            <a:r>
              <a:rPr lang="en-US" altLang="zh-CN" dirty="0"/>
              <a:t>PCB</a:t>
            </a:r>
            <a:r>
              <a:rPr lang="zh-CN" altLang="en-US" dirty="0"/>
              <a:t>与传感器安装误差、</a:t>
            </a:r>
            <a:r>
              <a:rPr lang="en-US" altLang="zh-CN" dirty="0"/>
              <a:t>MA600A</a:t>
            </a:r>
            <a:r>
              <a:rPr lang="zh-CN" altLang="en-US" dirty="0"/>
              <a:t>自身残余非线性。补偿后可达到</a:t>
            </a:r>
            <a:r>
              <a:rPr lang="en-US" altLang="zh-CN" sz="2000" b="1" dirty="0">
                <a:solidFill>
                  <a:srgbClr val="FF0000"/>
                </a:solidFill>
              </a:rPr>
              <a:t> INL</a:t>
            </a:r>
            <a:r>
              <a:rPr lang="zh-CN" altLang="en-US" sz="2000" b="1" dirty="0">
                <a:solidFill>
                  <a:srgbClr val="FF0000"/>
                </a:solidFill>
              </a:rPr>
              <a:t>＜</a:t>
            </a:r>
            <a:r>
              <a:rPr lang="en-US" altLang="zh-CN" sz="2000" b="1" dirty="0">
                <a:solidFill>
                  <a:srgbClr val="FF0000"/>
                </a:solidFill>
              </a:rPr>
              <a:t>0.1</a:t>
            </a:r>
            <a:r>
              <a:rPr lang="zh-CN" altLang="en-US" dirty="0"/>
              <a:t>，</a:t>
            </a:r>
            <a:r>
              <a:rPr lang="en-US" altLang="zh-CN" b="1" dirty="0">
                <a:solidFill>
                  <a:srgbClr val="FF0000"/>
                </a:solidFill>
              </a:rPr>
              <a:t>12</a:t>
            </a:r>
            <a:r>
              <a:rPr lang="zh-CN" altLang="en-US" b="1" dirty="0">
                <a:solidFill>
                  <a:srgbClr val="FF0000"/>
                </a:solidFill>
              </a:rPr>
              <a:t>～</a:t>
            </a:r>
            <a:r>
              <a:rPr lang="en-US" altLang="zh-CN" b="1" dirty="0">
                <a:solidFill>
                  <a:srgbClr val="FF0000"/>
                </a:solidFill>
              </a:rPr>
              <a:t>15 bit</a:t>
            </a:r>
            <a:r>
              <a:rPr lang="zh-CN" altLang="en-US" dirty="0"/>
              <a:t>可配置分辨率，</a:t>
            </a:r>
            <a:r>
              <a:rPr lang="en-US" altLang="zh-CN" b="1" dirty="0">
                <a:solidFill>
                  <a:srgbClr val="FF0000"/>
                </a:solidFill>
              </a:rPr>
              <a:t>12 kHz</a:t>
            </a:r>
            <a:r>
              <a:rPr lang="zh-CN" altLang="en-US" b="1" dirty="0">
                <a:solidFill>
                  <a:srgbClr val="FF0000"/>
                </a:solidFill>
              </a:rPr>
              <a:t>带宽。</a:t>
            </a:r>
          </a:p>
        </p:txBody>
      </p:sp>
      <p:pic>
        <p:nvPicPr>
          <p:cNvPr id="83" name="图片 82">
            <a:extLst>
              <a:ext uri="{FF2B5EF4-FFF2-40B4-BE49-F238E27FC236}">
                <a16:creationId xmlns:a16="http://schemas.microsoft.com/office/drawing/2014/main" id="{5759B877-C777-334D-4CAE-B420F657EB1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628319" y="3545244"/>
            <a:ext cx="2168965" cy="1897844"/>
          </a:xfrm>
          <a:prstGeom prst="rect">
            <a:avLst/>
          </a:prstGeom>
        </p:spPr>
      </p:pic>
      <p:sp>
        <p:nvSpPr>
          <p:cNvPr id="85" name="文本框 84">
            <a:extLst>
              <a:ext uri="{FF2B5EF4-FFF2-40B4-BE49-F238E27FC236}">
                <a16:creationId xmlns:a16="http://schemas.microsoft.com/office/drawing/2014/main" id="{C93B2B6B-DBDB-CB4E-0F60-F112F6505E54}"/>
              </a:ext>
            </a:extLst>
          </p:cNvPr>
          <p:cNvSpPr txBox="1"/>
          <p:nvPr/>
        </p:nvSpPr>
        <p:spPr>
          <a:xfrm>
            <a:off x="9431943" y="5443088"/>
            <a:ext cx="251872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离轴式安装时</a:t>
            </a:r>
            <a:r>
              <a:rPr lang="zh-CN" altLang="en-US" dirty="0"/>
              <a:t>，需要进行</a:t>
            </a:r>
            <a:r>
              <a:rPr lang="en-US" altLang="zh-CN" dirty="0"/>
              <a:t>BCT</a:t>
            </a:r>
            <a:r>
              <a:rPr lang="zh-CN" altLang="en-US" dirty="0"/>
              <a:t>校准。降低周期性误差。</a:t>
            </a:r>
            <a:endParaRPr lang="en-US" altLang="zh-CN" dirty="0"/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9BB04361-8229-8AEA-1805-377EA04B262E}"/>
              </a:ext>
            </a:extLst>
          </p:cNvPr>
          <p:cNvSpPr txBox="1"/>
          <p:nvPr/>
        </p:nvSpPr>
        <p:spPr>
          <a:xfrm>
            <a:off x="2939291" y="747618"/>
            <a:ext cx="19299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0070C0"/>
                </a:solidFill>
                <a:latin typeface="-apple-system"/>
              </a:rPr>
              <a:t>TMR</a:t>
            </a:r>
            <a:r>
              <a:rPr lang="zh-CN" altLang="en-US" sz="2000" b="1" dirty="0">
                <a:solidFill>
                  <a:srgbClr val="0070C0"/>
                </a:solidFill>
                <a:latin typeface="-apple-system"/>
              </a:rPr>
              <a:t>磁敏元件</a:t>
            </a: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6C672C68-853A-8486-E17F-F93EAC483DE0}"/>
              </a:ext>
            </a:extLst>
          </p:cNvPr>
          <p:cNvSpPr/>
          <p:nvPr/>
        </p:nvSpPr>
        <p:spPr>
          <a:xfrm>
            <a:off x="1160764" y="1682082"/>
            <a:ext cx="529837" cy="521208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56248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59E3E8-CB91-A808-7646-5FACFC4F8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9EDD3F67-3369-F6D7-C14E-C56AC5ECF61D}"/>
              </a:ext>
            </a:extLst>
          </p:cNvPr>
          <p:cNvSpPr>
            <a:spLocks noGrp="1"/>
          </p:cNvSpPr>
          <p:nvPr/>
        </p:nvSpPr>
        <p:spPr>
          <a:xfrm>
            <a:off x="134925" y="203285"/>
            <a:ext cx="11746800" cy="521208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txBody>
          <a:bodyPr>
            <a:normAutofit fontScale="59790" lnSpcReduction="20000"/>
          </a:bodyPr>
          <a:lstStyle>
            <a:lvl1pPr algn="l">
              <a:lnSpc>
                <a:spcPct val="13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>
            <a:r>
              <a:rPr dirty="0" err="1">
                <a:solidFill>
                  <a:schemeClr val="bg1"/>
                </a:solidFill>
              </a:rPr>
              <a:t>芯片选型</a:t>
            </a:r>
            <a:r>
              <a:rPr dirty="0">
                <a:solidFill>
                  <a:schemeClr val="bg1"/>
                </a:solidFill>
              </a:rPr>
              <a:t>——</a:t>
            </a:r>
            <a:r>
              <a:rPr lang="en-US" altLang="zh-CN" dirty="0">
                <a:solidFill>
                  <a:schemeClr val="bg1"/>
                </a:solidFill>
              </a:rPr>
              <a:t>MA600A </a:t>
            </a:r>
            <a:r>
              <a:rPr lang="zh-CN" altLang="en-US" dirty="0">
                <a:solidFill>
                  <a:schemeClr val="bg1"/>
                </a:solidFill>
              </a:rPr>
              <a:t>与 电流采样</a:t>
            </a:r>
            <a:endParaRPr dirty="0">
              <a:solidFill>
                <a:schemeClr val="bg1"/>
              </a:solidFill>
            </a:endParaRPr>
          </a:p>
        </p:txBody>
      </p:sp>
      <p:grpSp>
        <p:nvGrpSpPr>
          <p:cNvPr id="80" name="组合 79">
            <a:extLst>
              <a:ext uri="{FF2B5EF4-FFF2-40B4-BE49-F238E27FC236}">
                <a16:creationId xmlns:a16="http://schemas.microsoft.com/office/drawing/2014/main" id="{E341245C-3845-A308-6C07-CCEE8AA512F4}"/>
              </a:ext>
            </a:extLst>
          </p:cNvPr>
          <p:cNvGrpSpPr/>
          <p:nvPr/>
        </p:nvGrpSpPr>
        <p:grpSpPr>
          <a:xfrm>
            <a:off x="468675" y="1028699"/>
            <a:ext cx="5507162" cy="5465233"/>
            <a:chOff x="130481" y="1028699"/>
            <a:chExt cx="5507162" cy="5465233"/>
          </a:xfrm>
        </p:grpSpPr>
        <p:sp>
          <p:nvSpPr>
            <p:cNvPr id="42" name="Rectangle 6">
              <a:extLst>
                <a:ext uri="{FF2B5EF4-FFF2-40B4-BE49-F238E27FC236}">
                  <a16:creationId xmlns:a16="http://schemas.microsoft.com/office/drawing/2014/main" id="{1A45E7E0-72FB-7822-6118-B29424E70570}"/>
                </a:ext>
              </a:extLst>
            </p:cNvPr>
            <p:cNvSpPr/>
            <p:nvPr/>
          </p:nvSpPr>
          <p:spPr>
            <a:xfrm>
              <a:off x="130481" y="1028699"/>
              <a:ext cx="5491385" cy="546523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AFC7DD"/>
              </a:solidFill>
            </a:ln>
          </p:spPr>
        </p:sp>
        <p:sp>
          <p:nvSpPr>
            <p:cNvPr id="43" name="Rectangle 7">
              <a:extLst>
                <a:ext uri="{FF2B5EF4-FFF2-40B4-BE49-F238E27FC236}">
                  <a16:creationId xmlns:a16="http://schemas.microsoft.com/office/drawing/2014/main" id="{7EAE1F40-AB12-2777-536A-7EDF32C2D377}"/>
                </a:ext>
              </a:extLst>
            </p:cNvPr>
            <p:cNvSpPr/>
            <p:nvPr/>
          </p:nvSpPr>
          <p:spPr>
            <a:xfrm>
              <a:off x="130482" y="1028700"/>
              <a:ext cx="5491384" cy="4191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txBody>
            <a:bodyPr/>
            <a:lstStyle/>
            <a:p>
              <a:pPr algn="ctr"/>
              <a:r>
                <a:rPr lang="en-US" altLang="zh-CN" b="1" dirty="0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MA600A</a:t>
              </a:r>
              <a:r>
                <a:rPr lang="zh-CN" altLang="en-US" b="1" dirty="0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菊花链</a:t>
              </a:r>
            </a:p>
            <a:p>
              <a:pPr algn="ctr"/>
              <a:endParaRPr lang="zh-CN" altLang="en-US" b="1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66" name="图片 65">
              <a:extLst>
                <a:ext uri="{FF2B5EF4-FFF2-40B4-BE49-F238E27FC236}">
                  <a16:creationId xmlns:a16="http://schemas.microsoft.com/office/drawing/2014/main" id="{028BA099-CA07-9A26-C938-6B16EE5A39B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27948" y="1447800"/>
              <a:ext cx="3612802" cy="3505021"/>
            </a:xfrm>
            <a:prstGeom prst="rect">
              <a:avLst/>
            </a:prstGeom>
          </p:spPr>
        </p:pic>
        <p:sp>
          <p:nvSpPr>
            <p:cNvPr id="70" name="文本框 69">
              <a:extLst>
                <a:ext uri="{FF2B5EF4-FFF2-40B4-BE49-F238E27FC236}">
                  <a16:creationId xmlns:a16="http://schemas.microsoft.com/office/drawing/2014/main" id="{4FEB2DA8-F3C8-9E85-4C04-D74BEB3E50F8}"/>
                </a:ext>
              </a:extLst>
            </p:cNvPr>
            <p:cNvSpPr txBox="1"/>
            <p:nvPr/>
          </p:nvSpPr>
          <p:spPr>
            <a:xfrm>
              <a:off x="146260" y="4952821"/>
              <a:ext cx="5491383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b="1" dirty="0">
                  <a:solidFill>
                    <a:srgbClr val="FF0000"/>
                  </a:solidFill>
                </a:rPr>
                <a:t>多颗</a:t>
              </a:r>
              <a:r>
                <a:rPr lang="en-US" altLang="zh-CN" b="1" dirty="0">
                  <a:solidFill>
                    <a:srgbClr val="FF0000"/>
                  </a:solidFill>
                </a:rPr>
                <a:t>MA600A</a:t>
              </a:r>
              <a:r>
                <a:rPr lang="zh-CN" altLang="en-US" b="1" dirty="0">
                  <a:solidFill>
                    <a:srgbClr val="FF0000"/>
                  </a:solidFill>
                </a:rPr>
                <a:t>首尾串联</a:t>
              </a:r>
              <a:r>
                <a:rPr lang="zh-CN" altLang="en-US" dirty="0"/>
                <a:t>，共用时钟与片选信号，以</a:t>
              </a:r>
              <a:r>
                <a:rPr lang="zh-CN" altLang="en-US" b="1" dirty="0">
                  <a:solidFill>
                    <a:srgbClr val="FF0000"/>
                  </a:solidFill>
                </a:rPr>
                <a:t>更少的控制器</a:t>
              </a:r>
              <a:r>
                <a:rPr lang="en-US" altLang="zh-CN" b="1" dirty="0">
                  <a:solidFill>
                    <a:srgbClr val="FF0000"/>
                  </a:solidFill>
                </a:rPr>
                <a:t>I/O</a:t>
              </a:r>
              <a:r>
                <a:rPr lang="zh-CN" altLang="en-US" dirty="0"/>
                <a:t>和线束，实现多颗角度传感器的集中读取。</a:t>
              </a:r>
              <a:endParaRPr lang="en-US" altLang="zh-CN" dirty="0"/>
            </a:p>
            <a:p>
              <a:r>
                <a:rPr lang="zh-CN" altLang="en-US" dirty="0"/>
                <a:t>在离轴使用时，可用多颗</a:t>
              </a:r>
              <a:r>
                <a:rPr lang="en-US" altLang="zh-CN" dirty="0"/>
                <a:t>MA600A</a:t>
              </a:r>
              <a:r>
                <a:rPr lang="zh-CN" altLang="en-US" dirty="0"/>
                <a:t>，校准角度量。</a:t>
              </a:r>
            </a:p>
          </p:txBody>
        </p:sp>
      </p:grpSp>
      <p:grpSp>
        <p:nvGrpSpPr>
          <p:cNvPr id="82" name="组合 81">
            <a:extLst>
              <a:ext uri="{FF2B5EF4-FFF2-40B4-BE49-F238E27FC236}">
                <a16:creationId xmlns:a16="http://schemas.microsoft.com/office/drawing/2014/main" id="{9DF8E6E4-545B-14FE-07FB-3CF8EA7582DC}"/>
              </a:ext>
            </a:extLst>
          </p:cNvPr>
          <p:cNvGrpSpPr/>
          <p:nvPr/>
        </p:nvGrpSpPr>
        <p:grpSpPr>
          <a:xfrm>
            <a:off x="6231942" y="1028699"/>
            <a:ext cx="5507160" cy="5465232"/>
            <a:chOff x="6390340" y="1028700"/>
            <a:chExt cx="5507160" cy="5465232"/>
          </a:xfrm>
        </p:grpSpPr>
        <p:sp>
          <p:nvSpPr>
            <p:cNvPr id="61" name="Rectangle 6">
              <a:extLst>
                <a:ext uri="{FF2B5EF4-FFF2-40B4-BE49-F238E27FC236}">
                  <a16:creationId xmlns:a16="http://schemas.microsoft.com/office/drawing/2014/main" id="{6CE0762E-7C2A-E6EA-0A28-0AAB57E88B75}"/>
                </a:ext>
              </a:extLst>
            </p:cNvPr>
            <p:cNvSpPr/>
            <p:nvPr/>
          </p:nvSpPr>
          <p:spPr>
            <a:xfrm>
              <a:off x="6390340" y="1028700"/>
              <a:ext cx="5491385" cy="546523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AFC7DD"/>
              </a:solidFill>
            </a:ln>
          </p:spPr>
        </p:sp>
        <p:sp>
          <p:nvSpPr>
            <p:cNvPr id="62" name="Rectangle 7">
              <a:extLst>
                <a:ext uri="{FF2B5EF4-FFF2-40B4-BE49-F238E27FC236}">
                  <a16:creationId xmlns:a16="http://schemas.microsoft.com/office/drawing/2014/main" id="{0CB32428-72B7-AF47-D2D7-74361F3C6E9F}"/>
                </a:ext>
              </a:extLst>
            </p:cNvPr>
            <p:cNvSpPr/>
            <p:nvPr/>
          </p:nvSpPr>
          <p:spPr>
            <a:xfrm>
              <a:off x="6390341" y="1028700"/>
              <a:ext cx="5491384" cy="4191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txBody>
            <a:bodyPr/>
            <a:lstStyle/>
            <a:p>
              <a:pPr algn="ctr"/>
              <a:r>
                <a:rPr lang="zh-CN" altLang="en-US" b="1" dirty="0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电流采样方式</a:t>
              </a:r>
            </a:p>
          </p:txBody>
        </p:sp>
        <p:pic>
          <p:nvPicPr>
            <p:cNvPr id="71" name="图片 70">
              <a:extLst>
                <a:ext uri="{FF2B5EF4-FFF2-40B4-BE49-F238E27FC236}">
                  <a16:creationId xmlns:a16="http://schemas.microsoft.com/office/drawing/2014/main" id="{1D85D89D-AD80-EE7E-08A6-E15B52F2BAE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219347" y="1537335"/>
              <a:ext cx="4026786" cy="3211393"/>
            </a:xfrm>
            <a:prstGeom prst="rect">
              <a:avLst/>
            </a:prstGeom>
          </p:spPr>
        </p:pic>
        <p:sp>
          <p:nvSpPr>
            <p:cNvPr id="77" name="文本框 76">
              <a:extLst>
                <a:ext uri="{FF2B5EF4-FFF2-40B4-BE49-F238E27FC236}">
                  <a16:creationId xmlns:a16="http://schemas.microsoft.com/office/drawing/2014/main" id="{4C3DB47D-CACB-E593-F49B-436E3A49AC83}"/>
                </a:ext>
              </a:extLst>
            </p:cNvPr>
            <p:cNvSpPr txBox="1"/>
            <p:nvPr/>
          </p:nvSpPr>
          <p:spPr>
            <a:xfrm>
              <a:off x="6406117" y="4882666"/>
              <a:ext cx="5491383" cy="14773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b="1" dirty="0">
                  <a:solidFill>
                    <a:srgbClr val="FF0000"/>
                  </a:solidFill>
                </a:rPr>
                <a:t>相电流采样：</a:t>
              </a:r>
              <a:r>
                <a:rPr lang="zh-CN" altLang="en-US" dirty="0">
                  <a:solidFill>
                    <a:srgbClr val="FF0000"/>
                  </a:solidFill>
                </a:rPr>
                <a:t> </a:t>
              </a:r>
              <a:r>
                <a:rPr lang="zh-CN" altLang="en-US" dirty="0"/>
                <a:t>可直接获取相电流，但共模电压高，对采样电路要求较高；</a:t>
              </a:r>
              <a:br>
                <a:rPr lang="zh-CN" altLang="en-US" dirty="0"/>
              </a:br>
              <a:r>
                <a:rPr lang="zh-CN" altLang="en-US" b="1" dirty="0">
                  <a:solidFill>
                    <a:srgbClr val="FF0000"/>
                  </a:solidFill>
                </a:rPr>
                <a:t>低侧采样：</a:t>
              </a:r>
              <a:r>
                <a:rPr lang="zh-CN" altLang="en-US" dirty="0">
                  <a:solidFill>
                    <a:srgbClr val="FF0000"/>
                  </a:solidFill>
                </a:rPr>
                <a:t> </a:t>
              </a:r>
              <a:r>
                <a:rPr lang="zh-CN" altLang="en-US" dirty="0"/>
                <a:t>电路简单、共模电压低，但受 </a:t>
              </a:r>
              <a:r>
                <a:rPr lang="en-US" altLang="zh-CN" dirty="0"/>
                <a:t>PWM </a:t>
              </a:r>
              <a:r>
                <a:rPr lang="zh-CN" altLang="en-US" dirty="0"/>
                <a:t>开关状态限制。通常在中心对齐 </a:t>
              </a:r>
              <a:r>
                <a:rPr lang="en-US" altLang="zh-CN" dirty="0"/>
                <a:t>PWM </a:t>
              </a:r>
              <a:r>
                <a:rPr lang="zh-CN" altLang="en-US" dirty="0"/>
                <a:t>通常在载波谷值（</a:t>
              </a:r>
              <a:r>
                <a:rPr lang="en-US" altLang="zh-CN" dirty="0"/>
                <a:t>CTR=ZERO</a:t>
              </a:r>
              <a:r>
                <a:rPr lang="zh-CN" altLang="en-US" dirty="0"/>
                <a:t>）附近触发 </a:t>
              </a:r>
              <a:r>
                <a:rPr lang="en-US" altLang="zh-CN" dirty="0"/>
                <a:t>ADC</a:t>
              </a:r>
              <a:r>
                <a:rPr lang="zh-CN" altLang="en-US" dirty="0"/>
                <a:t>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380378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>
            <a:extLst>
              <a:ext uri="{FF2B5EF4-FFF2-40B4-BE49-F238E27FC236}">
                <a16:creationId xmlns:a16="http://schemas.microsoft.com/office/drawing/2014/main" id="{CACDC15F-C9FB-132A-4CF9-CBC01E73F303}"/>
              </a:ext>
            </a:extLst>
          </p:cNvPr>
          <p:cNvSpPr/>
          <p:nvPr/>
        </p:nvSpPr>
        <p:spPr>
          <a:xfrm>
            <a:off x="217806" y="800638"/>
            <a:ext cx="11663919" cy="292500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29942B2F-2EFB-3152-6BC0-F73BE2CF7682}"/>
              </a:ext>
            </a:extLst>
          </p:cNvPr>
          <p:cNvSpPr>
            <a:spLocks noGrp="1"/>
          </p:cNvSpPr>
          <p:nvPr/>
        </p:nvSpPr>
        <p:spPr>
          <a:xfrm>
            <a:off x="217807" y="203285"/>
            <a:ext cx="11663918" cy="521208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txBody>
          <a:bodyPr>
            <a:normAutofit fontScale="59790" lnSpcReduction="20000"/>
          </a:bodyPr>
          <a:lstStyle>
            <a:lvl1pPr algn="l">
              <a:lnSpc>
                <a:spcPct val="13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>
            <a:r>
              <a:rPr dirty="0" err="1">
                <a:solidFill>
                  <a:schemeClr val="bg1"/>
                </a:solidFill>
              </a:rPr>
              <a:t>芯片选型</a:t>
            </a:r>
            <a:r>
              <a:rPr dirty="0">
                <a:solidFill>
                  <a:schemeClr val="bg1"/>
                </a:solidFill>
              </a:rPr>
              <a:t>——</a:t>
            </a:r>
            <a:r>
              <a:rPr lang="zh-CN" altLang="en-US" dirty="0">
                <a:solidFill>
                  <a:schemeClr val="bg1"/>
                </a:solidFill>
              </a:rPr>
              <a:t>辅助电源 </a:t>
            </a:r>
            <a:r>
              <a:rPr lang="en-US" altLang="zh-CN" dirty="0">
                <a:solidFill>
                  <a:schemeClr val="bg1"/>
                </a:solidFill>
              </a:rPr>
              <a:t>MP4583</a:t>
            </a:r>
            <a:r>
              <a:rPr lang="zh-CN" altLang="en-US" dirty="0">
                <a:solidFill>
                  <a:schemeClr val="bg1"/>
                </a:solidFill>
              </a:rPr>
              <a:t>、</a:t>
            </a:r>
            <a:r>
              <a:rPr lang="en-US" altLang="zh-CN" dirty="0">
                <a:solidFill>
                  <a:schemeClr val="bg1"/>
                </a:solidFill>
              </a:rPr>
              <a:t>MP3632S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2" name="右箭头 13">
            <a:extLst>
              <a:ext uri="{FF2B5EF4-FFF2-40B4-BE49-F238E27FC236}">
                <a16:creationId xmlns:a16="http://schemas.microsoft.com/office/drawing/2014/main" id="{62B0EADA-F408-C70C-8252-B225DA2E46D8}"/>
              </a:ext>
            </a:extLst>
          </p:cNvPr>
          <p:cNvSpPr/>
          <p:nvPr/>
        </p:nvSpPr>
        <p:spPr>
          <a:xfrm>
            <a:off x="1549767" y="1969938"/>
            <a:ext cx="694052" cy="432566"/>
          </a:xfrm>
          <a:prstGeom prst="rightArrow">
            <a:avLst>
              <a:gd name="adj1" fmla="val 63528"/>
              <a:gd name="adj2" fmla="val 50000"/>
            </a:avLst>
          </a:prstGeom>
          <a:gradFill>
            <a:gsLst>
              <a:gs pos="19000">
                <a:schemeClr val="bg2">
                  <a:lumMod val="60000"/>
                  <a:lumOff val="40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2">
                  <a:lumMod val="7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48V</a:t>
            </a:r>
            <a:endParaRPr lang="zh-CN" altLang="en-US" sz="12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Picture 2" descr="MP4583">
            <a:extLst>
              <a:ext uri="{FF2B5EF4-FFF2-40B4-BE49-F238E27FC236}">
                <a16:creationId xmlns:a16="http://schemas.microsoft.com/office/drawing/2014/main" id="{45AFD319-C8BD-F77B-2F7A-579C37CE7A2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81" r="22239"/>
          <a:stretch/>
        </p:blipFill>
        <p:spPr bwMode="auto">
          <a:xfrm>
            <a:off x="2359712" y="1524059"/>
            <a:ext cx="1421541" cy="1324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E552E2EE-81E7-64FF-3867-33E829B3D5B4}"/>
              </a:ext>
            </a:extLst>
          </p:cNvPr>
          <p:cNvSpPr txBox="1"/>
          <p:nvPr/>
        </p:nvSpPr>
        <p:spPr>
          <a:xfrm>
            <a:off x="1983490" y="2793868"/>
            <a:ext cx="2087975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indent="0" algn="ctr" fontAlgn="auto">
              <a:lnSpc>
                <a:spcPct val="100000"/>
              </a:lnSpc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100V DC-DC MP4583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70FAB73-99BC-4EDA-EA51-5233D3B6C6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3093" y="604121"/>
            <a:ext cx="1365817" cy="1365817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BA3E7E5C-D883-7686-2B34-59FC8C8593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8863" y="1335334"/>
            <a:ext cx="1725330" cy="1732401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223CD115-2A87-EEDE-3840-C7179EE64FD6}"/>
              </a:ext>
            </a:extLst>
          </p:cNvPr>
          <p:cNvSpPr txBox="1"/>
          <p:nvPr/>
        </p:nvSpPr>
        <p:spPr>
          <a:xfrm>
            <a:off x="4392436" y="2816257"/>
            <a:ext cx="2278184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indent="0" algn="ctr" fontAlgn="auto">
              <a:lnSpc>
                <a:spcPct val="100000"/>
              </a:lnSpc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12V DC-DC MPM3632S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9A522E3-096D-5C19-21F0-2471A70F3EA9}"/>
              </a:ext>
            </a:extLst>
          </p:cNvPr>
          <p:cNvSpPr txBox="1"/>
          <p:nvPr/>
        </p:nvSpPr>
        <p:spPr>
          <a:xfrm>
            <a:off x="7964230" y="1838840"/>
            <a:ext cx="172533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indent="0" algn="ctr" fontAlgn="auto">
              <a:lnSpc>
                <a:spcPct val="100000"/>
              </a:lnSpc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LDO MP20051DQ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5" name="Picture 2">
            <a:extLst>
              <a:ext uri="{FF2B5EF4-FFF2-40B4-BE49-F238E27FC236}">
                <a16:creationId xmlns:a16="http://schemas.microsoft.com/office/drawing/2014/main" id="{FB3FC742-FC2F-392D-305F-2B7B9F049E6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507" r="23445"/>
          <a:stretch/>
        </p:blipFill>
        <p:spPr bwMode="auto">
          <a:xfrm>
            <a:off x="8354321" y="2303865"/>
            <a:ext cx="1038237" cy="10247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9EE7C1E8-C66D-CD10-B401-472D7B82A756}"/>
              </a:ext>
            </a:extLst>
          </p:cNvPr>
          <p:cNvSpPr txBox="1"/>
          <p:nvPr/>
        </p:nvSpPr>
        <p:spPr>
          <a:xfrm>
            <a:off x="7993328" y="3202420"/>
            <a:ext cx="172533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indent="0" algn="ctr" fontAlgn="auto">
              <a:lnSpc>
                <a:spcPct val="100000"/>
              </a:lnSpc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MIE1W0505</a:t>
            </a:r>
          </a:p>
          <a:p>
            <a:pPr indent="0" algn="ctr" fontAlgn="auto">
              <a:lnSpc>
                <a:spcPct val="100000"/>
              </a:lnSpc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隔离电源</a:t>
            </a:r>
          </a:p>
        </p:txBody>
      </p:sp>
      <p:sp>
        <p:nvSpPr>
          <p:cNvPr id="17" name="右箭头 13">
            <a:extLst>
              <a:ext uri="{FF2B5EF4-FFF2-40B4-BE49-F238E27FC236}">
                <a16:creationId xmlns:a16="http://schemas.microsoft.com/office/drawing/2014/main" id="{7C9EC11C-06DC-E122-D3B5-3FEEA966666C}"/>
              </a:ext>
            </a:extLst>
          </p:cNvPr>
          <p:cNvSpPr/>
          <p:nvPr/>
        </p:nvSpPr>
        <p:spPr>
          <a:xfrm>
            <a:off x="3871219" y="1969938"/>
            <a:ext cx="694052" cy="432566"/>
          </a:xfrm>
          <a:prstGeom prst="rightArrow">
            <a:avLst>
              <a:gd name="adj1" fmla="val 63528"/>
              <a:gd name="adj2" fmla="val 50000"/>
            </a:avLst>
          </a:prstGeom>
          <a:gradFill>
            <a:gsLst>
              <a:gs pos="19000">
                <a:schemeClr val="bg2">
                  <a:lumMod val="60000"/>
                  <a:lumOff val="40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2">
                  <a:lumMod val="7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12V</a:t>
            </a:r>
            <a:endParaRPr lang="zh-CN" altLang="en-US" sz="12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圆角矩形 61">
            <a:extLst>
              <a:ext uri="{FF2B5EF4-FFF2-40B4-BE49-F238E27FC236}">
                <a16:creationId xmlns:a16="http://schemas.microsoft.com/office/drawing/2014/main" id="{892160DF-DEB7-6579-015B-71A04574371A}"/>
              </a:ext>
            </a:extLst>
          </p:cNvPr>
          <p:cNvSpPr/>
          <p:nvPr/>
        </p:nvSpPr>
        <p:spPr>
          <a:xfrm>
            <a:off x="310274" y="1980564"/>
            <a:ext cx="1101280" cy="421940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599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48 </a:t>
            </a:r>
            <a:r>
              <a:rPr lang="en-US" altLang="zh-CN" sz="1599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Vbat</a:t>
            </a:r>
            <a:endParaRPr lang="zh-CN" altLang="en-US" sz="1599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4F67733B-132C-05F1-CF01-9B667D158539}"/>
              </a:ext>
            </a:extLst>
          </p:cNvPr>
          <p:cNvSpPr/>
          <p:nvPr/>
        </p:nvSpPr>
        <p:spPr>
          <a:xfrm>
            <a:off x="6497773" y="1169262"/>
            <a:ext cx="1493428" cy="2064547"/>
          </a:xfrm>
          <a:custGeom>
            <a:avLst/>
            <a:gdLst>
              <a:gd name="connsiteX0" fmla="*/ 0 w 803275"/>
              <a:gd name="connsiteY0" fmla="*/ 617537 h 1470025"/>
              <a:gd name="connsiteX1" fmla="*/ 249237 w 803275"/>
              <a:gd name="connsiteY1" fmla="*/ 617537 h 1470025"/>
              <a:gd name="connsiteX2" fmla="*/ 249237 w 803275"/>
              <a:gd name="connsiteY2" fmla="*/ 388937 h 1470025"/>
              <a:gd name="connsiteX3" fmla="*/ 266700 w 803275"/>
              <a:gd name="connsiteY3" fmla="*/ 315912 h 1470025"/>
              <a:gd name="connsiteX4" fmla="*/ 277812 w 803275"/>
              <a:gd name="connsiteY4" fmla="*/ 260350 h 1470025"/>
              <a:gd name="connsiteX5" fmla="*/ 306387 w 803275"/>
              <a:gd name="connsiteY5" fmla="*/ 209550 h 1470025"/>
              <a:gd name="connsiteX6" fmla="*/ 334962 w 803275"/>
              <a:gd name="connsiteY6" fmla="*/ 171450 h 1470025"/>
              <a:gd name="connsiteX7" fmla="*/ 358775 w 803275"/>
              <a:gd name="connsiteY7" fmla="*/ 146050 h 1470025"/>
              <a:gd name="connsiteX8" fmla="*/ 385762 w 803275"/>
              <a:gd name="connsiteY8" fmla="*/ 127000 h 1470025"/>
              <a:gd name="connsiteX9" fmla="*/ 423862 w 803275"/>
              <a:gd name="connsiteY9" fmla="*/ 109537 h 1470025"/>
              <a:gd name="connsiteX10" fmla="*/ 438150 w 803275"/>
              <a:gd name="connsiteY10" fmla="*/ 100012 h 1470025"/>
              <a:gd name="connsiteX11" fmla="*/ 458787 w 803275"/>
              <a:gd name="connsiteY11" fmla="*/ 98425 h 1470025"/>
              <a:gd name="connsiteX12" fmla="*/ 485775 w 803275"/>
              <a:gd name="connsiteY12" fmla="*/ 96837 h 1470025"/>
              <a:gd name="connsiteX13" fmla="*/ 666750 w 803275"/>
              <a:gd name="connsiteY13" fmla="*/ 96837 h 1470025"/>
              <a:gd name="connsiteX14" fmla="*/ 666750 w 803275"/>
              <a:gd name="connsiteY14" fmla="*/ 0 h 1470025"/>
              <a:gd name="connsiteX15" fmla="*/ 803275 w 803275"/>
              <a:gd name="connsiteY15" fmla="*/ 184150 h 1470025"/>
              <a:gd name="connsiteX16" fmla="*/ 661987 w 803275"/>
              <a:gd name="connsiteY16" fmla="*/ 381000 h 1470025"/>
              <a:gd name="connsiteX17" fmla="*/ 661987 w 803275"/>
              <a:gd name="connsiteY17" fmla="*/ 280987 h 1470025"/>
              <a:gd name="connsiteX18" fmla="*/ 487362 w 803275"/>
              <a:gd name="connsiteY18" fmla="*/ 280987 h 1470025"/>
              <a:gd name="connsiteX19" fmla="*/ 454025 w 803275"/>
              <a:gd name="connsiteY19" fmla="*/ 293687 h 1470025"/>
              <a:gd name="connsiteX20" fmla="*/ 439737 w 803275"/>
              <a:gd name="connsiteY20" fmla="*/ 304800 h 1470025"/>
              <a:gd name="connsiteX21" fmla="*/ 428625 w 803275"/>
              <a:gd name="connsiteY21" fmla="*/ 314325 h 1470025"/>
              <a:gd name="connsiteX22" fmla="*/ 404812 w 803275"/>
              <a:gd name="connsiteY22" fmla="*/ 342900 h 1470025"/>
              <a:gd name="connsiteX23" fmla="*/ 392112 w 803275"/>
              <a:gd name="connsiteY23" fmla="*/ 387350 h 1470025"/>
              <a:gd name="connsiteX24" fmla="*/ 388937 w 803275"/>
              <a:gd name="connsiteY24" fmla="*/ 417512 h 1470025"/>
              <a:gd name="connsiteX25" fmla="*/ 388937 w 803275"/>
              <a:gd name="connsiteY25" fmla="*/ 1008062 h 1470025"/>
              <a:gd name="connsiteX26" fmla="*/ 388937 w 803275"/>
              <a:gd name="connsiteY26" fmla="*/ 1057275 h 1470025"/>
              <a:gd name="connsiteX27" fmla="*/ 390525 w 803275"/>
              <a:gd name="connsiteY27" fmla="*/ 1079500 h 1470025"/>
              <a:gd name="connsiteX28" fmla="*/ 393700 w 803275"/>
              <a:gd name="connsiteY28" fmla="*/ 1084262 h 1470025"/>
              <a:gd name="connsiteX29" fmla="*/ 398462 w 803275"/>
              <a:gd name="connsiteY29" fmla="*/ 1106487 h 1470025"/>
              <a:gd name="connsiteX30" fmla="*/ 409575 w 803275"/>
              <a:gd name="connsiteY30" fmla="*/ 1125537 h 1470025"/>
              <a:gd name="connsiteX31" fmla="*/ 417512 w 803275"/>
              <a:gd name="connsiteY31" fmla="*/ 1146175 h 1470025"/>
              <a:gd name="connsiteX32" fmla="*/ 428625 w 803275"/>
              <a:gd name="connsiteY32" fmla="*/ 1157287 h 1470025"/>
              <a:gd name="connsiteX33" fmla="*/ 446087 w 803275"/>
              <a:gd name="connsiteY33" fmla="*/ 1177925 h 1470025"/>
              <a:gd name="connsiteX34" fmla="*/ 479425 w 803275"/>
              <a:gd name="connsiteY34" fmla="*/ 1189037 h 1470025"/>
              <a:gd name="connsiteX35" fmla="*/ 665162 w 803275"/>
              <a:gd name="connsiteY35" fmla="*/ 1189037 h 1470025"/>
              <a:gd name="connsiteX36" fmla="*/ 665162 w 803275"/>
              <a:gd name="connsiteY36" fmla="*/ 1092200 h 1470025"/>
              <a:gd name="connsiteX37" fmla="*/ 801687 w 803275"/>
              <a:gd name="connsiteY37" fmla="*/ 1282700 h 1470025"/>
              <a:gd name="connsiteX38" fmla="*/ 666750 w 803275"/>
              <a:gd name="connsiteY38" fmla="*/ 1470025 h 1470025"/>
              <a:gd name="connsiteX39" fmla="*/ 666750 w 803275"/>
              <a:gd name="connsiteY39" fmla="*/ 1377950 h 1470025"/>
              <a:gd name="connsiteX40" fmla="*/ 463550 w 803275"/>
              <a:gd name="connsiteY40" fmla="*/ 1377950 h 1470025"/>
              <a:gd name="connsiteX41" fmla="*/ 425450 w 803275"/>
              <a:gd name="connsiteY41" fmla="*/ 1360487 h 1470025"/>
              <a:gd name="connsiteX42" fmla="*/ 411162 w 803275"/>
              <a:gd name="connsiteY42" fmla="*/ 1355725 h 1470025"/>
              <a:gd name="connsiteX43" fmla="*/ 388937 w 803275"/>
              <a:gd name="connsiteY43" fmla="*/ 1343025 h 1470025"/>
              <a:gd name="connsiteX44" fmla="*/ 369887 w 803275"/>
              <a:gd name="connsiteY44" fmla="*/ 1330325 h 1470025"/>
              <a:gd name="connsiteX45" fmla="*/ 355600 w 803275"/>
              <a:gd name="connsiteY45" fmla="*/ 1317625 h 1470025"/>
              <a:gd name="connsiteX46" fmla="*/ 342900 w 803275"/>
              <a:gd name="connsiteY46" fmla="*/ 1303337 h 1470025"/>
              <a:gd name="connsiteX47" fmla="*/ 333375 w 803275"/>
              <a:gd name="connsiteY47" fmla="*/ 1292225 h 1470025"/>
              <a:gd name="connsiteX48" fmla="*/ 322262 w 803275"/>
              <a:gd name="connsiteY48" fmla="*/ 1281112 h 1470025"/>
              <a:gd name="connsiteX49" fmla="*/ 314325 w 803275"/>
              <a:gd name="connsiteY49" fmla="*/ 1265237 h 1470025"/>
              <a:gd name="connsiteX50" fmla="*/ 303212 w 803275"/>
              <a:gd name="connsiteY50" fmla="*/ 1246187 h 1470025"/>
              <a:gd name="connsiteX51" fmla="*/ 284162 w 803275"/>
              <a:gd name="connsiteY51" fmla="*/ 1211262 h 1470025"/>
              <a:gd name="connsiteX52" fmla="*/ 273050 w 803275"/>
              <a:gd name="connsiteY52" fmla="*/ 1176337 h 1470025"/>
              <a:gd name="connsiteX53" fmla="*/ 265112 w 803275"/>
              <a:gd name="connsiteY53" fmla="*/ 1154112 h 1470025"/>
              <a:gd name="connsiteX54" fmla="*/ 260350 w 803275"/>
              <a:gd name="connsiteY54" fmla="*/ 1125537 h 1470025"/>
              <a:gd name="connsiteX55" fmla="*/ 250825 w 803275"/>
              <a:gd name="connsiteY55" fmla="*/ 1104900 h 1470025"/>
              <a:gd name="connsiteX56" fmla="*/ 250825 w 803275"/>
              <a:gd name="connsiteY56" fmla="*/ 1089025 h 1470025"/>
              <a:gd name="connsiteX57" fmla="*/ 250825 w 803275"/>
              <a:gd name="connsiteY57" fmla="*/ 835025 h 1470025"/>
              <a:gd name="connsiteX58" fmla="*/ 0 w 803275"/>
              <a:gd name="connsiteY58" fmla="*/ 835025 h 1470025"/>
              <a:gd name="connsiteX59" fmla="*/ 0 w 803275"/>
              <a:gd name="connsiteY59" fmla="*/ 617537 h 1470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</a:cxnLst>
            <a:rect l="l" t="t" r="r" b="b"/>
            <a:pathLst>
              <a:path w="803275" h="1470025">
                <a:moveTo>
                  <a:pt x="0" y="617537"/>
                </a:moveTo>
                <a:lnTo>
                  <a:pt x="249237" y="617537"/>
                </a:lnTo>
                <a:lnTo>
                  <a:pt x="249237" y="388937"/>
                </a:lnTo>
                <a:lnTo>
                  <a:pt x="266700" y="315912"/>
                </a:lnTo>
                <a:lnTo>
                  <a:pt x="277812" y="260350"/>
                </a:lnTo>
                <a:lnTo>
                  <a:pt x="306387" y="209550"/>
                </a:lnTo>
                <a:lnTo>
                  <a:pt x="334962" y="171450"/>
                </a:lnTo>
                <a:lnTo>
                  <a:pt x="358775" y="146050"/>
                </a:lnTo>
                <a:lnTo>
                  <a:pt x="385762" y="127000"/>
                </a:lnTo>
                <a:lnTo>
                  <a:pt x="423862" y="109537"/>
                </a:lnTo>
                <a:lnTo>
                  <a:pt x="438150" y="100012"/>
                </a:lnTo>
                <a:lnTo>
                  <a:pt x="458787" y="98425"/>
                </a:lnTo>
                <a:lnTo>
                  <a:pt x="485775" y="96837"/>
                </a:lnTo>
                <a:lnTo>
                  <a:pt x="666750" y="96837"/>
                </a:lnTo>
                <a:lnTo>
                  <a:pt x="666750" y="0"/>
                </a:lnTo>
                <a:lnTo>
                  <a:pt x="803275" y="184150"/>
                </a:lnTo>
                <a:lnTo>
                  <a:pt x="661987" y="381000"/>
                </a:lnTo>
                <a:lnTo>
                  <a:pt x="661987" y="280987"/>
                </a:lnTo>
                <a:lnTo>
                  <a:pt x="487362" y="280987"/>
                </a:lnTo>
                <a:lnTo>
                  <a:pt x="454025" y="293687"/>
                </a:lnTo>
                <a:lnTo>
                  <a:pt x="439737" y="304800"/>
                </a:lnTo>
                <a:lnTo>
                  <a:pt x="428625" y="314325"/>
                </a:lnTo>
                <a:lnTo>
                  <a:pt x="404812" y="342900"/>
                </a:lnTo>
                <a:lnTo>
                  <a:pt x="392112" y="387350"/>
                </a:lnTo>
                <a:lnTo>
                  <a:pt x="388937" y="417512"/>
                </a:lnTo>
                <a:lnTo>
                  <a:pt x="388937" y="1008062"/>
                </a:lnTo>
                <a:lnTo>
                  <a:pt x="388937" y="1057275"/>
                </a:lnTo>
                <a:lnTo>
                  <a:pt x="390525" y="1079500"/>
                </a:lnTo>
                <a:lnTo>
                  <a:pt x="393700" y="1084262"/>
                </a:lnTo>
                <a:lnTo>
                  <a:pt x="398462" y="1106487"/>
                </a:lnTo>
                <a:lnTo>
                  <a:pt x="409575" y="1125537"/>
                </a:lnTo>
                <a:lnTo>
                  <a:pt x="417512" y="1146175"/>
                </a:lnTo>
                <a:lnTo>
                  <a:pt x="428625" y="1157287"/>
                </a:lnTo>
                <a:lnTo>
                  <a:pt x="446087" y="1177925"/>
                </a:lnTo>
                <a:lnTo>
                  <a:pt x="479425" y="1189037"/>
                </a:lnTo>
                <a:lnTo>
                  <a:pt x="665162" y="1189037"/>
                </a:lnTo>
                <a:lnTo>
                  <a:pt x="665162" y="1092200"/>
                </a:lnTo>
                <a:lnTo>
                  <a:pt x="801687" y="1282700"/>
                </a:lnTo>
                <a:lnTo>
                  <a:pt x="666750" y="1470025"/>
                </a:lnTo>
                <a:lnTo>
                  <a:pt x="666750" y="1377950"/>
                </a:lnTo>
                <a:lnTo>
                  <a:pt x="463550" y="1377950"/>
                </a:lnTo>
                <a:lnTo>
                  <a:pt x="425450" y="1360487"/>
                </a:lnTo>
                <a:lnTo>
                  <a:pt x="411162" y="1355725"/>
                </a:lnTo>
                <a:lnTo>
                  <a:pt x="388937" y="1343025"/>
                </a:lnTo>
                <a:lnTo>
                  <a:pt x="369887" y="1330325"/>
                </a:lnTo>
                <a:lnTo>
                  <a:pt x="355600" y="1317625"/>
                </a:lnTo>
                <a:lnTo>
                  <a:pt x="342900" y="1303337"/>
                </a:lnTo>
                <a:lnTo>
                  <a:pt x="333375" y="1292225"/>
                </a:lnTo>
                <a:lnTo>
                  <a:pt x="322262" y="1281112"/>
                </a:lnTo>
                <a:lnTo>
                  <a:pt x="314325" y="1265237"/>
                </a:lnTo>
                <a:lnTo>
                  <a:pt x="303212" y="1246187"/>
                </a:lnTo>
                <a:lnTo>
                  <a:pt x="284162" y="1211262"/>
                </a:lnTo>
                <a:lnTo>
                  <a:pt x="273050" y="1176337"/>
                </a:lnTo>
                <a:lnTo>
                  <a:pt x="265112" y="1154112"/>
                </a:lnTo>
                <a:lnTo>
                  <a:pt x="260350" y="1125537"/>
                </a:lnTo>
                <a:lnTo>
                  <a:pt x="250825" y="1104900"/>
                </a:lnTo>
                <a:lnTo>
                  <a:pt x="250825" y="1089025"/>
                </a:lnTo>
                <a:lnTo>
                  <a:pt x="250825" y="835025"/>
                </a:lnTo>
                <a:lnTo>
                  <a:pt x="0" y="835025"/>
                </a:lnTo>
                <a:lnTo>
                  <a:pt x="0" y="617537"/>
                </a:lnTo>
                <a:close/>
              </a:path>
            </a:pathLst>
          </a:custGeom>
          <a:gradFill>
            <a:gsLst>
              <a:gs pos="19000">
                <a:schemeClr val="bg2">
                  <a:lumMod val="60000"/>
                  <a:lumOff val="40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2">
                  <a:lumMod val="7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A83B114-5206-1F19-D73E-E30EB2AF53AA}"/>
              </a:ext>
            </a:extLst>
          </p:cNvPr>
          <p:cNvSpPr txBox="1"/>
          <p:nvPr/>
        </p:nvSpPr>
        <p:spPr>
          <a:xfrm>
            <a:off x="7033740" y="2832453"/>
            <a:ext cx="1017280" cy="276999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pPr algn="ctr"/>
            <a:r>
              <a:rPr lang="en-US" altLang="zh-CN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5V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4E17F16D-6C6D-89C5-87DF-6F70DFAC2C43}"/>
              </a:ext>
            </a:extLst>
          </p:cNvPr>
          <p:cNvSpPr txBox="1"/>
          <p:nvPr/>
        </p:nvSpPr>
        <p:spPr>
          <a:xfrm>
            <a:off x="7093559" y="1331620"/>
            <a:ext cx="1017280" cy="276999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pPr algn="ctr"/>
            <a:r>
              <a:rPr lang="en-US" altLang="zh-CN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5V</a:t>
            </a:r>
          </a:p>
        </p:txBody>
      </p:sp>
      <p:sp>
        <p:nvSpPr>
          <p:cNvPr id="26" name="右箭头 13">
            <a:extLst>
              <a:ext uri="{FF2B5EF4-FFF2-40B4-BE49-F238E27FC236}">
                <a16:creationId xmlns:a16="http://schemas.microsoft.com/office/drawing/2014/main" id="{AEF40B04-02DA-8B44-15AF-3A253DBDC270}"/>
              </a:ext>
            </a:extLst>
          </p:cNvPr>
          <p:cNvSpPr/>
          <p:nvPr/>
        </p:nvSpPr>
        <p:spPr>
          <a:xfrm>
            <a:off x="9689560" y="1249026"/>
            <a:ext cx="694052" cy="432566"/>
          </a:xfrm>
          <a:prstGeom prst="rightArrow">
            <a:avLst>
              <a:gd name="adj1" fmla="val 63528"/>
              <a:gd name="adj2" fmla="val 50000"/>
            </a:avLst>
          </a:prstGeom>
          <a:gradFill>
            <a:gsLst>
              <a:gs pos="19000">
                <a:schemeClr val="bg2">
                  <a:lumMod val="60000"/>
                  <a:lumOff val="40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2">
                  <a:lumMod val="7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3.3V</a:t>
            </a:r>
            <a:endParaRPr lang="zh-CN" altLang="en-US" sz="12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圆角矩形 61">
            <a:extLst>
              <a:ext uri="{FF2B5EF4-FFF2-40B4-BE49-F238E27FC236}">
                <a16:creationId xmlns:a16="http://schemas.microsoft.com/office/drawing/2014/main" id="{36C2F67A-EFF2-8746-42E9-227562ACB758}"/>
              </a:ext>
            </a:extLst>
          </p:cNvPr>
          <p:cNvSpPr/>
          <p:nvPr/>
        </p:nvSpPr>
        <p:spPr>
          <a:xfrm>
            <a:off x="10610455" y="1305880"/>
            <a:ext cx="1101280" cy="324565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599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VCC</a:t>
            </a:r>
            <a:endParaRPr lang="zh-CN" altLang="en-US" sz="1599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圆角矩形 61">
            <a:extLst>
              <a:ext uri="{FF2B5EF4-FFF2-40B4-BE49-F238E27FC236}">
                <a16:creationId xmlns:a16="http://schemas.microsoft.com/office/drawing/2014/main" id="{C0244289-9974-3CF4-BFED-E1A326A7821A}"/>
              </a:ext>
            </a:extLst>
          </p:cNvPr>
          <p:cNvSpPr/>
          <p:nvPr/>
        </p:nvSpPr>
        <p:spPr>
          <a:xfrm>
            <a:off x="10610455" y="2736967"/>
            <a:ext cx="1101280" cy="324565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599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ISO_5V</a:t>
            </a:r>
            <a:endParaRPr lang="zh-CN" altLang="en-US" sz="1599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右箭头 13">
            <a:extLst>
              <a:ext uri="{FF2B5EF4-FFF2-40B4-BE49-F238E27FC236}">
                <a16:creationId xmlns:a16="http://schemas.microsoft.com/office/drawing/2014/main" id="{3695EE12-7042-348E-25AF-A886914D7E6F}"/>
              </a:ext>
            </a:extLst>
          </p:cNvPr>
          <p:cNvSpPr/>
          <p:nvPr/>
        </p:nvSpPr>
        <p:spPr>
          <a:xfrm>
            <a:off x="9689560" y="2693709"/>
            <a:ext cx="694052" cy="432566"/>
          </a:xfrm>
          <a:prstGeom prst="rightArrow">
            <a:avLst>
              <a:gd name="adj1" fmla="val 63528"/>
              <a:gd name="adj2" fmla="val 50000"/>
            </a:avLst>
          </a:prstGeom>
          <a:gradFill>
            <a:gsLst>
              <a:gs pos="19000">
                <a:schemeClr val="bg2">
                  <a:lumMod val="60000"/>
                  <a:lumOff val="40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2">
                  <a:lumMod val="7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5V</a:t>
            </a:r>
            <a:endParaRPr lang="zh-CN" altLang="en-US" sz="12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302F1B3-5BCC-DD70-AED4-686F980B3961}"/>
              </a:ext>
            </a:extLst>
          </p:cNvPr>
          <p:cNvGrpSpPr/>
          <p:nvPr/>
        </p:nvGrpSpPr>
        <p:grpSpPr>
          <a:xfrm>
            <a:off x="2833005" y="3883427"/>
            <a:ext cx="4097988" cy="2694845"/>
            <a:chOff x="226877" y="3883427"/>
            <a:chExt cx="4097988" cy="2694845"/>
          </a:xfrm>
        </p:grpSpPr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1D4222A5-C92D-2498-EFD1-8243008B58D5}"/>
                </a:ext>
              </a:extLst>
            </p:cNvPr>
            <p:cNvGrpSpPr/>
            <p:nvPr/>
          </p:nvGrpSpPr>
          <p:grpSpPr>
            <a:xfrm>
              <a:off x="226877" y="3883427"/>
              <a:ext cx="4028663" cy="2694845"/>
              <a:chOff x="226877" y="3996317"/>
              <a:chExt cx="4731203" cy="2581954"/>
            </a:xfrm>
          </p:grpSpPr>
          <p:sp>
            <p:nvSpPr>
              <p:cNvPr id="31" name="矩形 26">
                <a:extLst>
                  <a:ext uri="{FF2B5EF4-FFF2-40B4-BE49-F238E27FC236}">
                    <a16:creationId xmlns:a16="http://schemas.microsoft.com/office/drawing/2014/main" id="{07F95FF8-0C78-3D8A-4A9E-90E91EF80BA9}"/>
                  </a:ext>
                </a:extLst>
              </p:cNvPr>
              <p:cNvSpPr/>
              <p:nvPr/>
            </p:nvSpPr>
            <p:spPr>
              <a:xfrm>
                <a:off x="226877" y="4365651"/>
                <a:ext cx="4730510" cy="2212620"/>
              </a:xfrm>
              <a:prstGeom prst="rect">
                <a:avLst/>
              </a:prstGeom>
              <a:noFill/>
              <a:ln w="6350" cap="flat" cmpd="sng" algn="ctr">
                <a:solidFill>
                  <a:srgbClr val="0070C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方正黑体简体" panose="0200000000000000000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2" name="文本框 85">
                <a:extLst>
                  <a:ext uri="{FF2B5EF4-FFF2-40B4-BE49-F238E27FC236}">
                    <a16:creationId xmlns:a16="http://schemas.microsoft.com/office/drawing/2014/main" id="{A5ED415C-9AC7-34A0-9278-821BCBC471C2}"/>
                  </a:ext>
                </a:extLst>
              </p:cNvPr>
              <p:cNvSpPr txBox="1"/>
              <p:nvPr/>
            </p:nvSpPr>
            <p:spPr>
              <a:xfrm>
                <a:off x="227570" y="3996317"/>
                <a:ext cx="4730510" cy="353860"/>
              </a:xfrm>
              <a:prstGeom prst="rect">
                <a:avLst/>
              </a:prstGeom>
              <a:solidFill>
                <a:srgbClr val="0070C0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b="1" dirty="0">
                    <a:solidFill>
                      <a:prstClr val="white"/>
                    </a:solidFill>
                    <a:latin typeface="Times New Roman" panose="02020603050405020304" pitchFamily="18" charset="0"/>
                    <a:ea typeface="方正黑体简体" panose="02000000000000000000"/>
                    <a:cs typeface="Times New Roman" panose="02020603050405020304" pitchFamily="18" charset="0"/>
                  </a:rPr>
                  <a:t>MP4583</a:t>
                </a:r>
                <a:endParaRPr lang="zh-CN" altLang="en-US" b="1" dirty="0">
                  <a:solidFill>
                    <a:prstClr val="white"/>
                  </a:solidFill>
                  <a:latin typeface="Times New Roman" panose="02020603050405020304" pitchFamily="18" charset="0"/>
                  <a:ea typeface="方正黑体简体" panose="0200000000000000000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D61BF823-68A3-7E51-F8FE-3A739BEE18C7}"/>
                </a:ext>
              </a:extLst>
            </p:cNvPr>
            <p:cNvSpPr txBox="1"/>
            <p:nvPr/>
          </p:nvSpPr>
          <p:spPr>
            <a:xfrm>
              <a:off x="296202" y="4314404"/>
              <a:ext cx="4028663" cy="175432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dirty="0"/>
                <a:t>● 宽压输入 </a:t>
              </a:r>
              <a:r>
                <a:rPr lang="en-US" altLang="zh-CN" b="1" dirty="0">
                  <a:solidFill>
                    <a:srgbClr val="FF0000"/>
                  </a:solidFill>
                </a:rPr>
                <a:t>4.5V</a:t>
              </a:r>
              <a:r>
                <a:rPr lang="zh-CN" altLang="en-US" b="1" dirty="0">
                  <a:solidFill>
                    <a:srgbClr val="FF0000"/>
                  </a:solidFill>
                </a:rPr>
                <a:t>～</a:t>
              </a:r>
              <a:r>
                <a:rPr lang="en-US" altLang="zh-CN" b="1" dirty="0">
                  <a:solidFill>
                    <a:srgbClr val="FF0000"/>
                  </a:solidFill>
                </a:rPr>
                <a:t>100V</a:t>
              </a:r>
              <a:r>
                <a:rPr lang="zh-CN" altLang="en-US" dirty="0"/>
                <a:t>，输出 </a:t>
              </a:r>
              <a:r>
                <a:rPr lang="en-US" altLang="zh-CN" dirty="0"/>
                <a:t>3A</a:t>
              </a:r>
              <a:r>
                <a:rPr lang="zh-CN" altLang="en-US" dirty="0"/>
                <a:t>，</a:t>
              </a:r>
              <a:endParaRPr lang="en-US" altLang="zh-CN" dirty="0"/>
            </a:p>
            <a:p>
              <a:r>
                <a:rPr lang="zh-CN" altLang="en-US" dirty="0"/>
                <a:t>● 静态功耗 </a:t>
              </a:r>
              <a:r>
                <a:rPr lang="en-US" altLang="zh-CN" dirty="0"/>
                <a:t>8μA </a:t>
              </a:r>
            </a:p>
            <a:p>
              <a:r>
                <a:rPr lang="en-US" altLang="zh-CN" dirty="0"/>
                <a:t>● </a:t>
              </a:r>
              <a:r>
                <a:rPr lang="zh-CN" altLang="en-US" dirty="0"/>
                <a:t>集成 </a:t>
              </a:r>
              <a:r>
                <a:rPr lang="en-US" altLang="zh-CN" dirty="0"/>
                <a:t>MOSFET</a:t>
              </a:r>
              <a:r>
                <a:rPr lang="zh-CN" altLang="en-US" dirty="0"/>
                <a:t>，内置 </a:t>
              </a:r>
              <a:r>
                <a:rPr lang="en-US" altLang="zh-CN" dirty="0"/>
                <a:t>FCCM </a:t>
              </a:r>
              <a:r>
                <a:rPr lang="zh-CN" altLang="en-US" dirty="0"/>
                <a:t>模式</a:t>
              </a:r>
              <a:endParaRPr lang="en-US" altLang="zh-CN" dirty="0"/>
            </a:p>
            <a:p>
              <a:r>
                <a:rPr lang="zh-CN" altLang="en-US" dirty="0"/>
                <a:t>● 内置</a:t>
              </a:r>
              <a:r>
                <a:rPr lang="en-US" altLang="zh-CN" dirty="0"/>
                <a:t>OCP / SCP / OVP / OTP </a:t>
              </a:r>
              <a:r>
                <a:rPr lang="zh-CN" altLang="en-US" dirty="0"/>
                <a:t>四重保护 </a:t>
              </a:r>
              <a:endParaRPr lang="en-US" altLang="zh-CN" dirty="0"/>
            </a:p>
            <a:p>
              <a:r>
                <a:rPr lang="zh-CN" altLang="en-US" dirty="0"/>
                <a:t>● 内置环路补偿，外围精简</a:t>
              </a:r>
            </a:p>
          </p:txBody>
        </p:sp>
      </p:grpSp>
      <p:sp>
        <p:nvSpPr>
          <p:cNvPr id="49" name="AutoShape 2">
            <a:extLst>
              <a:ext uri="{FF2B5EF4-FFF2-40B4-BE49-F238E27FC236}">
                <a16:creationId xmlns:a16="http://schemas.microsoft.com/office/drawing/2014/main" id="{3524D454-F343-5C47-0624-936BE4B797C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C3D2B80A-C5B0-EE5F-61F9-5D4C87E497EB}"/>
              </a:ext>
            </a:extLst>
          </p:cNvPr>
          <p:cNvGrpSpPr/>
          <p:nvPr/>
        </p:nvGrpSpPr>
        <p:grpSpPr>
          <a:xfrm>
            <a:off x="6931720" y="3883428"/>
            <a:ext cx="4964078" cy="2694844"/>
            <a:chOff x="226877" y="3996318"/>
            <a:chExt cx="4731203" cy="2581953"/>
          </a:xfrm>
        </p:grpSpPr>
        <p:sp>
          <p:nvSpPr>
            <p:cNvPr id="53" name="矩形 26">
              <a:extLst>
                <a:ext uri="{FF2B5EF4-FFF2-40B4-BE49-F238E27FC236}">
                  <a16:creationId xmlns:a16="http://schemas.microsoft.com/office/drawing/2014/main" id="{7AFACD28-C396-8058-28DD-7CDDEA1E0DDF}"/>
                </a:ext>
              </a:extLst>
            </p:cNvPr>
            <p:cNvSpPr/>
            <p:nvPr/>
          </p:nvSpPr>
          <p:spPr>
            <a:xfrm>
              <a:off x="226877" y="4365651"/>
              <a:ext cx="4730510" cy="2212620"/>
            </a:xfrm>
            <a:prstGeom prst="rect">
              <a:avLst/>
            </a:prstGeom>
            <a:noFill/>
            <a:ln w="6350" cap="flat" cmpd="sng" algn="ctr">
              <a:solidFill>
                <a:srgbClr val="0070C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方正黑体简体" panose="02000000000000000000"/>
                <a:cs typeface="Times New Roman" panose="02020603050405020304" pitchFamily="18" charset="0"/>
              </a:endParaRPr>
            </a:p>
          </p:txBody>
        </p:sp>
        <p:sp>
          <p:nvSpPr>
            <p:cNvPr id="54" name="文本框 85">
              <a:extLst>
                <a:ext uri="{FF2B5EF4-FFF2-40B4-BE49-F238E27FC236}">
                  <a16:creationId xmlns:a16="http://schemas.microsoft.com/office/drawing/2014/main" id="{D3863E3E-699B-3A82-8DE6-27EE1630A8DE}"/>
                </a:ext>
              </a:extLst>
            </p:cNvPr>
            <p:cNvSpPr txBox="1"/>
            <p:nvPr/>
          </p:nvSpPr>
          <p:spPr>
            <a:xfrm>
              <a:off x="227570" y="3996318"/>
              <a:ext cx="4730510" cy="353860"/>
            </a:xfrm>
            <a:prstGeom prst="rect">
              <a:avLst/>
            </a:prstGeom>
            <a:solidFill>
              <a:srgbClr val="0070C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>
                  <a:solidFill>
                    <a:prstClr val="white"/>
                  </a:solidFill>
                  <a:latin typeface="Times New Roman" panose="02020603050405020304" pitchFamily="18" charset="0"/>
                  <a:ea typeface="方正黑体简体" panose="02000000000000000000"/>
                  <a:cs typeface="Times New Roman" panose="02020603050405020304" pitchFamily="18" charset="0"/>
                </a:rPr>
                <a:t>MP3632S</a:t>
              </a:r>
              <a:endParaRPr lang="zh-CN" altLang="en-US" b="1" dirty="0">
                <a:solidFill>
                  <a:prstClr val="white"/>
                </a:solidFill>
                <a:latin typeface="Times New Roman" panose="02020603050405020304" pitchFamily="18" charset="0"/>
                <a:ea typeface="方正黑体简体" panose="02000000000000000000"/>
                <a:cs typeface="Times New Roman" panose="02020603050405020304" pitchFamily="18" charset="0"/>
              </a:endParaRPr>
            </a:p>
          </p:txBody>
        </p:sp>
      </p:grpSp>
      <p:sp>
        <p:nvSpPr>
          <p:cNvPr id="56" name="文本框 55">
            <a:extLst>
              <a:ext uri="{FF2B5EF4-FFF2-40B4-BE49-F238E27FC236}">
                <a16:creationId xmlns:a16="http://schemas.microsoft.com/office/drawing/2014/main" id="{3E686FDF-D209-16D3-3FBB-1B052C3731D7}"/>
              </a:ext>
            </a:extLst>
          </p:cNvPr>
          <p:cNvSpPr txBox="1"/>
          <p:nvPr/>
        </p:nvSpPr>
        <p:spPr>
          <a:xfrm>
            <a:off x="6931720" y="4314404"/>
            <a:ext cx="496407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● </a:t>
            </a:r>
            <a:r>
              <a:rPr lang="en-US" altLang="zh-CN" dirty="0"/>
              <a:t>EC LGA-10 </a:t>
            </a:r>
            <a:r>
              <a:rPr lang="zh-CN" altLang="en-US" dirty="0"/>
              <a:t>封装，仅 </a:t>
            </a:r>
            <a:r>
              <a:rPr lang="en-US" altLang="zh-CN" dirty="0"/>
              <a:t>3×3×1.45mm,</a:t>
            </a:r>
            <a:r>
              <a:rPr lang="zh-CN" altLang="en-US" dirty="0"/>
              <a:t>且</a:t>
            </a:r>
            <a:r>
              <a:rPr lang="zh-CN" altLang="en-US" b="1" dirty="0">
                <a:solidFill>
                  <a:srgbClr val="FF0000"/>
                </a:solidFill>
              </a:rPr>
              <a:t>集成了电感和部分电容</a:t>
            </a:r>
            <a:endParaRPr lang="en-US" altLang="zh-CN" b="1" dirty="0">
              <a:solidFill>
                <a:srgbClr val="FF0000"/>
              </a:solidFill>
            </a:endParaRPr>
          </a:p>
          <a:p>
            <a:r>
              <a:rPr lang="zh-CN" altLang="en-US" dirty="0"/>
              <a:t>● </a:t>
            </a:r>
            <a:r>
              <a:rPr lang="en-US" altLang="zh-CN" dirty="0"/>
              <a:t>2.2MHz </a:t>
            </a:r>
            <a:r>
              <a:rPr lang="zh-CN" altLang="en-US" dirty="0"/>
              <a:t>高频 </a:t>
            </a:r>
            <a:r>
              <a:rPr lang="en-US" altLang="zh-CN" dirty="0"/>
              <a:t>COT </a:t>
            </a:r>
            <a:r>
              <a:rPr lang="zh-CN" altLang="en-US" dirty="0"/>
              <a:t>控制，快速负载瞬态响应</a:t>
            </a:r>
            <a:endParaRPr lang="en-US" altLang="zh-CN" dirty="0"/>
          </a:p>
          <a:p>
            <a:r>
              <a:rPr lang="zh-CN" altLang="en-US" dirty="0"/>
              <a:t>● 集成 </a:t>
            </a:r>
            <a:r>
              <a:rPr lang="en-US" altLang="zh-CN" dirty="0"/>
              <a:t>OCP</a:t>
            </a:r>
            <a:r>
              <a:rPr lang="zh-CN" altLang="en-US" dirty="0"/>
              <a:t>（打嗝模式）</a:t>
            </a:r>
            <a:r>
              <a:rPr lang="en-US" altLang="zh-CN" dirty="0"/>
              <a:t>/ OVP / 150°C </a:t>
            </a:r>
            <a:r>
              <a:rPr lang="zh-CN" altLang="en-US" dirty="0"/>
              <a:t>热关断三重保护</a:t>
            </a:r>
            <a:endParaRPr lang="en-US" altLang="zh-CN" dirty="0"/>
          </a:p>
          <a:p>
            <a:r>
              <a:rPr lang="zh-CN" altLang="en-US" dirty="0"/>
              <a:t>● 输出</a:t>
            </a:r>
            <a:r>
              <a:rPr lang="zh-CN" altLang="en-US" b="1" dirty="0">
                <a:solidFill>
                  <a:srgbClr val="FF0000"/>
                </a:solidFill>
              </a:rPr>
              <a:t>精度 </a:t>
            </a:r>
            <a:r>
              <a:rPr lang="en-US" altLang="zh-CN" b="1" dirty="0">
                <a:solidFill>
                  <a:srgbClr val="FF0000"/>
                </a:solidFill>
              </a:rPr>
              <a:t>±0.5%</a:t>
            </a:r>
            <a:r>
              <a:rPr lang="zh-CN" altLang="en-US" dirty="0"/>
              <a:t>，负载</a:t>
            </a:r>
            <a:r>
              <a:rPr lang="en-US" altLang="zh-CN" dirty="0"/>
              <a:t>/</a:t>
            </a:r>
            <a:r>
              <a:rPr lang="zh-CN" altLang="en-US" b="1" dirty="0">
                <a:solidFill>
                  <a:srgbClr val="FF0000"/>
                </a:solidFill>
              </a:rPr>
              <a:t>线性调整率均 </a:t>
            </a:r>
            <a:r>
              <a:rPr lang="en-US" altLang="zh-CN" b="1" dirty="0">
                <a:solidFill>
                  <a:srgbClr val="FF0000"/>
                </a:solidFill>
              </a:rPr>
              <a:t>&lt;0.5%</a:t>
            </a:r>
          </a:p>
          <a:p>
            <a:r>
              <a:rPr lang="zh-CN" altLang="en-US" dirty="0"/>
              <a:t>●强制 </a:t>
            </a:r>
            <a:r>
              <a:rPr lang="en-US" altLang="zh-CN" dirty="0"/>
              <a:t>CCM </a:t>
            </a:r>
            <a:r>
              <a:rPr lang="zh-CN" altLang="en-US" dirty="0"/>
              <a:t>模式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EE73AB8-96CE-8F46-5A33-4552DBAD442D}"/>
              </a:ext>
            </a:extLst>
          </p:cNvPr>
          <p:cNvSpPr txBox="1"/>
          <p:nvPr/>
        </p:nvSpPr>
        <p:spPr>
          <a:xfrm>
            <a:off x="12256064" y="166419"/>
            <a:ext cx="39460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900"/>
              </a:spcBef>
              <a:spcAft>
                <a:spcPts val="900"/>
              </a:spcAft>
              <a:buFont typeface="+mj-lt"/>
              <a:buAutoNum type="arabicPeriod"/>
            </a:pPr>
            <a:r>
              <a:rPr lang="zh-CN" altLang="en-US" b="1" dirty="0">
                <a:solidFill>
                  <a:srgbClr val="FF0000"/>
                </a:solidFill>
                <a:latin typeface="+mj-ea"/>
                <a:ea typeface="+mj-ea"/>
                <a:cs typeface="Times New Roman" panose="02020603050405020304" pitchFamily="18" charset="0"/>
              </a:rPr>
              <a:t>以上用到的</a:t>
            </a:r>
            <a:r>
              <a:rPr lang="en-US" altLang="zh-CN" b="1" dirty="0">
                <a:solidFill>
                  <a:srgbClr val="FF0000"/>
                </a:solidFill>
                <a:latin typeface="+mj-ea"/>
                <a:ea typeface="+mj-ea"/>
                <a:cs typeface="Times New Roman" panose="02020603050405020304" pitchFamily="18" charset="0"/>
              </a:rPr>
              <a:t>IC </a:t>
            </a:r>
            <a:r>
              <a:rPr lang="zh-CN" altLang="en-US" b="1" dirty="0">
                <a:solidFill>
                  <a:srgbClr val="FF0000"/>
                </a:solidFill>
                <a:latin typeface="+mj-ea"/>
                <a:ea typeface="+mj-ea"/>
                <a:cs typeface="Times New Roman" panose="02020603050405020304" pitchFamily="18" charset="0"/>
              </a:rPr>
              <a:t>需要不同的电压等级</a:t>
            </a:r>
            <a:r>
              <a:rPr lang="en-US" altLang="zh-CN" b="1" dirty="0">
                <a:solidFill>
                  <a:srgbClr val="FF0000"/>
                </a:solidFill>
                <a:latin typeface="+mj-ea"/>
                <a:ea typeface="+mj-ea"/>
                <a:cs typeface="Times New Roman" panose="02020603050405020304" pitchFamily="18" charset="0"/>
              </a:rPr>
              <a:t>……</a:t>
            </a:r>
            <a:r>
              <a:rPr lang="zh-CN" altLang="en-US" b="1" dirty="0">
                <a:solidFill>
                  <a:srgbClr val="FF0000"/>
                </a:solidFill>
                <a:latin typeface="+mj-ea"/>
                <a:ea typeface="+mj-ea"/>
                <a:cs typeface="Times New Roman" panose="02020603050405020304" pitchFamily="18" charset="0"/>
              </a:rPr>
              <a:t>所以设计</a:t>
            </a:r>
            <a:r>
              <a:rPr lang="en-US" altLang="zh-CN" b="1" dirty="0">
                <a:solidFill>
                  <a:srgbClr val="FF0000"/>
                </a:solidFill>
                <a:latin typeface="+mj-ea"/>
                <a:ea typeface="+mj-ea"/>
                <a:cs typeface="Times New Roman" panose="02020603050405020304" pitchFamily="18" charset="0"/>
              </a:rPr>
              <a:t>…..</a:t>
            </a: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EF78DFBD-0DB6-8488-B66D-5C06D22BB33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40000" contrast="-20000"/>
                    </a14:imgEffect>
                  </a14:imgLayer>
                </a14:imgProps>
              </a:ext>
            </a:extLst>
          </a:blip>
          <a:srcRect l="38755" t="32547" r="40846" b="41733"/>
          <a:stretch/>
        </p:blipFill>
        <p:spPr>
          <a:xfrm>
            <a:off x="102924" y="4150673"/>
            <a:ext cx="2514405" cy="2113710"/>
          </a:xfrm>
          <a:prstGeom prst="rect">
            <a:avLst/>
          </a:prstGeom>
        </p:spPr>
      </p:pic>
      <p:sp>
        <p:nvSpPr>
          <p:cNvPr id="23" name="矩形 22">
            <a:extLst>
              <a:ext uri="{FF2B5EF4-FFF2-40B4-BE49-F238E27FC236}">
                <a16:creationId xmlns:a16="http://schemas.microsoft.com/office/drawing/2014/main" id="{BA327077-C41E-2C08-D53A-3D56BDC0AC75}"/>
              </a:ext>
            </a:extLst>
          </p:cNvPr>
          <p:cNvSpPr/>
          <p:nvPr/>
        </p:nvSpPr>
        <p:spPr>
          <a:xfrm rot="2446889">
            <a:off x="1831089" y="4852111"/>
            <a:ext cx="304800" cy="29122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15402B2-2B23-366D-5734-C47554ED2D7F}"/>
              </a:ext>
            </a:extLst>
          </p:cNvPr>
          <p:cNvSpPr/>
          <p:nvPr/>
        </p:nvSpPr>
        <p:spPr>
          <a:xfrm rot="2446889">
            <a:off x="1818985" y="5396015"/>
            <a:ext cx="404500" cy="29122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8060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879064-ECF0-D655-517A-3188A7D40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>
            <a:extLst>
              <a:ext uri="{FF2B5EF4-FFF2-40B4-BE49-F238E27FC236}">
                <a16:creationId xmlns:a16="http://schemas.microsoft.com/office/drawing/2014/main" id="{48F36709-4F2C-3590-4C24-48D9C9182D7E}"/>
              </a:ext>
            </a:extLst>
          </p:cNvPr>
          <p:cNvSpPr/>
          <p:nvPr/>
        </p:nvSpPr>
        <p:spPr>
          <a:xfrm>
            <a:off x="217806" y="800638"/>
            <a:ext cx="11663919" cy="292500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7DCFA4BB-2104-C961-2E52-71AF7193E8DE}"/>
              </a:ext>
            </a:extLst>
          </p:cNvPr>
          <p:cNvSpPr/>
          <p:nvPr/>
        </p:nvSpPr>
        <p:spPr>
          <a:xfrm>
            <a:off x="7961607" y="800638"/>
            <a:ext cx="3919017" cy="292500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8D9C1941-567C-1A88-7AAA-3ABCDA3871A1}"/>
              </a:ext>
            </a:extLst>
          </p:cNvPr>
          <p:cNvSpPr/>
          <p:nvPr/>
        </p:nvSpPr>
        <p:spPr>
          <a:xfrm>
            <a:off x="7960507" y="2370512"/>
            <a:ext cx="2000757" cy="135767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FDF3BDA6-3532-F529-55AF-BDD3A0D10FD5}"/>
              </a:ext>
            </a:extLst>
          </p:cNvPr>
          <p:cNvSpPr>
            <a:spLocks noGrp="1"/>
          </p:cNvSpPr>
          <p:nvPr/>
        </p:nvSpPr>
        <p:spPr>
          <a:xfrm>
            <a:off x="217807" y="203285"/>
            <a:ext cx="11663918" cy="521208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txBody>
          <a:bodyPr>
            <a:normAutofit fontScale="59790" lnSpcReduction="20000"/>
          </a:bodyPr>
          <a:lstStyle>
            <a:lvl1pPr algn="l">
              <a:lnSpc>
                <a:spcPct val="13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>
            <a:r>
              <a:rPr dirty="0" err="1">
                <a:solidFill>
                  <a:schemeClr val="bg1"/>
                </a:solidFill>
              </a:rPr>
              <a:t>芯片选型</a:t>
            </a:r>
            <a:r>
              <a:rPr dirty="0">
                <a:solidFill>
                  <a:schemeClr val="bg1"/>
                </a:solidFill>
              </a:rPr>
              <a:t>——</a:t>
            </a:r>
            <a:r>
              <a:rPr lang="zh-CN" altLang="en-US" dirty="0">
                <a:solidFill>
                  <a:schemeClr val="bg1"/>
                </a:solidFill>
              </a:rPr>
              <a:t>辅助电源 </a:t>
            </a:r>
            <a:r>
              <a:rPr lang="en-US" altLang="zh-CN" dirty="0">
                <a:solidFill>
                  <a:schemeClr val="bg1"/>
                </a:solidFill>
              </a:rPr>
              <a:t>MIE1W0505</a:t>
            </a:r>
            <a:r>
              <a:rPr lang="zh-CN" altLang="en-US" dirty="0">
                <a:solidFill>
                  <a:schemeClr val="bg1"/>
                </a:solidFill>
              </a:rPr>
              <a:t>、</a:t>
            </a:r>
            <a:r>
              <a:rPr lang="en-US" altLang="zh-CN" dirty="0">
                <a:solidFill>
                  <a:schemeClr val="bg1"/>
                </a:solidFill>
              </a:rPr>
              <a:t>MP20051DQ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7217F36B-252C-9E25-D2E7-E7EDC3FFF0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3335" y="656386"/>
            <a:ext cx="1365817" cy="1365817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BDBCB212-BE44-3578-D817-6A7B66FC81E0}"/>
              </a:ext>
            </a:extLst>
          </p:cNvPr>
          <p:cNvSpPr txBox="1"/>
          <p:nvPr/>
        </p:nvSpPr>
        <p:spPr>
          <a:xfrm>
            <a:off x="4964472" y="1938708"/>
            <a:ext cx="172533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indent="0" algn="ctr" fontAlgn="auto">
              <a:lnSpc>
                <a:spcPct val="100000"/>
              </a:lnSpc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LDO MP20051DQ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5" name="Picture 2">
            <a:extLst>
              <a:ext uri="{FF2B5EF4-FFF2-40B4-BE49-F238E27FC236}">
                <a16:creationId xmlns:a16="http://schemas.microsoft.com/office/drawing/2014/main" id="{228410D6-AEC5-2B65-6C33-143558200F7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507" r="23445"/>
          <a:stretch/>
        </p:blipFill>
        <p:spPr bwMode="auto">
          <a:xfrm>
            <a:off x="5325465" y="2261748"/>
            <a:ext cx="1038237" cy="10247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E65F38DC-E17A-1307-ED86-EDB5F33C01AE}"/>
              </a:ext>
            </a:extLst>
          </p:cNvPr>
          <p:cNvSpPr txBox="1"/>
          <p:nvPr/>
        </p:nvSpPr>
        <p:spPr>
          <a:xfrm>
            <a:off x="4964472" y="3160303"/>
            <a:ext cx="172533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indent="0" algn="ctr" fontAlgn="auto">
              <a:lnSpc>
                <a:spcPct val="100000"/>
              </a:lnSpc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MIE1W0505</a:t>
            </a:r>
          </a:p>
          <a:p>
            <a:pPr indent="0" algn="ctr" fontAlgn="auto">
              <a:lnSpc>
                <a:spcPct val="100000"/>
              </a:lnSpc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隔离电源</a:t>
            </a:r>
          </a:p>
        </p:txBody>
      </p:sp>
      <p:sp>
        <p:nvSpPr>
          <p:cNvPr id="26" name="右箭头 13">
            <a:extLst>
              <a:ext uri="{FF2B5EF4-FFF2-40B4-BE49-F238E27FC236}">
                <a16:creationId xmlns:a16="http://schemas.microsoft.com/office/drawing/2014/main" id="{324441A0-F055-B8C2-A7A8-39B3D67DB8EA}"/>
              </a:ext>
            </a:extLst>
          </p:cNvPr>
          <p:cNvSpPr/>
          <p:nvPr/>
        </p:nvSpPr>
        <p:spPr>
          <a:xfrm>
            <a:off x="6703709" y="1162277"/>
            <a:ext cx="1256797" cy="432566"/>
          </a:xfrm>
          <a:prstGeom prst="rightArrow">
            <a:avLst>
              <a:gd name="adj1" fmla="val 63528"/>
              <a:gd name="adj2" fmla="val 50000"/>
            </a:avLst>
          </a:prstGeom>
          <a:gradFill>
            <a:gsLst>
              <a:gs pos="19000">
                <a:schemeClr val="bg2">
                  <a:lumMod val="60000"/>
                  <a:lumOff val="40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2">
                  <a:lumMod val="7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3.3V</a:t>
            </a:r>
            <a:endParaRPr lang="zh-CN" altLang="en-US" sz="12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右箭头 13">
            <a:extLst>
              <a:ext uri="{FF2B5EF4-FFF2-40B4-BE49-F238E27FC236}">
                <a16:creationId xmlns:a16="http://schemas.microsoft.com/office/drawing/2014/main" id="{622B2CDE-237E-782B-92AB-F7D7ED209AB8}"/>
              </a:ext>
            </a:extLst>
          </p:cNvPr>
          <p:cNvSpPr/>
          <p:nvPr/>
        </p:nvSpPr>
        <p:spPr>
          <a:xfrm>
            <a:off x="6689802" y="2557857"/>
            <a:ext cx="1271255" cy="432566"/>
          </a:xfrm>
          <a:prstGeom prst="rightArrow">
            <a:avLst>
              <a:gd name="adj1" fmla="val 63528"/>
              <a:gd name="adj2" fmla="val 50000"/>
            </a:avLst>
          </a:prstGeom>
          <a:gradFill>
            <a:gsLst>
              <a:gs pos="19000">
                <a:schemeClr val="bg2">
                  <a:lumMod val="60000"/>
                  <a:lumOff val="40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2">
                  <a:lumMod val="7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ISO_5V</a:t>
            </a:r>
            <a:endParaRPr lang="zh-CN" altLang="en-US" sz="12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043BE0BB-2CB2-4E33-BED1-E4266C26D421}"/>
              </a:ext>
            </a:extLst>
          </p:cNvPr>
          <p:cNvGrpSpPr/>
          <p:nvPr/>
        </p:nvGrpSpPr>
        <p:grpSpPr>
          <a:xfrm>
            <a:off x="4325658" y="3875741"/>
            <a:ext cx="4028663" cy="2694844"/>
            <a:chOff x="226877" y="3996318"/>
            <a:chExt cx="4731203" cy="2581953"/>
          </a:xfrm>
        </p:grpSpPr>
        <p:sp>
          <p:nvSpPr>
            <p:cNvPr id="31" name="矩形 26">
              <a:extLst>
                <a:ext uri="{FF2B5EF4-FFF2-40B4-BE49-F238E27FC236}">
                  <a16:creationId xmlns:a16="http://schemas.microsoft.com/office/drawing/2014/main" id="{BF323283-E718-F7C3-177B-CCEB4BE2D785}"/>
                </a:ext>
              </a:extLst>
            </p:cNvPr>
            <p:cNvSpPr/>
            <p:nvPr/>
          </p:nvSpPr>
          <p:spPr>
            <a:xfrm>
              <a:off x="226877" y="4365651"/>
              <a:ext cx="4730510" cy="2212620"/>
            </a:xfrm>
            <a:prstGeom prst="rect">
              <a:avLst/>
            </a:prstGeom>
            <a:noFill/>
            <a:ln w="6350" cap="flat" cmpd="sng" algn="ctr">
              <a:solidFill>
                <a:srgbClr val="0070C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方正黑体简体" panose="02000000000000000000"/>
                <a:cs typeface="Times New Roman" panose="02020603050405020304" pitchFamily="18" charset="0"/>
              </a:endParaRPr>
            </a:p>
          </p:txBody>
        </p:sp>
        <p:sp>
          <p:nvSpPr>
            <p:cNvPr id="32" name="文本框 85">
              <a:extLst>
                <a:ext uri="{FF2B5EF4-FFF2-40B4-BE49-F238E27FC236}">
                  <a16:creationId xmlns:a16="http://schemas.microsoft.com/office/drawing/2014/main" id="{29458F3D-ADD9-7E03-65D9-ACB9101A2AB1}"/>
                </a:ext>
              </a:extLst>
            </p:cNvPr>
            <p:cNvSpPr txBox="1"/>
            <p:nvPr/>
          </p:nvSpPr>
          <p:spPr>
            <a:xfrm>
              <a:off x="227570" y="3996318"/>
              <a:ext cx="4730510" cy="353860"/>
            </a:xfrm>
            <a:prstGeom prst="rect">
              <a:avLst/>
            </a:prstGeom>
            <a:solidFill>
              <a:srgbClr val="0070C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>
                  <a:solidFill>
                    <a:prstClr val="white"/>
                  </a:solidFill>
                  <a:latin typeface="Times New Roman" panose="02020603050405020304" pitchFamily="18" charset="0"/>
                  <a:ea typeface="方正黑体简体" panose="02000000000000000000"/>
                  <a:cs typeface="Times New Roman" panose="02020603050405020304" pitchFamily="18" charset="0"/>
                </a:rPr>
                <a:t>MIE1W0505</a:t>
              </a:r>
              <a:endParaRPr lang="zh-CN" altLang="en-US" b="1" dirty="0">
                <a:solidFill>
                  <a:prstClr val="white"/>
                </a:solidFill>
                <a:latin typeface="Times New Roman" panose="02020603050405020304" pitchFamily="18" charset="0"/>
                <a:ea typeface="方正黑体简体" panose="02000000000000000000"/>
                <a:cs typeface="Times New Roman" panose="02020603050405020304" pitchFamily="18" charset="0"/>
              </a:endParaRPr>
            </a:p>
          </p:txBody>
        </p:sp>
      </p:grpSp>
      <p:sp>
        <p:nvSpPr>
          <p:cNvPr id="49" name="AutoShape 2">
            <a:extLst>
              <a:ext uri="{FF2B5EF4-FFF2-40B4-BE49-F238E27FC236}">
                <a16:creationId xmlns:a16="http://schemas.microsoft.com/office/drawing/2014/main" id="{A07A1D26-CA3B-4F92-D9BF-C7FFBBC3853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2312609A-763E-6E32-22F5-3056E38F37F8}"/>
              </a:ext>
            </a:extLst>
          </p:cNvPr>
          <p:cNvGrpSpPr/>
          <p:nvPr/>
        </p:nvGrpSpPr>
        <p:grpSpPr>
          <a:xfrm>
            <a:off x="8423056" y="3875741"/>
            <a:ext cx="3465965" cy="2694844"/>
            <a:chOff x="226877" y="3996318"/>
            <a:chExt cx="4731203" cy="2581953"/>
          </a:xfrm>
        </p:grpSpPr>
        <p:sp>
          <p:nvSpPr>
            <p:cNvPr id="53" name="矩形 26">
              <a:extLst>
                <a:ext uri="{FF2B5EF4-FFF2-40B4-BE49-F238E27FC236}">
                  <a16:creationId xmlns:a16="http://schemas.microsoft.com/office/drawing/2014/main" id="{5D3B8C59-352E-BC34-4DA1-4DD5E7CFE720}"/>
                </a:ext>
              </a:extLst>
            </p:cNvPr>
            <p:cNvSpPr/>
            <p:nvPr/>
          </p:nvSpPr>
          <p:spPr>
            <a:xfrm>
              <a:off x="226877" y="4365651"/>
              <a:ext cx="4730510" cy="2212620"/>
            </a:xfrm>
            <a:prstGeom prst="rect">
              <a:avLst/>
            </a:prstGeom>
            <a:noFill/>
            <a:ln w="6350" cap="flat" cmpd="sng" algn="ctr">
              <a:solidFill>
                <a:srgbClr val="0070C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方正黑体简体" panose="02000000000000000000"/>
                <a:cs typeface="Times New Roman" panose="02020603050405020304" pitchFamily="18" charset="0"/>
              </a:endParaRPr>
            </a:p>
          </p:txBody>
        </p:sp>
        <p:sp>
          <p:nvSpPr>
            <p:cNvPr id="54" name="文本框 85">
              <a:extLst>
                <a:ext uri="{FF2B5EF4-FFF2-40B4-BE49-F238E27FC236}">
                  <a16:creationId xmlns:a16="http://schemas.microsoft.com/office/drawing/2014/main" id="{D3DDA77F-98EF-D93B-026C-AE5C5658DC06}"/>
                </a:ext>
              </a:extLst>
            </p:cNvPr>
            <p:cNvSpPr txBox="1"/>
            <p:nvPr/>
          </p:nvSpPr>
          <p:spPr>
            <a:xfrm>
              <a:off x="227570" y="3996318"/>
              <a:ext cx="4730510" cy="353860"/>
            </a:xfrm>
            <a:prstGeom prst="rect">
              <a:avLst/>
            </a:prstGeom>
            <a:solidFill>
              <a:srgbClr val="0070C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>
                  <a:solidFill>
                    <a:prstClr val="white"/>
                  </a:solidFill>
                  <a:latin typeface="Times New Roman" panose="02020603050405020304" pitchFamily="18" charset="0"/>
                  <a:ea typeface="方正黑体简体" panose="02000000000000000000"/>
                  <a:cs typeface="Times New Roman" panose="02020603050405020304" pitchFamily="18" charset="0"/>
                </a:rPr>
                <a:t>MP20051DQ</a:t>
              </a:r>
              <a:endParaRPr lang="zh-CN" altLang="en-US" b="1" dirty="0">
                <a:solidFill>
                  <a:prstClr val="white"/>
                </a:solidFill>
                <a:latin typeface="Times New Roman" panose="02020603050405020304" pitchFamily="18" charset="0"/>
                <a:ea typeface="方正黑体简体" panose="02000000000000000000"/>
                <a:cs typeface="Times New Roman" panose="02020603050405020304" pitchFamily="18" charset="0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33D85573-2741-6D71-4363-3501F297C36A}"/>
              </a:ext>
            </a:extLst>
          </p:cNvPr>
          <p:cNvSpPr txBox="1"/>
          <p:nvPr/>
        </p:nvSpPr>
        <p:spPr>
          <a:xfrm>
            <a:off x="4359662" y="4260336"/>
            <a:ext cx="402866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● </a:t>
            </a:r>
            <a:r>
              <a:rPr lang="en-US" altLang="zh-CN" dirty="0"/>
              <a:t>5V→5V </a:t>
            </a:r>
            <a:r>
              <a:rPr lang="zh-CN" altLang="en-US" dirty="0"/>
              <a:t>工况下可</a:t>
            </a:r>
            <a:r>
              <a:rPr lang="zh-CN" altLang="en-US" b="1" dirty="0">
                <a:solidFill>
                  <a:srgbClr val="FF0000"/>
                </a:solidFill>
              </a:rPr>
              <a:t>提供 ≥</a:t>
            </a:r>
            <a:r>
              <a:rPr lang="en-US" altLang="zh-CN" b="1" dirty="0">
                <a:solidFill>
                  <a:srgbClr val="FF0000"/>
                </a:solidFill>
              </a:rPr>
              <a:t>200mA </a:t>
            </a:r>
            <a:r>
              <a:rPr lang="zh-CN" altLang="en-US" b="1" dirty="0">
                <a:solidFill>
                  <a:srgbClr val="FF0000"/>
                </a:solidFill>
              </a:rPr>
              <a:t>负载电流</a:t>
            </a:r>
            <a:endParaRPr lang="en-US" altLang="zh-CN" b="1" dirty="0">
              <a:solidFill>
                <a:srgbClr val="FF0000"/>
              </a:solidFill>
            </a:endParaRPr>
          </a:p>
          <a:p>
            <a:r>
              <a:rPr lang="zh-CN" altLang="en-US" dirty="0"/>
              <a:t>● 负载调整率 </a:t>
            </a:r>
            <a:r>
              <a:rPr lang="en-US" altLang="zh-CN" b="1" dirty="0">
                <a:solidFill>
                  <a:srgbClr val="FF0000"/>
                </a:solidFill>
              </a:rPr>
              <a:t>0.5%</a:t>
            </a:r>
            <a:r>
              <a:rPr lang="zh-CN" altLang="en-US" dirty="0"/>
              <a:t>，线性调整率 </a:t>
            </a:r>
            <a:r>
              <a:rPr lang="en-US" altLang="zh-CN" b="1" dirty="0">
                <a:solidFill>
                  <a:srgbClr val="FF0000"/>
                </a:solidFill>
              </a:rPr>
              <a:t>0.2%</a:t>
            </a:r>
          </a:p>
          <a:p>
            <a:r>
              <a:rPr lang="zh-CN" altLang="en-US" dirty="0"/>
              <a:t>● 内置连续短路保护 </a:t>
            </a:r>
            <a:r>
              <a:rPr lang="en-US" altLang="zh-CN" dirty="0"/>
              <a:t>SCP </a:t>
            </a:r>
            <a:r>
              <a:rPr lang="zh-CN" altLang="en-US" dirty="0"/>
              <a:t>和过温保护 </a:t>
            </a:r>
            <a:r>
              <a:rPr lang="en-US" altLang="zh-CN" dirty="0"/>
              <a:t>OTP</a:t>
            </a:r>
          </a:p>
          <a:p>
            <a:r>
              <a:rPr lang="zh-CN" altLang="en-US" dirty="0"/>
              <a:t>● 用于</a:t>
            </a:r>
            <a:r>
              <a:rPr lang="en-US" altLang="zh-CN" dirty="0"/>
              <a:t>CAN</a:t>
            </a:r>
            <a:r>
              <a:rPr lang="zh-CN" altLang="en-US" dirty="0"/>
              <a:t>通讯隔离，提高通讯质量与可靠性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7229149-3E87-8301-5078-CF35F92E7311}"/>
              </a:ext>
            </a:extLst>
          </p:cNvPr>
          <p:cNvSpPr txBox="1"/>
          <p:nvPr/>
        </p:nvSpPr>
        <p:spPr>
          <a:xfrm>
            <a:off x="8422330" y="4245073"/>
            <a:ext cx="346669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● </a:t>
            </a:r>
            <a:r>
              <a:rPr lang="en-US" altLang="zh-CN" b="0" i="0" dirty="0">
                <a:solidFill>
                  <a:srgbClr val="1A1C1F"/>
                </a:solidFill>
                <a:effectLst/>
                <a:latin typeface="-apple-system"/>
              </a:rPr>
              <a:t>1A </a:t>
            </a:r>
            <a:r>
              <a:rPr lang="zh-CN" altLang="en-US" b="0" i="0" dirty="0">
                <a:solidFill>
                  <a:srgbClr val="1A1C1F"/>
                </a:solidFill>
                <a:effectLst/>
                <a:latin typeface="-apple-system"/>
              </a:rPr>
              <a:t>负载下压差仅 </a:t>
            </a:r>
            <a:r>
              <a:rPr lang="en-US" altLang="zh-CN" b="0" i="0" dirty="0">
                <a:solidFill>
                  <a:srgbClr val="1A1C1F"/>
                </a:solidFill>
                <a:effectLst/>
                <a:latin typeface="-apple-system"/>
              </a:rPr>
              <a:t>140mV</a:t>
            </a:r>
          </a:p>
          <a:p>
            <a:r>
              <a:rPr lang="zh-CN" altLang="en-US" dirty="0"/>
              <a:t>● </a:t>
            </a:r>
            <a:r>
              <a:rPr lang="zh-CN" altLang="en-US" b="0" i="0" dirty="0">
                <a:solidFill>
                  <a:srgbClr val="1A1C1F"/>
                </a:solidFill>
                <a:effectLst/>
                <a:latin typeface="-apple-system"/>
              </a:rPr>
              <a:t>典型静态电流 </a:t>
            </a:r>
            <a:r>
              <a:rPr lang="en-US" altLang="zh-CN" b="0" i="0" dirty="0">
                <a:solidFill>
                  <a:srgbClr val="1A1C1F"/>
                </a:solidFill>
                <a:effectLst/>
                <a:latin typeface="-apple-system"/>
              </a:rPr>
              <a:t>110μA</a:t>
            </a:r>
          </a:p>
          <a:p>
            <a:r>
              <a:rPr lang="zh-CN" altLang="en-US" dirty="0"/>
              <a:t>● </a:t>
            </a:r>
            <a:r>
              <a:rPr lang="zh-CN" altLang="en-US" b="0" i="0" dirty="0">
                <a:solidFill>
                  <a:srgbClr val="1A1C1F"/>
                </a:solidFill>
                <a:effectLst/>
                <a:latin typeface="-apple-system"/>
              </a:rPr>
              <a:t>低噪声输出：</a:t>
            </a:r>
            <a:r>
              <a:rPr lang="en-US" altLang="zh-CN" b="1" i="0" dirty="0">
                <a:solidFill>
                  <a:srgbClr val="FF0000"/>
                </a:solidFill>
                <a:effectLst/>
                <a:latin typeface="-apple-system"/>
              </a:rPr>
              <a:t>13μVRMS</a:t>
            </a:r>
          </a:p>
          <a:p>
            <a:r>
              <a:rPr lang="zh-CN" altLang="en-US" dirty="0"/>
              <a:t>● </a:t>
            </a:r>
            <a:r>
              <a:rPr lang="en-US" altLang="zh-CN" b="1" i="0" dirty="0">
                <a:solidFill>
                  <a:srgbClr val="FF0000"/>
                </a:solidFill>
                <a:effectLst/>
                <a:latin typeface="-apple-system"/>
              </a:rPr>
              <a:t>QFN-8 3×3mm </a:t>
            </a:r>
            <a:r>
              <a:rPr lang="zh-CN" altLang="en-US" b="0" i="0" dirty="0">
                <a:solidFill>
                  <a:srgbClr val="1A1C1F"/>
                </a:solidFill>
                <a:effectLst/>
                <a:latin typeface="-apple-system"/>
              </a:rPr>
              <a:t>封装，适合小尺寸控制板</a:t>
            </a:r>
            <a:endParaRPr lang="en-US" altLang="zh-CN" b="0" i="0" dirty="0">
              <a:solidFill>
                <a:srgbClr val="1A1C1F"/>
              </a:solidFill>
              <a:effectLst/>
              <a:latin typeface="-apple-system"/>
            </a:endParaRPr>
          </a:p>
          <a:p>
            <a:r>
              <a:rPr lang="zh-CN" altLang="en-US" dirty="0"/>
              <a:t>● </a:t>
            </a:r>
            <a:r>
              <a:rPr lang="zh-CN" altLang="en-US" b="0" i="0" dirty="0">
                <a:solidFill>
                  <a:srgbClr val="1A1C1F"/>
                </a:solidFill>
                <a:effectLst/>
                <a:latin typeface="-apple-system"/>
              </a:rPr>
              <a:t>用于生成干净的 </a:t>
            </a:r>
            <a:r>
              <a:rPr lang="en-US" altLang="zh-CN" b="0" i="0" dirty="0">
                <a:solidFill>
                  <a:srgbClr val="1A1C1F"/>
                </a:solidFill>
                <a:effectLst/>
                <a:latin typeface="-apple-system"/>
              </a:rPr>
              <a:t>3.3V VCC</a:t>
            </a:r>
            <a:r>
              <a:rPr lang="zh-CN" altLang="en-US" b="0" i="0" dirty="0">
                <a:solidFill>
                  <a:srgbClr val="1A1C1F"/>
                </a:solidFill>
                <a:effectLst/>
                <a:latin typeface="-apple-system"/>
              </a:rPr>
              <a:t>，供 </a:t>
            </a:r>
            <a:r>
              <a:rPr lang="en-US" altLang="zh-CN" b="0" i="0" dirty="0">
                <a:solidFill>
                  <a:srgbClr val="1A1C1F"/>
                </a:solidFill>
                <a:effectLst/>
                <a:latin typeface="-apple-system"/>
              </a:rPr>
              <a:t>MCU</a:t>
            </a:r>
            <a:r>
              <a:rPr lang="zh-CN" altLang="en-US" b="0" i="0" dirty="0">
                <a:solidFill>
                  <a:srgbClr val="1A1C1F"/>
                </a:solidFill>
                <a:effectLst/>
                <a:latin typeface="-apple-system"/>
              </a:rPr>
              <a:t>、编码器和采样电路使用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EDB8709-B5FB-416B-338E-73E039373F1F}"/>
              </a:ext>
            </a:extLst>
          </p:cNvPr>
          <p:cNvSpPr txBox="1"/>
          <p:nvPr/>
        </p:nvSpPr>
        <p:spPr>
          <a:xfrm>
            <a:off x="8113074" y="3375746"/>
            <a:ext cx="172533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indent="0" algn="ctr" fontAlgn="auto">
              <a:lnSpc>
                <a:spcPct val="100000"/>
              </a:lnSpc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CAN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收发器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FEC7392D-E0F3-55B8-F1A1-65DF7FF8FA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47384" y="2408301"/>
            <a:ext cx="1055608" cy="1055608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A2428E48-2784-03E6-50BF-010CF7FFF0D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4433" y="2316895"/>
            <a:ext cx="1416331" cy="1219807"/>
          </a:xfrm>
          <a:prstGeom prst="rect">
            <a:avLst/>
          </a:prstGeom>
        </p:spPr>
      </p:pic>
      <p:pic>
        <p:nvPicPr>
          <p:cNvPr id="33" name="Picture 2" descr="Microcontroller PNG transparent image download, size: 512x333px">
            <a:extLst>
              <a:ext uri="{FF2B5EF4-FFF2-40B4-BE49-F238E27FC236}">
                <a16:creationId xmlns:a16="http://schemas.microsoft.com/office/drawing/2014/main" id="{48426758-9691-8148-6CC9-EAF0956581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2633" y="908617"/>
            <a:ext cx="1445111" cy="939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4" descr="MA600A | High-Accuracy,">
            <a:extLst>
              <a:ext uri="{FF2B5EF4-FFF2-40B4-BE49-F238E27FC236}">
                <a16:creationId xmlns:a16="http://schemas.microsoft.com/office/drawing/2014/main" id="{CA1AD40B-6490-CD0D-7B32-4669AEA794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7744" y="891723"/>
            <a:ext cx="2000757" cy="1125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文本框 35">
            <a:extLst>
              <a:ext uri="{FF2B5EF4-FFF2-40B4-BE49-F238E27FC236}">
                <a16:creationId xmlns:a16="http://schemas.microsoft.com/office/drawing/2014/main" id="{6F84BD2D-2294-5529-1C86-70CB721405DC}"/>
              </a:ext>
            </a:extLst>
          </p:cNvPr>
          <p:cNvSpPr txBox="1"/>
          <p:nvPr/>
        </p:nvSpPr>
        <p:spPr>
          <a:xfrm>
            <a:off x="9899933" y="3409711"/>
            <a:ext cx="172533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indent="0" algn="ctr" fontAlgn="auto">
              <a:lnSpc>
                <a:spcPct val="100000"/>
              </a:lnSpc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电流传感器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0E08B0E1-D00D-5A23-649B-4D4F1F0674E0}"/>
              </a:ext>
            </a:extLst>
          </p:cNvPr>
          <p:cNvSpPr txBox="1"/>
          <p:nvPr/>
        </p:nvSpPr>
        <p:spPr>
          <a:xfrm>
            <a:off x="8112523" y="2039942"/>
            <a:ext cx="172533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indent="0" algn="ctr" fontAlgn="auto">
              <a:lnSpc>
                <a:spcPct val="100000"/>
              </a:lnSpc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控制器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C16196A1-CAA4-4C30-F682-F02B07B1280F}"/>
              </a:ext>
            </a:extLst>
          </p:cNvPr>
          <p:cNvSpPr txBox="1"/>
          <p:nvPr/>
        </p:nvSpPr>
        <p:spPr>
          <a:xfrm>
            <a:off x="9908484" y="2001529"/>
            <a:ext cx="172533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indent="0" algn="ctr" fontAlgn="auto">
              <a:lnSpc>
                <a:spcPct val="100000"/>
              </a:lnSpc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位置传感器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indent="0" algn="ctr" fontAlgn="auto">
              <a:lnSpc>
                <a:spcPct val="100000"/>
              </a:lnSpc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MA600A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任意多边形: 形状 41">
            <a:extLst>
              <a:ext uri="{FF2B5EF4-FFF2-40B4-BE49-F238E27FC236}">
                <a16:creationId xmlns:a16="http://schemas.microsoft.com/office/drawing/2014/main" id="{092621FA-7DDD-0095-E118-85CD4050E695}"/>
              </a:ext>
            </a:extLst>
          </p:cNvPr>
          <p:cNvSpPr/>
          <p:nvPr/>
        </p:nvSpPr>
        <p:spPr>
          <a:xfrm>
            <a:off x="3477342" y="1155441"/>
            <a:ext cx="1493428" cy="2064547"/>
          </a:xfrm>
          <a:custGeom>
            <a:avLst/>
            <a:gdLst>
              <a:gd name="connsiteX0" fmla="*/ 0 w 803275"/>
              <a:gd name="connsiteY0" fmla="*/ 617537 h 1470025"/>
              <a:gd name="connsiteX1" fmla="*/ 249237 w 803275"/>
              <a:gd name="connsiteY1" fmla="*/ 617537 h 1470025"/>
              <a:gd name="connsiteX2" fmla="*/ 249237 w 803275"/>
              <a:gd name="connsiteY2" fmla="*/ 388937 h 1470025"/>
              <a:gd name="connsiteX3" fmla="*/ 266700 w 803275"/>
              <a:gd name="connsiteY3" fmla="*/ 315912 h 1470025"/>
              <a:gd name="connsiteX4" fmla="*/ 277812 w 803275"/>
              <a:gd name="connsiteY4" fmla="*/ 260350 h 1470025"/>
              <a:gd name="connsiteX5" fmla="*/ 306387 w 803275"/>
              <a:gd name="connsiteY5" fmla="*/ 209550 h 1470025"/>
              <a:gd name="connsiteX6" fmla="*/ 334962 w 803275"/>
              <a:gd name="connsiteY6" fmla="*/ 171450 h 1470025"/>
              <a:gd name="connsiteX7" fmla="*/ 358775 w 803275"/>
              <a:gd name="connsiteY7" fmla="*/ 146050 h 1470025"/>
              <a:gd name="connsiteX8" fmla="*/ 385762 w 803275"/>
              <a:gd name="connsiteY8" fmla="*/ 127000 h 1470025"/>
              <a:gd name="connsiteX9" fmla="*/ 423862 w 803275"/>
              <a:gd name="connsiteY9" fmla="*/ 109537 h 1470025"/>
              <a:gd name="connsiteX10" fmla="*/ 438150 w 803275"/>
              <a:gd name="connsiteY10" fmla="*/ 100012 h 1470025"/>
              <a:gd name="connsiteX11" fmla="*/ 458787 w 803275"/>
              <a:gd name="connsiteY11" fmla="*/ 98425 h 1470025"/>
              <a:gd name="connsiteX12" fmla="*/ 485775 w 803275"/>
              <a:gd name="connsiteY12" fmla="*/ 96837 h 1470025"/>
              <a:gd name="connsiteX13" fmla="*/ 666750 w 803275"/>
              <a:gd name="connsiteY13" fmla="*/ 96837 h 1470025"/>
              <a:gd name="connsiteX14" fmla="*/ 666750 w 803275"/>
              <a:gd name="connsiteY14" fmla="*/ 0 h 1470025"/>
              <a:gd name="connsiteX15" fmla="*/ 803275 w 803275"/>
              <a:gd name="connsiteY15" fmla="*/ 184150 h 1470025"/>
              <a:gd name="connsiteX16" fmla="*/ 661987 w 803275"/>
              <a:gd name="connsiteY16" fmla="*/ 381000 h 1470025"/>
              <a:gd name="connsiteX17" fmla="*/ 661987 w 803275"/>
              <a:gd name="connsiteY17" fmla="*/ 280987 h 1470025"/>
              <a:gd name="connsiteX18" fmla="*/ 487362 w 803275"/>
              <a:gd name="connsiteY18" fmla="*/ 280987 h 1470025"/>
              <a:gd name="connsiteX19" fmla="*/ 454025 w 803275"/>
              <a:gd name="connsiteY19" fmla="*/ 293687 h 1470025"/>
              <a:gd name="connsiteX20" fmla="*/ 439737 w 803275"/>
              <a:gd name="connsiteY20" fmla="*/ 304800 h 1470025"/>
              <a:gd name="connsiteX21" fmla="*/ 428625 w 803275"/>
              <a:gd name="connsiteY21" fmla="*/ 314325 h 1470025"/>
              <a:gd name="connsiteX22" fmla="*/ 404812 w 803275"/>
              <a:gd name="connsiteY22" fmla="*/ 342900 h 1470025"/>
              <a:gd name="connsiteX23" fmla="*/ 392112 w 803275"/>
              <a:gd name="connsiteY23" fmla="*/ 387350 h 1470025"/>
              <a:gd name="connsiteX24" fmla="*/ 388937 w 803275"/>
              <a:gd name="connsiteY24" fmla="*/ 417512 h 1470025"/>
              <a:gd name="connsiteX25" fmla="*/ 388937 w 803275"/>
              <a:gd name="connsiteY25" fmla="*/ 1008062 h 1470025"/>
              <a:gd name="connsiteX26" fmla="*/ 388937 w 803275"/>
              <a:gd name="connsiteY26" fmla="*/ 1057275 h 1470025"/>
              <a:gd name="connsiteX27" fmla="*/ 390525 w 803275"/>
              <a:gd name="connsiteY27" fmla="*/ 1079500 h 1470025"/>
              <a:gd name="connsiteX28" fmla="*/ 393700 w 803275"/>
              <a:gd name="connsiteY28" fmla="*/ 1084262 h 1470025"/>
              <a:gd name="connsiteX29" fmla="*/ 398462 w 803275"/>
              <a:gd name="connsiteY29" fmla="*/ 1106487 h 1470025"/>
              <a:gd name="connsiteX30" fmla="*/ 409575 w 803275"/>
              <a:gd name="connsiteY30" fmla="*/ 1125537 h 1470025"/>
              <a:gd name="connsiteX31" fmla="*/ 417512 w 803275"/>
              <a:gd name="connsiteY31" fmla="*/ 1146175 h 1470025"/>
              <a:gd name="connsiteX32" fmla="*/ 428625 w 803275"/>
              <a:gd name="connsiteY32" fmla="*/ 1157287 h 1470025"/>
              <a:gd name="connsiteX33" fmla="*/ 446087 w 803275"/>
              <a:gd name="connsiteY33" fmla="*/ 1177925 h 1470025"/>
              <a:gd name="connsiteX34" fmla="*/ 479425 w 803275"/>
              <a:gd name="connsiteY34" fmla="*/ 1189037 h 1470025"/>
              <a:gd name="connsiteX35" fmla="*/ 665162 w 803275"/>
              <a:gd name="connsiteY35" fmla="*/ 1189037 h 1470025"/>
              <a:gd name="connsiteX36" fmla="*/ 665162 w 803275"/>
              <a:gd name="connsiteY36" fmla="*/ 1092200 h 1470025"/>
              <a:gd name="connsiteX37" fmla="*/ 801687 w 803275"/>
              <a:gd name="connsiteY37" fmla="*/ 1282700 h 1470025"/>
              <a:gd name="connsiteX38" fmla="*/ 666750 w 803275"/>
              <a:gd name="connsiteY38" fmla="*/ 1470025 h 1470025"/>
              <a:gd name="connsiteX39" fmla="*/ 666750 w 803275"/>
              <a:gd name="connsiteY39" fmla="*/ 1377950 h 1470025"/>
              <a:gd name="connsiteX40" fmla="*/ 463550 w 803275"/>
              <a:gd name="connsiteY40" fmla="*/ 1377950 h 1470025"/>
              <a:gd name="connsiteX41" fmla="*/ 425450 w 803275"/>
              <a:gd name="connsiteY41" fmla="*/ 1360487 h 1470025"/>
              <a:gd name="connsiteX42" fmla="*/ 411162 w 803275"/>
              <a:gd name="connsiteY42" fmla="*/ 1355725 h 1470025"/>
              <a:gd name="connsiteX43" fmla="*/ 388937 w 803275"/>
              <a:gd name="connsiteY43" fmla="*/ 1343025 h 1470025"/>
              <a:gd name="connsiteX44" fmla="*/ 369887 w 803275"/>
              <a:gd name="connsiteY44" fmla="*/ 1330325 h 1470025"/>
              <a:gd name="connsiteX45" fmla="*/ 355600 w 803275"/>
              <a:gd name="connsiteY45" fmla="*/ 1317625 h 1470025"/>
              <a:gd name="connsiteX46" fmla="*/ 342900 w 803275"/>
              <a:gd name="connsiteY46" fmla="*/ 1303337 h 1470025"/>
              <a:gd name="connsiteX47" fmla="*/ 333375 w 803275"/>
              <a:gd name="connsiteY47" fmla="*/ 1292225 h 1470025"/>
              <a:gd name="connsiteX48" fmla="*/ 322262 w 803275"/>
              <a:gd name="connsiteY48" fmla="*/ 1281112 h 1470025"/>
              <a:gd name="connsiteX49" fmla="*/ 314325 w 803275"/>
              <a:gd name="connsiteY49" fmla="*/ 1265237 h 1470025"/>
              <a:gd name="connsiteX50" fmla="*/ 303212 w 803275"/>
              <a:gd name="connsiteY50" fmla="*/ 1246187 h 1470025"/>
              <a:gd name="connsiteX51" fmla="*/ 284162 w 803275"/>
              <a:gd name="connsiteY51" fmla="*/ 1211262 h 1470025"/>
              <a:gd name="connsiteX52" fmla="*/ 273050 w 803275"/>
              <a:gd name="connsiteY52" fmla="*/ 1176337 h 1470025"/>
              <a:gd name="connsiteX53" fmla="*/ 265112 w 803275"/>
              <a:gd name="connsiteY53" fmla="*/ 1154112 h 1470025"/>
              <a:gd name="connsiteX54" fmla="*/ 260350 w 803275"/>
              <a:gd name="connsiteY54" fmla="*/ 1125537 h 1470025"/>
              <a:gd name="connsiteX55" fmla="*/ 250825 w 803275"/>
              <a:gd name="connsiteY55" fmla="*/ 1104900 h 1470025"/>
              <a:gd name="connsiteX56" fmla="*/ 250825 w 803275"/>
              <a:gd name="connsiteY56" fmla="*/ 1089025 h 1470025"/>
              <a:gd name="connsiteX57" fmla="*/ 250825 w 803275"/>
              <a:gd name="connsiteY57" fmla="*/ 835025 h 1470025"/>
              <a:gd name="connsiteX58" fmla="*/ 0 w 803275"/>
              <a:gd name="connsiteY58" fmla="*/ 835025 h 1470025"/>
              <a:gd name="connsiteX59" fmla="*/ 0 w 803275"/>
              <a:gd name="connsiteY59" fmla="*/ 617537 h 1470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</a:cxnLst>
            <a:rect l="l" t="t" r="r" b="b"/>
            <a:pathLst>
              <a:path w="803275" h="1470025">
                <a:moveTo>
                  <a:pt x="0" y="617537"/>
                </a:moveTo>
                <a:lnTo>
                  <a:pt x="249237" y="617537"/>
                </a:lnTo>
                <a:lnTo>
                  <a:pt x="249237" y="388937"/>
                </a:lnTo>
                <a:lnTo>
                  <a:pt x="266700" y="315912"/>
                </a:lnTo>
                <a:lnTo>
                  <a:pt x="277812" y="260350"/>
                </a:lnTo>
                <a:lnTo>
                  <a:pt x="306387" y="209550"/>
                </a:lnTo>
                <a:lnTo>
                  <a:pt x="334962" y="171450"/>
                </a:lnTo>
                <a:lnTo>
                  <a:pt x="358775" y="146050"/>
                </a:lnTo>
                <a:lnTo>
                  <a:pt x="385762" y="127000"/>
                </a:lnTo>
                <a:lnTo>
                  <a:pt x="423862" y="109537"/>
                </a:lnTo>
                <a:lnTo>
                  <a:pt x="438150" y="100012"/>
                </a:lnTo>
                <a:lnTo>
                  <a:pt x="458787" y="98425"/>
                </a:lnTo>
                <a:lnTo>
                  <a:pt x="485775" y="96837"/>
                </a:lnTo>
                <a:lnTo>
                  <a:pt x="666750" y="96837"/>
                </a:lnTo>
                <a:lnTo>
                  <a:pt x="666750" y="0"/>
                </a:lnTo>
                <a:lnTo>
                  <a:pt x="803275" y="184150"/>
                </a:lnTo>
                <a:lnTo>
                  <a:pt x="661987" y="381000"/>
                </a:lnTo>
                <a:lnTo>
                  <a:pt x="661987" y="280987"/>
                </a:lnTo>
                <a:lnTo>
                  <a:pt x="487362" y="280987"/>
                </a:lnTo>
                <a:lnTo>
                  <a:pt x="454025" y="293687"/>
                </a:lnTo>
                <a:lnTo>
                  <a:pt x="439737" y="304800"/>
                </a:lnTo>
                <a:lnTo>
                  <a:pt x="428625" y="314325"/>
                </a:lnTo>
                <a:lnTo>
                  <a:pt x="404812" y="342900"/>
                </a:lnTo>
                <a:lnTo>
                  <a:pt x="392112" y="387350"/>
                </a:lnTo>
                <a:lnTo>
                  <a:pt x="388937" y="417512"/>
                </a:lnTo>
                <a:lnTo>
                  <a:pt x="388937" y="1008062"/>
                </a:lnTo>
                <a:lnTo>
                  <a:pt x="388937" y="1057275"/>
                </a:lnTo>
                <a:lnTo>
                  <a:pt x="390525" y="1079500"/>
                </a:lnTo>
                <a:lnTo>
                  <a:pt x="393700" y="1084262"/>
                </a:lnTo>
                <a:lnTo>
                  <a:pt x="398462" y="1106487"/>
                </a:lnTo>
                <a:lnTo>
                  <a:pt x="409575" y="1125537"/>
                </a:lnTo>
                <a:lnTo>
                  <a:pt x="417512" y="1146175"/>
                </a:lnTo>
                <a:lnTo>
                  <a:pt x="428625" y="1157287"/>
                </a:lnTo>
                <a:lnTo>
                  <a:pt x="446087" y="1177925"/>
                </a:lnTo>
                <a:lnTo>
                  <a:pt x="479425" y="1189037"/>
                </a:lnTo>
                <a:lnTo>
                  <a:pt x="665162" y="1189037"/>
                </a:lnTo>
                <a:lnTo>
                  <a:pt x="665162" y="1092200"/>
                </a:lnTo>
                <a:lnTo>
                  <a:pt x="801687" y="1282700"/>
                </a:lnTo>
                <a:lnTo>
                  <a:pt x="666750" y="1470025"/>
                </a:lnTo>
                <a:lnTo>
                  <a:pt x="666750" y="1377950"/>
                </a:lnTo>
                <a:lnTo>
                  <a:pt x="463550" y="1377950"/>
                </a:lnTo>
                <a:lnTo>
                  <a:pt x="425450" y="1360487"/>
                </a:lnTo>
                <a:lnTo>
                  <a:pt x="411162" y="1355725"/>
                </a:lnTo>
                <a:lnTo>
                  <a:pt x="388937" y="1343025"/>
                </a:lnTo>
                <a:lnTo>
                  <a:pt x="369887" y="1330325"/>
                </a:lnTo>
                <a:lnTo>
                  <a:pt x="355600" y="1317625"/>
                </a:lnTo>
                <a:lnTo>
                  <a:pt x="342900" y="1303337"/>
                </a:lnTo>
                <a:lnTo>
                  <a:pt x="333375" y="1292225"/>
                </a:lnTo>
                <a:lnTo>
                  <a:pt x="322262" y="1281112"/>
                </a:lnTo>
                <a:lnTo>
                  <a:pt x="314325" y="1265237"/>
                </a:lnTo>
                <a:lnTo>
                  <a:pt x="303212" y="1246187"/>
                </a:lnTo>
                <a:lnTo>
                  <a:pt x="284162" y="1211262"/>
                </a:lnTo>
                <a:lnTo>
                  <a:pt x="273050" y="1176337"/>
                </a:lnTo>
                <a:lnTo>
                  <a:pt x="265112" y="1154112"/>
                </a:lnTo>
                <a:lnTo>
                  <a:pt x="260350" y="1125537"/>
                </a:lnTo>
                <a:lnTo>
                  <a:pt x="250825" y="1104900"/>
                </a:lnTo>
                <a:lnTo>
                  <a:pt x="250825" y="1089025"/>
                </a:lnTo>
                <a:lnTo>
                  <a:pt x="250825" y="835025"/>
                </a:lnTo>
                <a:lnTo>
                  <a:pt x="0" y="835025"/>
                </a:lnTo>
                <a:lnTo>
                  <a:pt x="0" y="617537"/>
                </a:lnTo>
                <a:close/>
              </a:path>
            </a:pathLst>
          </a:custGeom>
          <a:gradFill>
            <a:gsLst>
              <a:gs pos="19000">
                <a:schemeClr val="bg2">
                  <a:lumMod val="60000"/>
                  <a:lumOff val="40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2">
                  <a:lumMod val="7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E037505B-8DB1-7BA6-03C6-BC34C28CD21A}"/>
              </a:ext>
            </a:extLst>
          </p:cNvPr>
          <p:cNvSpPr txBox="1"/>
          <p:nvPr/>
        </p:nvSpPr>
        <p:spPr>
          <a:xfrm>
            <a:off x="4013309" y="2818632"/>
            <a:ext cx="1017280" cy="276999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pPr algn="ctr"/>
            <a:r>
              <a:rPr lang="en-US" altLang="zh-CN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5V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D03FD4E6-D11B-0062-2D4A-E706FF1184B2}"/>
              </a:ext>
            </a:extLst>
          </p:cNvPr>
          <p:cNvSpPr txBox="1"/>
          <p:nvPr/>
        </p:nvSpPr>
        <p:spPr>
          <a:xfrm>
            <a:off x="4073128" y="1317799"/>
            <a:ext cx="1017280" cy="276999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pPr algn="ctr"/>
            <a:r>
              <a:rPr lang="en-US" altLang="zh-CN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5V</a:t>
            </a:r>
          </a:p>
        </p:txBody>
      </p:sp>
      <p:sp>
        <p:nvSpPr>
          <p:cNvPr id="45" name="圆角矩形 61">
            <a:extLst>
              <a:ext uri="{FF2B5EF4-FFF2-40B4-BE49-F238E27FC236}">
                <a16:creationId xmlns:a16="http://schemas.microsoft.com/office/drawing/2014/main" id="{62991476-D21B-7051-4843-068DE05114B8}"/>
              </a:ext>
            </a:extLst>
          </p:cNvPr>
          <p:cNvSpPr/>
          <p:nvPr/>
        </p:nvSpPr>
        <p:spPr>
          <a:xfrm>
            <a:off x="2173316" y="2033323"/>
            <a:ext cx="1101280" cy="324565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599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5 Vdc</a:t>
            </a:r>
            <a:endParaRPr lang="zh-CN" altLang="en-US" sz="1599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D33BFD4-E335-CE3E-DE69-0188DA98BD71}"/>
              </a:ext>
            </a:extLst>
          </p:cNvPr>
          <p:cNvSpPr txBox="1"/>
          <p:nvPr/>
        </p:nvSpPr>
        <p:spPr>
          <a:xfrm>
            <a:off x="12076124" y="1334796"/>
            <a:ext cx="394606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900"/>
              </a:spcBef>
              <a:spcAft>
                <a:spcPts val="900"/>
              </a:spcAft>
              <a:buFont typeface="+mj-lt"/>
              <a:buAutoNum type="arabicPeriod"/>
            </a:pPr>
            <a:r>
              <a:rPr lang="en-US" altLang="zh-CN" b="1" dirty="0">
                <a:solidFill>
                  <a:srgbClr val="FF0000"/>
                </a:solidFill>
                <a:latin typeface="+mj-ea"/>
                <a:ea typeface="+mj-ea"/>
                <a:cs typeface="Times New Roman" panose="02020603050405020304" pitchFamily="18" charset="0"/>
              </a:rPr>
              <a:t>MP20051DQ</a:t>
            </a:r>
            <a:r>
              <a:rPr lang="zh-CN" altLang="en-US" b="1" dirty="0">
                <a:solidFill>
                  <a:srgbClr val="FF0000"/>
                </a:solidFill>
                <a:latin typeface="+mj-ea"/>
                <a:ea typeface="+mj-ea"/>
                <a:cs typeface="Times New Roman" panose="02020603050405020304" pitchFamily="18" charset="0"/>
              </a:rPr>
              <a:t>的高噪声抑制比，要讲出来，为什么要</a:t>
            </a:r>
            <a:r>
              <a:rPr lang="en-US" altLang="zh-CN" b="1" dirty="0">
                <a:solidFill>
                  <a:srgbClr val="FF0000"/>
                </a:solidFill>
                <a:latin typeface="+mj-ea"/>
                <a:ea typeface="+mj-ea"/>
                <a:cs typeface="Times New Roman" panose="02020603050405020304" pitchFamily="18" charset="0"/>
              </a:rPr>
              <a:t>LDO</a:t>
            </a:r>
            <a:r>
              <a:rPr lang="zh-CN" altLang="en-US" b="1" dirty="0">
                <a:solidFill>
                  <a:srgbClr val="FF0000"/>
                </a:solidFill>
                <a:latin typeface="+mj-ea"/>
                <a:ea typeface="+mj-ea"/>
                <a:cs typeface="Times New Roman" panose="02020603050405020304" pitchFamily="18" charset="0"/>
              </a:rPr>
              <a:t>，不选</a:t>
            </a:r>
            <a:r>
              <a:rPr lang="en-US" altLang="zh-CN" b="1" dirty="0">
                <a:solidFill>
                  <a:srgbClr val="FF0000"/>
                </a:solidFill>
                <a:latin typeface="+mj-ea"/>
                <a:ea typeface="+mj-ea"/>
                <a:cs typeface="Times New Roman" panose="02020603050405020304" pitchFamily="18" charset="0"/>
              </a:rPr>
              <a:t>DCDC</a:t>
            </a:r>
            <a:r>
              <a:rPr lang="zh-CN" altLang="en-US" b="1" dirty="0">
                <a:solidFill>
                  <a:srgbClr val="FF0000"/>
                </a:solidFill>
                <a:latin typeface="+mj-ea"/>
                <a:ea typeface="+mj-ea"/>
                <a:cs typeface="Times New Roman" panose="02020603050405020304" pitchFamily="18" charset="0"/>
              </a:rPr>
              <a:t>。原因要写出来，优势逐个列出来</a:t>
            </a:r>
            <a:endParaRPr lang="en-US" altLang="zh-CN" b="1" dirty="0">
              <a:solidFill>
                <a:srgbClr val="FF0000"/>
              </a:solidFill>
              <a:latin typeface="+mj-ea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0AC73F9-4395-1D0A-149A-FBECB690160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rightnessContrast bright="40000" contrast="-20000"/>
                    </a14:imgEffect>
                  </a14:imgLayer>
                </a14:imgProps>
              </a:ext>
            </a:extLst>
          </a:blip>
          <a:srcRect l="39898" t="37039" r="38756" b="36240"/>
          <a:stretch/>
        </p:blipFill>
        <p:spPr>
          <a:xfrm>
            <a:off x="461912" y="3762372"/>
            <a:ext cx="3465457" cy="2892343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34C311D4-0B48-E094-CDED-05AA9B36D081}"/>
              </a:ext>
            </a:extLst>
          </p:cNvPr>
          <p:cNvSpPr/>
          <p:nvPr/>
        </p:nvSpPr>
        <p:spPr>
          <a:xfrm>
            <a:off x="2474020" y="5766135"/>
            <a:ext cx="304800" cy="29122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4019135-F933-10A5-5C22-14F9E3590D53}"/>
              </a:ext>
            </a:extLst>
          </p:cNvPr>
          <p:cNvSpPr/>
          <p:nvPr/>
        </p:nvSpPr>
        <p:spPr>
          <a:xfrm rot="5400000">
            <a:off x="3085651" y="5359065"/>
            <a:ext cx="579853" cy="38319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23279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32D6A5-F826-9E2C-76A6-A0EA2B414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组合 47">
            <a:extLst>
              <a:ext uri="{FF2B5EF4-FFF2-40B4-BE49-F238E27FC236}">
                <a16:creationId xmlns:a16="http://schemas.microsoft.com/office/drawing/2014/main" id="{A94E37D9-977D-494B-40BE-285E625CB88B}"/>
              </a:ext>
            </a:extLst>
          </p:cNvPr>
          <p:cNvGrpSpPr/>
          <p:nvPr/>
        </p:nvGrpSpPr>
        <p:grpSpPr>
          <a:xfrm>
            <a:off x="322561" y="1616845"/>
            <a:ext cx="11455541" cy="4867260"/>
            <a:chOff x="217807" y="1258767"/>
            <a:chExt cx="11455541" cy="4867260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5E8D832F-C4F7-5F01-4790-0489BA72C46B}"/>
                </a:ext>
              </a:extLst>
            </p:cNvPr>
            <p:cNvSpPr/>
            <p:nvPr/>
          </p:nvSpPr>
          <p:spPr>
            <a:xfrm>
              <a:off x="5865990" y="3931798"/>
              <a:ext cx="3459625" cy="2178271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lumMod val="20000"/>
                    <a:lumOff val="80000"/>
                  </a:schemeClr>
                </a:gs>
                <a:gs pos="52000">
                  <a:schemeClr val="accent2">
                    <a:lumMod val="40000"/>
                    <a:lumOff val="60000"/>
                  </a:schemeClr>
                </a:gs>
                <a:gs pos="100000">
                  <a:schemeClr val="accent2">
                    <a:lumMod val="60000"/>
                    <a:lumOff val="40000"/>
                  </a:schemeClr>
                </a:gs>
              </a:gsLst>
              <a:lin ang="135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4DD893D8-7A04-27BC-DEF3-E81A569D9D53}"/>
                </a:ext>
              </a:extLst>
            </p:cNvPr>
            <p:cNvSpPr/>
            <p:nvPr/>
          </p:nvSpPr>
          <p:spPr>
            <a:xfrm>
              <a:off x="217808" y="3924092"/>
              <a:ext cx="5574493" cy="2193684"/>
            </a:xfrm>
            <a:prstGeom prst="rect">
              <a:avLst/>
            </a:prstGeom>
            <a:gradFill flip="none" rotWithShape="1">
              <a:gsLst>
                <a:gs pos="1000">
                  <a:schemeClr val="accent5">
                    <a:lumMod val="20000"/>
                    <a:lumOff val="80000"/>
                  </a:schemeClr>
                </a:gs>
                <a:gs pos="52000">
                  <a:schemeClr val="accent5">
                    <a:lumMod val="40000"/>
                    <a:lumOff val="6000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35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A95E90F3-65FE-EB4B-2274-82DA722BCE7A}"/>
                </a:ext>
              </a:extLst>
            </p:cNvPr>
            <p:cNvSpPr/>
            <p:nvPr/>
          </p:nvSpPr>
          <p:spPr>
            <a:xfrm>
              <a:off x="9437295" y="1258767"/>
              <a:ext cx="2236053" cy="4851302"/>
            </a:xfrm>
            <a:prstGeom prst="rect">
              <a:avLst/>
            </a:prstGeom>
            <a:gradFill flip="none" rotWithShape="1">
              <a:gsLst>
                <a:gs pos="0">
                  <a:schemeClr val="bg2">
                    <a:lumMod val="20000"/>
                    <a:lumOff val="80000"/>
                  </a:schemeClr>
                </a:gs>
                <a:gs pos="52000">
                  <a:schemeClr val="bg2">
                    <a:lumMod val="40000"/>
                    <a:lumOff val="60000"/>
                  </a:schemeClr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135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A5779DF3-B00A-DE9F-BA3D-853DE33ABF7B}"/>
                </a:ext>
              </a:extLst>
            </p:cNvPr>
            <p:cNvSpPr/>
            <p:nvPr/>
          </p:nvSpPr>
          <p:spPr>
            <a:xfrm>
              <a:off x="217807" y="1261621"/>
              <a:ext cx="9107809" cy="2555084"/>
            </a:xfrm>
            <a:prstGeom prst="rect">
              <a:avLst/>
            </a:prstGeom>
            <a:gradFill flip="none" rotWithShape="1">
              <a:gsLst>
                <a:gs pos="0">
                  <a:schemeClr val="accent4">
                    <a:lumMod val="20000"/>
                    <a:lumOff val="80000"/>
                  </a:schemeClr>
                </a:gs>
                <a:gs pos="52000">
                  <a:schemeClr val="accent4">
                    <a:lumMod val="40000"/>
                    <a:lumOff val="60000"/>
                  </a:schemeClr>
                </a:gs>
                <a:gs pos="100000">
                  <a:schemeClr val="accent4">
                    <a:lumMod val="60000"/>
                    <a:lumOff val="40000"/>
                  </a:schemeClr>
                </a:gs>
              </a:gsLst>
              <a:lin ang="135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0" name="右箭头 13">
              <a:extLst>
                <a:ext uri="{FF2B5EF4-FFF2-40B4-BE49-F238E27FC236}">
                  <a16:creationId xmlns:a16="http://schemas.microsoft.com/office/drawing/2014/main" id="{CF422D78-B026-D6F5-B867-437912F4D8BC}"/>
                </a:ext>
              </a:extLst>
            </p:cNvPr>
            <p:cNvSpPr/>
            <p:nvPr/>
          </p:nvSpPr>
          <p:spPr>
            <a:xfrm>
              <a:off x="1458619" y="2358913"/>
              <a:ext cx="694052" cy="432566"/>
            </a:xfrm>
            <a:prstGeom prst="rightArrow">
              <a:avLst>
                <a:gd name="adj1" fmla="val 63528"/>
                <a:gd name="adj2" fmla="val 50000"/>
              </a:avLst>
            </a:prstGeom>
            <a:gradFill>
              <a:gsLst>
                <a:gs pos="19000">
                  <a:srgbClr val="0051A2">
                    <a:alpha val="70000"/>
                  </a:srgbClr>
                </a:gs>
                <a:gs pos="0">
                  <a:schemeClr val="bg1">
                    <a:alpha val="0"/>
                  </a:schemeClr>
                </a:gs>
                <a:gs pos="100000">
                  <a:srgbClr val="003364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48V</a:t>
              </a:r>
              <a:endParaRPr lang="zh-CN" alt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圆角矩形 61">
              <a:extLst>
                <a:ext uri="{FF2B5EF4-FFF2-40B4-BE49-F238E27FC236}">
                  <a16:creationId xmlns:a16="http://schemas.microsoft.com/office/drawing/2014/main" id="{152C959D-0A5C-1F92-41ED-B09AC6518D29}"/>
                </a:ext>
              </a:extLst>
            </p:cNvPr>
            <p:cNvSpPr/>
            <p:nvPr/>
          </p:nvSpPr>
          <p:spPr>
            <a:xfrm>
              <a:off x="294832" y="2410899"/>
              <a:ext cx="1101280" cy="324565"/>
            </a:xfrm>
            <a:prstGeom prst="roundRect">
              <a:avLst/>
            </a:prstGeom>
            <a:solidFill>
              <a:srgbClr val="AD82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599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48 </a:t>
              </a:r>
              <a:r>
                <a:rPr lang="en-US" altLang="zh-CN" sz="1599" b="1" dirty="0" err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Vbat</a:t>
              </a:r>
              <a:endParaRPr lang="zh-CN" altLang="en-US" sz="1599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圆角矩形 100">
              <a:extLst>
                <a:ext uri="{FF2B5EF4-FFF2-40B4-BE49-F238E27FC236}">
                  <a16:creationId xmlns:a16="http://schemas.microsoft.com/office/drawing/2014/main" id="{CE8EDB55-9E23-E4FA-7B0A-A0683E1AA0CC}"/>
                </a:ext>
              </a:extLst>
            </p:cNvPr>
            <p:cNvSpPr/>
            <p:nvPr/>
          </p:nvSpPr>
          <p:spPr>
            <a:xfrm>
              <a:off x="3392084" y="1278545"/>
              <a:ext cx="2759253" cy="357340"/>
            </a:xfrm>
            <a:prstGeom prst="roundRect">
              <a:avLst/>
            </a:prstGeom>
            <a:solidFill>
              <a:srgbClr val="AD82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599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辅助电源</a:t>
              </a:r>
              <a:endParaRPr lang="zh-CN" altLang="en-US" sz="1599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13" name="Picture 2" descr="MP4583">
              <a:extLst>
                <a:ext uri="{FF2B5EF4-FFF2-40B4-BE49-F238E27FC236}">
                  <a16:creationId xmlns:a16="http://schemas.microsoft.com/office/drawing/2014/main" id="{CEEF1779-4EEF-1199-1B3A-B6E70166D8D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381" r="22239"/>
            <a:stretch/>
          </p:blipFill>
          <p:spPr bwMode="auto">
            <a:xfrm>
              <a:off x="2266033" y="2067514"/>
              <a:ext cx="1421541" cy="132432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04971D25-36E1-4F71-7E7B-C8201ECDE7AD}"/>
                </a:ext>
              </a:extLst>
            </p:cNvPr>
            <p:cNvSpPr txBox="1"/>
            <p:nvPr/>
          </p:nvSpPr>
          <p:spPr>
            <a:xfrm>
              <a:off x="1932815" y="3268827"/>
              <a:ext cx="2087975" cy="523220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indent="0" algn="ctr" fontAlgn="auto">
                <a:lnSpc>
                  <a:spcPct val="100000"/>
                </a:lnSpc>
              </a:pPr>
              <a:r>
                <a: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100V DC-DC MP4583</a:t>
              </a:r>
            </a:p>
            <a:p>
              <a:pPr indent="0" algn="ctr" fontAlgn="auto">
                <a:lnSpc>
                  <a:spcPct val="100000"/>
                </a:lnSpc>
              </a:pP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宽范围高压</a:t>
              </a:r>
              <a:r>
                <a: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Buck</a:t>
              </a:r>
              <a:endPara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15" name="图片 14">
              <a:extLst>
                <a:ext uri="{FF2B5EF4-FFF2-40B4-BE49-F238E27FC236}">
                  <a16:creationId xmlns:a16="http://schemas.microsoft.com/office/drawing/2014/main" id="{F1E2D9A5-19E0-06E8-6B48-07B89D59AE1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114408" y="1898410"/>
              <a:ext cx="1493428" cy="1493428"/>
            </a:xfrm>
            <a:prstGeom prst="rect">
              <a:avLst/>
            </a:prstGeom>
          </p:spPr>
        </p:pic>
        <p:pic>
          <p:nvPicPr>
            <p:cNvPr id="16" name="图片 15">
              <a:extLst>
                <a:ext uri="{FF2B5EF4-FFF2-40B4-BE49-F238E27FC236}">
                  <a16:creationId xmlns:a16="http://schemas.microsoft.com/office/drawing/2014/main" id="{88C223B4-36DA-6C26-AE6D-EADFB45A971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515094" y="1802228"/>
              <a:ext cx="1725330" cy="1732401"/>
            </a:xfrm>
            <a:prstGeom prst="rect">
              <a:avLst/>
            </a:prstGeom>
          </p:spPr>
        </p:pic>
        <p:pic>
          <p:nvPicPr>
            <p:cNvPr id="17" name="图片 16">
              <a:extLst>
                <a:ext uri="{FF2B5EF4-FFF2-40B4-BE49-F238E27FC236}">
                  <a16:creationId xmlns:a16="http://schemas.microsoft.com/office/drawing/2014/main" id="{4FEE5FD6-C158-6768-FD1C-2A80716CAA3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866169" y="1731893"/>
              <a:ext cx="1416331" cy="1219807"/>
            </a:xfrm>
            <a:prstGeom prst="rect">
              <a:avLst/>
            </a:prstGeom>
          </p:spPr>
        </p:pic>
        <p:pic>
          <p:nvPicPr>
            <p:cNvPr id="18" name="图片 17">
              <a:extLst>
                <a:ext uri="{FF2B5EF4-FFF2-40B4-BE49-F238E27FC236}">
                  <a16:creationId xmlns:a16="http://schemas.microsoft.com/office/drawing/2014/main" id="{1E9C3D35-153D-70A4-DEC5-1E7A9140DF9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582752" y="4454959"/>
              <a:ext cx="1236297" cy="1231188"/>
            </a:xfrm>
            <a:prstGeom prst="rect">
              <a:avLst/>
            </a:prstGeom>
          </p:spPr>
        </p:pic>
        <p:sp>
          <p:nvSpPr>
            <p:cNvPr id="19" name="圆角矩形 100">
              <a:extLst>
                <a:ext uri="{FF2B5EF4-FFF2-40B4-BE49-F238E27FC236}">
                  <a16:creationId xmlns:a16="http://schemas.microsoft.com/office/drawing/2014/main" id="{1B2E5EF6-439B-6052-1EAE-2A0BD2CC38E8}"/>
                </a:ext>
              </a:extLst>
            </p:cNvPr>
            <p:cNvSpPr/>
            <p:nvPr/>
          </p:nvSpPr>
          <p:spPr>
            <a:xfrm>
              <a:off x="6958592" y="3942603"/>
              <a:ext cx="1247931" cy="357340"/>
            </a:xfrm>
            <a:prstGeom prst="roundRect">
              <a:avLst/>
            </a:prstGeom>
            <a:solidFill>
              <a:srgbClr val="AD82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599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CAN</a:t>
              </a:r>
              <a:endParaRPr lang="zh-CN" altLang="en-US" sz="1599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圆角矩形 100">
              <a:extLst>
                <a:ext uri="{FF2B5EF4-FFF2-40B4-BE49-F238E27FC236}">
                  <a16:creationId xmlns:a16="http://schemas.microsoft.com/office/drawing/2014/main" id="{781241BF-1CE4-9583-04BA-00F35CAE1526}"/>
                </a:ext>
              </a:extLst>
            </p:cNvPr>
            <p:cNvSpPr/>
            <p:nvPr/>
          </p:nvSpPr>
          <p:spPr>
            <a:xfrm>
              <a:off x="9562717" y="1266094"/>
              <a:ext cx="1900353" cy="536134"/>
            </a:xfrm>
            <a:prstGeom prst="roundRect">
              <a:avLst/>
            </a:prstGeom>
            <a:solidFill>
              <a:srgbClr val="AD82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599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控制器</a:t>
              </a:r>
              <a:r>
                <a:rPr lang="en-US" altLang="zh-CN" sz="1599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&amp;</a:t>
              </a:r>
              <a:r>
                <a:rPr lang="zh-CN" altLang="en-US" sz="1599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传感器</a:t>
              </a:r>
            </a:p>
          </p:txBody>
        </p:sp>
        <p:sp>
          <p:nvSpPr>
            <p:cNvPr id="21" name="圆角矩形 100">
              <a:extLst>
                <a:ext uri="{FF2B5EF4-FFF2-40B4-BE49-F238E27FC236}">
                  <a16:creationId xmlns:a16="http://schemas.microsoft.com/office/drawing/2014/main" id="{D6BF32EA-8F4E-5CD1-912F-9B232523E348}"/>
                </a:ext>
              </a:extLst>
            </p:cNvPr>
            <p:cNvSpPr/>
            <p:nvPr/>
          </p:nvSpPr>
          <p:spPr>
            <a:xfrm>
              <a:off x="2151668" y="3924092"/>
              <a:ext cx="1765066" cy="357340"/>
            </a:xfrm>
            <a:prstGeom prst="roundRect">
              <a:avLst/>
            </a:prstGeom>
            <a:solidFill>
              <a:srgbClr val="AD82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599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功率回路</a:t>
              </a:r>
              <a:endParaRPr lang="zh-CN" altLang="en-US" sz="1599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右箭头 13">
              <a:extLst>
                <a:ext uri="{FF2B5EF4-FFF2-40B4-BE49-F238E27FC236}">
                  <a16:creationId xmlns:a16="http://schemas.microsoft.com/office/drawing/2014/main" id="{D4D605A0-3891-197F-42CF-D3F6C95427F2}"/>
                </a:ext>
              </a:extLst>
            </p:cNvPr>
            <p:cNvSpPr/>
            <p:nvPr/>
          </p:nvSpPr>
          <p:spPr>
            <a:xfrm rot="5400000">
              <a:off x="85636" y="3291281"/>
              <a:ext cx="1406445" cy="540414"/>
            </a:xfrm>
            <a:prstGeom prst="rightArrow">
              <a:avLst/>
            </a:prstGeom>
            <a:gradFill>
              <a:gsLst>
                <a:gs pos="19000">
                  <a:srgbClr val="0051A2">
                    <a:alpha val="70000"/>
                  </a:srgbClr>
                </a:gs>
                <a:gs pos="0">
                  <a:schemeClr val="bg1">
                    <a:alpha val="0"/>
                  </a:schemeClr>
                </a:gs>
                <a:gs pos="100000">
                  <a:srgbClr val="003364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48V</a:t>
              </a:r>
              <a:endParaRPr lang="zh-CN" alt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5F17674C-77E5-1697-DA27-693D2CCC474F}"/>
                </a:ext>
              </a:extLst>
            </p:cNvPr>
            <p:cNvSpPr txBox="1"/>
            <p:nvPr/>
          </p:nvSpPr>
          <p:spPr>
            <a:xfrm>
              <a:off x="4238667" y="3283151"/>
              <a:ext cx="2278184" cy="523220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indent="0" algn="ctr" fontAlgn="auto">
                <a:lnSpc>
                  <a:spcPct val="100000"/>
                </a:lnSpc>
              </a:pPr>
              <a:r>
                <a: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12V DC-DC MPM3632S</a:t>
              </a:r>
            </a:p>
            <a:p>
              <a:pPr indent="0" algn="ctr" fontAlgn="auto">
                <a:lnSpc>
                  <a:spcPct val="100000"/>
                </a:lnSpc>
              </a:pP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高集成度次级</a:t>
              </a:r>
              <a:r>
                <a: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Buck</a:t>
              </a:r>
              <a:endPara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8FE0D02E-FCB2-FB78-93C3-F65F366C4097}"/>
                </a:ext>
              </a:extLst>
            </p:cNvPr>
            <p:cNvSpPr txBox="1"/>
            <p:nvPr/>
          </p:nvSpPr>
          <p:spPr>
            <a:xfrm>
              <a:off x="6837981" y="3268827"/>
              <a:ext cx="1725330" cy="523220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indent="0" algn="ctr" fontAlgn="auto">
                <a:lnSpc>
                  <a:spcPct val="100000"/>
                </a:lnSpc>
              </a:pPr>
              <a:r>
                <a: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LDO MP20051DQ</a:t>
              </a:r>
            </a:p>
            <a:p>
              <a:pPr indent="0" algn="ctr" fontAlgn="auto">
                <a:lnSpc>
                  <a:spcPct val="100000"/>
                </a:lnSpc>
              </a:pP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可调低纹波</a:t>
              </a:r>
              <a:endPara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D18F7085-0391-F7A9-70F9-682C77877ECD}"/>
                </a:ext>
              </a:extLst>
            </p:cNvPr>
            <p:cNvSpPr txBox="1"/>
            <p:nvPr/>
          </p:nvSpPr>
          <p:spPr>
            <a:xfrm>
              <a:off x="9668849" y="2868624"/>
              <a:ext cx="1725330" cy="307777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indent="0" algn="ctr" fontAlgn="auto">
                <a:lnSpc>
                  <a:spcPct val="100000"/>
                </a:lnSpc>
              </a:pPr>
              <a:r>
                <a: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Current Sensor</a:t>
              </a:r>
              <a:endPara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D1B4ADBF-102E-92BD-DE0D-24E9347A2E22}"/>
                </a:ext>
              </a:extLst>
            </p:cNvPr>
            <p:cNvSpPr txBox="1"/>
            <p:nvPr/>
          </p:nvSpPr>
          <p:spPr>
            <a:xfrm>
              <a:off x="9650229" y="4215070"/>
              <a:ext cx="1725330" cy="307777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indent="0" algn="ctr" fontAlgn="auto">
                <a:lnSpc>
                  <a:spcPct val="100000"/>
                </a:lnSpc>
              </a:pPr>
              <a:r>
                <a: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Controller</a:t>
              </a:r>
              <a:endPara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94260519-BF02-6707-6355-3E3A2ED6F7FD}"/>
                </a:ext>
              </a:extLst>
            </p:cNvPr>
            <p:cNvSpPr txBox="1"/>
            <p:nvPr/>
          </p:nvSpPr>
          <p:spPr>
            <a:xfrm>
              <a:off x="7502154" y="5496555"/>
              <a:ext cx="1725330" cy="307777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indent="0" algn="ctr" fontAlgn="auto">
                <a:lnSpc>
                  <a:spcPct val="100000"/>
                </a:lnSpc>
              </a:pPr>
              <a:r>
                <a: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CAN</a:t>
              </a:r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4A297BDA-F1CB-05B9-B4EE-46A1357B1CC1}"/>
                </a:ext>
              </a:extLst>
            </p:cNvPr>
            <p:cNvSpPr txBox="1"/>
            <p:nvPr/>
          </p:nvSpPr>
          <p:spPr>
            <a:xfrm>
              <a:off x="2466778" y="5602807"/>
              <a:ext cx="1725330" cy="523220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indent="0" algn="ctr" fontAlgn="auto">
                <a:lnSpc>
                  <a:spcPct val="100000"/>
                </a:lnSpc>
              </a:pPr>
              <a:r>
                <a: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MP6539B </a:t>
              </a:r>
            </a:p>
            <a:p>
              <a:pPr indent="0" algn="ctr" fontAlgn="auto">
                <a:lnSpc>
                  <a:spcPct val="100000"/>
                </a:lnSpc>
              </a:pPr>
              <a:r>
                <a: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Driver</a:t>
              </a:r>
              <a:endPara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7A7F38F7-CDCC-0824-CADC-9A6C795574AE}"/>
                </a:ext>
              </a:extLst>
            </p:cNvPr>
            <p:cNvSpPr txBox="1"/>
            <p:nvPr/>
          </p:nvSpPr>
          <p:spPr>
            <a:xfrm>
              <a:off x="345686" y="5592742"/>
              <a:ext cx="1725330" cy="307777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MOSFET</a:t>
              </a:r>
            </a:p>
          </p:txBody>
        </p:sp>
        <p:pic>
          <p:nvPicPr>
            <p:cNvPr id="32" name="图片 31">
              <a:extLst>
                <a:ext uri="{FF2B5EF4-FFF2-40B4-BE49-F238E27FC236}">
                  <a16:creationId xmlns:a16="http://schemas.microsoft.com/office/drawing/2014/main" id="{B57884C7-1F15-DF59-4974-7B5E1CE37A6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837015" y="4419217"/>
              <a:ext cx="1055608" cy="1055608"/>
            </a:xfrm>
            <a:prstGeom prst="rect">
              <a:avLst/>
            </a:prstGeom>
          </p:spPr>
        </p:pic>
        <p:pic>
          <p:nvPicPr>
            <p:cNvPr id="33" name="图片 32">
              <a:extLst>
                <a:ext uri="{FF2B5EF4-FFF2-40B4-BE49-F238E27FC236}">
                  <a16:creationId xmlns:a16="http://schemas.microsoft.com/office/drawing/2014/main" id="{B2C8ADD9-66C0-A392-8198-1902138FA2F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 b="17428"/>
            <a:stretch/>
          </p:blipFill>
          <p:spPr>
            <a:xfrm>
              <a:off x="259489" y="4277751"/>
              <a:ext cx="1592539" cy="1314991"/>
            </a:xfrm>
            <a:prstGeom prst="rect">
              <a:avLst/>
            </a:prstGeom>
          </p:spPr>
        </p:pic>
        <p:pic>
          <p:nvPicPr>
            <p:cNvPr id="34" name="Picture 2" descr="Microcontroller PNG transparent image download, size: 512x333px">
              <a:extLst>
                <a:ext uri="{FF2B5EF4-FFF2-40B4-BE49-F238E27FC236}">
                  <a16:creationId xmlns:a16="http://schemas.microsoft.com/office/drawing/2014/main" id="{B758405D-1E9F-383E-28F9-02FB2DD0337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39995" y="3224074"/>
              <a:ext cx="1445111" cy="9398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5" name="右箭头 13">
              <a:extLst>
                <a:ext uri="{FF2B5EF4-FFF2-40B4-BE49-F238E27FC236}">
                  <a16:creationId xmlns:a16="http://schemas.microsoft.com/office/drawing/2014/main" id="{2198C9B4-12D3-DCE8-4A68-4EA153538679}"/>
                </a:ext>
              </a:extLst>
            </p:cNvPr>
            <p:cNvSpPr/>
            <p:nvPr/>
          </p:nvSpPr>
          <p:spPr>
            <a:xfrm rot="10800000" flipV="1">
              <a:off x="1597170" y="4820365"/>
              <a:ext cx="988560" cy="417036"/>
            </a:xfrm>
            <a:prstGeom prst="rightArrow">
              <a:avLst>
                <a:gd name="adj1" fmla="val 63528"/>
                <a:gd name="adj2" fmla="val 64617"/>
              </a:avLst>
            </a:prstGeom>
            <a:gradFill>
              <a:gsLst>
                <a:gs pos="19000">
                  <a:srgbClr val="0051A2">
                    <a:alpha val="70000"/>
                  </a:srgbClr>
                </a:gs>
                <a:gs pos="0">
                  <a:schemeClr val="bg1">
                    <a:alpha val="0"/>
                  </a:schemeClr>
                </a:gs>
                <a:gs pos="100000">
                  <a:srgbClr val="003364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Control</a:t>
              </a:r>
              <a:endParaRPr lang="zh-CN" alt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36" name="Picture 2">
              <a:extLst>
                <a:ext uri="{FF2B5EF4-FFF2-40B4-BE49-F238E27FC236}">
                  <a16:creationId xmlns:a16="http://schemas.microsoft.com/office/drawing/2014/main" id="{5FEB4FA0-BB72-1176-0DC3-49BF0EEEF7F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507" r="23445"/>
            <a:stretch/>
          </p:blipFill>
          <p:spPr bwMode="auto">
            <a:xfrm>
              <a:off x="6439474" y="4419217"/>
              <a:ext cx="1038237" cy="10247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3B0BBBEC-F46B-CCDD-B3EF-2ED006E53C2E}"/>
                </a:ext>
              </a:extLst>
            </p:cNvPr>
            <p:cNvSpPr txBox="1"/>
            <p:nvPr/>
          </p:nvSpPr>
          <p:spPr>
            <a:xfrm>
              <a:off x="6095927" y="5496556"/>
              <a:ext cx="1725330" cy="523220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indent="0" algn="ctr" fontAlgn="auto">
                <a:lnSpc>
                  <a:spcPct val="100000"/>
                </a:lnSpc>
              </a:pPr>
              <a:r>
                <a: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MIE1W0505</a:t>
              </a:r>
            </a:p>
            <a:p>
              <a:pPr indent="0" algn="ctr" fontAlgn="auto">
                <a:lnSpc>
                  <a:spcPct val="100000"/>
                </a:lnSpc>
              </a:pP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隔离电源</a:t>
              </a:r>
            </a:p>
          </p:txBody>
        </p:sp>
        <p:sp>
          <p:nvSpPr>
            <p:cNvPr id="38" name="右箭头 13">
              <a:extLst>
                <a:ext uri="{FF2B5EF4-FFF2-40B4-BE49-F238E27FC236}">
                  <a16:creationId xmlns:a16="http://schemas.microsoft.com/office/drawing/2014/main" id="{76A28452-34A4-4EA7-124E-74006B8D7887}"/>
                </a:ext>
              </a:extLst>
            </p:cNvPr>
            <p:cNvSpPr/>
            <p:nvPr/>
          </p:nvSpPr>
          <p:spPr>
            <a:xfrm rot="10800000" flipV="1">
              <a:off x="3889718" y="4807653"/>
              <a:ext cx="939837" cy="417036"/>
            </a:xfrm>
            <a:prstGeom prst="rightArrow">
              <a:avLst>
                <a:gd name="adj1" fmla="val 63528"/>
                <a:gd name="adj2" fmla="val 64617"/>
              </a:avLst>
            </a:prstGeom>
            <a:gradFill>
              <a:gsLst>
                <a:gs pos="19000">
                  <a:srgbClr val="0051A2">
                    <a:alpha val="70000"/>
                  </a:srgbClr>
                </a:gs>
                <a:gs pos="0">
                  <a:schemeClr val="bg1">
                    <a:alpha val="0"/>
                  </a:schemeClr>
                </a:gs>
                <a:gs pos="100000">
                  <a:srgbClr val="003364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12V</a:t>
              </a:r>
              <a:endParaRPr lang="zh-CN" alt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39" name="Picture 4" descr="MA600A | High-Accuracy,">
              <a:extLst>
                <a:ext uri="{FF2B5EF4-FFF2-40B4-BE49-F238E27FC236}">
                  <a16:creationId xmlns:a16="http://schemas.microsoft.com/office/drawing/2014/main" id="{E6B1E778-426B-2206-47D5-6CAA6197578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519890" y="4555920"/>
              <a:ext cx="2000757" cy="11254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0" name="右箭头 13">
              <a:extLst>
                <a:ext uri="{FF2B5EF4-FFF2-40B4-BE49-F238E27FC236}">
                  <a16:creationId xmlns:a16="http://schemas.microsoft.com/office/drawing/2014/main" id="{762F7E89-5291-8601-A642-86EBF7D9BB43}"/>
                </a:ext>
              </a:extLst>
            </p:cNvPr>
            <p:cNvSpPr/>
            <p:nvPr/>
          </p:nvSpPr>
          <p:spPr>
            <a:xfrm>
              <a:off x="3716777" y="2351897"/>
              <a:ext cx="694052" cy="432566"/>
            </a:xfrm>
            <a:prstGeom prst="rightArrow">
              <a:avLst>
                <a:gd name="adj1" fmla="val 63528"/>
                <a:gd name="adj2" fmla="val 50000"/>
              </a:avLst>
            </a:prstGeom>
            <a:gradFill>
              <a:gsLst>
                <a:gs pos="19000">
                  <a:srgbClr val="0051A2">
                    <a:alpha val="70000"/>
                  </a:srgbClr>
                </a:gs>
                <a:gs pos="0">
                  <a:schemeClr val="bg1">
                    <a:alpha val="0"/>
                  </a:schemeClr>
                </a:gs>
                <a:gs pos="100000">
                  <a:srgbClr val="003364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12V</a:t>
              </a:r>
              <a:endParaRPr lang="zh-CN" alt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" name="右箭头 13">
              <a:extLst>
                <a:ext uri="{FF2B5EF4-FFF2-40B4-BE49-F238E27FC236}">
                  <a16:creationId xmlns:a16="http://schemas.microsoft.com/office/drawing/2014/main" id="{DB6CA559-F750-648E-BE24-A6B924379CC8}"/>
                </a:ext>
              </a:extLst>
            </p:cNvPr>
            <p:cNvSpPr/>
            <p:nvPr/>
          </p:nvSpPr>
          <p:spPr>
            <a:xfrm>
              <a:off x="6304463" y="2358913"/>
              <a:ext cx="694052" cy="432566"/>
            </a:xfrm>
            <a:prstGeom prst="rightArrow">
              <a:avLst>
                <a:gd name="adj1" fmla="val 63528"/>
                <a:gd name="adj2" fmla="val 50000"/>
              </a:avLst>
            </a:prstGeom>
            <a:gradFill>
              <a:gsLst>
                <a:gs pos="19000">
                  <a:srgbClr val="0051A2">
                    <a:alpha val="70000"/>
                  </a:srgbClr>
                </a:gs>
                <a:gs pos="0">
                  <a:schemeClr val="bg1">
                    <a:alpha val="0"/>
                  </a:schemeClr>
                </a:gs>
                <a:gs pos="100000">
                  <a:srgbClr val="003364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b="1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5V</a:t>
              </a:r>
              <a:endParaRPr lang="zh-CN" alt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D7D1BE7A-FEE9-F583-BF9D-93121D7F59DB}"/>
                </a:ext>
              </a:extLst>
            </p:cNvPr>
            <p:cNvSpPr txBox="1"/>
            <p:nvPr/>
          </p:nvSpPr>
          <p:spPr>
            <a:xfrm>
              <a:off x="9650229" y="5732456"/>
              <a:ext cx="1725330" cy="307777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indent="0" algn="ctr" fontAlgn="auto">
                <a:lnSpc>
                  <a:spcPct val="100000"/>
                </a:lnSpc>
              </a:pPr>
              <a:r>
                <a: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MA600A</a:t>
              </a:r>
              <a:endPara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3" name="圆角矩形 61">
              <a:extLst>
                <a:ext uri="{FF2B5EF4-FFF2-40B4-BE49-F238E27FC236}">
                  <a16:creationId xmlns:a16="http://schemas.microsoft.com/office/drawing/2014/main" id="{5095FB5B-491F-2275-07AC-5932F85DF1B2}"/>
                </a:ext>
              </a:extLst>
            </p:cNvPr>
            <p:cNvSpPr/>
            <p:nvPr/>
          </p:nvSpPr>
          <p:spPr>
            <a:xfrm>
              <a:off x="4848665" y="4853269"/>
              <a:ext cx="904040" cy="324565"/>
            </a:xfrm>
            <a:prstGeom prst="roundRect">
              <a:avLst/>
            </a:prstGeom>
            <a:solidFill>
              <a:srgbClr val="AD82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599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12 Vdc</a:t>
              </a:r>
              <a:endParaRPr lang="zh-CN" altLang="en-US" sz="1599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46" name="矩形 45">
            <a:extLst>
              <a:ext uri="{FF2B5EF4-FFF2-40B4-BE49-F238E27FC236}">
                <a16:creationId xmlns:a16="http://schemas.microsoft.com/office/drawing/2014/main" id="{345BB389-5136-426E-EEBC-949C2CB733A4}"/>
              </a:ext>
            </a:extLst>
          </p:cNvPr>
          <p:cNvSpPr/>
          <p:nvPr/>
        </p:nvSpPr>
        <p:spPr>
          <a:xfrm>
            <a:off x="40924" y="1444055"/>
            <a:ext cx="12018817" cy="5273696"/>
          </a:xfrm>
          <a:prstGeom prst="rect">
            <a:avLst/>
          </a:prstGeom>
          <a:noFill/>
          <a:ln w="9525">
            <a:solidFill>
              <a:srgbClr val="AD822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7" name="文本框 85">
            <a:extLst>
              <a:ext uri="{FF2B5EF4-FFF2-40B4-BE49-F238E27FC236}">
                <a16:creationId xmlns:a16="http://schemas.microsoft.com/office/drawing/2014/main" id="{843019D9-D5B4-4E43-D2DD-3589FD30083B}"/>
              </a:ext>
            </a:extLst>
          </p:cNvPr>
          <p:cNvSpPr txBox="1"/>
          <p:nvPr/>
        </p:nvSpPr>
        <p:spPr>
          <a:xfrm>
            <a:off x="40924" y="1035204"/>
            <a:ext cx="12014621" cy="400110"/>
          </a:xfrm>
          <a:prstGeom prst="rect">
            <a:avLst/>
          </a:prstGeom>
          <a:solidFill>
            <a:srgbClr val="AD8222"/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Overview of the MPS FOC Solution</a:t>
            </a:r>
            <a:endParaRPr kumimoji="1" lang="zh-CN" altLang="zh-CN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6BC32784-F658-9FF5-52A5-AD23ABA637F6}"/>
              </a:ext>
            </a:extLst>
          </p:cNvPr>
          <p:cNvSpPr>
            <a:spLocks noGrp="1"/>
          </p:cNvSpPr>
          <p:nvPr/>
        </p:nvSpPr>
        <p:spPr>
          <a:xfrm>
            <a:off x="40924" y="203285"/>
            <a:ext cx="12014621" cy="521208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txBody>
          <a:bodyPr>
            <a:normAutofit fontScale="59790" lnSpcReduction="20000"/>
          </a:bodyPr>
          <a:lstStyle>
            <a:lvl1pPr algn="l">
              <a:lnSpc>
                <a:spcPct val="13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>
            <a:r>
              <a:rPr dirty="0" err="1">
                <a:solidFill>
                  <a:schemeClr val="bg1"/>
                </a:solidFill>
              </a:rPr>
              <a:t>芯片选型</a:t>
            </a:r>
            <a:r>
              <a:rPr lang="zh-CN" altLang="en-US" dirty="0">
                <a:solidFill>
                  <a:schemeClr val="bg1"/>
                </a:solidFill>
              </a:rPr>
              <a:t>总览</a:t>
            </a:r>
            <a:endParaRPr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10761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457200" y="266700"/>
            <a:ext cx="11277600" cy="657225"/>
            <a:chOff x="457200" y="266700"/>
            <a:chExt cx="11277600" cy="657225"/>
          </a:xfrm>
        </p:grpSpPr>
        <p:sp>
          <p:nvSpPr>
            <p:cNvPr id="3" name="Rectangle 3"/>
            <p:cNvSpPr/>
            <p:nvPr/>
          </p:nvSpPr>
          <p:spPr>
            <a:xfrm>
              <a:off x="457200" y="266700"/>
              <a:ext cx="11277600" cy="59055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13410" y="375285"/>
              <a:ext cx="4875181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PCB Layout——板框与四层叠层</a:t>
              </a:r>
            </a:p>
          </p:txBody>
        </p:sp>
      </p:grpSp>
      <p:sp>
        <p:nvSpPr>
          <p:cNvPr id="6" name="Rectangle 6"/>
          <p:cNvSpPr/>
          <p:nvPr/>
        </p:nvSpPr>
        <p:spPr>
          <a:xfrm>
            <a:off x="457200" y="1009650"/>
            <a:ext cx="6324600" cy="2952750"/>
          </a:xfrm>
          <a:prstGeom prst="rect">
            <a:avLst/>
          </a:prstGeom>
          <a:solidFill>
            <a:srgbClr val="F2F2F2"/>
          </a:solidFill>
          <a:ln w="9525">
            <a:solidFill>
              <a:srgbClr val="AFC7DD"/>
            </a:solidFill>
          </a:ln>
        </p:spPr>
      </p:sp>
      <p:grpSp>
        <p:nvGrpSpPr>
          <p:cNvPr id="17" name="Group 17"/>
          <p:cNvGrpSpPr/>
          <p:nvPr/>
        </p:nvGrpSpPr>
        <p:grpSpPr>
          <a:xfrm>
            <a:off x="6972300" y="1009650"/>
            <a:ext cx="4762500" cy="2952750"/>
            <a:chOff x="6972300" y="1009650"/>
            <a:chExt cx="4762500" cy="2952750"/>
          </a:xfrm>
        </p:grpSpPr>
        <p:sp>
          <p:nvSpPr>
            <p:cNvPr id="9" name="Rectangle 9"/>
            <p:cNvSpPr/>
            <p:nvPr/>
          </p:nvSpPr>
          <p:spPr>
            <a:xfrm>
              <a:off x="6972300" y="1009650"/>
              <a:ext cx="4762500" cy="295275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AFC7DD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6972300" y="1009650"/>
              <a:ext cx="4762500" cy="40005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561701" y="1115854"/>
              <a:ext cx="1583698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板框与工艺参数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257098" y="1639729"/>
              <a:ext cx="3316415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1A1C1F"/>
                  </a:solidFill>
                  <a:latin typeface="Arial"/>
                  <a:ea typeface="Microsoft YaHei"/>
                  <a:cs typeface="Arial"/>
                </a:rPr>
                <a:t>● 外形尺寸：约 49.23 × 42.86 mm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257098" y="2039779"/>
              <a:ext cx="1867233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1A1C1F"/>
                  </a:solidFill>
                  <a:latin typeface="Arial"/>
                  <a:ea typeface="Microsoft YaHei"/>
                  <a:cs typeface="Arial"/>
                </a:rPr>
                <a:t>● 板层结构：4 层板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257098" y="2439829"/>
              <a:ext cx="2266283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1A1C1F"/>
                  </a:solidFill>
                  <a:latin typeface="Arial"/>
                  <a:ea typeface="Microsoft YaHei"/>
                  <a:cs typeface="Arial"/>
                </a:rPr>
                <a:t>● 成品板厚：约 1.6 mm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257098" y="2839879"/>
              <a:ext cx="2371296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1A1C1F"/>
                  </a:solidFill>
                  <a:latin typeface="Arial"/>
                  <a:ea typeface="Microsoft YaHei"/>
                  <a:cs typeface="Arial"/>
                </a:rPr>
                <a:t>● 铜厚配置：外层约 1 oz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257098" y="3239929"/>
              <a:ext cx="3557945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1A1C1F"/>
                  </a:solidFill>
                  <a:latin typeface="Arial"/>
                  <a:ea typeface="Microsoft YaHei"/>
                  <a:cs typeface="Arial"/>
                </a:rPr>
                <a:t>● 布局规模：116 个器件，311 个过孔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431482" y="4143851"/>
            <a:ext cx="11303318" cy="2142649"/>
            <a:chOff x="431482" y="4143851"/>
            <a:chExt cx="11303318" cy="2142649"/>
          </a:xfrm>
        </p:grpSpPr>
        <p:sp>
          <p:nvSpPr>
            <p:cNvPr id="18" name="TextBox 18"/>
            <p:cNvSpPr txBox="1"/>
            <p:nvPr/>
          </p:nvSpPr>
          <p:spPr>
            <a:xfrm>
              <a:off x="431482" y="4143851"/>
              <a:ext cx="1752648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5" b="1" dirty="0">
                  <a:solidFill>
                    <a:srgbClr val="005A9C"/>
                  </a:solidFill>
                  <a:latin typeface="Arial"/>
                  <a:ea typeface="Microsoft YaHei"/>
                  <a:cs typeface="Arial"/>
                </a:rPr>
                <a:t>四层叠层职责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457200" y="4552950"/>
              <a:ext cx="11277600" cy="4572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84848" y="4687729"/>
              <a:ext cx="900062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L1 · Top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362200" y="4695825"/>
              <a:ext cx="38385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器件布局、功率铜皮、栅极驱动与关键信号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457200" y="5048250"/>
              <a:ext cx="11277600" cy="381000"/>
            </a:xfrm>
            <a:prstGeom prst="rect">
              <a:avLst/>
            </a:prstGeom>
            <a:solidFill>
              <a:srgbClr val="EDF8F4"/>
            </a:solidFill>
            <a:ln w="9525">
              <a:solidFill>
                <a:srgbClr val="AFC7DD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85800" y="5143500"/>
              <a:ext cx="85720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05A9C"/>
                  </a:solidFill>
                  <a:latin typeface="Arial"/>
                  <a:ea typeface="Microsoft YaHei"/>
                  <a:cs typeface="Arial"/>
                </a:rPr>
                <a:t>L2 · GND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363152" y="5151596"/>
              <a:ext cx="5166836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1A1C1F"/>
                  </a:solidFill>
                  <a:latin typeface="Arial"/>
                  <a:ea typeface="Microsoft YaHei"/>
                  <a:cs typeface="Arial"/>
                </a:rPr>
                <a:t>连续参考地平面，为采样、驱动和控制信号提供低阻回流路径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457200" y="5467350"/>
              <a:ext cx="11277600" cy="381000"/>
            </a:xfrm>
            <a:prstGeom prst="rect">
              <a:avLst/>
            </a:prstGeom>
            <a:solidFill>
              <a:srgbClr val="FFF2F2"/>
            </a:solidFill>
            <a:ln w="9525">
              <a:solidFill>
                <a:srgbClr val="AFC7DD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85800" y="5562600"/>
              <a:ext cx="113023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L3 · Power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363152" y="5570696"/>
              <a:ext cx="4026694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1A1C1F"/>
                  </a:solidFill>
                  <a:latin typeface="Arial"/>
                  <a:ea typeface="Microsoft YaHei"/>
                  <a:cs typeface="Arial"/>
                </a:rPr>
                <a:t>电源分配与局部铜面，降低供电阻抗并辅助散热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457200" y="5886450"/>
              <a:ext cx="11277600" cy="38100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AFC7DD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85800" y="5981700"/>
              <a:ext cx="124575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05A9C"/>
                  </a:solidFill>
                  <a:latin typeface="Arial"/>
                  <a:ea typeface="Microsoft YaHei"/>
                  <a:cs typeface="Arial"/>
                </a:rPr>
                <a:t>L4 · Bottom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363152" y="5989796"/>
              <a:ext cx="4568261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1A1C1F"/>
                  </a:solidFill>
                  <a:latin typeface="Arial"/>
                  <a:ea typeface="Microsoft YaHei"/>
                  <a:cs typeface="Arial"/>
                </a:rPr>
                <a:t>MCU、驱动与低速控制信号，配合过孔完成上下层互连</a:t>
              </a:r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444818" y="6514624"/>
            <a:ext cx="405526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B6573"/>
                </a:solidFill>
                <a:latin typeface="Arial"/>
                <a:ea typeface="Microsoft YaHei"/>
                <a:cs typeface="Arial"/>
              </a:rPr>
              <a:t>紧凑板框下，通过完整地平面和独立电源层控制回流路径与供电阻抗。</a:t>
            </a:r>
          </a:p>
        </p:txBody>
      </p:sp>
      <p:grpSp>
        <p:nvGrpSpPr>
          <p:cNvPr id="35" name="Group 21">
            <a:extLst>
              <a:ext uri="{FF2B5EF4-FFF2-40B4-BE49-F238E27FC236}">
                <a16:creationId xmlns:a16="http://schemas.microsoft.com/office/drawing/2014/main" id="{C9A34308-0DA0-3615-1992-4B541E5D6806}"/>
              </a:ext>
            </a:extLst>
          </p:cNvPr>
          <p:cNvGrpSpPr/>
          <p:nvPr/>
        </p:nvGrpSpPr>
        <p:grpSpPr>
          <a:xfrm>
            <a:off x="457200" y="1021556"/>
            <a:ext cx="6324600" cy="2952750"/>
            <a:chOff x="457200" y="1009650"/>
            <a:chExt cx="6324600" cy="2952750"/>
          </a:xfrm>
        </p:grpSpPr>
        <p:sp>
          <p:nvSpPr>
            <p:cNvPr id="36" name="Rectangle 6">
              <a:extLst>
                <a:ext uri="{FF2B5EF4-FFF2-40B4-BE49-F238E27FC236}">
                  <a16:creationId xmlns:a16="http://schemas.microsoft.com/office/drawing/2014/main" id="{2E04427E-9FA5-B6A7-28E1-0CDAC98B781B}"/>
                </a:ext>
              </a:extLst>
            </p:cNvPr>
            <p:cNvSpPr/>
            <p:nvPr/>
          </p:nvSpPr>
          <p:spPr>
            <a:xfrm>
              <a:off x="457200" y="1009650"/>
              <a:ext cx="6324600" cy="295275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AFC7DD"/>
              </a:solidFill>
            </a:ln>
          </p:spPr>
        </p:sp>
        <p:pic>
          <p:nvPicPr>
            <p:cNvPr id="37" name="Image 7">
              <a:extLst>
                <a:ext uri="{FF2B5EF4-FFF2-40B4-BE49-F238E27FC236}">
                  <a16:creationId xmlns:a16="http://schemas.microsoft.com/office/drawing/2014/main" id="{D19AA215-A497-8E0F-BEF5-35EAF7117B3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56298" y="1085850"/>
              <a:ext cx="3640455" cy="2800350"/>
            </a:xfrm>
            <a:prstGeom prst="rect">
              <a:avLst/>
            </a:prstGeom>
          </p:spPr>
        </p:pic>
        <p:sp>
          <p:nvSpPr>
            <p:cNvPr id="38" name="Rectangle 8">
              <a:extLst>
                <a:ext uri="{FF2B5EF4-FFF2-40B4-BE49-F238E27FC236}">
                  <a16:creationId xmlns:a16="http://schemas.microsoft.com/office/drawing/2014/main" id="{81BA81B5-4FFA-2CF9-912D-63C0A59349D3}"/>
                </a:ext>
              </a:extLst>
            </p:cNvPr>
            <p:cNvSpPr/>
            <p:nvPr/>
          </p:nvSpPr>
          <p:spPr>
            <a:xfrm>
              <a:off x="4781550" y="1200150"/>
              <a:ext cx="1790700" cy="51435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39" name="TextBox 9">
              <a:extLst>
                <a:ext uri="{FF2B5EF4-FFF2-40B4-BE49-F238E27FC236}">
                  <a16:creationId xmlns:a16="http://schemas.microsoft.com/office/drawing/2014/main" id="{F00E179D-F1B4-BCAB-1CF6-037D4CD54B74}"/>
                </a:ext>
              </a:extLst>
            </p:cNvPr>
            <p:cNvSpPr txBox="1"/>
            <p:nvPr/>
          </p:nvSpPr>
          <p:spPr>
            <a:xfrm>
              <a:off x="4936808" y="1291114"/>
              <a:ext cx="72862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L1 · Top</a:t>
              </a:r>
            </a:p>
          </p:txBody>
        </p:sp>
        <p:sp>
          <p:nvSpPr>
            <p:cNvPr id="40" name="TextBox 10">
              <a:extLst>
                <a:ext uri="{FF2B5EF4-FFF2-40B4-BE49-F238E27FC236}">
                  <a16:creationId xmlns:a16="http://schemas.microsoft.com/office/drawing/2014/main" id="{2A2410D6-5ECC-BA3F-4B69-EE72AEA072A4}"/>
                </a:ext>
              </a:extLst>
            </p:cNvPr>
            <p:cNvSpPr txBox="1"/>
            <p:nvPr/>
          </p:nvSpPr>
          <p:spPr>
            <a:xfrm>
              <a:off x="4939665" y="1515428"/>
              <a:ext cx="1286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真实顶层铜皮与走线</a:t>
              </a:r>
            </a:p>
          </p:txBody>
        </p:sp>
        <p:sp>
          <p:nvSpPr>
            <p:cNvPr id="41" name="Rectangle 11">
              <a:extLst>
                <a:ext uri="{FF2B5EF4-FFF2-40B4-BE49-F238E27FC236}">
                  <a16:creationId xmlns:a16="http://schemas.microsoft.com/office/drawing/2014/main" id="{896BE9EA-3580-F237-D85E-113A82BAC20D}"/>
                </a:ext>
              </a:extLst>
            </p:cNvPr>
            <p:cNvSpPr/>
            <p:nvPr/>
          </p:nvSpPr>
          <p:spPr>
            <a:xfrm>
              <a:off x="4781550" y="1847850"/>
              <a:ext cx="1790700" cy="514350"/>
            </a:xfrm>
            <a:prstGeom prst="rect">
              <a:avLst/>
            </a:prstGeom>
            <a:solidFill>
              <a:srgbClr val="EDF8F4"/>
            </a:solidFill>
            <a:ln w="9525">
              <a:solidFill>
                <a:srgbClr val="00A36C"/>
              </a:solidFill>
            </a:ln>
          </p:spPr>
        </p:sp>
        <p:sp>
          <p:nvSpPr>
            <p:cNvPr id="42" name="TextBox 12">
              <a:extLst>
                <a:ext uri="{FF2B5EF4-FFF2-40B4-BE49-F238E27FC236}">
                  <a16:creationId xmlns:a16="http://schemas.microsoft.com/office/drawing/2014/main" id="{9977AD20-EE85-CC3D-FD9D-4B8FB8689ADA}"/>
                </a:ext>
              </a:extLst>
            </p:cNvPr>
            <p:cNvSpPr txBox="1"/>
            <p:nvPr/>
          </p:nvSpPr>
          <p:spPr>
            <a:xfrm>
              <a:off x="4936808" y="1938814"/>
              <a:ext cx="72862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005A9C"/>
                  </a:solidFill>
                  <a:latin typeface="Arial"/>
                  <a:ea typeface="Microsoft YaHei"/>
                  <a:cs typeface="Arial"/>
                </a:rPr>
                <a:t>L2 · GND</a:t>
              </a:r>
            </a:p>
          </p:txBody>
        </p:sp>
        <p:sp>
          <p:nvSpPr>
            <p:cNvPr id="43" name="TextBox 13">
              <a:extLst>
                <a:ext uri="{FF2B5EF4-FFF2-40B4-BE49-F238E27FC236}">
                  <a16:creationId xmlns:a16="http://schemas.microsoft.com/office/drawing/2014/main" id="{EC1F2676-AB93-3513-F4EF-237AA08B7176}"/>
                </a:ext>
              </a:extLst>
            </p:cNvPr>
            <p:cNvSpPr txBox="1"/>
            <p:nvPr/>
          </p:nvSpPr>
          <p:spPr>
            <a:xfrm>
              <a:off x="4939665" y="2163128"/>
              <a:ext cx="11468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A1C1F"/>
                  </a:solidFill>
                  <a:latin typeface="Arial"/>
                  <a:ea typeface="Microsoft YaHei"/>
                  <a:cs typeface="Arial"/>
                </a:rPr>
                <a:t>连续地平面与过孔</a:t>
              </a:r>
            </a:p>
          </p:txBody>
        </p:sp>
        <p:sp>
          <p:nvSpPr>
            <p:cNvPr id="44" name="Rectangle 14">
              <a:extLst>
                <a:ext uri="{FF2B5EF4-FFF2-40B4-BE49-F238E27FC236}">
                  <a16:creationId xmlns:a16="http://schemas.microsoft.com/office/drawing/2014/main" id="{45CE92B8-1A8C-DB9D-0900-B59CBF815833}"/>
                </a:ext>
              </a:extLst>
            </p:cNvPr>
            <p:cNvSpPr/>
            <p:nvPr/>
          </p:nvSpPr>
          <p:spPr>
            <a:xfrm>
              <a:off x="4781550" y="2495550"/>
              <a:ext cx="1790700" cy="514350"/>
            </a:xfrm>
            <a:prstGeom prst="rect">
              <a:avLst/>
            </a:prstGeom>
            <a:solidFill>
              <a:srgbClr val="FFF2F2"/>
            </a:solidFill>
            <a:ln w="9525">
              <a:solidFill>
                <a:srgbClr val="C00000"/>
              </a:solidFill>
            </a:ln>
          </p:spPr>
        </p:sp>
        <p:sp>
          <p:nvSpPr>
            <p:cNvPr id="45" name="TextBox 15">
              <a:extLst>
                <a:ext uri="{FF2B5EF4-FFF2-40B4-BE49-F238E27FC236}">
                  <a16:creationId xmlns:a16="http://schemas.microsoft.com/office/drawing/2014/main" id="{0AA816D0-D0F3-3C3B-DFBD-30D240868C45}"/>
                </a:ext>
              </a:extLst>
            </p:cNvPr>
            <p:cNvSpPr txBox="1"/>
            <p:nvPr/>
          </p:nvSpPr>
          <p:spPr>
            <a:xfrm>
              <a:off x="4936808" y="2586514"/>
              <a:ext cx="96070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L3 · Power</a:t>
              </a:r>
            </a:p>
          </p:txBody>
        </p:sp>
        <p:sp>
          <p:nvSpPr>
            <p:cNvPr id="46" name="TextBox 16">
              <a:extLst>
                <a:ext uri="{FF2B5EF4-FFF2-40B4-BE49-F238E27FC236}">
                  <a16:creationId xmlns:a16="http://schemas.microsoft.com/office/drawing/2014/main" id="{6176AD29-CEF2-D956-865D-3D1C11BFECB1}"/>
                </a:ext>
              </a:extLst>
            </p:cNvPr>
            <p:cNvSpPr txBox="1"/>
            <p:nvPr/>
          </p:nvSpPr>
          <p:spPr>
            <a:xfrm>
              <a:off x="4939665" y="2810828"/>
              <a:ext cx="1286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A1C1F"/>
                  </a:solidFill>
                  <a:latin typeface="Arial"/>
                  <a:ea typeface="Microsoft YaHei"/>
                  <a:cs typeface="Arial"/>
                </a:rPr>
                <a:t>实际电源铺铜与分区</a:t>
              </a:r>
            </a:p>
          </p:txBody>
        </p:sp>
        <p:sp>
          <p:nvSpPr>
            <p:cNvPr id="47" name="Rectangle 17">
              <a:extLst>
                <a:ext uri="{FF2B5EF4-FFF2-40B4-BE49-F238E27FC236}">
                  <a16:creationId xmlns:a16="http://schemas.microsoft.com/office/drawing/2014/main" id="{C4CC897F-361F-A4EE-E27D-06D2E1351EBD}"/>
                </a:ext>
              </a:extLst>
            </p:cNvPr>
            <p:cNvSpPr/>
            <p:nvPr/>
          </p:nvSpPr>
          <p:spPr>
            <a:xfrm>
              <a:off x="4781550" y="3143250"/>
              <a:ext cx="1790700" cy="5143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AFC7DD"/>
              </a:solidFill>
            </a:ln>
          </p:spPr>
        </p:sp>
        <p:sp>
          <p:nvSpPr>
            <p:cNvPr id="48" name="TextBox 18">
              <a:extLst>
                <a:ext uri="{FF2B5EF4-FFF2-40B4-BE49-F238E27FC236}">
                  <a16:creationId xmlns:a16="http://schemas.microsoft.com/office/drawing/2014/main" id="{47FE6D71-D5B0-E09B-8DD6-82FC7DC641BB}"/>
                </a:ext>
              </a:extLst>
            </p:cNvPr>
            <p:cNvSpPr txBox="1"/>
            <p:nvPr/>
          </p:nvSpPr>
          <p:spPr>
            <a:xfrm>
              <a:off x="4936808" y="3234214"/>
              <a:ext cx="105888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005A9C"/>
                  </a:solidFill>
                  <a:latin typeface="Arial"/>
                  <a:ea typeface="Microsoft YaHei"/>
                  <a:cs typeface="Arial"/>
                </a:rPr>
                <a:t>L4 · Bottom</a:t>
              </a:r>
            </a:p>
          </p:txBody>
        </p:sp>
        <p:sp>
          <p:nvSpPr>
            <p:cNvPr id="49" name="TextBox 19">
              <a:extLst>
                <a:ext uri="{FF2B5EF4-FFF2-40B4-BE49-F238E27FC236}">
                  <a16:creationId xmlns:a16="http://schemas.microsoft.com/office/drawing/2014/main" id="{4850BB8F-5443-3B89-2FE9-65B2F8E75306}"/>
                </a:ext>
              </a:extLst>
            </p:cNvPr>
            <p:cNvSpPr txBox="1"/>
            <p:nvPr/>
          </p:nvSpPr>
          <p:spPr>
            <a:xfrm>
              <a:off x="4939665" y="3458528"/>
              <a:ext cx="1286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A1C1F"/>
                  </a:solidFill>
                  <a:latin typeface="Arial"/>
                  <a:ea typeface="Microsoft YaHei"/>
                  <a:cs typeface="Arial"/>
                </a:rPr>
                <a:t>真实底层布线与铜面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-2985407" y="2497931"/>
            <a:ext cx="27949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4</a:t>
            </a:r>
            <a:r>
              <a:rPr lang="zh-CN" altLang="en-US" b="1" dirty="0">
                <a:solidFill>
                  <a:srgbClr val="FF0000"/>
                </a:solidFill>
              </a:rPr>
              <a:t>层板爆炸图展开效果</a:t>
            </a:r>
            <a:endParaRPr 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31" grpId="0"/>
      <p:bldP spid="3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266700"/>
            <a:ext cx="11277600" cy="657225"/>
            <a:chOff x="457200" y="266700"/>
            <a:chExt cx="11277600" cy="657225"/>
          </a:xfrm>
        </p:grpSpPr>
        <p:sp>
          <p:nvSpPr>
            <p:cNvPr id="3" name="Rectangle 3"/>
            <p:cNvSpPr/>
            <p:nvPr/>
          </p:nvSpPr>
          <p:spPr>
            <a:xfrm>
              <a:off x="457200" y="266700"/>
              <a:ext cx="11277600" cy="59055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13410" y="375285"/>
              <a:ext cx="3795046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PCB Layout——功能分区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457200" y="1009650"/>
            <a:ext cx="6724650" cy="5143500"/>
            <a:chOff x="457200" y="1009650"/>
            <a:chExt cx="6724650" cy="5143500"/>
          </a:xfrm>
        </p:grpSpPr>
        <p:sp>
          <p:nvSpPr>
            <p:cNvPr id="6" name="Rectangle 6"/>
            <p:cNvSpPr/>
            <p:nvPr/>
          </p:nvSpPr>
          <p:spPr>
            <a:xfrm>
              <a:off x="457200" y="1009650"/>
              <a:ext cx="6724650" cy="514350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AFC7DD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0550" y="1294209"/>
              <a:ext cx="6457950" cy="4574381"/>
            </a:xfrm>
            <a:prstGeom prst="rect">
              <a:avLst/>
            </a:prstGeom>
          </p:spPr>
        </p:pic>
        <p:sp>
          <p:nvSpPr>
            <p:cNvPr id="8" name="Ellipse 8"/>
            <p:cNvSpPr/>
            <p:nvPr/>
          </p:nvSpPr>
          <p:spPr>
            <a:xfrm>
              <a:off x="3248025" y="3295650"/>
              <a:ext cx="361950" cy="361950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359874" y="3397568"/>
              <a:ext cx="13825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1647825" y="2162175"/>
              <a:ext cx="361950" cy="361950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759674" y="2264092"/>
              <a:ext cx="13825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3990975" y="4743450"/>
              <a:ext cx="361950" cy="361950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102824" y="4845368"/>
              <a:ext cx="13825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2600325" y="4314825"/>
              <a:ext cx="361950" cy="361950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2712174" y="4416742"/>
              <a:ext cx="13825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4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581650" y="3009900"/>
              <a:ext cx="361950" cy="361950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693499" y="3111818"/>
              <a:ext cx="13825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5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7372350" y="1009650"/>
            <a:ext cx="4880420" cy="5143500"/>
            <a:chOff x="7372350" y="1009650"/>
            <a:chExt cx="4880420" cy="5143500"/>
          </a:xfrm>
        </p:grpSpPr>
        <p:sp>
          <p:nvSpPr>
            <p:cNvPr id="19" name="Rectangle 19"/>
            <p:cNvSpPr/>
            <p:nvPr/>
          </p:nvSpPr>
          <p:spPr>
            <a:xfrm>
              <a:off x="7372350" y="1009650"/>
              <a:ext cx="4362450" cy="51435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AFC7DD"/>
              </a:solidFill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7505700" y="1230154"/>
              <a:ext cx="4066985" cy="567690"/>
              <a:chOff x="7505700" y="1230154"/>
              <a:chExt cx="4066985" cy="567690"/>
            </a:xfrm>
          </p:grpSpPr>
          <p:sp>
            <p:nvSpPr>
              <p:cNvPr id="20" name="Ellipse 20"/>
              <p:cNvSpPr/>
              <p:nvPr/>
            </p:nvSpPr>
            <p:spPr>
              <a:xfrm>
                <a:off x="7505700" y="1238250"/>
                <a:ext cx="381000" cy="381000"/>
              </a:xfrm>
              <a:prstGeom prst="ellipse">
                <a:avLst/>
              </a:prstGeom>
              <a:solidFill>
                <a:srgbClr val="0070C0"/>
              </a:solidFill>
              <a:ln>
                <a:noFill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7627074" y="1349692"/>
                <a:ext cx="138253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1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8000048" y="1230154"/>
                <a:ext cx="1583698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75" b="1" dirty="0">
                    <a:solidFill>
                      <a:srgbClr val="005A9C"/>
                    </a:solidFill>
                    <a:latin typeface="Arial"/>
                    <a:ea typeface="Microsoft YaHei"/>
                    <a:cs typeface="Arial"/>
                  </a:rPr>
                  <a:t>磁编码器中心区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8003858" y="1538764"/>
                <a:ext cx="3568827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5B6573"/>
                    </a:solidFill>
                    <a:latin typeface="Arial"/>
                    <a:ea typeface="Microsoft YaHei"/>
                    <a:cs typeface="Arial"/>
                  </a:rPr>
                  <a:t>MA600A 对准电机轴心，周围限制高电流器件。</a:t>
                </a:r>
              </a:p>
            </p:txBody>
          </p:sp>
        </p:grpSp>
        <p:sp>
          <p:nvSpPr>
            <p:cNvPr id="25" name="Line 25"/>
            <p:cNvSpPr/>
            <p:nvPr/>
          </p:nvSpPr>
          <p:spPr>
            <a:xfrm>
              <a:off x="7562850" y="1876425"/>
              <a:ext cx="3962400" cy="9525"/>
            </a:xfrm>
            <a:custGeom>
              <a:avLst/>
              <a:gdLst/>
              <a:ahLst/>
              <a:cxnLst/>
              <a:rect l="l" t="t" r="r" b="b"/>
              <a:pathLst>
                <a:path w="3962400" h="9525">
                  <a:moveTo>
                    <a:pt x="0" y="0"/>
                  </a:moveTo>
                  <a:lnTo>
                    <a:pt x="3962400" y="0"/>
                  </a:lnTo>
                </a:path>
              </a:pathLst>
            </a:custGeom>
            <a:noFill/>
            <a:ln w="9525">
              <a:solidFill>
                <a:srgbClr val="AFC7DD"/>
              </a:solidFill>
            </a:ln>
          </p:spPr>
        </p:sp>
        <p:grpSp>
          <p:nvGrpSpPr>
            <p:cNvPr id="30" name="Group 30"/>
            <p:cNvGrpSpPr/>
            <p:nvPr/>
          </p:nvGrpSpPr>
          <p:grpSpPr>
            <a:xfrm>
              <a:off x="7505700" y="2077879"/>
              <a:ext cx="4322017" cy="567690"/>
              <a:chOff x="7505700" y="2077879"/>
              <a:chExt cx="4322017" cy="567690"/>
            </a:xfrm>
          </p:grpSpPr>
          <p:sp>
            <p:nvSpPr>
              <p:cNvPr id="26" name="Ellipse 26"/>
              <p:cNvSpPr/>
              <p:nvPr/>
            </p:nvSpPr>
            <p:spPr>
              <a:xfrm>
                <a:off x="7505700" y="2085975"/>
                <a:ext cx="381000" cy="381000"/>
              </a:xfrm>
              <a:prstGeom prst="ellipse">
                <a:avLst/>
              </a:prstGeom>
              <a:solidFill>
                <a:srgbClr val="0070C0"/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7627074" y="2197418"/>
                <a:ext cx="138253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2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8000048" y="2077879"/>
                <a:ext cx="1142643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75" b="1" dirty="0">
                    <a:solidFill>
                      <a:srgbClr val="005A9C"/>
                    </a:solidFill>
                    <a:latin typeface="Arial"/>
                    <a:ea typeface="Microsoft YaHei"/>
                    <a:cs typeface="Arial"/>
                  </a:rPr>
                  <a:t>三相功率区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003858" y="2386489"/>
                <a:ext cx="3823859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5B6573"/>
                    </a:solidFill>
                    <a:latin typeface="Arial"/>
                    <a:ea typeface="Microsoft YaHei"/>
                    <a:cs typeface="Arial"/>
                  </a:rPr>
                  <a:t>六颗 MOSFET 沿板边展开，缩短相线与散热路径。</a:t>
                </a:r>
              </a:p>
            </p:txBody>
          </p:sp>
        </p:grpSp>
        <p:sp>
          <p:nvSpPr>
            <p:cNvPr id="31" name="Line 31"/>
            <p:cNvSpPr/>
            <p:nvPr/>
          </p:nvSpPr>
          <p:spPr>
            <a:xfrm>
              <a:off x="7562850" y="2724150"/>
              <a:ext cx="3962400" cy="9525"/>
            </a:xfrm>
            <a:custGeom>
              <a:avLst/>
              <a:gdLst/>
              <a:ahLst/>
              <a:cxnLst/>
              <a:rect l="l" t="t" r="r" b="b"/>
              <a:pathLst>
                <a:path w="3962400" h="9525">
                  <a:moveTo>
                    <a:pt x="0" y="0"/>
                  </a:moveTo>
                  <a:lnTo>
                    <a:pt x="3962400" y="0"/>
                  </a:lnTo>
                </a:path>
              </a:pathLst>
            </a:custGeom>
            <a:noFill/>
            <a:ln w="9525">
              <a:solidFill>
                <a:srgbClr val="AFC7DD"/>
              </a:solidFill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7505700" y="2925604"/>
              <a:ext cx="4747070" cy="567690"/>
              <a:chOff x="7505700" y="2925604"/>
              <a:chExt cx="4747070" cy="567690"/>
            </a:xfrm>
          </p:grpSpPr>
          <p:sp>
            <p:nvSpPr>
              <p:cNvPr id="32" name="Ellipse 32"/>
              <p:cNvSpPr/>
              <p:nvPr/>
            </p:nvSpPr>
            <p:spPr>
              <a:xfrm>
                <a:off x="7505700" y="2933700"/>
                <a:ext cx="381000" cy="381000"/>
              </a:xfrm>
              <a:prstGeom prst="ellipse">
                <a:avLst/>
              </a:prstGeom>
              <a:solidFill>
                <a:srgbClr val="0070C0"/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7627074" y="3045142"/>
                <a:ext cx="138253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3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8000048" y="2925604"/>
                <a:ext cx="1750479" cy="2423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75" b="1" dirty="0">
                    <a:solidFill>
                      <a:srgbClr val="005A9C"/>
                    </a:solidFill>
                    <a:latin typeface="Arial"/>
                    <a:ea typeface="Microsoft YaHei"/>
                    <a:cs typeface="Arial"/>
                  </a:rPr>
                  <a:t>驱动与控制区</a:t>
                </a:r>
                <a:r>
                  <a:rPr lang="en-US" altLang="zh-CN" sz="1575" b="1" dirty="0">
                    <a:solidFill>
                      <a:srgbClr val="005A9C"/>
                    </a:solidFill>
                    <a:latin typeface="Arial"/>
                    <a:ea typeface="Microsoft YaHei"/>
                    <a:cs typeface="Arial"/>
                  </a:rPr>
                  <a:t>(</a:t>
                </a:r>
                <a:r>
                  <a:rPr lang="zh-CN" altLang="en-US" sz="1575" b="1" dirty="0">
                    <a:solidFill>
                      <a:srgbClr val="005A9C"/>
                    </a:solidFill>
                    <a:latin typeface="Arial"/>
                    <a:ea typeface="Microsoft YaHei"/>
                    <a:cs typeface="Arial"/>
                  </a:rPr>
                  <a:t>背面</a:t>
                </a:r>
                <a:r>
                  <a:rPr lang="en-US" altLang="zh-CN" sz="1575" b="1" dirty="0">
                    <a:solidFill>
                      <a:srgbClr val="005A9C"/>
                    </a:solidFill>
                    <a:latin typeface="Arial"/>
                    <a:ea typeface="Microsoft YaHei"/>
                    <a:cs typeface="Arial"/>
                  </a:rPr>
                  <a:t>)</a:t>
                </a:r>
                <a:endParaRPr lang="zh-CN" sz="1575" b="1" dirty="0">
                  <a:solidFill>
                    <a:srgbClr val="005A9C"/>
                  </a:solidFill>
                  <a:latin typeface="Arial"/>
                  <a:ea typeface="Microsoft YaHei"/>
                  <a:cs typeface="Arial"/>
                </a:endParaRP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003858" y="3234214"/>
                <a:ext cx="4248912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5B6573"/>
                    </a:solidFill>
                    <a:latin typeface="Arial"/>
                    <a:ea typeface="Microsoft YaHei"/>
                    <a:cs typeface="Arial"/>
                  </a:rPr>
                  <a:t>MP6539B 靠近功率级，STM32G431 集中管理控制信号。</a:t>
                </a:r>
              </a:p>
            </p:txBody>
          </p:sp>
        </p:grpSp>
        <p:sp>
          <p:nvSpPr>
            <p:cNvPr id="37" name="Line 37"/>
            <p:cNvSpPr/>
            <p:nvPr/>
          </p:nvSpPr>
          <p:spPr>
            <a:xfrm>
              <a:off x="7562850" y="3571875"/>
              <a:ext cx="3962400" cy="9525"/>
            </a:xfrm>
            <a:custGeom>
              <a:avLst/>
              <a:gdLst/>
              <a:ahLst/>
              <a:cxnLst/>
              <a:rect l="l" t="t" r="r" b="b"/>
              <a:pathLst>
                <a:path w="3962400" h="9525">
                  <a:moveTo>
                    <a:pt x="0" y="0"/>
                  </a:moveTo>
                  <a:lnTo>
                    <a:pt x="3962400" y="0"/>
                  </a:lnTo>
                </a:path>
              </a:pathLst>
            </a:custGeom>
            <a:noFill/>
            <a:ln w="9525">
              <a:solidFill>
                <a:srgbClr val="AFC7DD"/>
              </a:solidFill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7505700" y="3773329"/>
              <a:ext cx="4551546" cy="567690"/>
              <a:chOff x="7505700" y="3773329"/>
              <a:chExt cx="4551546" cy="567690"/>
            </a:xfrm>
          </p:grpSpPr>
          <p:sp>
            <p:nvSpPr>
              <p:cNvPr id="38" name="Ellipse 38"/>
              <p:cNvSpPr/>
              <p:nvPr/>
            </p:nvSpPr>
            <p:spPr>
              <a:xfrm>
                <a:off x="7505700" y="3781425"/>
                <a:ext cx="381000" cy="381000"/>
              </a:xfrm>
              <a:prstGeom prst="ellipse">
                <a:avLst/>
              </a:prstGeom>
              <a:solidFill>
                <a:srgbClr val="0070C0"/>
              </a:solidFill>
              <a:ln>
                <a:noFill/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7627074" y="3892868"/>
                <a:ext cx="138253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4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8000048" y="3773329"/>
                <a:ext cx="1583698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75" b="1" dirty="0">
                    <a:solidFill>
                      <a:srgbClr val="005A9C"/>
                    </a:solidFill>
                    <a:latin typeface="Arial"/>
                    <a:ea typeface="Microsoft YaHei"/>
                    <a:cs typeface="Arial"/>
                  </a:rPr>
                  <a:t>三相电流采样区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8003858" y="4081939"/>
                <a:ext cx="4053388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5B6573"/>
                    </a:solidFill>
                    <a:latin typeface="Arial"/>
                    <a:ea typeface="Microsoft YaHei"/>
                    <a:cs typeface="Arial"/>
                  </a:rPr>
                  <a:t>10 mΩ 分流电阻与 INA240 就近布置，控制采样环路。</a:t>
                </a:r>
              </a:p>
            </p:txBody>
          </p:sp>
        </p:grpSp>
        <p:sp>
          <p:nvSpPr>
            <p:cNvPr id="43" name="Line 43"/>
            <p:cNvSpPr/>
            <p:nvPr/>
          </p:nvSpPr>
          <p:spPr>
            <a:xfrm>
              <a:off x="7562850" y="4419600"/>
              <a:ext cx="3962400" cy="9525"/>
            </a:xfrm>
            <a:custGeom>
              <a:avLst/>
              <a:gdLst/>
              <a:ahLst/>
              <a:cxnLst/>
              <a:rect l="l" t="t" r="r" b="b"/>
              <a:pathLst>
                <a:path w="3962400" h="9525">
                  <a:moveTo>
                    <a:pt x="0" y="0"/>
                  </a:moveTo>
                  <a:lnTo>
                    <a:pt x="3962400" y="0"/>
                  </a:lnTo>
                </a:path>
              </a:pathLst>
            </a:custGeom>
            <a:noFill/>
            <a:ln w="9525">
              <a:solidFill>
                <a:srgbClr val="AFC7DD"/>
              </a:solidFill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7505700" y="4621054"/>
              <a:ext cx="3445193" cy="824865"/>
              <a:chOff x="7505700" y="4621054"/>
              <a:chExt cx="3445193" cy="824865"/>
            </a:xfrm>
          </p:grpSpPr>
          <p:sp>
            <p:nvSpPr>
              <p:cNvPr id="44" name="Ellipse 44"/>
              <p:cNvSpPr/>
              <p:nvPr/>
            </p:nvSpPr>
            <p:spPr>
              <a:xfrm>
                <a:off x="7505700" y="4629150"/>
                <a:ext cx="381000" cy="381000"/>
              </a:xfrm>
              <a:prstGeom prst="ellipse">
                <a:avLst/>
              </a:prstGeom>
              <a:solidFill>
                <a:srgbClr val="0070C0"/>
              </a:solidFill>
              <a:ln>
                <a:noFill/>
              </a:ln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7627074" y="4740592"/>
                <a:ext cx="138253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5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8000048" y="4621054"/>
                <a:ext cx="2024753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75" b="1" dirty="0">
                    <a:solidFill>
                      <a:srgbClr val="005A9C"/>
                    </a:solidFill>
                    <a:latin typeface="Arial"/>
                    <a:ea typeface="Microsoft YaHei"/>
                    <a:cs typeface="Arial"/>
                  </a:rPr>
                  <a:t>辅助电源与隔离通信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8003858" y="4929664"/>
                <a:ext cx="2947035" cy="5162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/>
              <a:lstStyle/>
              <a:p>
                <a:pPr algn="l">
                  <a:lnSpc>
                    <a:spcPts val="2025"/>
                  </a:lnSpc>
                </a:pPr>
                <a:r>
                  <a:rPr lang="zh-CN" sz="1275" dirty="0">
                    <a:solidFill>
                      <a:srgbClr val="5B6573"/>
                    </a:solidFill>
                    <a:latin typeface="Arial"/>
                    <a:ea typeface="Microsoft YaHei"/>
                    <a:cs typeface="Arial"/>
                  </a:rPr>
                  <a:t>DC-DC、隔离电源与 CAN 接口靠近板边，便于电源入口和外部总线连接。</a:t>
                </a:r>
              </a:p>
            </p:txBody>
          </p:sp>
        </p:grpSp>
        <p:sp>
          <p:nvSpPr>
            <p:cNvPr id="49" name="Rectangle 49"/>
            <p:cNvSpPr/>
            <p:nvPr/>
          </p:nvSpPr>
          <p:spPr>
            <a:xfrm>
              <a:off x="7562850" y="5543550"/>
              <a:ext cx="3962400" cy="400050"/>
            </a:xfrm>
            <a:prstGeom prst="rect">
              <a:avLst/>
            </a:prstGeom>
            <a:solidFill>
              <a:srgbClr val="EDF8F4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385590" y="5663089"/>
              <a:ext cx="431692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005A9C"/>
                  </a:solidFill>
                  <a:latin typeface="Arial"/>
                  <a:ea typeface="Microsoft YaHei"/>
                  <a:cs typeface="Arial"/>
                </a:rPr>
                <a:t>分区原则：缩短大电流环路，隔离敏感采样与通信边界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5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266700"/>
            <a:ext cx="11277600" cy="590550"/>
            <a:chOff x="457200" y="266700"/>
            <a:chExt cx="11277600" cy="590550"/>
          </a:xfrm>
        </p:grpSpPr>
        <p:sp>
          <p:nvSpPr>
            <p:cNvPr id="3" name="Rectangle 3"/>
            <p:cNvSpPr/>
            <p:nvPr/>
          </p:nvSpPr>
          <p:spPr>
            <a:xfrm>
              <a:off x="457200" y="266700"/>
              <a:ext cx="11277600" cy="59055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13410" y="375285"/>
              <a:ext cx="6790320" cy="43088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PCB Layout——</a:t>
              </a:r>
              <a:r>
                <a:rPr lang="zh-CN" altLang="en-US" sz="27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栅极与 </a:t>
              </a:r>
              <a:r>
                <a:rPr lang="en-US" altLang="zh-CN" sz="27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Bootstrap </a:t>
              </a:r>
              <a:r>
                <a:rPr lang="zh-CN" altLang="en-US" sz="27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回路布局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457200" y="1028700"/>
            <a:ext cx="6705600" cy="2743200"/>
            <a:chOff x="457200" y="1028700"/>
            <a:chExt cx="6705600" cy="2743200"/>
          </a:xfrm>
        </p:grpSpPr>
        <p:sp>
          <p:nvSpPr>
            <p:cNvPr id="6" name="Rectangle 6"/>
            <p:cNvSpPr/>
            <p:nvPr/>
          </p:nvSpPr>
          <p:spPr>
            <a:xfrm>
              <a:off x="457200" y="1028700"/>
              <a:ext cx="6705600" cy="274320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AFC7DD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457200" y="1028700"/>
              <a:ext cx="6705600" cy="3810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3018151" y="1125379"/>
              <a:ext cx="1583698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主功率电流环路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723900" y="2038350"/>
              <a:ext cx="1066800" cy="59055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70C0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8480" y="2140268"/>
              <a:ext cx="83764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005A9C"/>
                  </a:solidFill>
                  <a:latin typeface="Arial"/>
                  <a:ea typeface="Microsoft YaHei"/>
                  <a:cs typeface="Arial"/>
                </a:rPr>
                <a:t>48 V 输入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42975" y="2383631"/>
              <a:ext cx="62865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5B6573"/>
                  </a:solidFill>
                  <a:latin typeface="Arial"/>
                  <a:ea typeface="Microsoft YaHei"/>
                  <a:cs typeface="Arial"/>
                </a:rPr>
                <a:t>母线电容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2324100" y="1885950"/>
              <a:ext cx="1352550" cy="89535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C00000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416159" y="2045018"/>
              <a:ext cx="116843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半桥 MOSFET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573084" y="2327910"/>
              <a:ext cx="85458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B6573"/>
                  </a:solidFill>
                  <a:latin typeface="Arial"/>
                  <a:ea typeface="Microsoft YaHei"/>
                  <a:cs typeface="Arial"/>
                </a:rPr>
                <a:t>高侧 + 低侧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4210050" y="2038350"/>
              <a:ext cx="1066800" cy="59055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70C0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348258" y="2149792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005A9C"/>
                  </a:solidFill>
                  <a:latin typeface="Arial"/>
                  <a:ea typeface="Microsoft YaHei"/>
                  <a:cs typeface="Arial"/>
                </a:rPr>
                <a:t>相线输出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417874" y="2393156"/>
              <a:ext cx="65115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5B6573"/>
                  </a:solidFill>
                  <a:latin typeface="Arial"/>
                  <a:ea typeface="Microsoft YaHei"/>
                  <a:cs typeface="Arial"/>
                </a:rPr>
                <a:t>U / V / W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810250" y="2038350"/>
              <a:ext cx="1066800" cy="59055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70C0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948458" y="2149792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005A9C"/>
                  </a:solidFill>
                  <a:latin typeface="Arial"/>
                  <a:ea typeface="Microsoft YaHei"/>
                  <a:cs typeface="Arial"/>
                </a:rPr>
                <a:t>分流电阻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126837" y="2393156"/>
              <a:ext cx="43362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5B6573"/>
                  </a:solidFill>
                  <a:latin typeface="Arial"/>
                  <a:ea typeface="Microsoft YaHei"/>
                  <a:cs typeface="Arial"/>
                </a:rPr>
                <a:t>10 mΩ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1790700" y="2333625"/>
              <a:ext cx="533400" cy="9525"/>
            </a:xfrm>
            <a:custGeom>
              <a:avLst/>
              <a:gdLst/>
              <a:ahLst/>
              <a:cxnLst/>
              <a:rect l="l" t="t" r="r" b="b"/>
              <a:pathLst>
                <a:path w="533400" h="9525">
                  <a:moveTo>
                    <a:pt x="0" y="0"/>
                  </a:moveTo>
                  <a:lnTo>
                    <a:pt x="533400" y="0"/>
                  </a:lnTo>
                </a:path>
              </a:pathLst>
            </a:custGeom>
            <a:noFill/>
            <a:ln w="47625">
              <a:solidFill>
                <a:srgbClr val="C00000"/>
              </a:solidFill>
            </a:ln>
          </p:spPr>
        </p:sp>
        <p:sp>
          <p:nvSpPr>
            <p:cNvPr id="22" name="Polygon 22"/>
            <p:cNvSpPr/>
            <p:nvPr/>
          </p:nvSpPr>
          <p:spPr>
            <a:xfrm>
              <a:off x="2190750" y="2257425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</p:sp>
        <p:sp>
          <p:nvSpPr>
            <p:cNvPr id="23" name="Line 23"/>
            <p:cNvSpPr/>
            <p:nvPr/>
          </p:nvSpPr>
          <p:spPr>
            <a:xfrm>
              <a:off x="3676650" y="2333625"/>
              <a:ext cx="533400" cy="9525"/>
            </a:xfrm>
            <a:custGeom>
              <a:avLst/>
              <a:gdLst/>
              <a:ahLst/>
              <a:cxnLst/>
              <a:rect l="l" t="t" r="r" b="b"/>
              <a:pathLst>
                <a:path w="533400" h="9525">
                  <a:moveTo>
                    <a:pt x="0" y="0"/>
                  </a:moveTo>
                  <a:lnTo>
                    <a:pt x="533400" y="0"/>
                  </a:lnTo>
                </a:path>
              </a:pathLst>
            </a:custGeom>
            <a:noFill/>
            <a:ln w="47625">
              <a:solidFill>
                <a:srgbClr val="C00000"/>
              </a:solidFill>
            </a:ln>
          </p:spPr>
        </p:sp>
        <p:sp>
          <p:nvSpPr>
            <p:cNvPr id="24" name="Polygon 24"/>
            <p:cNvSpPr/>
            <p:nvPr/>
          </p:nvSpPr>
          <p:spPr>
            <a:xfrm>
              <a:off x="4076700" y="2257425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</p:sp>
        <p:sp>
          <p:nvSpPr>
            <p:cNvPr id="25" name="Line 25"/>
            <p:cNvSpPr/>
            <p:nvPr/>
          </p:nvSpPr>
          <p:spPr>
            <a:xfrm>
              <a:off x="5276850" y="2333625"/>
              <a:ext cx="533400" cy="9525"/>
            </a:xfrm>
            <a:custGeom>
              <a:avLst/>
              <a:gdLst/>
              <a:ahLst/>
              <a:cxnLst/>
              <a:rect l="l" t="t" r="r" b="b"/>
              <a:pathLst>
                <a:path w="533400" h="9525">
                  <a:moveTo>
                    <a:pt x="0" y="0"/>
                  </a:moveTo>
                  <a:lnTo>
                    <a:pt x="533400" y="0"/>
                  </a:lnTo>
                </a:path>
              </a:pathLst>
            </a:custGeom>
            <a:noFill/>
            <a:ln w="47625">
              <a:solidFill>
                <a:srgbClr val="C00000"/>
              </a:solidFill>
            </a:ln>
          </p:spPr>
        </p:sp>
        <p:sp>
          <p:nvSpPr>
            <p:cNvPr id="26" name="Polygon 26"/>
            <p:cNvSpPr/>
            <p:nvPr/>
          </p:nvSpPr>
          <p:spPr>
            <a:xfrm>
              <a:off x="5676900" y="2257425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</p:sp>
        <p:sp>
          <p:nvSpPr>
            <p:cNvPr id="27" name="Freeform 27"/>
            <p:cNvSpPr/>
            <p:nvPr/>
          </p:nvSpPr>
          <p:spPr>
            <a:xfrm>
              <a:off x="1257300" y="2628900"/>
              <a:ext cx="5086350" cy="533400"/>
            </a:xfrm>
            <a:custGeom>
              <a:avLst/>
              <a:gdLst/>
              <a:ahLst/>
              <a:cxnLst/>
              <a:rect l="l" t="t" r="r" b="b"/>
              <a:pathLst>
                <a:path w="5086350" h="533400">
                  <a:moveTo>
                    <a:pt x="5086350" y="0"/>
                  </a:moveTo>
                  <a:lnTo>
                    <a:pt x="5086350" y="533400"/>
                  </a:lnTo>
                  <a:lnTo>
                    <a:pt x="0" y="533400"/>
                  </a:lnTo>
                  <a:lnTo>
                    <a:pt x="0" y="0"/>
                  </a:lnTo>
                </a:path>
              </a:pathLst>
            </a:custGeom>
            <a:noFill/>
            <a:ln w="47625">
              <a:solidFill>
                <a:srgbClr val="C00000"/>
              </a:solidFill>
            </a:ln>
          </p:spPr>
        </p:sp>
        <p:sp>
          <p:nvSpPr>
            <p:cNvPr id="28" name="Polygon 28"/>
            <p:cNvSpPr/>
            <p:nvPr/>
          </p:nvSpPr>
          <p:spPr>
            <a:xfrm>
              <a:off x="1181100" y="2628900"/>
              <a:ext cx="152400" cy="133350"/>
            </a:xfrm>
            <a:custGeom>
              <a:avLst/>
              <a:gdLst/>
              <a:ahLst/>
              <a:cxnLst/>
              <a:rect l="l" t="t" r="r" b="b"/>
              <a:pathLst>
                <a:path w="152400" h="133350">
                  <a:moveTo>
                    <a:pt x="76200" y="0"/>
                  </a:moveTo>
                  <a:lnTo>
                    <a:pt x="0" y="133350"/>
                  </a:lnTo>
                  <a:lnTo>
                    <a:pt x="152400" y="133350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919323" y="3358039"/>
              <a:ext cx="378135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环路面积越小，母线尖峰与开关噪声越容易控制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7353300" y="1028700"/>
            <a:ext cx="4381500" cy="2743200"/>
            <a:chOff x="7353300" y="1028700"/>
            <a:chExt cx="4381500" cy="2743200"/>
          </a:xfrm>
        </p:grpSpPr>
        <p:sp>
          <p:nvSpPr>
            <p:cNvPr id="31" name="Rectangle 31"/>
            <p:cNvSpPr/>
            <p:nvPr/>
          </p:nvSpPr>
          <p:spPr>
            <a:xfrm>
              <a:off x="7353300" y="1028700"/>
              <a:ext cx="4381500" cy="2743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AFC7DD"/>
              </a:solidFill>
            </a:ln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32" name="Rectangle 32"/>
            <p:cNvSpPr/>
            <p:nvPr/>
          </p:nvSpPr>
          <p:spPr>
            <a:xfrm>
              <a:off x="7353300" y="1028700"/>
              <a:ext cx="4381500" cy="3810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140093" y="1125379"/>
              <a:ext cx="807914" cy="2423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altLang="en-US" sz="15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要点注意</a:t>
              </a:r>
              <a:endParaRPr lang="zh-CN" sz="1575" b="1" dirty="0">
                <a:solidFill>
                  <a:srgbClr val="FFFFFF"/>
                </a:solidFill>
                <a:latin typeface="Arial"/>
                <a:ea typeface="Microsoft YaHei"/>
                <a:cs typeface="Arial"/>
              </a:endParaRP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457200" y="3962400"/>
            <a:ext cx="5334000" cy="2247900"/>
            <a:chOff x="457200" y="3962400"/>
            <a:chExt cx="5334000" cy="2247900"/>
          </a:xfrm>
        </p:grpSpPr>
        <p:sp>
          <p:nvSpPr>
            <p:cNvPr id="40" name="Rectangle 40"/>
            <p:cNvSpPr/>
            <p:nvPr/>
          </p:nvSpPr>
          <p:spPr>
            <a:xfrm>
              <a:off x="457200" y="3962400"/>
              <a:ext cx="5334000" cy="22479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AFC7DD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457200" y="3962400"/>
              <a:ext cx="5334000" cy="3429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526006" y="4046696"/>
              <a:ext cx="3196389" cy="2192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MPS 官方参考：MP653</a:t>
              </a:r>
              <a:r>
                <a:rPr lang="en-US" altLang="zh-CN" sz="1425" b="1" dirty="0">
                  <a:solidFill>
                    <a:srgbClr val="FF0000"/>
                  </a:solidFill>
                  <a:latin typeface="Arial"/>
                  <a:ea typeface="Microsoft YaHei"/>
                  <a:cs typeface="Arial"/>
                </a:rPr>
                <a:t>X</a:t>
              </a:r>
              <a:r>
                <a:rPr lang="zh-CN" sz="14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 Demo Board</a:t>
              </a:r>
            </a:p>
          </p:txBody>
        </p:sp>
        <p:pic>
          <p:nvPicPr>
            <p:cNvPr id="43" name="Image 4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01077" y="4400550"/>
              <a:ext cx="2236496" cy="1562100"/>
            </a:xfrm>
            <a:prstGeom prst="rect">
              <a:avLst/>
            </a:prstGeom>
          </p:spPr>
        </p:pic>
        <p:sp>
          <p:nvSpPr>
            <p:cNvPr id="44" name="TextBox 44"/>
            <p:cNvSpPr txBox="1"/>
            <p:nvPr/>
          </p:nvSpPr>
          <p:spPr>
            <a:xfrm>
              <a:off x="3985260" y="4499610"/>
              <a:ext cx="53454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关注点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3986212" y="4793456"/>
              <a:ext cx="120622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C1F"/>
                  </a:solidFill>
                  <a:latin typeface="Arial"/>
                  <a:ea typeface="Microsoft YaHei"/>
                  <a:cs typeface="Arial"/>
                </a:rPr>
                <a:t>● 上下管连接极短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3986212" y="5079206"/>
              <a:ext cx="135624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C1F"/>
                  </a:solidFill>
                  <a:latin typeface="Arial"/>
                  <a:ea typeface="Microsoft YaHei"/>
                  <a:cs typeface="Arial"/>
                </a:rPr>
                <a:t>● 大电流路径宽铜皮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3986212" y="5364956"/>
              <a:ext cx="12287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C1F"/>
                  </a:solidFill>
                  <a:latin typeface="Arial"/>
                  <a:ea typeface="Microsoft YaHei"/>
                  <a:cs typeface="Arial"/>
                </a:rPr>
                <a:t>● 去耦靠近驱动 IC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3986212" y="5650706"/>
              <a:ext cx="135624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C1F"/>
                  </a:solidFill>
                  <a:latin typeface="Arial"/>
                  <a:ea typeface="Microsoft YaHei"/>
                  <a:cs typeface="Arial"/>
                </a:rPr>
                <a:t>● 功率地避开信号地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597218" y="5990749"/>
              <a:ext cx="166947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573"/>
                  </a:solidFill>
                  <a:latin typeface="Arial"/>
                  <a:ea typeface="Microsoft YaHei"/>
                  <a:cs typeface="Arial"/>
                </a:rPr>
                <a:t>来源：MPS AN111 Figure 10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5981700" y="3962400"/>
            <a:ext cx="5753100" cy="2247900"/>
            <a:chOff x="5981700" y="3962400"/>
            <a:chExt cx="5753100" cy="2247900"/>
          </a:xfrm>
        </p:grpSpPr>
        <p:sp>
          <p:nvSpPr>
            <p:cNvPr id="51" name="Rectangle 51"/>
            <p:cNvSpPr/>
            <p:nvPr/>
          </p:nvSpPr>
          <p:spPr>
            <a:xfrm>
              <a:off x="5981700" y="3962400"/>
              <a:ext cx="5753100" cy="22479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AFC7DD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5981700" y="3962400"/>
              <a:ext cx="5753100" cy="3429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7355434" y="4046696"/>
              <a:ext cx="3005631" cy="2192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altLang="zh-CN" sz="14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MPS</a:t>
              </a:r>
              <a:r>
                <a:rPr lang="zh-CN" sz="14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 官方参考：Bootstrap 元件布局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986010" y="4499610"/>
              <a:ext cx="53454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关注点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986962" y="4793456"/>
              <a:ext cx="14612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C1F"/>
                  </a:solidFill>
                  <a:latin typeface="Arial"/>
                  <a:ea typeface="Microsoft YaHei"/>
                  <a:cs typeface="Arial"/>
                </a:rPr>
                <a:t>● CBOOT 紧贴 HO/HS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986962" y="5079206"/>
              <a:ext cx="128123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C1F"/>
                  </a:solidFill>
                  <a:latin typeface="Arial"/>
                  <a:ea typeface="Microsoft YaHei"/>
                  <a:cs typeface="Arial"/>
                </a:rPr>
                <a:t>● CVDD 紧贴供电脚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9986962" y="5364956"/>
              <a:ext cx="135624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C1F"/>
                  </a:solidFill>
                  <a:latin typeface="Arial"/>
                  <a:ea typeface="Microsoft YaHei"/>
                  <a:cs typeface="Arial"/>
                </a:rPr>
                <a:t>● 高峰值充电路径短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986962" y="5650706"/>
              <a:ext cx="143875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C1F"/>
                  </a:solidFill>
                  <a:latin typeface="Arial"/>
                  <a:ea typeface="Microsoft YaHei"/>
                  <a:cs typeface="Arial"/>
                </a:rPr>
                <a:t>● 高压/低压走线分离</a:t>
              </a:r>
            </a:p>
          </p:txBody>
        </p:sp>
      </p:grpSp>
      <p:sp>
        <p:nvSpPr>
          <p:cNvPr id="65" name="矩形 64">
            <a:extLst>
              <a:ext uri="{FF2B5EF4-FFF2-40B4-BE49-F238E27FC236}">
                <a16:creationId xmlns:a16="http://schemas.microsoft.com/office/drawing/2014/main" id="{79CF32A1-D592-6885-5558-2272CE22F18A}"/>
              </a:ext>
            </a:extLst>
          </p:cNvPr>
          <p:cNvSpPr/>
          <p:nvPr/>
        </p:nvSpPr>
        <p:spPr>
          <a:xfrm>
            <a:off x="7476251" y="5086350"/>
            <a:ext cx="438390" cy="1071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098" name="Picture 2" descr="MPS Bootstrap/Charge Pump 元件布局参考">
            <a:extLst>
              <a:ext uri="{FF2B5EF4-FFF2-40B4-BE49-F238E27FC236}">
                <a16:creationId xmlns:a16="http://schemas.microsoft.com/office/drawing/2014/main" id="{63D6A6A2-5AD1-0CFF-0988-C3E5D49EC9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2124" y="4448658"/>
            <a:ext cx="2315209" cy="12391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文本框 61">
            <a:extLst>
              <a:ext uri="{FF2B5EF4-FFF2-40B4-BE49-F238E27FC236}">
                <a16:creationId xmlns:a16="http://schemas.microsoft.com/office/drawing/2014/main" id="{39988A34-A093-F640-2808-47F36F80EAB1}"/>
              </a:ext>
            </a:extLst>
          </p:cNvPr>
          <p:cNvSpPr txBox="1"/>
          <p:nvPr/>
        </p:nvSpPr>
        <p:spPr>
          <a:xfrm>
            <a:off x="6101690" y="5899110"/>
            <a:ext cx="609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975" dirty="0">
                <a:solidFill>
                  <a:srgbClr val="5B6573"/>
                </a:solidFill>
                <a:latin typeface="Arial"/>
                <a:ea typeface="Microsoft YaHei"/>
                <a:cs typeface="Arial"/>
              </a:rPr>
              <a:t>来源：</a:t>
            </a:r>
            <a:r>
              <a:rPr lang="en-US" altLang="zh-CN" sz="975" dirty="0">
                <a:solidFill>
                  <a:srgbClr val="5B6573"/>
                </a:solidFill>
                <a:latin typeface="Arial"/>
                <a:ea typeface="Microsoft YaHei"/>
                <a:cs typeface="Arial"/>
              </a:rPr>
              <a:t>MPS AN124</a:t>
            </a:r>
            <a:r>
              <a:rPr lang="zh-CN" altLang="en-US" sz="975" dirty="0">
                <a:solidFill>
                  <a:srgbClr val="5B6573"/>
                </a:solidFill>
                <a:latin typeface="Arial"/>
                <a:ea typeface="Microsoft YaHei"/>
                <a:cs typeface="Arial"/>
              </a:rPr>
              <a:t>：旁路、</a:t>
            </a:r>
            <a:r>
              <a:rPr lang="en-US" altLang="zh-CN" sz="975" dirty="0">
                <a:solidFill>
                  <a:srgbClr val="5B6573"/>
                </a:solidFill>
                <a:latin typeface="Arial"/>
                <a:ea typeface="Microsoft YaHei"/>
                <a:cs typeface="Arial"/>
              </a:rPr>
              <a:t>Bootstrap/Charge Pump </a:t>
            </a:r>
            <a:r>
              <a:rPr lang="zh-CN" altLang="en-US" sz="975" dirty="0">
                <a:solidFill>
                  <a:srgbClr val="5B6573"/>
                </a:solidFill>
                <a:latin typeface="Arial"/>
                <a:ea typeface="Microsoft YaHei"/>
                <a:cs typeface="Arial"/>
              </a:rPr>
              <a:t>电容布局参考</a:t>
            </a: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B3726719-1164-24C4-AE5D-B21010889C2E}"/>
              </a:ext>
            </a:extLst>
          </p:cNvPr>
          <p:cNvSpPr txBox="1"/>
          <p:nvPr/>
        </p:nvSpPr>
        <p:spPr>
          <a:xfrm>
            <a:off x="7370624" y="1466850"/>
            <a:ext cx="421799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上、下桥臂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MOSFET 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靠近摆放，缩小换流回路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母线陶瓷电容紧靠功率桥，回路直接返回母线负端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sz="1800" kern="100" dirty="0">
                <a:effectLst/>
                <a:latin typeface="Cambria Math" panose="02040503050406030204" pitchFamily="18" charset="0"/>
                <a:ea typeface="等线" panose="02010600030101010101" pitchFamily="2" charset="-122"/>
                <a:cs typeface="Cambria Math" panose="02040503050406030204" pitchFamily="18" charset="0"/>
              </a:rPr>
              <a:t>𝐶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_BOOT 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紧贴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800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BSTx-SHx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引脚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sz="1800" kern="100" dirty="0">
                <a:effectLst/>
                <a:latin typeface="Cambria Math" panose="02040503050406030204" pitchFamily="18" charset="0"/>
                <a:ea typeface="等线" panose="02010600030101010101" pitchFamily="2" charset="-122"/>
                <a:cs typeface="Cambria Math" panose="02040503050406030204" pitchFamily="18" charset="0"/>
              </a:rPr>
              <a:t>𝐶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_VDD 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紧贴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VDD-GND 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引脚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Gate 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Source 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成对、短距离布线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功率回路与低压控制信号分区布置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9" grpId="0"/>
      <p:bldP spid="50" grpId="0"/>
      <p:bldP spid="6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2859E3-41C1-07E1-2241-92BACF79D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DF5208A4-5CEA-9681-5844-FF585DCC099F}"/>
              </a:ext>
            </a:extLst>
          </p:cNvPr>
          <p:cNvGrpSpPr/>
          <p:nvPr/>
        </p:nvGrpSpPr>
        <p:grpSpPr>
          <a:xfrm>
            <a:off x="457200" y="266700"/>
            <a:ext cx="11277600" cy="590550"/>
            <a:chOff x="457200" y="266700"/>
            <a:chExt cx="11277600" cy="590550"/>
          </a:xfrm>
        </p:grpSpPr>
        <p:sp>
          <p:nvSpPr>
            <p:cNvPr id="3" name="Rectangle 3">
              <a:extLst>
                <a:ext uri="{FF2B5EF4-FFF2-40B4-BE49-F238E27FC236}">
                  <a16:creationId xmlns:a16="http://schemas.microsoft.com/office/drawing/2014/main" id="{0B162CB5-8256-4FBB-78C4-ABC18DBD0F10}"/>
                </a:ext>
              </a:extLst>
            </p:cNvPr>
            <p:cNvSpPr/>
            <p:nvPr/>
          </p:nvSpPr>
          <p:spPr>
            <a:xfrm>
              <a:off x="457200" y="266700"/>
              <a:ext cx="11277600" cy="59055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38A52856-77E5-FC37-1303-13B2C75F6C7C}"/>
                </a:ext>
              </a:extLst>
            </p:cNvPr>
            <p:cNvSpPr txBox="1"/>
            <p:nvPr/>
          </p:nvSpPr>
          <p:spPr>
            <a:xfrm>
              <a:off x="613410" y="375285"/>
              <a:ext cx="3924151" cy="415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PCB Layout——</a:t>
              </a:r>
              <a:r>
                <a:rPr lang="zh-CN" altLang="en-US" sz="27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回路标注</a:t>
              </a:r>
            </a:p>
          </p:txBody>
        </p:sp>
      </p:grpSp>
      <p:pic>
        <p:nvPicPr>
          <p:cNvPr id="36" name="图片 35">
            <a:extLst>
              <a:ext uri="{FF2B5EF4-FFF2-40B4-BE49-F238E27FC236}">
                <a16:creationId xmlns:a16="http://schemas.microsoft.com/office/drawing/2014/main" id="{F7FC647A-BFDA-7345-7821-43DDE4B0DB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640" y="1455127"/>
            <a:ext cx="10586720" cy="4653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9059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346508" y="266700"/>
            <a:ext cx="11388292" cy="657225"/>
            <a:chOff x="457200" y="266700"/>
            <a:chExt cx="11277600" cy="657225"/>
          </a:xfrm>
        </p:grpSpPr>
        <p:sp>
          <p:nvSpPr>
            <p:cNvPr id="3" name="Rectangle 3"/>
            <p:cNvSpPr/>
            <p:nvPr/>
          </p:nvSpPr>
          <p:spPr>
            <a:xfrm>
              <a:off x="457200" y="266700"/>
              <a:ext cx="11277600" cy="59055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13410" y="375285"/>
              <a:ext cx="4515136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PCB Layout——三相电流采样</a:t>
              </a:r>
            </a:p>
          </p:txBody>
        </p:sp>
      </p:grpSp>
      <p:grpSp>
        <p:nvGrpSpPr>
          <p:cNvPr id="4105" name="组合 4104">
            <a:extLst>
              <a:ext uri="{FF2B5EF4-FFF2-40B4-BE49-F238E27FC236}">
                <a16:creationId xmlns:a16="http://schemas.microsoft.com/office/drawing/2014/main" id="{83F985DA-D291-577B-3136-F009788B78A2}"/>
              </a:ext>
            </a:extLst>
          </p:cNvPr>
          <p:cNvGrpSpPr/>
          <p:nvPr/>
        </p:nvGrpSpPr>
        <p:grpSpPr>
          <a:xfrm>
            <a:off x="6269960" y="1433086"/>
            <a:ext cx="2038350" cy="876300"/>
            <a:chOff x="6492441" y="1415054"/>
            <a:chExt cx="2038350" cy="876300"/>
          </a:xfrm>
        </p:grpSpPr>
        <p:sp>
          <p:nvSpPr>
            <p:cNvPr id="7" name="Rectangle 7"/>
            <p:cNvSpPr/>
            <p:nvPr/>
          </p:nvSpPr>
          <p:spPr>
            <a:xfrm>
              <a:off x="6492441" y="1415054"/>
              <a:ext cx="2038350" cy="8763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70C0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830031" y="1549833"/>
              <a:ext cx="1363170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75" b="1" dirty="0">
                  <a:solidFill>
                    <a:srgbClr val="005A9C"/>
                  </a:solidFill>
                  <a:latin typeface="Arial"/>
                  <a:ea typeface="Microsoft YaHei"/>
                  <a:cs typeface="Arial"/>
                </a:rPr>
                <a:t>三相分流电阻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495346" y="1869396"/>
              <a:ext cx="203254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5B6573"/>
                  </a:solidFill>
                  <a:latin typeface="Arial"/>
                  <a:ea typeface="Microsoft YaHei"/>
                  <a:cs typeface="Arial"/>
                </a:rPr>
                <a:t>R10 / R11 / R12 · 10 mΩ</a:t>
              </a:r>
            </a:p>
          </p:txBody>
        </p:sp>
      </p:grpSp>
      <p:grpSp>
        <p:nvGrpSpPr>
          <p:cNvPr id="4106" name="组合 4105">
            <a:extLst>
              <a:ext uri="{FF2B5EF4-FFF2-40B4-BE49-F238E27FC236}">
                <a16:creationId xmlns:a16="http://schemas.microsoft.com/office/drawing/2014/main" id="{3A09EEE5-626C-C7FB-7391-2B8EBDBEEB84}"/>
              </a:ext>
            </a:extLst>
          </p:cNvPr>
          <p:cNvGrpSpPr/>
          <p:nvPr/>
        </p:nvGrpSpPr>
        <p:grpSpPr>
          <a:xfrm>
            <a:off x="6276346" y="2638715"/>
            <a:ext cx="2038350" cy="876300"/>
            <a:chOff x="9083241" y="1415054"/>
            <a:chExt cx="2038350" cy="876300"/>
          </a:xfrm>
        </p:grpSpPr>
        <p:sp>
          <p:nvSpPr>
            <p:cNvPr id="12" name="Rectangle 12"/>
            <p:cNvSpPr/>
            <p:nvPr/>
          </p:nvSpPr>
          <p:spPr>
            <a:xfrm>
              <a:off x="9083241" y="1415054"/>
              <a:ext cx="2038350" cy="8763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70C0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900437" y="1549833"/>
              <a:ext cx="403957" cy="2423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altLang="en-US" sz="1575" b="1" dirty="0">
                  <a:solidFill>
                    <a:srgbClr val="FF0000"/>
                  </a:solidFill>
                  <a:latin typeface="Arial"/>
                  <a:ea typeface="Microsoft YaHei"/>
                  <a:cs typeface="Arial"/>
                </a:rPr>
                <a:t>运放</a:t>
              </a:r>
              <a:endParaRPr lang="zh-CN" sz="1575" b="1" dirty="0">
                <a:solidFill>
                  <a:srgbClr val="FF0000"/>
                </a:solidFill>
                <a:latin typeface="Arial"/>
                <a:ea typeface="Microsoft YaHei"/>
                <a:cs typeface="Arial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603711" y="1869396"/>
              <a:ext cx="99741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5B6573"/>
                  </a:solidFill>
                  <a:latin typeface="Arial"/>
                  <a:ea typeface="Microsoft YaHei"/>
                  <a:cs typeface="Arial"/>
                </a:rPr>
                <a:t>增益 20 V/V</a:t>
              </a:r>
            </a:p>
          </p:txBody>
        </p:sp>
      </p:grpSp>
      <p:grpSp>
        <p:nvGrpSpPr>
          <p:cNvPr id="4108" name="组合 4107">
            <a:extLst>
              <a:ext uri="{FF2B5EF4-FFF2-40B4-BE49-F238E27FC236}">
                <a16:creationId xmlns:a16="http://schemas.microsoft.com/office/drawing/2014/main" id="{CEE8179E-8B89-0114-D707-9E9C05BEC122}"/>
              </a:ext>
            </a:extLst>
          </p:cNvPr>
          <p:cNvGrpSpPr/>
          <p:nvPr/>
        </p:nvGrpSpPr>
        <p:grpSpPr>
          <a:xfrm>
            <a:off x="6281354" y="3844344"/>
            <a:ext cx="2059543" cy="876300"/>
            <a:chOff x="6248767" y="3455324"/>
            <a:chExt cx="2059543" cy="876300"/>
          </a:xfrm>
        </p:grpSpPr>
        <p:sp>
          <p:nvSpPr>
            <p:cNvPr id="17" name="Rectangle 17"/>
            <p:cNvSpPr/>
            <p:nvPr/>
          </p:nvSpPr>
          <p:spPr>
            <a:xfrm>
              <a:off x="6259364" y="3455324"/>
              <a:ext cx="2038350" cy="8763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70C0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630033" y="3590103"/>
              <a:ext cx="1297012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75" b="1" dirty="0">
                  <a:solidFill>
                    <a:srgbClr val="005A9C"/>
                  </a:solidFill>
                  <a:latin typeface="Arial"/>
                  <a:ea typeface="Microsoft YaHei"/>
                  <a:cs typeface="Arial"/>
                </a:rPr>
                <a:t>输出 RC 滤波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248767" y="3909666"/>
              <a:ext cx="205954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5B6573"/>
                  </a:solidFill>
                  <a:latin typeface="Arial"/>
                  <a:ea typeface="Microsoft YaHei"/>
                  <a:cs typeface="Arial"/>
                </a:rPr>
                <a:t>抑制开关尖峰与 ADC 混叠</a:t>
              </a:r>
            </a:p>
          </p:txBody>
        </p:sp>
      </p:grpSp>
      <p:grpSp>
        <p:nvGrpSpPr>
          <p:cNvPr id="4109" name="组合 4108">
            <a:extLst>
              <a:ext uri="{FF2B5EF4-FFF2-40B4-BE49-F238E27FC236}">
                <a16:creationId xmlns:a16="http://schemas.microsoft.com/office/drawing/2014/main" id="{50774CB8-A7AD-C559-6ED0-1636D1802916}"/>
              </a:ext>
            </a:extLst>
          </p:cNvPr>
          <p:cNvGrpSpPr/>
          <p:nvPr/>
        </p:nvGrpSpPr>
        <p:grpSpPr>
          <a:xfrm>
            <a:off x="6283461" y="5077013"/>
            <a:ext cx="2031235" cy="876300"/>
            <a:chOff x="6273516" y="4651187"/>
            <a:chExt cx="2031235" cy="876300"/>
          </a:xfrm>
        </p:grpSpPr>
        <p:sp>
          <p:nvSpPr>
            <p:cNvPr id="22" name="Rectangle 22"/>
            <p:cNvSpPr/>
            <p:nvPr/>
          </p:nvSpPr>
          <p:spPr>
            <a:xfrm>
              <a:off x="6273516" y="4651187"/>
              <a:ext cx="2031235" cy="8763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70C0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924150" y="4763786"/>
              <a:ext cx="671900" cy="24237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en-US" altLang="zh-CN" sz="1575" b="1" dirty="0">
                  <a:solidFill>
                    <a:srgbClr val="FF0000"/>
                  </a:solidFill>
                  <a:latin typeface="Arial"/>
                  <a:ea typeface="Microsoft YaHei"/>
                  <a:cs typeface="Arial"/>
                </a:rPr>
                <a:t>ADC</a:t>
              </a:r>
              <a:endParaRPr lang="zh-CN" sz="1575" b="1" dirty="0">
                <a:solidFill>
                  <a:srgbClr val="FF0000"/>
                </a:solidFill>
                <a:latin typeface="Arial"/>
                <a:ea typeface="Microsoft YaHei"/>
                <a:cs typeface="Arial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79779" y="5055184"/>
              <a:ext cx="1597517" cy="41549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5B6573"/>
                  </a:solidFill>
                  <a:latin typeface="Arial"/>
                  <a:ea typeface="Microsoft YaHei"/>
                  <a:cs typeface="Arial"/>
                </a:rPr>
                <a:t>同步采样并进入 FOC 电流环</a:t>
              </a:r>
            </a:p>
          </p:txBody>
        </p:sp>
      </p:grpSp>
      <p:sp>
        <p:nvSpPr>
          <p:cNvPr id="37" name="Rectangle 37"/>
          <p:cNvSpPr/>
          <p:nvPr/>
        </p:nvSpPr>
        <p:spPr>
          <a:xfrm>
            <a:off x="457200" y="3506027"/>
            <a:ext cx="5500838" cy="3105150"/>
          </a:xfrm>
          <a:prstGeom prst="rect">
            <a:avLst/>
          </a:prstGeom>
          <a:solidFill>
            <a:srgbClr val="FFF2F2"/>
          </a:solidFill>
          <a:ln w="19050">
            <a:solidFill>
              <a:srgbClr val="C00000"/>
            </a:solidFill>
            <a:custDash>
              <a:ds d="500000" sp="400000"/>
            </a:custDash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47" name="图片 46">
            <a:extLst>
              <a:ext uri="{FF2B5EF4-FFF2-40B4-BE49-F238E27FC236}">
                <a16:creationId xmlns:a16="http://schemas.microsoft.com/office/drawing/2014/main" id="{6E387CF9-84A0-285A-F6C6-6606AD40FC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3570847"/>
            <a:ext cx="3750780" cy="2982703"/>
          </a:xfrm>
          <a:prstGeom prst="rect">
            <a:avLst/>
          </a:prstGeom>
        </p:spPr>
      </p:pic>
      <p:sp>
        <p:nvSpPr>
          <p:cNvPr id="49" name="椭圆 48">
            <a:extLst>
              <a:ext uri="{FF2B5EF4-FFF2-40B4-BE49-F238E27FC236}">
                <a16:creationId xmlns:a16="http://schemas.microsoft.com/office/drawing/2014/main" id="{40DCCA3C-1F9F-CF4E-66DF-D2A6F371C057}"/>
              </a:ext>
            </a:extLst>
          </p:cNvPr>
          <p:cNvSpPr/>
          <p:nvPr/>
        </p:nvSpPr>
        <p:spPr>
          <a:xfrm>
            <a:off x="2694057" y="5058602"/>
            <a:ext cx="593585" cy="571500"/>
          </a:xfrm>
          <a:prstGeom prst="ellipse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椭圆 49">
            <a:extLst>
              <a:ext uri="{FF2B5EF4-FFF2-40B4-BE49-F238E27FC236}">
                <a16:creationId xmlns:a16="http://schemas.microsoft.com/office/drawing/2014/main" id="{3F6A9FE1-220B-2BCE-5454-38225CFD8746}"/>
              </a:ext>
            </a:extLst>
          </p:cNvPr>
          <p:cNvSpPr/>
          <p:nvPr/>
        </p:nvSpPr>
        <p:spPr>
          <a:xfrm>
            <a:off x="1873024" y="3669703"/>
            <a:ext cx="773144" cy="744379"/>
          </a:xfrm>
          <a:prstGeom prst="ellipse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65074124-B720-F840-15A5-1EAFD91C19EB}"/>
              </a:ext>
            </a:extLst>
          </p:cNvPr>
          <p:cNvSpPr txBox="1"/>
          <p:nvPr/>
        </p:nvSpPr>
        <p:spPr>
          <a:xfrm>
            <a:off x="4284180" y="3654140"/>
            <a:ext cx="1673858" cy="29431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25" dirty="0">
                <a:solidFill>
                  <a:srgbClr val="1A1C1F"/>
                </a:solidFill>
                <a:latin typeface="Arial"/>
                <a:ea typeface="Microsoft YaHei"/>
                <a:cs typeface="Arial"/>
              </a:rPr>
              <a:t>电流采样 </a:t>
            </a:r>
            <a:r>
              <a:rPr lang="en-US" altLang="zh-CN" sz="1425" dirty="0">
                <a:solidFill>
                  <a:srgbClr val="1A1C1F"/>
                </a:solidFill>
                <a:latin typeface="Arial"/>
                <a:ea typeface="Microsoft YaHei"/>
                <a:cs typeface="Arial"/>
              </a:rPr>
              <a:t>VS </a:t>
            </a:r>
            <a:r>
              <a:rPr lang="zh-CN" altLang="en-US" sz="1425" dirty="0">
                <a:solidFill>
                  <a:srgbClr val="1A1C1F"/>
                </a:solidFill>
                <a:latin typeface="Arial"/>
                <a:ea typeface="Microsoft YaHei"/>
                <a:cs typeface="Arial"/>
              </a:rPr>
              <a:t>与 </a:t>
            </a:r>
            <a:r>
              <a:rPr lang="en-US" altLang="zh-CN" sz="1425" dirty="0">
                <a:solidFill>
                  <a:srgbClr val="1A1C1F"/>
                </a:solidFill>
                <a:latin typeface="Arial"/>
                <a:ea typeface="Microsoft YaHei"/>
                <a:cs typeface="Arial"/>
              </a:rPr>
              <a:t>GND </a:t>
            </a:r>
            <a:r>
              <a:rPr lang="zh-CN" altLang="en-US" sz="1425" dirty="0">
                <a:solidFill>
                  <a:srgbClr val="1A1C1F"/>
                </a:solidFill>
                <a:latin typeface="Arial"/>
                <a:ea typeface="Microsoft YaHei"/>
                <a:cs typeface="Arial"/>
              </a:rPr>
              <a:t>之间放置 </a:t>
            </a:r>
            <a:r>
              <a:rPr lang="en-US" altLang="zh-CN" sz="1425" dirty="0">
                <a:solidFill>
                  <a:srgbClr val="1A1C1F"/>
                </a:solidFill>
                <a:latin typeface="Arial"/>
                <a:ea typeface="Microsoft YaHei"/>
                <a:cs typeface="Arial"/>
              </a:rPr>
              <a:t>0.1 </a:t>
            </a:r>
            <a:r>
              <a:rPr lang="en-US" altLang="zh-CN" sz="1425" dirty="0" err="1">
                <a:solidFill>
                  <a:srgbClr val="1A1C1F"/>
                </a:solidFill>
                <a:latin typeface="Arial"/>
                <a:ea typeface="Microsoft YaHei"/>
                <a:cs typeface="Arial"/>
              </a:rPr>
              <a:t>μF</a:t>
            </a:r>
            <a:r>
              <a:rPr lang="en-US" altLang="zh-CN" sz="1425" dirty="0">
                <a:solidFill>
                  <a:srgbClr val="1A1C1F"/>
                </a:solidFill>
                <a:latin typeface="Arial"/>
                <a:ea typeface="Microsoft YaHei"/>
                <a:cs typeface="Arial"/>
              </a:rPr>
              <a:t> </a:t>
            </a:r>
            <a:r>
              <a:rPr lang="zh-CN" altLang="en-US" sz="1425" dirty="0">
                <a:solidFill>
                  <a:srgbClr val="1A1C1F"/>
                </a:solidFill>
                <a:latin typeface="Arial"/>
                <a:ea typeface="Microsoft YaHei"/>
                <a:cs typeface="Arial"/>
              </a:rPr>
              <a:t>去耦电容，尽量贴近芯片电源引脚，回流路径短且直接接入参考地平面，滤除电源噪声。</a:t>
            </a:r>
            <a:endParaRPr lang="en-US" altLang="zh-CN" sz="1425" dirty="0">
              <a:solidFill>
                <a:srgbClr val="1A1C1F"/>
              </a:solidFill>
              <a:latin typeface="Arial"/>
              <a:ea typeface="Microsoft YaHei"/>
              <a:cs typeface="Arial"/>
            </a:endParaRPr>
          </a:p>
          <a:p>
            <a:endParaRPr lang="en-US" altLang="zh-CN" sz="1425" dirty="0">
              <a:solidFill>
                <a:srgbClr val="1A1C1F"/>
              </a:solidFill>
              <a:latin typeface="Arial"/>
              <a:ea typeface="Microsoft YaHei"/>
              <a:cs typeface="Arial"/>
            </a:endParaRPr>
          </a:p>
          <a:p>
            <a:endParaRPr lang="en-US" altLang="zh-CN" sz="1425" dirty="0">
              <a:solidFill>
                <a:srgbClr val="1A1C1F"/>
              </a:solidFill>
              <a:latin typeface="Arial"/>
              <a:ea typeface="Microsoft YaHei"/>
              <a:cs typeface="Arial"/>
            </a:endParaRPr>
          </a:p>
          <a:p>
            <a:r>
              <a:rPr lang="en-US" altLang="zh-CN" sz="1425" dirty="0">
                <a:solidFill>
                  <a:srgbClr val="1A1C1F"/>
                </a:solidFill>
                <a:latin typeface="Arial"/>
                <a:ea typeface="Microsoft YaHei"/>
                <a:cs typeface="Arial"/>
              </a:rPr>
              <a:t>Kelvin</a:t>
            </a:r>
            <a:r>
              <a:rPr lang="zh-CN" altLang="en-US" sz="1425" dirty="0">
                <a:solidFill>
                  <a:srgbClr val="1A1C1F"/>
                </a:solidFill>
                <a:latin typeface="Arial"/>
                <a:ea typeface="Microsoft YaHei"/>
                <a:cs typeface="Arial"/>
              </a:rPr>
              <a:t>采样连接，避免功率铜皮和焊盘压降进入采样结果。</a:t>
            </a:r>
            <a:endParaRPr lang="zh-CN" altLang="en-US" dirty="0"/>
          </a:p>
        </p:txBody>
      </p:sp>
      <p:pic>
        <p:nvPicPr>
          <p:cNvPr id="40" name="图片 39">
            <a:extLst>
              <a:ext uri="{FF2B5EF4-FFF2-40B4-BE49-F238E27FC236}">
                <a16:creationId xmlns:a16="http://schemas.microsoft.com/office/drawing/2014/main" id="{CF3AE8BC-0142-B5B4-0AA5-848DCC0777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469" y="1252433"/>
            <a:ext cx="5437569" cy="2124631"/>
          </a:xfrm>
          <a:prstGeom prst="rect">
            <a:avLst/>
          </a:prstGeom>
        </p:spPr>
      </p:pic>
      <p:sp>
        <p:nvSpPr>
          <p:cNvPr id="4102" name="矩形 26">
            <a:extLst>
              <a:ext uri="{FF2B5EF4-FFF2-40B4-BE49-F238E27FC236}">
                <a16:creationId xmlns:a16="http://schemas.microsoft.com/office/drawing/2014/main" id="{DC0C20DE-FB24-4741-8FD5-85C86DFFC8A7}"/>
              </a:ext>
            </a:extLst>
          </p:cNvPr>
          <p:cNvSpPr/>
          <p:nvPr/>
        </p:nvSpPr>
        <p:spPr>
          <a:xfrm>
            <a:off x="346509" y="1287150"/>
            <a:ext cx="5749491" cy="5447025"/>
          </a:xfrm>
          <a:prstGeom prst="rect">
            <a:avLst/>
          </a:prstGeom>
          <a:noFill/>
          <a:ln w="6350" cap="flat" cmpd="sng" algn="ctr">
            <a:solidFill>
              <a:srgbClr val="0070C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方正黑体简体" panose="02000000000000000000"/>
              <a:cs typeface="Times New Roman" panose="02020603050405020304" pitchFamily="18" charset="0"/>
            </a:endParaRPr>
          </a:p>
        </p:txBody>
      </p:sp>
      <p:sp>
        <p:nvSpPr>
          <p:cNvPr id="4103" name="文本框 85">
            <a:extLst>
              <a:ext uri="{FF2B5EF4-FFF2-40B4-BE49-F238E27FC236}">
                <a16:creationId xmlns:a16="http://schemas.microsoft.com/office/drawing/2014/main" id="{D77651F8-4262-7E20-06DE-B3B77F6AC0B2}"/>
              </a:ext>
            </a:extLst>
          </p:cNvPr>
          <p:cNvSpPr txBox="1"/>
          <p:nvPr/>
        </p:nvSpPr>
        <p:spPr>
          <a:xfrm>
            <a:off x="346508" y="938804"/>
            <a:ext cx="5749491" cy="380304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prstClr val="white"/>
                </a:solidFill>
                <a:latin typeface="Times New Roman" panose="02020603050405020304" pitchFamily="18" charset="0"/>
                <a:ea typeface="方正黑体简体" panose="02000000000000000000"/>
                <a:cs typeface="Times New Roman" panose="02020603050405020304" pitchFamily="18" charset="0"/>
              </a:rPr>
              <a:t>   </a:t>
            </a:r>
            <a:r>
              <a:rPr lang="zh-CN" altLang="en-US" b="1" dirty="0">
                <a:solidFill>
                  <a:prstClr val="white"/>
                </a:solidFill>
                <a:latin typeface="Times New Roman" panose="02020603050405020304" pitchFamily="18" charset="0"/>
                <a:ea typeface="方正黑体简体" panose="02000000000000000000"/>
                <a:cs typeface="Times New Roman" panose="02020603050405020304" pitchFamily="18" charset="0"/>
              </a:rPr>
              <a:t>开尔文连接</a:t>
            </a:r>
          </a:p>
        </p:txBody>
      </p:sp>
      <p:cxnSp>
        <p:nvCxnSpPr>
          <p:cNvPr id="4111" name="直接箭头连接符 4110">
            <a:extLst>
              <a:ext uri="{FF2B5EF4-FFF2-40B4-BE49-F238E27FC236}">
                <a16:creationId xmlns:a16="http://schemas.microsoft.com/office/drawing/2014/main" id="{1502255E-2ED7-BB6D-EC07-82C8F0065FBD}"/>
              </a:ext>
            </a:extLst>
          </p:cNvPr>
          <p:cNvCxnSpPr>
            <a:cxnSpLocks/>
            <a:stCxn id="7" idx="2"/>
            <a:endCxn id="12" idx="0"/>
          </p:cNvCxnSpPr>
          <p:nvPr/>
        </p:nvCxnSpPr>
        <p:spPr>
          <a:xfrm>
            <a:off x="7289135" y="2309386"/>
            <a:ext cx="6386" cy="329329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14" name="直接箭头连接符 4113">
            <a:extLst>
              <a:ext uri="{FF2B5EF4-FFF2-40B4-BE49-F238E27FC236}">
                <a16:creationId xmlns:a16="http://schemas.microsoft.com/office/drawing/2014/main" id="{F2962A55-D2AC-DEAB-1B26-550D2FDA60D7}"/>
              </a:ext>
            </a:extLst>
          </p:cNvPr>
          <p:cNvCxnSpPr>
            <a:cxnSpLocks/>
          </p:cNvCxnSpPr>
          <p:nvPr/>
        </p:nvCxnSpPr>
        <p:spPr>
          <a:xfrm>
            <a:off x="7275345" y="3532041"/>
            <a:ext cx="6386" cy="329329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15" name="直接箭头连接符 4114">
            <a:extLst>
              <a:ext uri="{FF2B5EF4-FFF2-40B4-BE49-F238E27FC236}">
                <a16:creationId xmlns:a16="http://schemas.microsoft.com/office/drawing/2014/main" id="{0B183035-3F4F-2C3B-39BF-79C04905AE17}"/>
              </a:ext>
            </a:extLst>
          </p:cNvPr>
          <p:cNvCxnSpPr>
            <a:cxnSpLocks/>
          </p:cNvCxnSpPr>
          <p:nvPr/>
        </p:nvCxnSpPr>
        <p:spPr>
          <a:xfrm>
            <a:off x="7289134" y="4736478"/>
            <a:ext cx="6386" cy="329329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16" name="Rectangle 9">
            <a:extLst>
              <a:ext uri="{FF2B5EF4-FFF2-40B4-BE49-F238E27FC236}">
                <a16:creationId xmlns:a16="http://schemas.microsoft.com/office/drawing/2014/main" id="{E5BC9227-3BFE-D1E4-C874-AAE05D8EB1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11422" y="2127044"/>
            <a:ext cx="3234069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三相分流电阻、运放与RC滤波器布局保持一致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Kelvin采样线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成对、短距离布线，避免流过功率电流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采样线远离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SHx、SW、栅极驱动及电机相线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RC滤波器靠近ADC引脚，滤波电容</a:t>
            </a: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就近返回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模拟地 </a:t>
            </a:r>
          </a:p>
        </p:txBody>
      </p:sp>
      <p:sp>
        <p:nvSpPr>
          <p:cNvPr id="4117" name="矩形: 圆角 4116">
            <a:extLst>
              <a:ext uri="{FF2B5EF4-FFF2-40B4-BE49-F238E27FC236}">
                <a16:creationId xmlns:a16="http://schemas.microsoft.com/office/drawing/2014/main" id="{A5695BAB-CAD2-EBEE-D27B-0C58C796F602}"/>
              </a:ext>
            </a:extLst>
          </p:cNvPr>
          <p:cNvSpPr/>
          <p:nvPr/>
        </p:nvSpPr>
        <p:spPr>
          <a:xfrm>
            <a:off x="8547160" y="1887428"/>
            <a:ext cx="3396684" cy="3544558"/>
          </a:xfrm>
          <a:prstGeom prst="roundRect">
            <a:avLst>
              <a:gd name="adj" fmla="val 3237"/>
            </a:avLst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12EA5AD-A0D4-21C3-82A5-1989D3C37317}"/>
              </a:ext>
            </a:extLst>
          </p:cNvPr>
          <p:cNvSpPr/>
          <p:nvPr/>
        </p:nvSpPr>
        <p:spPr>
          <a:xfrm>
            <a:off x="4046119" y="3037382"/>
            <a:ext cx="1911919" cy="3466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220FDD-4329-395D-06AF-16CF690F6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49B537DB-0572-78B4-583D-9CB55195BD37}"/>
              </a:ext>
            </a:extLst>
          </p:cNvPr>
          <p:cNvGrpSpPr/>
          <p:nvPr/>
        </p:nvGrpSpPr>
        <p:grpSpPr>
          <a:xfrm>
            <a:off x="457200" y="266700"/>
            <a:ext cx="11277600" cy="590550"/>
            <a:chOff x="457200" y="266700"/>
            <a:chExt cx="11277600" cy="590550"/>
          </a:xfrm>
        </p:grpSpPr>
        <p:sp>
          <p:nvSpPr>
            <p:cNvPr id="3" name="Rectangle 3">
              <a:extLst>
                <a:ext uri="{FF2B5EF4-FFF2-40B4-BE49-F238E27FC236}">
                  <a16:creationId xmlns:a16="http://schemas.microsoft.com/office/drawing/2014/main" id="{552F9FC8-85AC-6BBB-C85F-FC9CEE2FF871}"/>
                </a:ext>
              </a:extLst>
            </p:cNvPr>
            <p:cNvSpPr/>
            <p:nvPr/>
          </p:nvSpPr>
          <p:spPr>
            <a:xfrm>
              <a:off x="457200" y="266700"/>
              <a:ext cx="11277600" cy="59055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8727233A-8667-F929-92F9-DE287746CBD5}"/>
                </a:ext>
              </a:extLst>
            </p:cNvPr>
            <p:cNvSpPr txBox="1"/>
            <p:nvPr/>
          </p:nvSpPr>
          <p:spPr>
            <a:xfrm>
              <a:off x="613410" y="375285"/>
              <a:ext cx="5790047" cy="43088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PCB Layout——</a:t>
              </a:r>
              <a:r>
                <a:rPr lang="en-US" altLang="zh-CN" sz="27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DCDC </a:t>
              </a:r>
              <a:r>
                <a:rPr lang="zh-CN" altLang="en-US" sz="27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电源器件布局</a:t>
              </a:r>
            </a:p>
          </p:txBody>
        </p:sp>
      </p:grpSp>
      <p:sp>
        <p:nvSpPr>
          <p:cNvPr id="8" name="Rectangle 40">
            <a:extLst>
              <a:ext uri="{FF2B5EF4-FFF2-40B4-BE49-F238E27FC236}">
                <a16:creationId xmlns:a16="http://schemas.microsoft.com/office/drawing/2014/main" id="{7274410F-ADA6-614E-1B81-743F0329E1F3}"/>
              </a:ext>
            </a:extLst>
          </p:cNvPr>
          <p:cNvSpPr/>
          <p:nvPr/>
        </p:nvSpPr>
        <p:spPr>
          <a:xfrm>
            <a:off x="6217921" y="1351961"/>
            <a:ext cx="5515104" cy="2440393"/>
          </a:xfrm>
          <a:prstGeom prst="rect">
            <a:avLst/>
          </a:prstGeom>
          <a:solidFill>
            <a:srgbClr val="FFFFFF"/>
          </a:solidFill>
          <a:ln w="9525">
            <a:solidFill>
              <a:srgbClr val="AFC7DD"/>
            </a:solidFill>
          </a:ln>
        </p:spPr>
      </p:sp>
      <p:sp>
        <p:nvSpPr>
          <p:cNvPr id="9" name="Rectangle 41">
            <a:extLst>
              <a:ext uri="{FF2B5EF4-FFF2-40B4-BE49-F238E27FC236}">
                <a16:creationId xmlns:a16="http://schemas.microsoft.com/office/drawing/2014/main" id="{4A8C4805-265A-207A-C886-44C0B12EA01C}"/>
              </a:ext>
            </a:extLst>
          </p:cNvPr>
          <p:cNvSpPr/>
          <p:nvPr/>
        </p:nvSpPr>
        <p:spPr>
          <a:xfrm>
            <a:off x="6217921" y="1011047"/>
            <a:ext cx="5516879" cy="33893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/>
          <a:lstStyle/>
          <a:p>
            <a:pPr algn="ctr"/>
            <a:r>
              <a:rPr lang="en-US" altLang="zh-CN" b="1" dirty="0">
                <a:solidFill>
                  <a:schemeClr val="bg1"/>
                </a:solidFill>
              </a:rPr>
              <a:t>MP4583</a:t>
            </a:r>
            <a:r>
              <a:rPr lang="zh-CN" altLang="en-US" b="1" dirty="0">
                <a:solidFill>
                  <a:schemeClr val="bg1"/>
                </a:solidFill>
              </a:rPr>
              <a:t>｜高压同步 </a:t>
            </a:r>
            <a:r>
              <a:rPr lang="en-US" altLang="zh-CN" b="1" dirty="0">
                <a:solidFill>
                  <a:schemeClr val="bg1"/>
                </a:solidFill>
              </a:rPr>
              <a:t>Buck</a:t>
            </a:r>
            <a:endParaRPr lang="zh-CN" altLang="en-US" b="1" dirty="0">
              <a:solidFill>
                <a:schemeClr val="bg1"/>
              </a:solidFill>
            </a:endParaRPr>
          </a:p>
        </p:txBody>
      </p:sp>
      <p:sp>
        <p:nvSpPr>
          <p:cNvPr id="22" name="Rectangle 40">
            <a:extLst>
              <a:ext uri="{FF2B5EF4-FFF2-40B4-BE49-F238E27FC236}">
                <a16:creationId xmlns:a16="http://schemas.microsoft.com/office/drawing/2014/main" id="{9236928B-2805-A0DC-B8C2-474A0384EBB7}"/>
              </a:ext>
            </a:extLst>
          </p:cNvPr>
          <p:cNvSpPr/>
          <p:nvPr/>
        </p:nvSpPr>
        <p:spPr>
          <a:xfrm>
            <a:off x="6217921" y="4313646"/>
            <a:ext cx="5516879" cy="1896654"/>
          </a:xfrm>
          <a:prstGeom prst="rect">
            <a:avLst/>
          </a:prstGeom>
          <a:solidFill>
            <a:srgbClr val="FFFFFF"/>
          </a:solidFill>
          <a:ln w="9525">
            <a:solidFill>
              <a:srgbClr val="AFC7DD"/>
            </a:solidFill>
          </a:ln>
        </p:spPr>
      </p:sp>
      <p:sp>
        <p:nvSpPr>
          <p:cNvPr id="23" name="Rectangle 41">
            <a:extLst>
              <a:ext uri="{FF2B5EF4-FFF2-40B4-BE49-F238E27FC236}">
                <a16:creationId xmlns:a16="http://schemas.microsoft.com/office/drawing/2014/main" id="{94A52CE3-157C-2FAC-1513-C70E6AA522BF}"/>
              </a:ext>
            </a:extLst>
          </p:cNvPr>
          <p:cNvSpPr/>
          <p:nvPr/>
        </p:nvSpPr>
        <p:spPr>
          <a:xfrm>
            <a:off x="6217921" y="3970746"/>
            <a:ext cx="5516879" cy="33893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/>
          <a:lstStyle/>
          <a:p>
            <a:pPr algn="ctr"/>
            <a:r>
              <a:rPr lang="en-US" altLang="zh-CN" b="1" dirty="0">
                <a:solidFill>
                  <a:schemeClr val="bg1"/>
                </a:solidFill>
              </a:rPr>
              <a:t>MP20051</a:t>
            </a:r>
            <a:r>
              <a:rPr lang="zh-CN" altLang="en-US" b="1" dirty="0">
                <a:solidFill>
                  <a:schemeClr val="bg1"/>
                </a:solidFill>
              </a:rPr>
              <a:t>｜低噪声</a:t>
            </a:r>
            <a:r>
              <a:rPr lang="en-US" altLang="zh-CN" b="1" dirty="0">
                <a:solidFill>
                  <a:schemeClr val="bg1"/>
                </a:solidFill>
              </a:rPr>
              <a:t>LDO</a:t>
            </a:r>
            <a:endParaRPr lang="zh-CN" altLang="en-US" b="1" dirty="0">
              <a:solidFill>
                <a:schemeClr val="bg1"/>
              </a:solidFill>
            </a:endParaRPr>
          </a:p>
        </p:txBody>
      </p:sp>
      <p:sp>
        <p:nvSpPr>
          <p:cNvPr id="24" name="Rectangle 40">
            <a:extLst>
              <a:ext uri="{FF2B5EF4-FFF2-40B4-BE49-F238E27FC236}">
                <a16:creationId xmlns:a16="http://schemas.microsoft.com/office/drawing/2014/main" id="{FCE7BECB-54AA-E197-6336-3FDDEA165A41}"/>
              </a:ext>
            </a:extLst>
          </p:cNvPr>
          <p:cNvSpPr/>
          <p:nvPr/>
        </p:nvSpPr>
        <p:spPr>
          <a:xfrm>
            <a:off x="457200" y="1338092"/>
            <a:ext cx="5404586" cy="4872208"/>
          </a:xfrm>
          <a:prstGeom prst="rect">
            <a:avLst/>
          </a:prstGeom>
          <a:solidFill>
            <a:srgbClr val="FFFFFF"/>
          </a:solidFill>
          <a:ln w="9525">
            <a:solidFill>
              <a:srgbClr val="AFC7DD"/>
            </a:solidFill>
          </a:ln>
        </p:spPr>
      </p:sp>
      <p:sp>
        <p:nvSpPr>
          <p:cNvPr id="25" name="Rectangle 41">
            <a:extLst>
              <a:ext uri="{FF2B5EF4-FFF2-40B4-BE49-F238E27FC236}">
                <a16:creationId xmlns:a16="http://schemas.microsoft.com/office/drawing/2014/main" id="{9A235E3D-F4AC-4705-1B02-646B4CEA51EE}"/>
              </a:ext>
            </a:extLst>
          </p:cNvPr>
          <p:cNvSpPr/>
          <p:nvPr/>
        </p:nvSpPr>
        <p:spPr>
          <a:xfrm>
            <a:off x="457199" y="1009061"/>
            <a:ext cx="5404587" cy="34091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/>
          <a:lstStyle/>
          <a:p>
            <a:pPr algn="ctr"/>
            <a:r>
              <a:rPr lang="en-US" altLang="zh-CN" b="1" dirty="0">
                <a:solidFill>
                  <a:schemeClr val="bg1"/>
                </a:solidFill>
              </a:rPr>
              <a:t>MPM3632S</a:t>
            </a:r>
            <a:r>
              <a:rPr lang="zh-CN" altLang="en-US" b="1" dirty="0">
                <a:solidFill>
                  <a:schemeClr val="bg1"/>
                </a:solidFill>
              </a:rPr>
              <a:t>｜集成电源模块</a:t>
            </a:r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DF9D0F22-46EA-F791-708A-EFD621F824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3457" y="1521426"/>
            <a:ext cx="2832175" cy="2128043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1523207D-6A0A-F23C-4479-C99465E125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991" y="1339246"/>
            <a:ext cx="3212537" cy="4180662"/>
          </a:xfrm>
          <a:prstGeom prst="rect">
            <a:avLst/>
          </a:prstGeom>
        </p:spPr>
      </p:pic>
      <p:sp>
        <p:nvSpPr>
          <p:cNvPr id="29" name="文本框 28">
            <a:extLst>
              <a:ext uri="{FF2B5EF4-FFF2-40B4-BE49-F238E27FC236}">
                <a16:creationId xmlns:a16="http://schemas.microsoft.com/office/drawing/2014/main" id="{27006A87-47D7-30E3-1571-FCB17C53FF7B}"/>
              </a:ext>
            </a:extLst>
          </p:cNvPr>
          <p:cNvSpPr txBox="1"/>
          <p:nvPr/>
        </p:nvSpPr>
        <p:spPr>
          <a:xfrm>
            <a:off x="613410" y="5506039"/>
            <a:ext cx="52483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模块虽集成功率器件与电感，外围回流、反馈和散热仍然重要</a:t>
            </a:r>
          </a:p>
        </p:txBody>
      </p:sp>
      <p:sp>
        <p:nvSpPr>
          <p:cNvPr id="30" name="Rectangle 1">
            <a:extLst>
              <a:ext uri="{FF2B5EF4-FFF2-40B4-BE49-F238E27FC236}">
                <a16:creationId xmlns:a16="http://schemas.microsoft.com/office/drawing/2014/main" id="{49A67183-F03C-19EC-93D6-F9D3FF04D1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4908" y="2625976"/>
            <a:ext cx="3007766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/>
            </a:pPr>
            <a:r>
              <a:rPr kumimoji="0" lang="zh-CN" altLang="zh-CN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输入电容</a:t>
            </a: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靠近VIN/PGND</a:t>
            </a:r>
            <a:r>
              <a:rPr kumimoji="0" lang="zh-CN" altLang="zh-CN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，输入地回路短而宽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/>
            </a:pPr>
            <a:r>
              <a:rPr kumimoji="0" lang="zh-CN" altLang="zh-CN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FB与OUT_S连接短而直接，</a:t>
            </a: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反馈电阻紧靠芯片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/>
            </a:pPr>
            <a:r>
              <a:rPr kumimoji="0" lang="zh-CN" altLang="zh-CN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FB等</a:t>
            </a: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模拟信号远离SW</a:t>
            </a:r>
            <a:r>
              <a:rPr kumimoji="0" lang="zh-CN" altLang="zh-CN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及功率电流路径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/>
            </a:pPr>
            <a:r>
              <a:rPr kumimoji="0" lang="zh-CN" altLang="zh-CN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芯片周围布置GND铜皮和散热过孔，降低温升 </a:t>
            </a:r>
          </a:p>
        </p:txBody>
      </p:sp>
      <p:pic>
        <p:nvPicPr>
          <p:cNvPr id="31" name="图片 30">
            <a:extLst>
              <a:ext uri="{FF2B5EF4-FFF2-40B4-BE49-F238E27FC236}">
                <a16:creationId xmlns:a16="http://schemas.microsoft.com/office/drawing/2014/main" id="{2097A1BF-AF44-EA72-72A7-292EC19E76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1763" y="4488068"/>
            <a:ext cx="2529491" cy="1568326"/>
          </a:xfrm>
          <a:prstGeom prst="rect">
            <a:avLst/>
          </a:prstGeom>
        </p:spPr>
      </p:pic>
      <p:sp>
        <p:nvSpPr>
          <p:cNvPr id="34" name="Rectangle 4">
            <a:extLst>
              <a:ext uri="{FF2B5EF4-FFF2-40B4-BE49-F238E27FC236}">
                <a16:creationId xmlns:a16="http://schemas.microsoft.com/office/drawing/2014/main" id="{8D8292B2-4FDA-9D2F-E47D-EFCC6EE970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08641" y="1528369"/>
            <a:ext cx="2575368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/>
            </a:pPr>
            <a:r>
              <a:rPr kumimoji="0" lang="zh-CN" altLang="zh-CN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CIN 靠近 VIN/PGND，缩短热环路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/>
            </a:pPr>
            <a:r>
              <a:rPr kumimoji="0" lang="zh-CN" altLang="zh-CN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功率走线短、宽、直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/>
            </a:pPr>
            <a:r>
              <a:rPr kumimoji="0" lang="zh-CN" altLang="zh-CN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SW 铜皮小且远离小信号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FB 靠近芯片</a:t>
            </a:r>
            <a:r>
              <a:rPr kumimoji="0" lang="zh-CN" altLang="zh-CN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，PGND 多打过孔 </a:t>
            </a:r>
          </a:p>
        </p:txBody>
      </p:sp>
      <p:sp>
        <p:nvSpPr>
          <p:cNvPr id="35" name="Rectangle 5">
            <a:extLst>
              <a:ext uri="{FF2B5EF4-FFF2-40B4-BE49-F238E27FC236}">
                <a16:creationId xmlns:a16="http://schemas.microsoft.com/office/drawing/2014/main" id="{0844E802-37F2-3568-536E-7EA3862CC6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51254" y="4523309"/>
            <a:ext cx="3007765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/>
            </a:pPr>
            <a:r>
              <a:rPr kumimoji="0" lang="zh-CN" altLang="zh-CN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输入电容紧靠 VIN/GND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/>
            </a:pPr>
            <a:r>
              <a:rPr kumimoji="0" lang="zh-CN" altLang="zh-CN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输出电容紧靠 OUT/GND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FB 分压靠近引脚</a:t>
            </a:r>
            <a:endParaRPr kumimoji="0" lang="en-US" altLang="zh-CN" sz="18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/>
            </a:pPr>
            <a:r>
              <a:rPr kumimoji="0" lang="zh-CN" altLang="zh-CN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裸焊盘接大面积 GND 并加</a:t>
            </a: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散热过孔</a:t>
            </a:r>
            <a:r>
              <a:rPr kumimoji="0" lang="zh-CN" altLang="zh-CN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，EN勿悬空 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488D2C06-A8D4-756D-09BA-BA917992B62E}"/>
              </a:ext>
            </a:extLst>
          </p:cNvPr>
          <p:cNvSpPr txBox="1"/>
          <p:nvPr/>
        </p:nvSpPr>
        <p:spPr>
          <a:xfrm>
            <a:off x="459631" y="6298049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dirty="0"/>
              <a:t>更多专业内容可详见：</a:t>
            </a:r>
            <a:r>
              <a:rPr lang="en-US" altLang="zh-CN" dirty="0">
                <a:hlinkClick r:id="rId6"/>
              </a:rPr>
              <a:t>MPS</a:t>
            </a:r>
            <a:r>
              <a:rPr lang="zh-CN" altLang="en-US" dirty="0">
                <a:hlinkClick r:id="rId6"/>
              </a:rPr>
              <a:t>电源小课堂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20127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>
            <a:extLst>
              <a:ext uri="{FF2B5EF4-FFF2-40B4-BE49-F238E27FC236}">
                <a16:creationId xmlns:a16="http://schemas.microsoft.com/office/drawing/2014/main" id="{57A3226B-CD10-6DF3-9047-65FDFB4252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2135" y="1000211"/>
            <a:ext cx="5370757" cy="4732980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818E4D0D-CCC5-F1E7-E30D-51CB5FADB4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660" y="1124973"/>
            <a:ext cx="2376067" cy="2429415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54D7AF7F-2FCC-E072-5B52-E717A94588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7660" y="3684758"/>
            <a:ext cx="2376067" cy="2648103"/>
          </a:xfrm>
          <a:prstGeom prst="rect">
            <a:avLst/>
          </a:prstGeom>
        </p:spPr>
      </p:pic>
      <p:grpSp>
        <p:nvGrpSpPr>
          <p:cNvPr id="29" name="组合 28">
            <a:extLst>
              <a:ext uri="{FF2B5EF4-FFF2-40B4-BE49-F238E27FC236}">
                <a16:creationId xmlns:a16="http://schemas.microsoft.com/office/drawing/2014/main" id="{C1B07104-FBBC-A1E5-D157-4AA4AEA3EB5D}"/>
              </a:ext>
            </a:extLst>
          </p:cNvPr>
          <p:cNvGrpSpPr/>
          <p:nvPr/>
        </p:nvGrpSpPr>
        <p:grpSpPr>
          <a:xfrm>
            <a:off x="2527156" y="1254526"/>
            <a:ext cx="3754979" cy="2029304"/>
            <a:chOff x="6750524" y="1516380"/>
            <a:chExt cx="3754979" cy="2029304"/>
          </a:xfrm>
        </p:grpSpPr>
        <p:sp>
          <p:nvSpPr>
            <p:cNvPr id="30" name="TextBox 27">
              <a:extLst>
                <a:ext uri="{FF2B5EF4-FFF2-40B4-BE49-F238E27FC236}">
                  <a16:creationId xmlns:a16="http://schemas.microsoft.com/office/drawing/2014/main" id="{7F988354-31CA-040A-7340-A6DA735A98B8}"/>
                </a:ext>
              </a:extLst>
            </p:cNvPr>
            <p:cNvSpPr txBox="1"/>
            <p:nvPr/>
          </p:nvSpPr>
          <p:spPr>
            <a:xfrm>
              <a:off x="6750524" y="2105025"/>
              <a:ext cx="66817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005A9C"/>
                  </a:solidFill>
                  <a:latin typeface="Arial"/>
                  <a:ea typeface="Microsoft YaHei"/>
                  <a:cs typeface="Arial"/>
                </a:rPr>
                <a:t>控制侧</a:t>
              </a:r>
            </a:p>
          </p:txBody>
        </p:sp>
        <p:sp>
          <p:nvSpPr>
            <p:cNvPr id="37" name="TextBox 28">
              <a:extLst>
                <a:ext uri="{FF2B5EF4-FFF2-40B4-BE49-F238E27FC236}">
                  <a16:creationId xmlns:a16="http://schemas.microsoft.com/office/drawing/2014/main" id="{BAAF6E1F-71EA-096D-EFF7-8B0CF17307AA}"/>
                </a:ext>
              </a:extLst>
            </p:cNvPr>
            <p:cNvSpPr txBox="1"/>
            <p:nvPr/>
          </p:nvSpPr>
          <p:spPr>
            <a:xfrm>
              <a:off x="9837324" y="2105025"/>
              <a:ext cx="66817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005A9C"/>
                  </a:solidFill>
                  <a:latin typeface="Arial"/>
                  <a:ea typeface="Microsoft YaHei"/>
                  <a:cs typeface="Arial"/>
                </a:rPr>
                <a:t>总线侧</a:t>
              </a:r>
            </a:p>
          </p:txBody>
        </p:sp>
        <p:pic>
          <p:nvPicPr>
            <p:cNvPr id="38" name="图片 37">
              <a:extLst>
                <a:ext uri="{FF2B5EF4-FFF2-40B4-BE49-F238E27FC236}">
                  <a16:creationId xmlns:a16="http://schemas.microsoft.com/office/drawing/2014/main" id="{815229A3-A1C8-604A-7864-3018F6E704B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r="28375"/>
            <a:stretch/>
          </p:blipFill>
          <p:spPr>
            <a:xfrm rot="5400000">
              <a:off x="7707296" y="1441611"/>
              <a:ext cx="1888332" cy="2319814"/>
            </a:xfrm>
            <a:prstGeom prst="rect">
              <a:avLst/>
            </a:prstGeom>
          </p:spPr>
        </p:pic>
        <p:sp>
          <p:nvSpPr>
            <p:cNvPr id="39" name="Line 25">
              <a:extLst>
                <a:ext uri="{FF2B5EF4-FFF2-40B4-BE49-F238E27FC236}">
                  <a16:creationId xmlns:a16="http://schemas.microsoft.com/office/drawing/2014/main" id="{9ACCD04D-3CBB-2543-0B0D-05A587854923}"/>
                </a:ext>
              </a:extLst>
            </p:cNvPr>
            <p:cNvSpPr/>
            <p:nvPr/>
          </p:nvSpPr>
          <p:spPr>
            <a:xfrm>
              <a:off x="8419070" y="1516380"/>
              <a:ext cx="57843" cy="2029301"/>
            </a:xfrm>
            <a:custGeom>
              <a:avLst/>
              <a:gdLst/>
              <a:ahLst/>
              <a:cxnLst/>
              <a:rect l="l" t="t" r="r" b="b"/>
              <a:pathLst>
                <a:path w="9525" h="857250">
                  <a:moveTo>
                    <a:pt x="0" y="0"/>
                  </a:moveTo>
                  <a:lnTo>
                    <a:pt x="0" y="85725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custDash>
                <a:ds d="333333" sp="266666"/>
              </a:custDash>
            </a:ln>
          </p:spPr>
        </p:sp>
      </p:grpSp>
      <p:grpSp>
        <p:nvGrpSpPr>
          <p:cNvPr id="41" name="Group 5">
            <a:extLst>
              <a:ext uri="{FF2B5EF4-FFF2-40B4-BE49-F238E27FC236}">
                <a16:creationId xmlns:a16="http://schemas.microsoft.com/office/drawing/2014/main" id="{9FD0763E-47AD-3C6A-CE7E-22563C153265}"/>
              </a:ext>
            </a:extLst>
          </p:cNvPr>
          <p:cNvGrpSpPr/>
          <p:nvPr/>
        </p:nvGrpSpPr>
        <p:grpSpPr>
          <a:xfrm>
            <a:off x="457200" y="266700"/>
            <a:ext cx="11277600" cy="917106"/>
            <a:chOff x="457200" y="266700"/>
            <a:chExt cx="11277600" cy="917106"/>
          </a:xfrm>
        </p:grpSpPr>
        <p:sp>
          <p:nvSpPr>
            <p:cNvPr id="45" name="Rectangle 3">
              <a:extLst>
                <a:ext uri="{FF2B5EF4-FFF2-40B4-BE49-F238E27FC236}">
                  <a16:creationId xmlns:a16="http://schemas.microsoft.com/office/drawing/2014/main" id="{9D8AA36F-83C2-5CD0-6FAF-A6C48553CE9A}"/>
                </a:ext>
              </a:extLst>
            </p:cNvPr>
            <p:cNvSpPr/>
            <p:nvPr/>
          </p:nvSpPr>
          <p:spPr>
            <a:xfrm>
              <a:off x="457200" y="266700"/>
              <a:ext cx="11277600" cy="59055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46" name="TextBox 4">
              <a:extLst>
                <a:ext uri="{FF2B5EF4-FFF2-40B4-BE49-F238E27FC236}">
                  <a16:creationId xmlns:a16="http://schemas.microsoft.com/office/drawing/2014/main" id="{5D186F7D-5387-30A2-3EC6-FCFB343F2525}"/>
                </a:ext>
              </a:extLst>
            </p:cNvPr>
            <p:cNvSpPr txBox="1"/>
            <p:nvPr/>
          </p:nvSpPr>
          <p:spPr>
            <a:xfrm>
              <a:off x="524933" y="337420"/>
              <a:ext cx="7240765" cy="8463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zh-CN" sz="27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PCB Layout——</a:t>
              </a:r>
              <a:r>
                <a:rPr lang="zh-CN" altLang="zh-CN" sz="28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MIE1W0505 + </a:t>
              </a:r>
              <a:r>
                <a:rPr lang="en-US" altLang="zh-CN" sz="28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CAN </a:t>
              </a:r>
              <a:r>
                <a:rPr lang="zh-CN" altLang="zh-CN" sz="28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隔离通信</a:t>
              </a:r>
            </a:p>
            <a:p>
              <a:pPr algn="l"/>
              <a:endParaRPr lang="zh-CN" sz="2700" dirty="0">
                <a:solidFill>
                  <a:srgbClr val="FFFFFF"/>
                </a:solidFill>
                <a:latin typeface="Arial"/>
                <a:ea typeface="Microsoft YaHei"/>
                <a:cs typeface="Arial"/>
              </a:endParaRPr>
            </a:p>
          </p:txBody>
        </p:sp>
      </p:grpSp>
      <p:sp>
        <p:nvSpPr>
          <p:cNvPr id="52" name="Line 25">
            <a:extLst>
              <a:ext uri="{FF2B5EF4-FFF2-40B4-BE49-F238E27FC236}">
                <a16:creationId xmlns:a16="http://schemas.microsoft.com/office/drawing/2014/main" id="{94BB43FC-B901-5884-296A-CDA5D82EF092}"/>
              </a:ext>
            </a:extLst>
          </p:cNvPr>
          <p:cNvSpPr/>
          <p:nvPr/>
        </p:nvSpPr>
        <p:spPr>
          <a:xfrm>
            <a:off x="9350096" y="1076241"/>
            <a:ext cx="102745" cy="4689471"/>
          </a:xfrm>
          <a:custGeom>
            <a:avLst/>
            <a:gdLst/>
            <a:ahLst/>
            <a:cxnLst/>
            <a:rect l="l" t="t" r="r" b="b"/>
            <a:pathLst>
              <a:path w="9525"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noFill/>
          <a:ln w="28575">
            <a:solidFill>
              <a:srgbClr val="FF0000"/>
            </a:solidFill>
            <a:custDash>
              <a:ds d="333333" sp="266666"/>
            </a:custDash>
          </a:ln>
        </p:spPr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2A4744B9-F0C5-AEB4-32E9-458E61C2D719}"/>
              </a:ext>
            </a:extLst>
          </p:cNvPr>
          <p:cNvSpPr txBox="1"/>
          <p:nvPr/>
        </p:nvSpPr>
        <p:spPr>
          <a:xfrm>
            <a:off x="7068563" y="5809221"/>
            <a:ext cx="60973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隔离边界</a:t>
            </a:r>
            <a:r>
              <a:rPr lang="en-US" altLang="zh-CN" b="1" dirty="0">
                <a:solidFill>
                  <a:srgbClr val="FF0000"/>
                </a:solidFill>
              </a:rPr>
              <a:t>——</a:t>
            </a:r>
            <a:r>
              <a:rPr lang="zh-CN" altLang="en-US" b="1" dirty="0">
                <a:solidFill>
                  <a:srgbClr val="FF0000"/>
                </a:solidFill>
              </a:rPr>
              <a:t>禁止铜皮、走线和过孔跨越</a:t>
            </a: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5E1516F7-EC98-8E9F-950F-7E7AE79E372B}"/>
              </a:ext>
            </a:extLst>
          </p:cNvPr>
          <p:cNvSpPr txBox="1"/>
          <p:nvPr/>
        </p:nvSpPr>
        <p:spPr>
          <a:xfrm>
            <a:off x="12192000" y="1686484"/>
            <a:ext cx="14403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VIN / GND1</a:t>
            </a:r>
            <a:endParaRPr lang="zh-CN" altLang="en-US" dirty="0"/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CDA304A4-6035-E311-4084-3145366C8CAF}"/>
              </a:ext>
            </a:extLst>
          </p:cNvPr>
          <p:cNvSpPr txBox="1"/>
          <p:nvPr/>
        </p:nvSpPr>
        <p:spPr>
          <a:xfrm>
            <a:off x="5083431" y="3126055"/>
            <a:ext cx="15482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最小</a:t>
            </a:r>
            <a:r>
              <a:rPr lang="en-US" altLang="zh-CN" b="1" dirty="0">
                <a:solidFill>
                  <a:srgbClr val="FF0000"/>
                </a:solidFill>
              </a:rPr>
              <a:t>VIN-Cin-</a:t>
            </a:r>
          </a:p>
          <a:p>
            <a:r>
              <a:rPr lang="en-US" altLang="zh-CN" b="1" dirty="0">
                <a:solidFill>
                  <a:srgbClr val="FF0000"/>
                </a:solidFill>
              </a:rPr>
              <a:t>GND1</a:t>
            </a:r>
            <a:r>
              <a:rPr lang="zh-CN" altLang="en-US" b="1" dirty="0">
                <a:solidFill>
                  <a:srgbClr val="FF0000"/>
                </a:solidFill>
              </a:rPr>
              <a:t>环路</a:t>
            </a: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A679E856-2982-6E61-E5A6-5A74DB62073C}"/>
              </a:ext>
            </a:extLst>
          </p:cNvPr>
          <p:cNvSpPr txBox="1"/>
          <p:nvPr/>
        </p:nvSpPr>
        <p:spPr>
          <a:xfrm>
            <a:off x="10302911" y="1409485"/>
            <a:ext cx="188908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最小</a:t>
            </a:r>
            <a:r>
              <a:rPr lang="en-US" altLang="zh-CN" b="1" dirty="0">
                <a:solidFill>
                  <a:srgbClr val="FF0000"/>
                </a:solidFill>
              </a:rPr>
              <a:t>VOUT-Cout</a:t>
            </a:r>
          </a:p>
          <a:p>
            <a:r>
              <a:rPr lang="en-US" altLang="zh-CN" b="1" dirty="0">
                <a:solidFill>
                  <a:srgbClr val="FF0000"/>
                </a:solidFill>
              </a:rPr>
              <a:t>-GND2</a:t>
            </a:r>
            <a:r>
              <a:rPr lang="zh-CN" altLang="en-US" b="1" dirty="0">
                <a:solidFill>
                  <a:srgbClr val="FF0000"/>
                </a:solidFill>
              </a:rPr>
              <a:t>环路</a:t>
            </a: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A4748109-53F2-DB65-608C-E63E422BDC6F}"/>
              </a:ext>
            </a:extLst>
          </p:cNvPr>
          <p:cNvSpPr txBox="1"/>
          <p:nvPr/>
        </p:nvSpPr>
        <p:spPr>
          <a:xfrm>
            <a:off x="9487186" y="4783722"/>
            <a:ext cx="21863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预留低</a:t>
            </a:r>
            <a:r>
              <a:rPr lang="en-US" altLang="zh-CN" b="1" dirty="0">
                <a:solidFill>
                  <a:srgbClr val="FF0000"/>
                </a:solidFill>
              </a:rPr>
              <a:t>ESL Y-Cap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66" name="Rectangle 1">
            <a:extLst>
              <a:ext uri="{FF2B5EF4-FFF2-40B4-BE49-F238E27FC236}">
                <a16:creationId xmlns:a16="http://schemas.microsoft.com/office/drawing/2014/main" id="{75DDB1F6-E1B4-9DED-B854-679B9A611A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2553" y="3772386"/>
            <a:ext cx="3503811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/>
            </a:pPr>
            <a:r>
              <a: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推荐四层</a:t>
            </a:r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PCB</a:t>
            </a:r>
            <a:r>
              <a: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，原边与副边铜皮严格分离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/>
            </a:pPr>
            <a:r>
              <a: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输入</a:t>
            </a:r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10 µF</a:t>
            </a:r>
            <a:r>
              <a: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＋</a:t>
            </a:r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0.1 µF</a:t>
            </a:r>
            <a:r>
              <a: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、输出</a:t>
            </a:r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22 µF</a:t>
            </a:r>
            <a:r>
              <a: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＋</a:t>
            </a:r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0.1 µF</a:t>
            </a:r>
            <a:r>
              <a: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紧靠器件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/>
            </a:pPr>
            <a:r>
              <a: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最小化</a:t>
            </a:r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VIN-Cin-GND1</a:t>
            </a:r>
            <a:r>
              <a: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及</a:t>
            </a:r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VOUT-Cout-GND2</a:t>
            </a:r>
            <a:r>
              <a: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环路</a:t>
            </a:r>
            <a:endParaRPr lang="en-US" altLang="zh-CN" dirty="0"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/>
            </a:pPr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GND1</a:t>
            </a:r>
            <a:r>
              <a: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增加散热铜皮和过孔，副边顶层铜皮不宜过大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/>
            </a:pPr>
            <a:r>
              <a: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隔离边界禁止跨越，并预留低</a:t>
            </a:r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ESL Y</a:t>
            </a:r>
            <a:r>
              <a: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电容焊盘 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0E9582C2-6DA3-EFE6-4FE2-8BB98D3D6E27}"/>
              </a:ext>
            </a:extLst>
          </p:cNvPr>
          <p:cNvCxnSpPr>
            <a:cxnSpLocks/>
          </p:cNvCxnSpPr>
          <p:nvPr/>
        </p:nvCxnSpPr>
        <p:spPr>
          <a:xfrm flipV="1">
            <a:off x="6580150" y="2914363"/>
            <a:ext cx="992038" cy="618105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35D92145-FAD8-A1A1-664C-278F12C60202}"/>
              </a:ext>
            </a:extLst>
          </p:cNvPr>
          <p:cNvCxnSpPr>
            <a:cxnSpLocks/>
          </p:cNvCxnSpPr>
          <p:nvPr/>
        </p:nvCxnSpPr>
        <p:spPr>
          <a:xfrm flipH="1">
            <a:off x="10905423" y="2099325"/>
            <a:ext cx="325326" cy="815038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B6318FB6-1963-29C1-A80A-ADA4CBAD0057}"/>
              </a:ext>
            </a:extLst>
          </p:cNvPr>
          <p:cNvCxnSpPr>
            <a:cxnSpLocks/>
          </p:cNvCxnSpPr>
          <p:nvPr/>
        </p:nvCxnSpPr>
        <p:spPr>
          <a:xfrm flipH="1" flipV="1">
            <a:off x="9470158" y="4347506"/>
            <a:ext cx="829929" cy="436044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9B77FB-9E9C-A289-9E2D-57AD201175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6E62A392-55BA-9DF3-982E-7D300CAEAC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 contrast="-20000"/>
                    </a14:imgEffect>
                  </a14:imgLayer>
                </a14:imgProps>
              </a:ext>
            </a:extLst>
          </a:blip>
          <a:srcRect l="38755" t="32547" r="40846" b="41733"/>
          <a:stretch/>
        </p:blipFill>
        <p:spPr>
          <a:xfrm>
            <a:off x="734324" y="1693950"/>
            <a:ext cx="2711925" cy="2279753"/>
          </a:xfrm>
          <a:prstGeom prst="rect">
            <a:avLst/>
          </a:prstGeom>
        </p:spPr>
      </p:pic>
      <p:grpSp>
        <p:nvGrpSpPr>
          <p:cNvPr id="5" name="Group 5">
            <a:extLst>
              <a:ext uri="{FF2B5EF4-FFF2-40B4-BE49-F238E27FC236}">
                <a16:creationId xmlns:a16="http://schemas.microsoft.com/office/drawing/2014/main" id="{1435745A-813B-8A3F-B875-9B7217502AAB}"/>
              </a:ext>
            </a:extLst>
          </p:cNvPr>
          <p:cNvGrpSpPr/>
          <p:nvPr/>
        </p:nvGrpSpPr>
        <p:grpSpPr>
          <a:xfrm>
            <a:off x="457200" y="266700"/>
            <a:ext cx="11277600" cy="590550"/>
            <a:chOff x="457200" y="266700"/>
            <a:chExt cx="11277600" cy="590550"/>
          </a:xfrm>
        </p:grpSpPr>
        <p:sp>
          <p:nvSpPr>
            <p:cNvPr id="3" name="Rectangle 3">
              <a:extLst>
                <a:ext uri="{FF2B5EF4-FFF2-40B4-BE49-F238E27FC236}">
                  <a16:creationId xmlns:a16="http://schemas.microsoft.com/office/drawing/2014/main" id="{5C9AF106-32B9-8E08-6F3C-5E4CEC08EF1F}"/>
                </a:ext>
              </a:extLst>
            </p:cNvPr>
            <p:cNvSpPr/>
            <p:nvPr/>
          </p:nvSpPr>
          <p:spPr>
            <a:xfrm>
              <a:off x="457200" y="266700"/>
              <a:ext cx="11277600" cy="59055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221EB759-C75C-11E9-1102-B88597DF044D}"/>
                </a:ext>
              </a:extLst>
            </p:cNvPr>
            <p:cNvSpPr txBox="1"/>
            <p:nvPr/>
          </p:nvSpPr>
          <p:spPr>
            <a:xfrm>
              <a:off x="613410" y="375285"/>
              <a:ext cx="4905189" cy="415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PCB Layout——</a:t>
              </a:r>
              <a:r>
                <a:rPr lang="en-US" altLang="zh-CN" sz="27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MA600A</a:t>
              </a:r>
              <a:r>
                <a:rPr lang="zh-CN" sz="27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编码器</a:t>
              </a:r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44451FDB-B154-1BF9-37EA-D139C2DF570F}"/>
              </a:ext>
            </a:extLst>
          </p:cNvPr>
          <p:cNvSpPr txBox="1"/>
          <p:nvPr/>
        </p:nvSpPr>
        <p:spPr>
          <a:xfrm>
            <a:off x="2090287" y="1144429"/>
            <a:ext cx="2201175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7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MA600A 磁编码器布局</a:t>
            </a:r>
          </a:p>
        </p:txBody>
      </p:sp>
      <p:sp>
        <p:nvSpPr>
          <p:cNvPr id="10" name="Ellipse 10">
            <a:extLst>
              <a:ext uri="{FF2B5EF4-FFF2-40B4-BE49-F238E27FC236}">
                <a16:creationId xmlns:a16="http://schemas.microsoft.com/office/drawing/2014/main" id="{A5D165F2-52EE-F5DF-FAAF-72A6903EC1E7}"/>
              </a:ext>
            </a:extLst>
          </p:cNvPr>
          <p:cNvSpPr/>
          <p:nvPr/>
        </p:nvSpPr>
        <p:spPr>
          <a:xfrm>
            <a:off x="1641842" y="2383747"/>
            <a:ext cx="990600" cy="990600"/>
          </a:xfrm>
          <a:prstGeom prst="ellipse">
            <a:avLst/>
          </a:prstGeom>
          <a:noFill/>
          <a:ln w="19050">
            <a:solidFill>
              <a:srgbClr val="FF0000"/>
            </a:solidFill>
            <a:custDash>
              <a:ds d="400000" sp="300000"/>
            </a:custDash>
          </a:ln>
        </p:spPr>
      </p:sp>
      <p:sp>
        <p:nvSpPr>
          <p:cNvPr id="11" name="Ellipse 11">
            <a:extLst>
              <a:ext uri="{FF2B5EF4-FFF2-40B4-BE49-F238E27FC236}">
                <a16:creationId xmlns:a16="http://schemas.microsoft.com/office/drawing/2014/main" id="{A8FDA060-DB96-50EC-917C-F03705171E3D}"/>
              </a:ext>
            </a:extLst>
          </p:cNvPr>
          <p:cNvSpPr/>
          <p:nvPr/>
        </p:nvSpPr>
        <p:spPr>
          <a:xfrm>
            <a:off x="2041892" y="2783797"/>
            <a:ext cx="190500" cy="1905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432E7898-EEBD-A455-37DD-EAD0162025A7}"/>
              </a:ext>
            </a:extLst>
          </p:cNvPr>
          <p:cNvSpPr txBox="1"/>
          <p:nvPr/>
        </p:nvSpPr>
        <p:spPr>
          <a:xfrm>
            <a:off x="168594" y="4341774"/>
            <a:ext cx="446753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dirty="0"/>
              <a:t>传感器中心与磁体、电机轴线准确对齐</a:t>
            </a: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dirty="0"/>
              <a:t>电容及磁敏感器件、</a:t>
            </a:r>
            <a:r>
              <a:rPr lang="zh-CN" altLang="en-US" b="1" dirty="0">
                <a:solidFill>
                  <a:srgbClr val="FF0000"/>
                </a:solidFill>
              </a:rPr>
              <a:t>大功率回路</a:t>
            </a:r>
            <a:r>
              <a:rPr lang="zh-CN" altLang="en-US" dirty="0"/>
              <a:t>距芯片中心至少5 mm</a:t>
            </a: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dirty="0"/>
              <a:t>功率走线、开关节点和</a:t>
            </a:r>
            <a:r>
              <a:rPr lang="zh-CN" altLang="en-US" b="1" dirty="0">
                <a:solidFill>
                  <a:srgbClr val="FF0000"/>
                </a:solidFill>
              </a:rPr>
              <a:t>大电流回流</a:t>
            </a:r>
            <a:r>
              <a:rPr lang="zh-CN" altLang="en-US" dirty="0"/>
              <a:t>远离传感器</a:t>
            </a: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dirty="0"/>
              <a:t>E-PAD保持悬空，降低PCB机械应力影响</a:t>
            </a: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0863E87E-1F91-9088-E9DB-1C1E7D7CD2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1716" y="1452205"/>
            <a:ext cx="2638670" cy="3333704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A2DAEBFA-401C-B625-E909-21A05EBF68E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01782" y="1464469"/>
            <a:ext cx="3889521" cy="1928339"/>
          </a:xfrm>
          <a:prstGeom prst="rect">
            <a:avLst/>
          </a:prstGeom>
        </p:spPr>
      </p:pic>
      <p:sp>
        <p:nvSpPr>
          <p:cNvPr id="41" name="Rectangle 6">
            <a:extLst>
              <a:ext uri="{FF2B5EF4-FFF2-40B4-BE49-F238E27FC236}">
                <a16:creationId xmlns:a16="http://schemas.microsoft.com/office/drawing/2014/main" id="{C8077862-47A5-AFAD-740A-782712ABE5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44229" y="3631747"/>
            <a:ext cx="4047074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AVDD配置1 µF、DVDD配置0.1 µF</a:t>
            </a: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低ESR去耦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SPI两侧及下方采用</a:t>
            </a: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完整地平面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屏蔽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沿SPI走线布置伴随地过孔，缩短回流路径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SCLK与噪声走线间距≥3倍线宽，并尽量避免过孔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可预留200 Ω/10 pF RC滤波网络 </a:t>
            </a:r>
          </a:p>
        </p:txBody>
      </p:sp>
      <p:sp>
        <p:nvSpPr>
          <p:cNvPr id="45" name="Rectangle 34">
            <a:extLst>
              <a:ext uri="{FF2B5EF4-FFF2-40B4-BE49-F238E27FC236}">
                <a16:creationId xmlns:a16="http://schemas.microsoft.com/office/drawing/2014/main" id="{0F0C2B68-7CFA-EBE9-122A-249304BD75C4}"/>
              </a:ext>
            </a:extLst>
          </p:cNvPr>
          <p:cNvSpPr/>
          <p:nvPr/>
        </p:nvSpPr>
        <p:spPr>
          <a:xfrm>
            <a:off x="171290" y="6427703"/>
            <a:ext cx="11772553" cy="381000"/>
          </a:xfrm>
          <a:prstGeom prst="rect">
            <a:avLst/>
          </a:prstGeom>
          <a:solidFill>
            <a:srgbClr val="EDF8F4"/>
          </a:solidFill>
          <a:ln>
            <a:noFill/>
          </a:ln>
        </p:spPr>
      </p:sp>
      <p:sp>
        <p:nvSpPr>
          <p:cNvPr id="46" name="TextBox 35">
            <a:extLst>
              <a:ext uri="{FF2B5EF4-FFF2-40B4-BE49-F238E27FC236}">
                <a16:creationId xmlns:a16="http://schemas.microsoft.com/office/drawing/2014/main" id="{B19DF695-7316-2EDB-7E9F-51F0F5CC48F5}"/>
              </a:ext>
            </a:extLst>
          </p:cNvPr>
          <p:cNvSpPr txBox="1"/>
          <p:nvPr/>
        </p:nvSpPr>
        <p:spPr>
          <a:xfrm>
            <a:off x="3398985" y="6514161"/>
            <a:ext cx="5317161" cy="2154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altLang="en-US" sz="1350" b="1" dirty="0">
                <a:solidFill>
                  <a:srgbClr val="005A9C"/>
                </a:solidFill>
                <a:latin typeface="Arial"/>
                <a:ea typeface="Microsoft YaHei"/>
                <a:cs typeface="Arial"/>
              </a:rPr>
              <a:t>保持磁场洁净、降低机械应力并控制</a:t>
            </a:r>
            <a:r>
              <a:rPr lang="en-US" altLang="zh-CN" sz="1350" b="1" dirty="0">
                <a:solidFill>
                  <a:srgbClr val="005A9C"/>
                </a:solidFill>
                <a:latin typeface="Arial"/>
                <a:ea typeface="Microsoft YaHei"/>
                <a:cs typeface="Arial"/>
              </a:rPr>
              <a:t>SPI</a:t>
            </a:r>
            <a:r>
              <a:rPr lang="zh-CN" altLang="en-US" sz="1350" b="1" dirty="0">
                <a:solidFill>
                  <a:srgbClr val="005A9C"/>
                </a:solidFill>
                <a:latin typeface="Arial"/>
                <a:ea typeface="Microsoft YaHei"/>
                <a:cs typeface="Arial"/>
              </a:rPr>
              <a:t>干扰，保证角度反馈精度。</a:t>
            </a:r>
          </a:p>
        </p:txBody>
      </p:sp>
      <p:sp>
        <p:nvSpPr>
          <p:cNvPr id="53" name="矩形: 圆角 52">
            <a:extLst>
              <a:ext uri="{FF2B5EF4-FFF2-40B4-BE49-F238E27FC236}">
                <a16:creationId xmlns:a16="http://schemas.microsoft.com/office/drawing/2014/main" id="{D8884403-4AEE-AB21-DAB3-67B8446138B6}"/>
              </a:ext>
            </a:extLst>
          </p:cNvPr>
          <p:cNvSpPr/>
          <p:nvPr/>
        </p:nvSpPr>
        <p:spPr>
          <a:xfrm>
            <a:off x="4737873" y="1270731"/>
            <a:ext cx="7205971" cy="5043002"/>
          </a:xfrm>
          <a:prstGeom prst="roundRect">
            <a:avLst>
              <a:gd name="adj" fmla="val 3237"/>
            </a:avLst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矩形: 圆角 53">
            <a:extLst>
              <a:ext uri="{FF2B5EF4-FFF2-40B4-BE49-F238E27FC236}">
                <a16:creationId xmlns:a16="http://schemas.microsoft.com/office/drawing/2014/main" id="{43F3217F-B24D-6739-A7B2-11030C8E113E}"/>
              </a:ext>
            </a:extLst>
          </p:cNvPr>
          <p:cNvSpPr/>
          <p:nvPr/>
        </p:nvSpPr>
        <p:spPr>
          <a:xfrm>
            <a:off x="7310015" y="1106539"/>
            <a:ext cx="2061686" cy="337588"/>
          </a:xfrm>
          <a:prstGeom prst="roundRect">
            <a:avLst/>
          </a:prstGeom>
          <a:solidFill>
            <a:srgbClr val="0070C0"/>
          </a:solidFill>
          <a:ln w="12700">
            <a:noFill/>
          </a:ln>
          <a:effectLst>
            <a:glow rad="635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SPI</a:t>
            </a:r>
            <a:r>
              <a:rPr lang="zh-CN" altLang="en-US" b="1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与供电布局</a:t>
            </a:r>
          </a:p>
        </p:txBody>
      </p:sp>
      <p:sp>
        <p:nvSpPr>
          <p:cNvPr id="56" name="矩形: 圆角 55">
            <a:extLst>
              <a:ext uri="{FF2B5EF4-FFF2-40B4-BE49-F238E27FC236}">
                <a16:creationId xmlns:a16="http://schemas.microsoft.com/office/drawing/2014/main" id="{144C8415-4EFB-F940-B2F6-112BE71FD04E}"/>
              </a:ext>
            </a:extLst>
          </p:cNvPr>
          <p:cNvSpPr/>
          <p:nvPr/>
        </p:nvSpPr>
        <p:spPr>
          <a:xfrm>
            <a:off x="161891" y="1270731"/>
            <a:ext cx="4359775" cy="5043003"/>
          </a:xfrm>
          <a:prstGeom prst="roundRect">
            <a:avLst>
              <a:gd name="adj" fmla="val 3237"/>
            </a:avLst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矩形: 圆角 56">
            <a:extLst>
              <a:ext uri="{FF2B5EF4-FFF2-40B4-BE49-F238E27FC236}">
                <a16:creationId xmlns:a16="http://schemas.microsoft.com/office/drawing/2014/main" id="{FAA796AE-999B-2703-BD19-2B55D996572E}"/>
              </a:ext>
            </a:extLst>
          </p:cNvPr>
          <p:cNvSpPr/>
          <p:nvPr/>
        </p:nvSpPr>
        <p:spPr>
          <a:xfrm>
            <a:off x="1175647" y="1106806"/>
            <a:ext cx="2061686" cy="337588"/>
          </a:xfrm>
          <a:prstGeom prst="roundRect">
            <a:avLst/>
          </a:prstGeom>
          <a:solidFill>
            <a:srgbClr val="0070C0"/>
          </a:solidFill>
          <a:ln w="12700">
            <a:noFill/>
          </a:ln>
          <a:effectLst>
            <a:glow rad="635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SPI</a:t>
            </a:r>
            <a:r>
              <a:rPr lang="zh-CN" altLang="en-US" b="1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与供电布局</a:t>
            </a:r>
          </a:p>
        </p:txBody>
      </p:sp>
    </p:spTree>
    <p:extLst>
      <p:ext uri="{BB962C8B-B14F-4D97-AF65-F5344CB8AC3E}">
        <p14:creationId xmlns:p14="http://schemas.microsoft.com/office/powerpoint/2010/main" val="37483972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266700"/>
            <a:ext cx="11277600" cy="657225"/>
            <a:chOff x="457200" y="266700"/>
            <a:chExt cx="11277600" cy="657225"/>
          </a:xfrm>
        </p:grpSpPr>
        <p:sp>
          <p:nvSpPr>
            <p:cNvPr id="3" name="Rectangle 3"/>
            <p:cNvSpPr/>
            <p:nvPr/>
          </p:nvSpPr>
          <p:spPr>
            <a:xfrm>
              <a:off x="457200" y="266700"/>
              <a:ext cx="11277600" cy="59055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13410" y="375285"/>
              <a:ext cx="4875181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PCB Layout——散热与设计检查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57200" y="1028700"/>
            <a:ext cx="6438900" cy="5124450"/>
            <a:chOff x="457200" y="1028700"/>
            <a:chExt cx="6438900" cy="5124450"/>
          </a:xfrm>
        </p:grpSpPr>
        <p:sp>
          <p:nvSpPr>
            <p:cNvPr id="6" name="Rectangle 6"/>
            <p:cNvSpPr/>
            <p:nvPr/>
          </p:nvSpPr>
          <p:spPr>
            <a:xfrm>
              <a:off x="457200" y="1028700"/>
              <a:ext cx="6438900" cy="512445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AFC7DD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666750" y="1257300"/>
              <a:ext cx="6019800" cy="24003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AFC7DD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666750" y="3829050"/>
              <a:ext cx="6019800" cy="20764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AFC7DD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4392" y="4023836"/>
              <a:ext cx="1492996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b="1" dirty="0">
                  <a:solidFill>
                    <a:srgbClr val="005A9C"/>
                  </a:solidFill>
                  <a:latin typeface="Arial"/>
                  <a:ea typeface="Microsoft YaHei"/>
                  <a:cs typeface="Arial"/>
                </a:rPr>
                <a:t>散热路径设计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59155" y="4464368"/>
              <a:ext cx="378775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A1C1F"/>
                  </a:solidFill>
                  <a:latin typeface="Arial"/>
                  <a:ea typeface="Microsoft YaHei"/>
                  <a:cs typeface="Arial"/>
                </a:rPr>
                <a:t>● MOSFET 与分流电阻采用大面积铜皮扩散热量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59155" y="4807268"/>
              <a:ext cx="342771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A1C1F"/>
                  </a:solidFill>
                  <a:latin typeface="Arial"/>
                  <a:ea typeface="Microsoft YaHei"/>
                  <a:cs typeface="Arial"/>
                </a:rPr>
                <a:t>● 上下层通过并联过孔导热，降低局部热点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59155" y="5150168"/>
              <a:ext cx="378775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A1C1F"/>
                  </a:solidFill>
                  <a:latin typeface="Arial"/>
                  <a:ea typeface="Microsoft YaHei"/>
                  <a:cs typeface="Arial"/>
                </a:rPr>
                <a:t>● 功率器件沿板边布置，便于接触外壳或结构件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59155" y="5493068"/>
              <a:ext cx="414780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A1C1F"/>
                  </a:solidFill>
                  <a:latin typeface="Arial"/>
                  <a:ea typeface="Microsoft YaHei"/>
                  <a:cs typeface="Arial"/>
                </a:rPr>
                <a:t>● 温升测试后再确定铜厚、过孔数量与外壳导热方案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7086600" y="1028700"/>
            <a:ext cx="4648200" cy="5124450"/>
            <a:chOff x="7086600" y="1028700"/>
            <a:chExt cx="4648200" cy="5124450"/>
          </a:xfrm>
        </p:grpSpPr>
        <p:sp>
          <p:nvSpPr>
            <p:cNvPr id="16" name="Rectangle 16"/>
            <p:cNvSpPr/>
            <p:nvPr/>
          </p:nvSpPr>
          <p:spPr>
            <a:xfrm>
              <a:off x="7086600" y="1028700"/>
              <a:ext cx="4648200" cy="51244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AFC7DD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7086600" y="1028700"/>
              <a:ext cx="4648200" cy="4191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337678" y="1144429"/>
              <a:ext cx="2146043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PCB Layout 设计检查</a:t>
              </a:r>
            </a:p>
          </p:txBody>
        </p:sp>
        <p:grpSp>
          <p:nvGrpSpPr>
            <p:cNvPr id="23" name="Group 23"/>
            <p:cNvGrpSpPr/>
            <p:nvPr/>
          </p:nvGrpSpPr>
          <p:grpSpPr>
            <a:xfrm>
              <a:off x="7296150" y="1668304"/>
              <a:ext cx="4337050" cy="734817"/>
              <a:chOff x="7296150" y="1668304"/>
              <a:chExt cx="4337050" cy="734817"/>
            </a:xfrm>
          </p:grpSpPr>
          <p:sp>
            <p:nvSpPr>
              <p:cNvPr id="19" name="Ellipse 19"/>
              <p:cNvSpPr/>
              <p:nvPr/>
            </p:nvSpPr>
            <p:spPr>
              <a:xfrm>
                <a:off x="7296150" y="1695450"/>
                <a:ext cx="381000" cy="381000"/>
              </a:xfrm>
              <a:prstGeom prst="ellipse">
                <a:avLst/>
              </a:prstGeom>
              <a:solidFill>
                <a:srgbClr val="00A36C"/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7402162" y="1784032"/>
                <a:ext cx="168976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✓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7828598" y="1668304"/>
                <a:ext cx="3804602" cy="7348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/>
                <a:r>
                  <a:rPr lang="zh-CN" sz="1575" b="1" dirty="0">
                    <a:solidFill>
                      <a:srgbClr val="005A9C"/>
                    </a:solidFill>
                    <a:latin typeface="Arial"/>
                    <a:ea typeface="Microsoft YaHei"/>
                    <a:cs typeface="Arial"/>
                  </a:rPr>
                  <a:t>功率路径</a:t>
                </a:r>
                <a:r>
                  <a:rPr lang="zh-CN" altLang="en-US" sz="1575" b="1" dirty="0">
                    <a:solidFill>
                      <a:srgbClr val="005A9C"/>
                    </a:solidFill>
                    <a:latin typeface="Arial"/>
                    <a:ea typeface="Microsoft YaHei"/>
                    <a:cs typeface="Arial"/>
                  </a:rPr>
                  <a:t>：</a:t>
                </a:r>
                <a:r>
                  <a:rPr lang="zh-CN" altLang="en-US" sz="1600" dirty="0"/>
                  <a:t>母线电容</a:t>
                </a:r>
                <a:r>
                  <a:rPr lang="en-US" altLang="zh-CN" sz="1600" dirty="0"/>
                  <a:t>—</a:t>
                </a:r>
                <a:r>
                  <a:rPr lang="zh-CN" altLang="en-US" sz="1600" dirty="0"/>
                  <a:t>半桥</a:t>
                </a:r>
                <a:r>
                  <a:rPr lang="en-US" altLang="zh-CN" sz="1600" dirty="0"/>
                  <a:t>—</a:t>
                </a:r>
                <a:r>
                  <a:rPr lang="zh-CN" altLang="en-US" sz="1600" dirty="0"/>
                  <a:t>分流电阻路径短而宽，无明显颈缩</a:t>
                </a:r>
                <a:endParaRPr lang="en-US" altLang="zh-CN" sz="1575" b="1" dirty="0">
                  <a:solidFill>
                    <a:srgbClr val="005A9C"/>
                  </a:solidFill>
                  <a:latin typeface="Arial"/>
                  <a:ea typeface="Microsoft YaHei"/>
                  <a:cs typeface="Arial"/>
                </a:endParaRPr>
              </a:p>
              <a:p>
                <a:pPr algn="l"/>
                <a:endParaRPr lang="zh-CN" sz="1575" b="1" dirty="0">
                  <a:solidFill>
                    <a:srgbClr val="005A9C"/>
                  </a:solidFill>
                  <a:latin typeface="Arial"/>
                  <a:ea typeface="Microsoft YaHei"/>
                  <a:cs typeface="Arial"/>
                </a:endParaRP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7833360" y="1965960"/>
                <a:ext cx="65" cy="1846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endParaRPr lang="zh-CN" sz="1200" dirty="0">
                  <a:solidFill>
                    <a:srgbClr val="5B6573"/>
                  </a:solidFill>
                  <a:latin typeface="Arial"/>
                  <a:ea typeface="Microsoft YaHei"/>
                  <a:cs typeface="Arial"/>
                </a:endParaRPr>
              </a:p>
            </p:txBody>
          </p:sp>
        </p:grpSp>
        <p:sp>
          <p:nvSpPr>
            <p:cNvPr id="24" name="Line 24"/>
            <p:cNvSpPr/>
            <p:nvPr/>
          </p:nvSpPr>
          <p:spPr>
            <a:xfrm>
              <a:off x="7372350" y="2324100"/>
              <a:ext cx="4095750" cy="9525"/>
            </a:xfrm>
            <a:custGeom>
              <a:avLst/>
              <a:gdLst/>
              <a:ahLst/>
              <a:cxnLst/>
              <a:rect l="l" t="t" r="r" b="b"/>
              <a:pathLst>
                <a:path w="4095750" h="9525">
                  <a:moveTo>
                    <a:pt x="0" y="0"/>
                  </a:moveTo>
                  <a:lnTo>
                    <a:pt x="4095750" y="0"/>
                  </a:lnTo>
                </a:path>
              </a:pathLst>
            </a:custGeom>
            <a:noFill/>
            <a:ln w="9525">
              <a:solidFill>
                <a:srgbClr val="AFC7DD"/>
              </a:solidFill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7296150" y="2506504"/>
              <a:ext cx="4171887" cy="492443"/>
              <a:chOff x="7296150" y="2506504"/>
              <a:chExt cx="4171887" cy="492443"/>
            </a:xfrm>
          </p:grpSpPr>
          <p:sp>
            <p:nvSpPr>
              <p:cNvPr id="25" name="Ellipse 25"/>
              <p:cNvSpPr/>
              <p:nvPr/>
            </p:nvSpPr>
            <p:spPr>
              <a:xfrm>
                <a:off x="7296150" y="2533650"/>
                <a:ext cx="381000" cy="381000"/>
              </a:xfrm>
              <a:prstGeom prst="ellipse">
                <a:avLst/>
              </a:prstGeom>
              <a:solidFill>
                <a:srgbClr val="00A36C"/>
              </a:solidFill>
              <a:ln>
                <a:noFill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7402162" y="2622232"/>
                <a:ext cx="168976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✓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7828599" y="2506504"/>
                <a:ext cx="3639438" cy="4924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/>
                <a:r>
                  <a:rPr lang="zh-CN" sz="1575" b="1" dirty="0">
                    <a:solidFill>
                      <a:srgbClr val="005A9C"/>
                    </a:solidFill>
                    <a:latin typeface="Arial"/>
                    <a:ea typeface="Microsoft YaHei"/>
                    <a:cs typeface="Arial"/>
                  </a:rPr>
                  <a:t>回流路径</a:t>
                </a:r>
                <a:r>
                  <a:rPr lang="zh-CN" altLang="en-US" sz="1575" b="1" dirty="0">
                    <a:solidFill>
                      <a:srgbClr val="005A9C"/>
                    </a:solidFill>
                    <a:latin typeface="Arial"/>
                    <a:ea typeface="Microsoft YaHei"/>
                    <a:cs typeface="Arial"/>
                  </a:rPr>
                  <a:t>：</a:t>
                </a:r>
                <a:r>
                  <a:rPr lang="en-US" altLang="zh-CN" sz="1600" dirty="0"/>
                  <a:t>Gate</a:t>
                </a:r>
                <a:r>
                  <a:rPr lang="zh-CN" altLang="en-US" sz="1600" dirty="0"/>
                  <a:t>与</a:t>
                </a:r>
                <a:r>
                  <a:rPr lang="en-US" altLang="zh-CN" sz="1600" dirty="0"/>
                  <a:t>Source</a:t>
                </a:r>
                <a:r>
                  <a:rPr lang="zh-CN" altLang="en-US" sz="1600" dirty="0"/>
                  <a:t>成对布线，</a:t>
                </a:r>
                <a:r>
                  <a:rPr lang="en-US" altLang="zh-CN" sz="1600" dirty="0"/>
                  <a:t>Bootstrap</a:t>
                </a:r>
                <a:r>
                  <a:rPr lang="zh-CN" altLang="en-US" sz="1600" dirty="0"/>
                  <a:t>和</a:t>
                </a:r>
                <a:r>
                  <a:rPr lang="en-US" altLang="zh-CN" sz="1600" dirty="0"/>
                  <a:t>VDD</a:t>
                </a:r>
                <a:r>
                  <a:rPr lang="zh-CN" altLang="en-US" sz="1600" dirty="0"/>
                  <a:t>电容紧靠驱动器</a:t>
                </a:r>
                <a:endParaRPr lang="zh-CN" sz="1575" b="1" dirty="0">
                  <a:solidFill>
                    <a:srgbClr val="005A9C"/>
                  </a:solidFill>
                  <a:latin typeface="Arial"/>
                  <a:ea typeface="Microsoft YaHei"/>
                  <a:cs typeface="Arial"/>
                </a:endParaRP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7833360" y="2804160"/>
                <a:ext cx="65" cy="1846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endParaRPr lang="zh-CN" sz="1200" dirty="0">
                  <a:solidFill>
                    <a:srgbClr val="5B6573"/>
                  </a:solidFill>
                  <a:latin typeface="Arial"/>
                  <a:ea typeface="Microsoft YaHei"/>
                  <a:cs typeface="Arial"/>
                </a:endParaRPr>
              </a:p>
            </p:txBody>
          </p:sp>
        </p:grpSp>
        <p:sp>
          <p:nvSpPr>
            <p:cNvPr id="30" name="Line 30"/>
            <p:cNvSpPr/>
            <p:nvPr/>
          </p:nvSpPr>
          <p:spPr>
            <a:xfrm>
              <a:off x="7372350" y="3162300"/>
              <a:ext cx="4095750" cy="9525"/>
            </a:xfrm>
            <a:custGeom>
              <a:avLst/>
              <a:gdLst/>
              <a:ahLst/>
              <a:cxnLst/>
              <a:rect l="l" t="t" r="r" b="b"/>
              <a:pathLst>
                <a:path w="4095750" h="9525">
                  <a:moveTo>
                    <a:pt x="0" y="0"/>
                  </a:moveTo>
                  <a:lnTo>
                    <a:pt x="4095750" y="0"/>
                  </a:lnTo>
                </a:path>
              </a:pathLst>
            </a:custGeom>
            <a:noFill/>
            <a:ln w="9525">
              <a:solidFill>
                <a:srgbClr val="AFC7DD"/>
              </a:solidFill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7296150" y="3344704"/>
              <a:ext cx="4337050" cy="492443"/>
              <a:chOff x="7296150" y="3344704"/>
              <a:chExt cx="4337050" cy="492443"/>
            </a:xfrm>
          </p:grpSpPr>
          <p:sp>
            <p:nvSpPr>
              <p:cNvPr id="31" name="Ellipse 31"/>
              <p:cNvSpPr/>
              <p:nvPr/>
            </p:nvSpPr>
            <p:spPr>
              <a:xfrm>
                <a:off x="7296150" y="3371850"/>
                <a:ext cx="381000" cy="381000"/>
              </a:xfrm>
              <a:prstGeom prst="ellipse">
                <a:avLst/>
              </a:prstGeom>
              <a:solidFill>
                <a:srgbClr val="00A36C"/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7402162" y="3460432"/>
                <a:ext cx="168976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✓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828598" y="3344704"/>
                <a:ext cx="3804602" cy="4924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/>
                <a:r>
                  <a:rPr lang="zh-CN" altLang="en-US" sz="1575" b="1" dirty="0">
                    <a:solidFill>
                      <a:srgbClr val="005A9C"/>
                    </a:solidFill>
                    <a:latin typeface="Arial"/>
                    <a:ea typeface="Microsoft YaHei"/>
                    <a:cs typeface="Arial"/>
                  </a:rPr>
                  <a:t>电流采样：</a:t>
                </a:r>
                <a:r>
                  <a:rPr lang="zh-CN" altLang="en-US" sz="1600" dirty="0"/>
                  <a:t>分流电阻采用</a:t>
                </a:r>
                <a:r>
                  <a:rPr lang="en-US" altLang="zh-CN" sz="1600" dirty="0"/>
                  <a:t>Kelvin</a:t>
                </a:r>
                <a:r>
                  <a:rPr lang="zh-CN" altLang="en-US" sz="1600" dirty="0"/>
                  <a:t>引线，采样线避开</a:t>
                </a:r>
                <a:r>
                  <a:rPr lang="en-US" altLang="zh-CN" sz="1600" dirty="0" err="1"/>
                  <a:t>SHx</a:t>
                </a:r>
                <a:r>
                  <a:rPr lang="zh-CN" altLang="en-US" sz="1600" dirty="0"/>
                  <a:t>开关节点</a:t>
                </a:r>
                <a:endParaRPr lang="zh-CN" sz="1575" b="1" dirty="0">
                  <a:solidFill>
                    <a:srgbClr val="005A9C"/>
                  </a:solidFill>
                  <a:latin typeface="Arial"/>
                  <a:ea typeface="Microsoft YaHei"/>
                  <a:cs typeface="Arial"/>
                </a:endParaRPr>
              </a:p>
            </p:txBody>
          </p:sp>
        </p:grpSp>
        <p:sp>
          <p:nvSpPr>
            <p:cNvPr id="36" name="Line 36"/>
            <p:cNvSpPr/>
            <p:nvPr/>
          </p:nvSpPr>
          <p:spPr>
            <a:xfrm>
              <a:off x="7372350" y="4000500"/>
              <a:ext cx="4095750" cy="9525"/>
            </a:xfrm>
            <a:custGeom>
              <a:avLst/>
              <a:gdLst/>
              <a:ahLst/>
              <a:cxnLst/>
              <a:rect l="l" t="t" r="r" b="b"/>
              <a:pathLst>
                <a:path w="4095750" h="9525">
                  <a:moveTo>
                    <a:pt x="0" y="0"/>
                  </a:moveTo>
                  <a:lnTo>
                    <a:pt x="4095750" y="0"/>
                  </a:lnTo>
                </a:path>
              </a:pathLst>
            </a:custGeom>
            <a:noFill/>
            <a:ln w="9525">
              <a:solidFill>
                <a:srgbClr val="AFC7DD"/>
              </a:solidFill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7296150" y="4182904"/>
              <a:ext cx="4337051" cy="492443"/>
              <a:chOff x="7296150" y="4182904"/>
              <a:chExt cx="4337051" cy="492443"/>
            </a:xfrm>
          </p:grpSpPr>
          <p:sp>
            <p:nvSpPr>
              <p:cNvPr id="37" name="Ellipse 37"/>
              <p:cNvSpPr/>
              <p:nvPr/>
            </p:nvSpPr>
            <p:spPr>
              <a:xfrm>
                <a:off x="7296150" y="4210050"/>
                <a:ext cx="381000" cy="381000"/>
              </a:xfrm>
              <a:prstGeom prst="ellipse">
                <a:avLst/>
              </a:prstGeom>
              <a:solidFill>
                <a:srgbClr val="00A36C"/>
              </a:solidFill>
              <a:ln>
                <a:noFill/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7402162" y="4298632"/>
                <a:ext cx="168976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✓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7828599" y="4182904"/>
                <a:ext cx="3804602" cy="4924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/>
                <a:r>
                  <a:rPr lang="zh-CN" sz="1575" b="1" dirty="0">
                    <a:solidFill>
                      <a:srgbClr val="005A9C"/>
                    </a:solidFill>
                    <a:latin typeface="Arial"/>
                    <a:ea typeface="Microsoft YaHei"/>
                    <a:cs typeface="Arial"/>
                  </a:rPr>
                  <a:t>敏感信号</a:t>
                </a:r>
                <a:r>
                  <a:rPr lang="zh-CN" altLang="en-US" sz="1575" b="1" dirty="0">
                    <a:solidFill>
                      <a:srgbClr val="005A9C"/>
                    </a:solidFill>
                    <a:latin typeface="Arial"/>
                    <a:ea typeface="Microsoft YaHei"/>
                    <a:cs typeface="Arial"/>
                  </a:rPr>
                  <a:t>：</a:t>
                </a:r>
                <a:r>
                  <a:rPr lang="zh-CN" altLang="en-US" sz="1600" dirty="0"/>
                  <a:t>编码器、</a:t>
                </a:r>
                <a:r>
                  <a:rPr lang="en-US" altLang="zh-CN" sz="1600" dirty="0"/>
                  <a:t>SPI</a:t>
                </a:r>
                <a:r>
                  <a:rPr lang="zh-CN" altLang="en-US" sz="1600" dirty="0"/>
                  <a:t>和电流采样具有连续地参考，换层处设置回流地过孔</a:t>
                </a:r>
                <a:endParaRPr lang="zh-CN" sz="1575" b="1" dirty="0">
                  <a:solidFill>
                    <a:srgbClr val="005A9C"/>
                  </a:solidFill>
                  <a:latin typeface="Arial"/>
                  <a:ea typeface="Microsoft YaHei"/>
                  <a:cs typeface="Arial"/>
                </a:endParaRPr>
              </a:p>
            </p:txBody>
          </p:sp>
        </p:grpSp>
        <p:sp>
          <p:nvSpPr>
            <p:cNvPr id="42" name="Line 42"/>
            <p:cNvSpPr/>
            <p:nvPr/>
          </p:nvSpPr>
          <p:spPr>
            <a:xfrm>
              <a:off x="7372350" y="4838700"/>
              <a:ext cx="4095750" cy="9525"/>
            </a:xfrm>
            <a:custGeom>
              <a:avLst/>
              <a:gdLst/>
              <a:ahLst/>
              <a:cxnLst/>
              <a:rect l="l" t="t" r="r" b="b"/>
              <a:pathLst>
                <a:path w="4095750" h="9525">
                  <a:moveTo>
                    <a:pt x="0" y="0"/>
                  </a:moveTo>
                  <a:lnTo>
                    <a:pt x="4095750" y="0"/>
                  </a:lnTo>
                </a:path>
              </a:pathLst>
            </a:custGeom>
            <a:noFill/>
            <a:ln w="9525">
              <a:solidFill>
                <a:srgbClr val="AFC7DD"/>
              </a:solidFill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7296150" y="5021104"/>
              <a:ext cx="4229100" cy="492443"/>
              <a:chOff x="7296150" y="5021104"/>
              <a:chExt cx="4229100" cy="492443"/>
            </a:xfrm>
          </p:grpSpPr>
          <p:sp>
            <p:nvSpPr>
              <p:cNvPr id="43" name="Ellipse 43"/>
              <p:cNvSpPr/>
              <p:nvPr/>
            </p:nvSpPr>
            <p:spPr>
              <a:xfrm>
                <a:off x="7296150" y="5048250"/>
                <a:ext cx="381000" cy="381000"/>
              </a:xfrm>
              <a:prstGeom prst="ellipse">
                <a:avLst/>
              </a:prstGeom>
              <a:solidFill>
                <a:srgbClr val="00A36C"/>
              </a:solidFill>
              <a:ln>
                <a:noFill/>
              </a:ln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7402162" y="5136832"/>
                <a:ext cx="168976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✓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7828598" y="5021104"/>
                <a:ext cx="3696652" cy="4924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/>
                <a:r>
                  <a:rPr lang="zh-CN" sz="1575" b="1" dirty="0">
                    <a:solidFill>
                      <a:srgbClr val="005A9C"/>
                    </a:solidFill>
                    <a:latin typeface="Arial"/>
                    <a:ea typeface="Microsoft YaHei"/>
                    <a:cs typeface="Arial"/>
                  </a:rPr>
                  <a:t>隔离</a:t>
                </a:r>
                <a:r>
                  <a:rPr lang="zh-CN" altLang="en-US" sz="1575" b="1" dirty="0">
                    <a:solidFill>
                      <a:srgbClr val="005A9C"/>
                    </a:solidFill>
                    <a:latin typeface="Arial"/>
                    <a:ea typeface="Microsoft YaHei"/>
                    <a:cs typeface="Arial"/>
                  </a:rPr>
                  <a:t>：</a:t>
                </a:r>
                <a:r>
                  <a:rPr lang="en-US" altLang="zh-CN" sz="1600" dirty="0"/>
                  <a:t>CAN</a:t>
                </a:r>
                <a:r>
                  <a:rPr lang="zh-CN" altLang="en-US" sz="1600" dirty="0"/>
                  <a:t>隔离两侧保持净空，无走线、过孔和铺铜跨越隔离区域</a:t>
                </a:r>
                <a:endParaRPr lang="zh-CN" sz="1575" b="1" dirty="0">
                  <a:solidFill>
                    <a:srgbClr val="005A9C"/>
                  </a:solidFill>
                  <a:latin typeface="Arial"/>
                  <a:ea typeface="Microsoft YaHei"/>
                  <a:cs typeface="Arial"/>
                </a:endParaRPr>
              </a:p>
            </p:txBody>
          </p:sp>
        </p:grpSp>
        <p:sp>
          <p:nvSpPr>
            <p:cNvPr id="48" name="Rectangle 48"/>
            <p:cNvSpPr/>
            <p:nvPr/>
          </p:nvSpPr>
          <p:spPr>
            <a:xfrm>
              <a:off x="7372350" y="5695950"/>
              <a:ext cx="4095750" cy="266700"/>
            </a:xfrm>
            <a:prstGeom prst="rect">
              <a:avLst/>
            </a:prstGeom>
            <a:solidFill>
              <a:srgbClr val="EDF8F4"/>
            </a:solidFill>
            <a:ln>
              <a:noFill/>
            </a:ln>
          </p:spPr>
        </p:sp>
      </p:grpSp>
      <p:pic>
        <p:nvPicPr>
          <p:cNvPr id="8" name="图片 7">
            <a:extLst>
              <a:ext uri="{FF2B5EF4-FFF2-40B4-BE49-F238E27FC236}">
                <a16:creationId xmlns:a16="http://schemas.microsoft.com/office/drawing/2014/main" id="{48FAA7B1-B175-C246-DD7F-B2FF8291AE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5115" y="1313293"/>
            <a:ext cx="2545441" cy="2294392"/>
          </a:xfrm>
          <a:prstGeom prst="rect">
            <a:avLst/>
          </a:prstGeom>
        </p:spPr>
      </p:pic>
      <p:pic>
        <p:nvPicPr>
          <p:cNvPr id="51" name="图片 50">
            <a:extLst>
              <a:ext uri="{FF2B5EF4-FFF2-40B4-BE49-F238E27FC236}">
                <a16:creationId xmlns:a16="http://schemas.microsoft.com/office/drawing/2014/main" id="{62D8DC02-00D6-5C7F-CC08-DBC59D738F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3354" y="1313291"/>
            <a:ext cx="2561761" cy="229439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50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4A9E8A-0EF5-D768-DD2B-F76D2351D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6FA540B9-297A-4065-A713-525CA558460F}"/>
              </a:ext>
            </a:extLst>
          </p:cNvPr>
          <p:cNvSpPr>
            <a:spLocks noGrp="1"/>
          </p:cNvSpPr>
          <p:nvPr/>
        </p:nvSpPr>
        <p:spPr>
          <a:xfrm>
            <a:off x="2298809" y="3332769"/>
            <a:ext cx="156966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zh-CN" altLang="en-US" dirty="0"/>
              <a:t>同样这个场景</a:t>
            </a:r>
            <a:endParaRPr 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811EBA2-CAA4-6A4F-128C-031A47C4EB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2908" y="2316967"/>
            <a:ext cx="4074390" cy="3055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7676766"/>
      </p:ext>
    </p:extLst>
  </p:cSld>
  <p:clrMapOvr>
    <a:masterClrMapping/>
  </p:clrMapOvr>
</p:sld>
</file>

<file path=ppt/theme/theme1.xml><?xml version="1.0" encoding="utf-8"?>
<a:theme xmlns:a="http://schemas.openxmlformats.org/drawingml/2006/main" name="腾讯文档 默认主题​">
  <a:themeElements>
    <a:clrScheme name="Tencent">
      <a:dk1>
        <a:srgbClr val="000000"/>
      </a:dk1>
      <a:lt1>
        <a:srgbClr val="FFFFFF"/>
      </a:lt1>
      <a:dk2>
        <a:srgbClr val="485368"/>
      </a:dk2>
      <a:lt2>
        <a:srgbClr val="2972F4"/>
      </a:lt2>
      <a:accent1>
        <a:srgbClr val="00A3F5"/>
      </a:accent1>
      <a:accent2>
        <a:srgbClr val="319B62"/>
      </a:accent2>
      <a:accent3>
        <a:srgbClr val="DE3C36"/>
      </a:accent3>
      <a:accent4>
        <a:srgbClr val="F88825"/>
      </a:accent4>
      <a:accent5>
        <a:srgbClr val="F5C400"/>
      </a:accent5>
      <a:accent6>
        <a:srgbClr val="9A38D7"/>
      </a:accent6>
      <a:hlink>
        <a:srgbClr val="175CEB"/>
      </a:hlink>
      <a:folHlink>
        <a:srgbClr val="81868F"/>
      </a:folHlink>
    </a:clrScheme>
    <a:fontScheme name="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Tencen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腾讯文档 默认主题​">
  <a:themeElements>
    <a:clrScheme name="Tencent">
      <a:dk1>
        <a:srgbClr val="000000"/>
      </a:dk1>
      <a:lt1>
        <a:srgbClr val="FFFFFF"/>
      </a:lt1>
      <a:dk2>
        <a:srgbClr val="485368"/>
      </a:dk2>
      <a:lt2>
        <a:srgbClr val="2972F4"/>
      </a:lt2>
      <a:accent1>
        <a:srgbClr val="00A3F5"/>
      </a:accent1>
      <a:accent2>
        <a:srgbClr val="319B62"/>
      </a:accent2>
      <a:accent3>
        <a:srgbClr val="DE3C36"/>
      </a:accent3>
      <a:accent4>
        <a:srgbClr val="F88825"/>
      </a:accent4>
      <a:accent5>
        <a:srgbClr val="F5C400"/>
      </a:accent5>
      <a:accent6>
        <a:srgbClr val="9A38D7"/>
      </a:accent6>
      <a:hlink>
        <a:srgbClr val="175CEB"/>
      </a:hlink>
      <a:folHlink>
        <a:srgbClr val="81868F"/>
      </a:folHlink>
    </a:clrScheme>
    <a:fontScheme name="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Tencen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3247</TotalTime>
  <Words>5254</Words>
  <Application>Microsoft Office PowerPoint</Application>
  <DocSecurity>0</DocSecurity>
  <PresentationFormat>宽屏</PresentationFormat>
  <Paragraphs>502</Paragraphs>
  <Slides>22</Slides>
  <Notes>22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1" baseType="lpstr">
      <vt:lpstr>-apple-system</vt:lpstr>
      <vt:lpstr>等线</vt:lpstr>
      <vt:lpstr>微软雅黑</vt:lpstr>
      <vt:lpstr>微软雅黑</vt:lpstr>
      <vt:lpstr>Arial</vt:lpstr>
      <vt:lpstr>Cambria Math</vt:lpstr>
      <vt:lpstr>Times New Roman</vt:lpstr>
      <vt:lpstr>Wingdings</vt:lpstr>
      <vt:lpstr>腾讯文档 默认主题​</vt:lpstr>
      <vt:lpstr>第二章：硬件设计计算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Rise Sun</cp:lastModifiedBy>
  <cp:revision>762</cp:revision>
  <dcterms:created xsi:type="dcterms:W3CDTF">2026-06-07T05:21:37Z</dcterms:created>
  <dcterms:modified xsi:type="dcterms:W3CDTF">2026-09-11T06:55:17Z</dcterms:modified>
</cp:coreProperties>
</file>