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147473274" r:id="rId4"/>
    <p:sldId id="2147473273" r:id="rId5"/>
    <p:sldId id="270" r:id="rId6"/>
    <p:sldId id="359" r:id="rId7"/>
    <p:sldId id="2147473277" r:id="rId8"/>
    <p:sldId id="360" r:id="rId9"/>
    <p:sldId id="2147473278" r:id="rId10"/>
    <p:sldId id="271" r:id="rId11"/>
    <p:sldId id="2147473275" r:id="rId12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C17FB6-8DBC-C8E7-EA6A-CEBDE8B2FED1}" name="Leofwine (Huiwen) Yang" initials="LY" userId="S::Leofwine.Yang@monolithicpower.com::0932449c-f7f0-431c-862c-019f5987d925" providerId="AD"/>
  <p188:author id="{DBF8D1DB-DC70-CD51-A32D-A25DA2D31ED3}" name="Jessie (Yijun) Guo" initials="JG" userId="S::Jessie.Guo@monolithicpower.com::182e48c2-b88f-4d5b-8f7a-720db19654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60" autoAdjust="0"/>
    <p:restoredTop sz="76226" autoAdjust="0"/>
  </p:normalViewPr>
  <p:slideViewPr>
    <p:cSldViewPr snapToGrid="0">
      <p:cViewPr varScale="1">
        <p:scale>
          <a:sx n="72" d="100"/>
          <a:sy n="72" d="100"/>
        </p:scale>
        <p:origin x="66" y="120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宣传策略：</a:t>
            </a:r>
            <a:r>
              <a:rPr lang="en-US" altLang="zh-CN" b="1" dirty="0"/>
              <a:t>KOL</a:t>
            </a:r>
            <a:r>
              <a:rPr lang="zh-CN" altLang="en-US" b="1" dirty="0"/>
              <a:t>配合转发；生态群宣发</a:t>
            </a:r>
            <a:endParaRPr lang="en-US" altLang="zh-CN" b="1" dirty="0"/>
          </a:p>
          <a:p>
            <a:r>
              <a:rPr lang="zh-CN" altLang="en-US" b="1" dirty="0"/>
              <a:t>转发微信文章版本集结所有</a:t>
            </a:r>
            <a:r>
              <a:rPr lang="en-US" altLang="zh-CN" b="1" dirty="0"/>
              <a:t>link</a:t>
            </a:r>
            <a:r>
              <a:rPr lang="zh-CN" altLang="en-US" b="1" dirty="0"/>
              <a:t>合辑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8666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7CBA-572D-1E83-596C-E70532EE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BA27594-16DC-170F-69B7-782806E6B5E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快闪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22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B55C-062B-386B-7F21-7DB34BA8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FAA72602-102B-A54B-3259-CAC57AB97C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大家好！这，是一个关节电机。一个关节电机最重要的是什么？简单来说，就是在带负载的情况下依然要稳，低速不能抖，响应要足够快，位置也要控得住。比如现在这个小力臂，我让电机工作在位置环闭环控制下，它不仅要把负载稳定带起来，还要在受到外力扰动时，尽量保持在目标位置附近。看起来只是一个电机在转，但背后其实涉及电源、驱动、采样、编码器反馈，以及最核心的 </a:t>
            </a:r>
            <a:r>
              <a:rPr lang="en-US" altLang="zh-CN" sz="2400" dirty="0"/>
              <a:t>FOC </a:t>
            </a:r>
            <a:r>
              <a:rPr lang="zh-CN" altLang="en-US" sz="2400" dirty="0"/>
              <a:t>控制算法。这也说明，从零开始做一套关节电机 </a:t>
            </a:r>
            <a:r>
              <a:rPr lang="en-US" altLang="zh-CN" sz="2400" dirty="0"/>
              <a:t>FOC </a:t>
            </a:r>
            <a:r>
              <a:rPr lang="zh-CN" altLang="en-US" sz="2400" dirty="0"/>
              <a:t>系统，仍然有一定的工程门槛。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437017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AD1E-DAE8-328A-B779-26C50EED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CFF1FB-92ED-31A1-A0ED-D30FB4C33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9197C3-066F-DB8D-754A-03425492D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刚好借着 </a:t>
            </a:r>
            <a:r>
              <a:rPr lang="en-US" altLang="zh-CN" dirty="0"/>
              <a:t>MPS </a:t>
            </a:r>
            <a:r>
              <a:rPr lang="zh-CN" altLang="en-US" dirty="0"/>
              <a:t>前段时间推出的 </a:t>
            </a:r>
            <a:r>
              <a:rPr lang="en-US" altLang="zh-CN" dirty="0"/>
              <a:t>2025 </a:t>
            </a:r>
            <a:r>
              <a:rPr lang="zh-CN" altLang="en-US" dirty="0"/>
              <a:t>机器人关节电机挑战赛，我基于其官方方案，完成了一套完整的关节电机 </a:t>
            </a:r>
            <a:r>
              <a:rPr lang="en-US" altLang="zh-CN" dirty="0"/>
              <a:t>FOC </a:t>
            </a:r>
            <a:r>
              <a:rPr lang="zh-CN" altLang="en-US" dirty="0"/>
              <a:t>控制系统，并最终获得了比赛一等奖。在 </a:t>
            </a:r>
            <a:r>
              <a:rPr lang="en-US" altLang="zh-CN" dirty="0"/>
              <a:t>MPS </a:t>
            </a:r>
            <a:r>
              <a:rPr lang="zh-CN" altLang="en-US" dirty="0"/>
              <a:t>的支持下，这个项目目前已经在开源广场、</a:t>
            </a:r>
            <a:r>
              <a:rPr lang="en-US" altLang="zh-CN" dirty="0"/>
              <a:t>GitHub </a:t>
            </a:r>
            <a:r>
              <a:rPr lang="zh-CN" altLang="en-US" dirty="0"/>
              <a:t>等平台持续开源，开放内容包括硬件设计、软件代码、调试流程和测试结果，也逐步搭建起了一个相对完整的开源生态。</a:t>
            </a:r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AECC2-D07E-1BF7-BCDB-8333A578C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6558B-D363-4614-BF9C-2488D1FD59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79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5E54-F4D7-1618-07C0-D568E8F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EC579B1E-62F7-9841-F530-E70AD263AD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dirty="0"/>
              <a:t>如果你对 </a:t>
            </a:r>
            <a:r>
              <a:rPr lang="en-US" altLang="zh-CN" sz="2400" dirty="0"/>
              <a:t>MPS </a:t>
            </a:r>
            <a:r>
              <a:rPr lang="zh-CN" altLang="en-US" sz="2400" dirty="0"/>
              <a:t>这套高集成度、高功率密度的关节电机方案感兴趣，或者你也想从零开始学习 </a:t>
            </a:r>
            <a:r>
              <a:rPr lang="en-US" altLang="zh-CN" sz="2400" dirty="0"/>
              <a:t>FOC </a:t>
            </a:r>
            <a:r>
              <a:rPr lang="zh-CN" altLang="en-US" sz="2400" dirty="0"/>
              <a:t>与关节电机控制，并亲手做出一款属于自己的 </a:t>
            </a:r>
            <a:r>
              <a:rPr lang="en-US" altLang="zh-CN" sz="2400" dirty="0"/>
              <a:t>FOC </a:t>
            </a:r>
            <a:r>
              <a:rPr lang="zh-CN" altLang="en-US" sz="2400" dirty="0"/>
              <a:t>控制器，那么可以持续关注这个系列。后续我会围绕硬件设计、软件控制和实际测试，把这个项目的实现过程完整拆开讲。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2344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该系统的整体架构主要分为供电、驱动控制和闭环反馈三大模块。辅助电源部分由 </a:t>
            </a:r>
            <a:r>
              <a:rPr lang="en-US" altLang="zh-CN" dirty="0"/>
              <a:t>MP4583</a:t>
            </a:r>
            <a:r>
              <a:rPr lang="zh-CN" altLang="en-US" dirty="0"/>
              <a:t>、</a:t>
            </a:r>
            <a:r>
              <a:rPr lang="en-US" altLang="zh-CN" dirty="0"/>
              <a:t>MPM3632S</a:t>
            </a:r>
            <a:r>
              <a:rPr lang="zh-CN" altLang="en-US" dirty="0"/>
              <a:t>、</a:t>
            </a:r>
            <a:r>
              <a:rPr lang="en-US" altLang="zh-CN" dirty="0"/>
              <a:t>MIE1W0505 </a:t>
            </a:r>
            <a:r>
              <a:rPr lang="zh-CN" altLang="en-US" dirty="0"/>
              <a:t>等降压芯片与隔离电源组合，将 </a:t>
            </a:r>
            <a:r>
              <a:rPr lang="en-US" altLang="zh-CN" dirty="0"/>
              <a:t>48V </a:t>
            </a:r>
            <a:r>
              <a:rPr lang="zh-CN" altLang="en-US" dirty="0"/>
              <a:t>主电源逐级转换为 </a:t>
            </a:r>
            <a:r>
              <a:rPr lang="en-US" altLang="zh-CN" dirty="0"/>
              <a:t>12V</a:t>
            </a:r>
            <a:r>
              <a:rPr lang="zh-CN" altLang="en-US" dirty="0"/>
              <a:t>、</a:t>
            </a:r>
            <a:r>
              <a:rPr lang="en-US" altLang="zh-CN" dirty="0"/>
              <a:t>5V </a:t>
            </a:r>
            <a:r>
              <a:rPr lang="zh-CN" altLang="en-US" dirty="0"/>
              <a:t>和 </a:t>
            </a:r>
            <a:r>
              <a:rPr lang="en-US" altLang="zh-CN" dirty="0"/>
              <a:t>3.3V</a:t>
            </a:r>
            <a:r>
              <a:rPr lang="zh-CN" altLang="en-US" dirty="0"/>
              <a:t>，分别为主控 </a:t>
            </a:r>
            <a:r>
              <a:rPr lang="en-US" altLang="zh-CN" dirty="0"/>
              <a:t>MCU</a:t>
            </a:r>
            <a:r>
              <a:rPr lang="zh-CN" altLang="en-US" dirty="0"/>
              <a:t>、预驱动芯片以及通信接口提供稳定供电。核心驱动部分以 </a:t>
            </a:r>
            <a:r>
              <a:rPr lang="en-US" altLang="zh-CN" dirty="0"/>
              <a:t>MP6539B </a:t>
            </a:r>
            <a:r>
              <a:rPr lang="zh-CN" altLang="en-US" dirty="0"/>
              <a:t>三相预驱动芯片为主，控制后级功率 </a:t>
            </a:r>
            <a:r>
              <a:rPr lang="en-US" altLang="zh-CN" dirty="0"/>
              <a:t>MOSFET</a:t>
            </a:r>
            <a:r>
              <a:rPr lang="zh-CN" altLang="en-US" dirty="0"/>
              <a:t>，直接驱动电机运行。闭环反馈部分则通过电流传感器和 </a:t>
            </a:r>
            <a:r>
              <a:rPr lang="en-US" altLang="zh-CN" dirty="0"/>
              <a:t>MA600A </a:t>
            </a:r>
            <a:r>
              <a:rPr lang="zh-CN" altLang="en-US" dirty="0"/>
              <a:t>磁编码器，实时采集电机相电流与转子位置信息，并反馈给主控，从而完成完整的 </a:t>
            </a:r>
            <a:r>
              <a:rPr lang="en-US" altLang="zh-CN" dirty="0"/>
              <a:t>FOC </a:t>
            </a:r>
            <a:r>
              <a:rPr lang="zh-CN" altLang="en-US" dirty="0"/>
              <a:t>闭环控制。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8578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D97F-98CD-1AE1-3FDA-0D589978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0E6CF095-E8B3-8D26-1B04-7A586AD25B0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目前，这套基于 </a:t>
            </a:r>
            <a:r>
              <a:rPr lang="en-US" altLang="zh-CN" dirty="0"/>
              <a:t>MPS </a:t>
            </a:r>
            <a:r>
              <a:rPr lang="zh-CN" altLang="en-US" dirty="0"/>
              <a:t>方案的工程已经实际跑通，并且会持续维护和迭代。现阶段已经完成了电流环、速度环、位置环三环闭环控制，并完成了一系列带载测试。例如在 </a:t>
            </a:r>
            <a:r>
              <a:rPr lang="en-US" altLang="zh-CN" dirty="0"/>
              <a:t>180W </a:t>
            </a:r>
            <a:r>
              <a:rPr lang="zh-CN" altLang="en-US" dirty="0"/>
              <a:t>持续带载 </a:t>
            </a:r>
            <a:r>
              <a:rPr lang="en-US" altLang="zh-CN" dirty="0"/>
              <a:t>10 </a:t>
            </a:r>
            <a:r>
              <a:rPr lang="zh-CN" altLang="en-US" dirty="0"/>
              <a:t>分钟的工况下，系统稳定后壳温约为 </a:t>
            </a:r>
            <a:r>
              <a:rPr lang="en-US" altLang="zh-CN" dirty="0"/>
              <a:t>80℃</a:t>
            </a:r>
            <a:r>
              <a:rPr lang="zh-CN" altLang="en-US" dirty="0"/>
              <a:t>，整体运行状态满足预期。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97586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7CED-C7C2-8AA1-FF66-A2CF6291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594698E4-1B0C-7884-7168-83BE7A1F00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涉及方案验证与性能指标的测试内容，我也已经在 </a:t>
            </a:r>
            <a:r>
              <a:rPr lang="en-US" altLang="zh-CN" dirty="0"/>
              <a:t>B </a:t>
            </a:r>
            <a:r>
              <a:rPr lang="zh-CN" altLang="en-US" dirty="0"/>
              <a:t>站上传了完整测试视频。相关测试台架，包括电机对拖平台，以及利用流体负载进行测试的涡轮扇叶等，也都已经开源。大家后续可以通过 </a:t>
            </a:r>
            <a:r>
              <a:rPr lang="en-US" altLang="zh-CN" dirty="0"/>
              <a:t>3D </a:t>
            </a:r>
            <a:r>
              <a:rPr lang="zh-CN" altLang="en-US" dirty="0"/>
              <a:t>打印自行搭建测试平台，对项目进行复刻和验证。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918360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DE6E-A73A-6BF5-3E8C-F879C93B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917F7C0C-4E27-378B-948C-12F033AC91D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为了方便大家快速复刻本工程、降低项目启动成本，得益于 </a:t>
            </a:r>
            <a:r>
              <a:rPr lang="en-US" altLang="zh-CN" sz="2400" dirty="0"/>
              <a:t>MPS </a:t>
            </a:r>
            <a:r>
              <a:rPr lang="zh-CN" altLang="en-US" sz="2400" dirty="0"/>
              <a:t>官方支持，在复刻该项目时，相关 </a:t>
            </a:r>
            <a:r>
              <a:rPr lang="en-US" altLang="zh-CN" sz="2400" dirty="0"/>
              <a:t>MPS </a:t>
            </a:r>
            <a:r>
              <a:rPr lang="zh-CN" altLang="en-US" sz="2400" dirty="0"/>
              <a:t>方案芯片可以免费申请。所有开源文件链接，以及芯片申请的官方入口，都可以通过扫描屏幕上的二维码快速进入。</a:t>
            </a: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3703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3600" dirty="0"/>
              <a:t>那么本期视频就到这里。下一期，我们将正式进入硬件篇章，详细介绍这个工程的原理图与 </a:t>
            </a:r>
            <a:r>
              <a:rPr lang="en-US" altLang="zh-CN" sz="3600" dirty="0"/>
              <a:t>PCB </a:t>
            </a:r>
            <a:r>
              <a:rPr lang="zh-CN" altLang="en-US" sz="3600" dirty="0"/>
              <a:t>设计，并逐一拆解 </a:t>
            </a:r>
            <a:r>
              <a:rPr lang="en-US" altLang="zh-CN" sz="3600" dirty="0"/>
              <a:t>MPS </a:t>
            </a:r>
            <a:r>
              <a:rPr lang="zh-CN" altLang="en-US" sz="3600" dirty="0"/>
              <a:t>高集成度方案中的核心芯片，看看它们在整个关节电机系统中分别承担了什么作用。我们下期见，拜拜！</a:t>
            </a:r>
            <a:endParaRPr lang="en-US" altLang="zh-CN" sz="24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8457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100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5/25/2026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5/25/2026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5/25/2026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5/25/2026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5/25/2026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5/25/2026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5/25/2026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5/25/2026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5/25/2026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5/25/2026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5/25/2026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8319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989" y="11782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17808" y="203284"/>
            <a:ext cx="6096000" cy="521208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224381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7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2pPr>
            <a:lvl3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68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5/25/2026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29791"/>
            <a:ext cx="9144000" cy="11984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MPS-FOC</a:t>
            </a:r>
            <a:r>
              <a:rPr lang="zh-CN" altLang="en-US" dirty="0"/>
              <a:t>拍摄脚本</a:t>
            </a:r>
            <a:endParaRPr 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609D-2C54-3ECB-38A6-789FBBFD08B2}"/>
              </a:ext>
            </a:extLst>
          </p:cNvPr>
          <p:cNvSpPr txBox="1"/>
          <p:nvPr/>
        </p:nvSpPr>
        <p:spPr>
          <a:xfrm>
            <a:off x="3048000" y="4687079"/>
            <a:ext cx="60960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实物引入 → 项目背景 → 开源与复刻价值 → 系统架构 → 当前成果 → 测试与开源资料 → 芯片申请入口 → 下期预告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DA84-D7D7-4F17-6D52-7F1D0F7D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 txBox="1"/>
          <p:nvPr/>
        </p:nvSpPr>
        <p:spPr>
          <a:xfrm>
            <a:off x="338203" y="194153"/>
            <a:ext cx="10700365" cy="2577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0-10s</a:t>
            </a:r>
          </a:p>
          <a:p>
            <a:r>
              <a:rPr lang="zh-CN" altLang="en-US" dirty="0"/>
              <a:t>开场引入，以</a:t>
            </a:r>
            <a:r>
              <a:rPr lang="en-US" altLang="zh-CN" dirty="0"/>
              <a:t>1</a:t>
            </a:r>
            <a:r>
              <a:rPr lang="zh-CN" altLang="en-US" dirty="0"/>
              <a:t>个电机带动一小段有一定重量力臂，进行位置环闭环的视频引入。这里可以放三段视频：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、位置环带力臂</a:t>
            </a:r>
            <a:r>
              <a:rPr lang="en-US" altLang="zh-CN" dirty="0"/>
              <a:t>+</a:t>
            </a:r>
            <a:r>
              <a:rPr lang="zh-CN" altLang="en-US" dirty="0"/>
              <a:t>重物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、电机带载测试片段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、人和电机带力臂扳手腕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配点比较欢快的</a:t>
            </a:r>
            <a:r>
              <a:rPr lang="en-US" altLang="zh-CN" dirty="0"/>
              <a:t>BGM</a:t>
            </a:r>
            <a:r>
              <a:rPr lang="zh-CN" altLang="en-US" dirty="0"/>
              <a:t>，</a:t>
            </a:r>
          </a:p>
        </p:txBody>
      </p:sp>
      <p:pic>
        <p:nvPicPr>
          <p:cNvPr id="4" name="Image 1" descr="D:\A_RivenHuang\Electronic_Design_Project\mps-foc-STM32G431\docs\images\test-platform-dual-motor.jpg">
            <a:extLst>
              <a:ext uri="{FF2B5EF4-FFF2-40B4-BE49-F238E27FC236}">
                <a16:creationId xmlns:a16="http://schemas.microsoft.com/office/drawing/2014/main" id="{AF479331-4AC3-5A2F-C317-37859D00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808" y="1328636"/>
            <a:ext cx="5276088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FC4E-6A92-6EB9-0846-ED715327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44F946-82E7-BCF4-5481-D70DEDD091B0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2E3554-BB19-6CD0-B74E-D992D27B6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3AC4F3-606E-FD1E-ECEB-8979B29DA351}"/>
              </a:ext>
            </a:extLst>
          </p:cNvPr>
          <p:cNvSpPr txBox="1"/>
          <p:nvPr/>
        </p:nvSpPr>
        <p:spPr>
          <a:xfrm>
            <a:off x="338203" y="1817631"/>
            <a:ext cx="2943616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A1C1F"/>
                </a:solidFill>
                <a:latin typeface="+mn-ea"/>
                <a:ea typeface="+mn-ea"/>
              </a:rPr>
              <a:t>人在这个背景，说这一段话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67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888E-D8FD-9891-5FE8-31C4702E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E4B1A7C9-FDD4-FA66-73E8-66B9781B5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679" y="1"/>
            <a:ext cx="1639790" cy="163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0BE1010C-FF25-5504-02B6-4507203D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08" y="203285"/>
            <a:ext cx="9015644" cy="521208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dirty="0"/>
              <a:t>关节电机工程</a:t>
            </a:r>
            <a:r>
              <a:rPr lang="en-US" altLang="zh-CN" dirty="0"/>
              <a:t>——</a:t>
            </a:r>
            <a:r>
              <a:rPr lang="zh-CN" altLang="en-US" dirty="0"/>
              <a:t>零门槛快速落地</a:t>
            </a:r>
            <a:endParaRPr lang="en-US" dirty="0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9367863-E0E5-ADBA-04D7-ED7079B2B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793" y="1600276"/>
            <a:ext cx="3825318" cy="20668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6F1C334-265E-1678-BBC6-2E9C0D5449E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"/>
          <a:stretch>
            <a:fillRect/>
          </a:stretch>
        </p:blipFill>
        <p:spPr bwMode="auto">
          <a:xfrm>
            <a:off x="217808" y="1624629"/>
            <a:ext cx="6616518" cy="4516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7D2F617-8D33-7162-8660-33E0F64188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0" t="15216" r="10620" b="7390"/>
          <a:stretch/>
        </p:blipFill>
        <p:spPr bwMode="auto">
          <a:xfrm>
            <a:off x="7320793" y="3837286"/>
            <a:ext cx="4309110" cy="24326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35314B-9BD1-6608-5B9C-26B37DA0E46E}"/>
              </a:ext>
            </a:extLst>
          </p:cNvPr>
          <p:cNvSpPr txBox="1"/>
          <p:nvPr/>
        </p:nvSpPr>
        <p:spPr>
          <a:xfrm>
            <a:off x="216030" y="782973"/>
            <a:ext cx="9529233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12~48V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宽压输入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|180W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持续带载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适配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80mm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电机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电流环、速度环、位置环</a:t>
            </a:r>
            <a:endParaRPr lang="zh-CN" altLang="en-US" sz="2000" dirty="0"/>
          </a:p>
        </p:txBody>
      </p:sp>
      <p:pic>
        <p:nvPicPr>
          <p:cNvPr id="5" name="图片 4" descr="散点图, QR 代码&#10;&#10;AI 生成的内容可能不正确。">
            <a:extLst>
              <a:ext uri="{FF2B5EF4-FFF2-40B4-BE49-F238E27FC236}">
                <a16:creationId xmlns:a16="http://schemas.microsoft.com/office/drawing/2014/main" id="{E807C57C-E897-1C1A-A90D-DFDEFD16B4D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 b="4593"/>
          <a:stretch/>
        </p:blipFill>
        <p:spPr bwMode="auto">
          <a:xfrm>
            <a:off x="10682206" y="110696"/>
            <a:ext cx="1575051" cy="1443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8104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3217-7C26-3467-AAC2-799DC644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0AF62E-E581-F739-DA34-B52715B9BE6E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3D15E1-A379-5A8C-16BA-771DB2742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1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FE47-8F1F-D44E-2C33-D0DE0B47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80FFFB6E-472F-7D67-DB58-D62F3821A404}"/>
              </a:ext>
            </a:extLst>
          </p:cNvPr>
          <p:cNvSpPr/>
          <p:nvPr/>
        </p:nvSpPr>
        <p:spPr>
          <a:xfrm>
            <a:off x="5865990" y="3931798"/>
            <a:ext cx="3459625" cy="217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5D12CB-006F-57AB-918C-D92DC0D837B7}"/>
              </a:ext>
            </a:extLst>
          </p:cNvPr>
          <p:cNvSpPr/>
          <p:nvPr/>
        </p:nvSpPr>
        <p:spPr>
          <a:xfrm>
            <a:off x="217808" y="3924092"/>
            <a:ext cx="5574493" cy="21936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5F71E0-5388-DA6A-588E-9FD064962E9A}"/>
              </a:ext>
            </a:extLst>
          </p:cNvPr>
          <p:cNvSpPr/>
          <p:nvPr/>
        </p:nvSpPr>
        <p:spPr>
          <a:xfrm>
            <a:off x="9437295" y="1258767"/>
            <a:ext cx="2236053" cy="48513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1B64A2-8100-78B3-ED19-E60EAE6E9C0B}"/>
              </a:ext>
            </a:extLst>
          </p:cNvPr>
          <p:cNvSpPr/>
          <p:nvPr/>
        </p:nvSpPr>
        <p:spPr>
          <a:xfrm>
            <a:off x="217807" y="1261621"/>
            <a:ext cx="9107809" cy="2555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右箭头 13">
            <a:extLst>
              <a:ext uri="{FF2B5EF4-FFF2-40B4-BE49-F238E27FC236}">
                <a16:creationId xmlns:a16="http://schemas.microsoft.com/office/drawing/2014/main" id="{AEF2B5B6-DEDA-1311-FC1B-49529985B086}"/>
              </a:ext>
            </a:extLst>
          </p:cNvPr>
          <p:cNvSpPr/>
          <p:nvPr/>
        </p:nvSpPr>
        <p:spPr>
          <a:xfrm>
            <a:off x="1458619" y="2358913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61">
            <a:extLst>
              <a:ext uri="{FF2B5EF4-FFF2-40B4-BE49-F238E27FC236}">
                <a16:creationId xmlns:a16="http://schemas.microsoft.com/office/drawing/2014/main" id="{0271783C-8FE2-91B6-858E-363BD1B4E393}"/>
              </a:ext>
            </a:extLst>
          </p:cNvPr>
          <p:cNvSpPr/>
          <p:nvPr/>
        </p:nvSpPr>
        <p:spPr>
          <a:xfrm>
            <a:off x="294832" y="2410899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 </a:t>
            </a:r>
            <a:r>
              <a:rPr lang="en-US" altLang="zh-CN" sz="1599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Vbat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100">
            <a:extLst>
              <a:ext uri="{FF2B5EF4-FFF2-40B4-BE49-F238E27FC236}">
                <a16:creationId xmlns:a16="http://schemas.microsoft.com/office/drawing/2014/main" id="{079FE0B3-ABB8-6069-D014-8DF6A1A61572}"/>
              </a:ext>
            </a:extLst>
          </p:cNvPr>
          <p:cNvSpPr/>
          <p:nvPr/>
        </p:nvSpPr>
        <p:spPr>
          <a:xfrm>
            <a:off x="3889719" y="1263015"/>
            <a:ext cx="1763983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辅助电源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MP4583">
            <a:extLst>
              <a:ext uri="{FF2B5EF4-FFF2-40B4-BE49-F238E27FC236}">
                <a16:creationId xmlns:a16="http://schemas.microsoft.com/office/drawing/2014/main" id="{83AAFA6F-0CAC-71DC-9C04-AFC8A07C9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1" r="22239"/>
          <a:stretch/>
        </p:blipFill>
        <p:spPr bwMode="auto">
          <a:xfrm>
            <a:off x="2266033" y="2067514"/>
            <a:ext cx="1421541" cy="132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2F4E98D-491A-5CF6-A6C8-1B3D0970F518}"/>
              </a:ext>
            </a:extLst>
          </p:cNvPr>
          <p:cNvSpPr txBox="1"/>
          <p:nvPr/>
        </p:nvSpPr>
        <p:spPr>
          <a:xfrm>
            <a:off x="1932815" y="3268827"/>
            <a:ext cx="208797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100V DC-DC MP4583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C00DB19-FFA2-6F8F-46BA-12827B53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408" y="1898410"/>
            <a:ext cx="1493428" cy="149342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4702FCC-B272-5F66-543F-66408D406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094" y="1802228"/>
            <a:ext cx="1725330" cy="173240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5145AD8-AA97-87E8-DEA6-509110B3E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169" y="1525372"/>
            <a:ext cx="1416331" cy="121980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2371215-6A89-DE01-7A59-5E8F25D9A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2752" y="4454959"/>
            <a:ext cx="1236297" cy="1231188"/>
          </a:xfrm>
          <a:prstGeom prst="rect">
            <a:avLst/>
          </a:prstGeom>
        </p:spPr>
      </p:pic>
      <p:sp>
        <p:nvSpPr>
          <p:cNvPr id="40" name="圆角矩形 100">
            <a:extLst>
              <a:ext uri="{FF2B5EF4-FFF2-40B4-BE49-F238E27FC236}">
                <a16:creationId xmlns:a16="http://schemas.microsoft.com/office/drawing/2014/main" id="{89369530-5347-6E2C-73CF-CE8D9DF62C12}"/>
              </a:ext>
            </a:extLst>
          </p:cNvPr>
          <p:cNvSpPr/>
          <p:nvPr/>
        </p:nvSpPr>
        <p:spPr>
          <a:xfrm>
            <a:off x="6958592" y="3942603"/>
            <a:ext cx="1247931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100">
            <a:extLst>
              <a:ext uri="{FF2B5EF4-FFF2-40B4-BE49-F238E27FC236}">
                <a16:creationId xmlns:a16="http://schemas.microsoft.com/office/drawing/2014/main" id="{73E04FB8-778A-2DFF-6FBC-F77A783EBDAD}"/>
              </a:ext>
            </a:extLst>
          </p:cNvPr>
          <p:cNvSpPr/>
          <p:nvPr/>
        </p:nvSpPr>
        <p:spPr>
          <a:xfrm>
            <a:off x="9655177" y="1281256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采样控制</a:t>
            </a:r>
          </a:p>
        </p:txBody>
      </p:sp>
      <p:sp>
        <p:nvSpPr>
          <p:cNvPr id="42" name="圆角矩形 100">
            <a:extLst>
              <a:ext uri="{FF2B5EF4-FFF2-40B4-BE49-F238E27FC236}">
                <a16:creationId xmlns:a16="http://schemas.microsoft.com/office/drawing/2014/main" id="{15CCF45B-BD81-CE35-9EA8-216FB72C9D87}"/>
              </a:ext>
            </a:extLst>
          </p:cNvPr>
          <p:cNvSpPr/>
          <p:nvPr/>
        </p:nvSpPr>
        <p:spPr>
          <a:xfrm>
            <a:off x="2151668" y="3924092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功率回路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右箭头 13">
            <a:extLst>
              <a:ext uri="{FF2B5EF4-FFF2-40B4-BE49-F238E27FC236}">
                <a16:creationId xmlns:a16="http://schemas.microsoft.com/office/drawing/2014/main" id="{0409EAB0-F210-B375-2500-289F834D1E79}"/>
              </a:ext>
            </a:extLst>
          </p:cNvPr>
          <p:cNvSpPr/>
          <p:nvPr/>
        </p:nvSpPr>
        <p:spPr>
          <a:xfrm rot="5400000">
            <a:off x="85636" y="3291281"/>
            <a:ext cx="1406445" cy="540414"/>
          </a:xfrm>
          <a:prstGeom prst="rightArrow">
            <a:avLst/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D75BF15-E021-A6B3-9476-7EA0E66563DC}"/>
              </a:ext>
            </a:extLst>
          </p:cNvPr>
          <p:cNvSpPr txBox="1"/>
          <p:nvPr/>
        </p:nvSpPr>
        <p:spPr>
          <a:xfrm>
            <a:off x="4238667" y="3283151"/>
            <a:ext cx="22781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12V DC-DC MPM3632S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E14414-813D-E62C-3686-884DFF0AFBB2}"/>
              </a:ext>
            </a:extLst>
          </p:cNvPr>
          <p:cNvSpPr txBox="1"/>
          <p:nvPr/>
        </p:nvSpPr>
        <p:spPr>
          <a:xfrm>
            <a:off x="6837981" y="3268827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LDO 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F083F37-5B71-0D54-33A8-ABE0CC42AEC0}"/>
              </a:ext>
            </a:extLst>
          </p:cNvPr>
          <p:cNvSpPr txBox="1"/>
          <p:nvPr/>
        </p:nvSpPr>
        <p:spPr>
          <a:xfrm>
            <a:off x="9668849" y="2662103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电流传感器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37DBDBD-C4AF-1394-F04F-B621CD3DFE6C}"/>
              </a:ext>
            </a:extLst>
          </p:cNvPr>
          <p:cNvSpPr txBox="1"/>
          <p:nvPr/>
        </p:nvSpPr>
        <p:spPr>
          <a:xfrm>
            <a:off x="9650229" y="4008549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5DF388-7336-683C-9BC3-2E7CDE61DBB7}"/>
              </a:ext>
            </a:extLst>
          </p:cNvPr>
          <p:cNvSpPr txBox="1"/>
          <p:nvPr/>
        </p:nvSpPr>
        <p:spPr>
          <a:xfrm>
            <a:off x="7502154" y="5496555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收发器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7DAB6F-54E0-651A-709E-42CC7EED8189}"/>
              </a:ext>
            </a:extLst>
          </p:cNvPr>
          <p:cNvSpPr txBox="1"/>
          <p:nvPr/>
        </p:nvSpPr>
        <p:spPr>
          <a:xfrm>
            <a:off x="2466778" y="5602807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MP6539B 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三相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5E17E83-AFB4-0D0D-CDF5-E2DDD0B797DE}"/>
              </a:ext>
            </a:extLst>
          </p:cNvPr>
          <p:cNvSpPr txBox="1"/>
          <p:nvPr/>
        </p:nvSpPr>
        <p:spPr>
          <a:xfrm>
            <a:off x="345686" y="5592742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MOSFET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6B8666-AC42-AE54-FB07-F6BA0DAE92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7015" y="4419217"/>
            <a:ext cx="1055608" cy="10556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580891-87F3-CBA3-E915-1D4CAC2260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7428"/>
          <a:stretch/>
        </p:blipFill>
        <p:spPr>
          <a:xfrm>
            <a:off x="259489" y="4277751"/>
            <a:ext cx="1592539" cy="1314991"/>
          </a:xfrm>
          <a:prstGeom prst="rect">
            <a:avLst/>
          </a:prstGeom>
        </p:spPr>
      </p:pic>
      <p:pic>
        <p:nvPicPr>
          <p:cNvPr id="7" name="Picture 2" descr="Microcontroller PNG transparent image download, size: 512x333px">
            <a:extLst>
              <a:ext uri="{FF2B5EF4-FFF2-40B4-BE49-F238E27FC236}">
                <a16:creationId xmlns:a16="http://schemas.microsoft.com/office/drawing/2014/main" id="{BEDEC412-FFBD-C215-6EDD-64969EBB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995" y="3017553"/>
            <a:ext cx="1445111" cy="93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B2B8A6DD-FF06-DAAB-4F89-EFB32DECFF0C}"/>
              </a:ext>
            </a:extLst>
          </p:cNvPr>
          <p:cNvSpPr txBox="1">
            <a:spLocks/>
          </p:cNvSpPr>
          <p:nvPr/>
        </p:nvSpPr>
        <p:spPr>
          <a:xfrm>
            <a:off x="217808" y="203285"/>
            <a:ext cx="1145554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总体方案设计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系统架构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C3B47-5E63-0A24-8AE1-61E7D703B593}"/>
              </a:ext>
            </a:extLst>
          </p:cNvPr>
          <p:cNvSpPr txBox="1"/>
          <p:nvPr/>
        </p:nvSpPr>
        <p:spPr>
          <a:xfrm>
            <a:off x="217807" y="755526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MPS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关节电机方案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高功率密度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多功能模块集成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宽电压适配</a:t>
            </a:r>
            <a:endParaRPr lang="zh-CN" altLang="en-US" sz="2000" dirty="0"/>
          </a:p>
        </p:txBody>
      </p:sp>
      <p:sp>
        <p:nvSpPr>
          <p:cNvPr id="16" name="右箭头 13">
            <a:extLst>
              <a:ext uri="{FF2B5EF4-FFF2-40B4-BE49-F238E27FC236}">
                <a16:creationId xmlns:a16="http://schemas.microsoft.com/office/drawing/2014/main" id="{BA511C76-B972-2FF9-7A6A-EFD4E08CAB26}"/>
              </a:ext>
            </a:extLst>
          </p:cNvPr>
          <p:cNvSpPr/>
          <p:nvPr/>
        </p:nvSpPr>
        <p:spPr>
          <a:xfrm rot="10800000" flipV="1">
            <a:off x="1597170" y="4820365"/>
            <a:ext cx="988560" cy="417036"/>
          </a:xfrm>
          <a:prstGeom prst="rightArrow">
            <a:avLst>
              <a:gd name="adj1" fmla="val 63528"/>
              <a:gd name="adj2" fmla="val 64617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9BC7FA-F99A-C8E6-370A-C5B796E001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23445"/>
          <a:stretch/>
        </p:blipFill>
        <p:spPr bwMode="auto">
          <a:xfrm>
            <a:off x="6439474" y="4419217"/>
            <a:ext cx="1038237" cy="102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B7ABC10-2022-DFD3-F37A-F2EE1E4C92CA}"/>
              </a:ext>
            </a:extLst>
          </p:cNvPr>
          <p:cNvSpPr txBox="1"/>
          <p:nvPr/>
        </p:nvSpPr>
        <p:spPr>
          <a:xfrm>
            <a:off x="6095927" y="5496556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MIE1W0505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隔离电源</a:t>
            </a:r>
          </a:p>
        </p:txBody>
      </p:sp>
      <p:sp>
        <p:nvSpPr>
          <p:cNvPr id="15" name="右箭头 13">
            <a:extLst>
              <a:ext uri="{FF2B5EF4-FFF2-40B4-BE49-F238E27FC236}">
                <a16:creationId xmlns:a16="http://schemas.microsoft.com/office/drawing/2014/main" id="{874FB43A-CA13-42D3-5974-42FF73C034F9}"/>
              </a:ext>
            </a:extLst>
          </p:cNvPr>
          <p:cNvSpPr/>
          <p:nvPr/>
        </p:nvSpPr>
        <p:spPr>
          <a:xfrm rot="10800000" flipV="1">
            <a:off x="3889718" y="4807653"/>
            <a:ext cx="939837" cy="417036"/>
          </a:xfrm>
          <a:prstGeom prst="rightArrow">
            <a:avLst>
              <a:gd name="adj1" fmla="val 63528"/>
              <a:gd name="adj2" fmla="val 64617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8" name="Picture 4" descr="MA600A | High-Accuracy,">
            <a:extLst>
              <a:ext uri="{FF2B5EF4-FFF2-40B4-BE49-F238E27FC236}">
                <a16:creationId xmlns:a16="http://schemas.microsoft.com/office/drawing/2014/main" id="{98B9D03B-68AF-62CA-F328-2FD16D6B4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890" y="4349399"/>
            <a:ext cx="2000757" cy="112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右箭头 13">
            <a:extLst>
              <a:ext uri="{FF2B5EF4-FFF2-40B4-BE49-F238E27FC236}">
                <a16:creationId xmlns:a16="http://schemas.microsoft.com/office/drawing/2014/main" id="{FEE10F5C-92BE-202C-312F-E55755D2DB5E}"/>
              </a:ext>
            </a:extLst>
          </p:cNvPr>
          <p:cNvSpPr/>
          <p:nvPr/>
        </p:nvSpPr>
        <p:spPr>
          <a:xfrm>
            <a:off x="3716777" y="2351897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右箭头 13">
            <a:extLst>
              <a:ext uri="{FF2B5EF4-FFF2-40B4-BE49-F238E27FC236}">
                <a16:creationId xmlns:a16="http://schemas.microsoft.com/office/drawing/2014/main" id="{130D20FD-54BF-F81C-8F2A-F676E33A4186}"/>
              </a:ext>
            </a:extLst>
          </p:cNvPr>
          <p:cNvSpPr/>
          <p:nvPr/>
        </p:nvSpPr>
        <p:spPr>
          <a:xfrm>
            <a:off x="6304463" y="2358913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455C2F-9B55-2741-5D6F-A4B935F16053}"/>
              </a:ext>
            </a:extLst>
          </p:cNvPr>
          <p:cNvSpPr txBox="1"/>
          <p:nvPr/>
        </p:nvSpPr>
        <p:spPr>
          <a:xfrm>
            <a:off x="9650229" y="5525935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位置传感器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MA600A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61">
            <a:extLst>
              <a:ext uri="{FF2B5EF4-FFF2-40B4-BE49-F238E27FC236}">
                <a16:creationId xmlns:a16="http://schemas.microsoft.com/office/drawing/2014/main" id="{73A5B0E0-A918-A33F-C237-217FA46A8A5B}"/>
              </a:ext>
            </a:extLst>
          </p:cNvPr>
          <p:cNvSpPr/>
          <p:nvPr/>
        </p:nvSpPr>
        <p:spPr>
          <a:xfrm>
            <a:off x="4848665" y="4853269"/>
            <a:ext cx="90404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79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1D15-C6CF-CEB4-C860-B03CAB9B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958599C-9902-5068-8139-064B60112994}"/>
              </a:ext>
            </a:extLst>
          </p:cNvPr>
          <p:cNvSpPr/>
          <p:nvPr/>
        </p:nvSpPr>
        <p:spPr>
          <a:xfrm>
            <a:off x="217808" y="873915"/>
            <a:ext cx="5507132" cy="578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9942B2F-2EFB-3152-6BC0-F73BE2CF7682}"/>
              </a:ext>
            </a:extLst>
          </p:cNvPr>
          <p:cNvSpPr txBox="1">
            <a:spLocks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方案验证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完整测试结果</a:t>
            </a:r>
            <a:endParaRPr lang="en-US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4216D-97A8-AE6A-6B98-6D47655A6602}"/>
              </a:ext>
            </a:extLst>
          </p:cNvPr>
          <p:cNvSpPr/>
          <p:nvPr/>
        </p:nvSpPr>
        <p:spPr>
          <a:xfrm>
            <a:off x="6110708" y="873915"/>
            <a:ext cx="5507132" cy="578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331F7C-2C6A-C8DD-7AB1-D09AEAF56932}"/>
              </a:ext>
            </a:extLst>
          </p:cNvPr>
          <p:cNvSpPr txBox="1"/>
          <p:nvPr/>
        </p:nvSpPr>
        <p:spPr>
          <a:xfrm>
            <a:off x="1645334" y="2860447"/>
            <a:ext cx="8225329" cy="113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这一页放：</a:t>
            </a:r>
            <a:endParaRPr lang="en-US" altLang="zh-CN" b="1" dirty="0"/>
          </a:p>
          <a:p>
            <a:r>
              <a:rPr lang="en-US" altLang="zh-CN" b="1" dirty="0"/>
              <a:t>1.</a:t>
            </a:r>
            <a:r>
              <a:rPr lang="zh-CN" altLang="en-US" b="1" dirty="0"/>
              <a:t>速度位置闭环测试过程，左边放实物视频，右边放波形图变化视频</a:t>
            </a:r>
            <a:endParaRPr lang="en-US" altLang="zh-CN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持续带载温升视频，左边放实物测试台架旋转视频，右边放热成像仪录得视频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0280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FBC1-F837-97A0-3494-FDA08584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14BB7B20-938E-AFA8-3087-4C383B2B7128}"/>
              </a:ext>
            </a:extLst>
          </p:cNvPr>
          <p:cNvSpPr txBox="1">
            <a:spLocks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方案验证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完整测试结果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6BB33F7-3612-7A1B-7099-48E4F31198B7}"/>
              </a:ext>
            </a:extLst>
          </p:cNvPr>
          <p:cNvGraphicFramePr>
            <a:graphicFrameLocks noGrp="1"/>
          </p:cNvGraphicFramePr>
          <p:nvPr/>
        </p:nvGraphicFramePr>
        <p:xfrm>
          <a:off x="217807" y="3567005"/>
          <a:ext cx="11400033" cy="2812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11">
                  <a:extLst>
                    <a:ext uri="{9D8B030D-6E8A-4147-A177-3AD203B41FA5}">
                      <a16:colId xmlns:a16="http://schemas.microsoft.com/office/drawing/2014/main" val="4056263176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925276843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3786831192"/>
                    </a:ext>
                  </a:extLst>
                </a:gridCol>
              </a:tblGrid>
              <a:tr h="4426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位置环控制精度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速度环控制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带载温升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67917"/>
                  </a:ext>
                </a:extLst>
              </a:tr>
              <a:tr h="236987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979353"/>
                  </a:ext>
                </a:extLst>
              </a:tr>
            </a:tbl>
          </a:graphicData>
        </a:graphic>
      </p:graphicFrame>
      <p:pic>
        <p:nvPicPr>
          <p:cNvPr id="7" name="Picture 4" descr="Position Control Accuracy">
            <a:extLst>
              <a:ext uri="{FF2B5EF4-FFF2-40B4-BE49-F238E27FC236}">
                <a16:creationId xmlns:a16="http://schemas.microsoft.com/office/drawing/2014/main" id="{B339293B-DBD0-1B1D-3759-02CC0AAAB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98" y="3999132"/>
            <a:ext cx="3665986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peed Control Accuracy">
            <a:extLst>
              <a:ext uri="{FF2B5EF4-FFF2-40B4-BE49-F238E27FC236}">
                <a16:creationId xmlns:a16="http://schemas.microsoft.com/office/drawing/2014/main" id="{1CB6CBD2-447A-B7F6-C88E-B0C690B15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600" y="3999132"/>
            <a:ext cx="3440445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08B973F-8E27-4BF1-8BD6-74551E8EC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13454" r="13278" b="8636"/>
          <a:stretch/>
        </p:blipFill>
        <p:spPr bwMode="auto">
          <a:xfrm>
            <a:off x="8297469" y="3999132"/>
            <a:ext cx="2899144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7E9E2D-E6F9-BE0B-368A-619758634AD0}"/>
              </a:ext>
            </a:extLst>
          </p:cNvPr>
          <p:cNvSpPr txBox="1"/>
          <p:nvPr/>
        </p:nvSpPr>
        <p:spPr>
          <a:xfrm>
            <a:off x="217808" y="740223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力矩环 速度环 位置环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多层嵌套，易于调试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长时带载温升测试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测试平台全开源</a:t>
            </a:r>
            <a:endParaRPr lang="zh-CN" altLang="en-US" sz="2000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2034DB9E-4E02-579C-3FCA-C8E8A2032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818" y="1360423"/>
            <a:ext cx="3440445" cy="206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614B571-86E9-5E68-2042-3EEC3FF75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808" y="1200862"/>
            <a:ext cx="7664462" cy="229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4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03CF-9220-83A0-1233-0803487E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4B6FFD8-A548-42F5-3AD4-328CFC8B3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166" y="1575455"/>
            <a:ext cx="4136232" cy="4136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散点图, QR 代码&#10;&#10;AI 生成的内容可能不正确。">
            <a:extLst>
              <a:ext uri="{FF2B5EF4-FFF2-40B4-BE49-F238E27FC236}">
                <a16:creationId xmlns:a16="http://schemas.microsoft.com/office/drawing/2014/main" id="{4BD2A90F-55B3-200B-DC80-58B5CC4128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 b="4593"/>
          <a:stretch/>
        </p:blipFill>
        <p:spPr bwMode="auto">
          <a:xfrm>
            <a:off x="6096000" y="1852679"/>
            <a:ext cx="3877310" cy="35542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标题 4">
            <a:extLst>
              <a:ext uri="{FF2B5EF4-FFF2-40B4-BE49-F238E27FC236}">
                <a16:creationId xmlns:a16="http://schemas.microsoft.com/office/drawing/2014/main" id="{706517C3-0495-ADD6-40BE-B6EFCE890383}"/>
              </a:ext>
            </a:extLst>
          </p:cNvPr>
          <p:cNvSpPr txBox="1">
            <a:spLocks/>
          </p:cNvSpPr>
          <p:nvPr/>
        </p:nvSpPr>
        <p:spPr>
          <a:xfrm>
            <a:off x="217808" y="203285"/>
            <a:ext cx="1145554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快速复刻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FF7786-C804-5C7E-6FAA-8A6B708C012C}"/>
              </a:ext>
            </a:extLst>
          </p:cNvPr>
          <p:cNvSpPr txBox="1"/>
          <p:nvPr/>
        </p:nvSpPr>
        <p:spPr>
          <a:xfrm>
            <a:off x="217807" y="755526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开源链接 </a:t>
            </a:r>
            <a:r>
              <a:rPr lang="en-US" altLang="zh-CN" sz="2000" b="1" dirty="0"/>
              <a:t>| </a:t>
            </a:r>
            <a:r>
              <a:rPr lang="zh-CN" altLang="en-US" sz="2000" b="1" dirty="0"/>
              <a:t>复刻指南 </a:t>
            </a:r>
            <a:r>
              <a:rPr lang="en-US" altLang="zh-CN" sz="2000" b="1" dirty="0"/>
              <a:t>| </a:t>
            </a:r>
            <a:r>
              <a:rPr lang="zh-CN" altLang="en-US" sz="2000" b="1" dirty="0"/>
              <a:t>芯片申请</a:t>
            </a:r>
          </a:p>
        </p:txBody>
      </p:sp>
    </p:spTree>
    <p:extLst>
      <p:ext uri="{BB962C8B-B14F-4D97-AF65-F5344CB8AC3E}">
        <p14:creationId xmlns:p14="http://schemas.microsoft.com/office/powerpoint/2010/main" val="415666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3C97C1-F402-67ED-8261-3EF91425F852}"/>
              </a:ext>
            </a:extLst>
          </p:cNvPr>
          <p:cNvSpPr txBox="1"/>
          <p:nvPr/>
        </p:nvSpPr>
        <p:spPr>
          <a:xfrm>
            <a:off x="338203" y="194153"/>
            <a:ext cx="1287532" cy="414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1:00 - 1:10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346207-D4B4-BE36-AC1C-53F934FB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2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185176-CDAE-B940-068D-12A98BB45702}"/>
              </a:ext>
            </a:extLst>
          </p:cNvPr>
          <p:cNvSpPr txBox="1"/>
          <p:nvPr/>
        </p:nvSpPr>
        <p:spPr>
          <a:xfrm>
            <a:off x="5157281" y="2643476"/>
            <a:ext cx="1877437" cy="1282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/>
              <a:t>花絮</a:t>
            </a:r>
            <a:endParaRPr lang="en-US" altLang="zh-CN" sz="6600" b="1" dirty="0"/>
          </a:p>
        </p:txBody>
      </p:sp>
    </p:spTree>
    <p:extLst>
      <p:ext uri="{BB962C8B-B14F-4D97-AF65-F5344CB8AC3E}">
        <p14:creationId xmlns:p14="http://schemas.microsoft.com/office/powerpoint/2010/main" val="465266338"/>
      </p:ext>
    </p:extLst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1023</Words>
  <Application>Microsoft Office PowerPoint</Application>
  <PresentationFormat>宽屏</PresentationFormat>
  <Paragraphs>68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微软雅黑</vt:lpstr>
      <vt:lpstr>微软雅黑</vt:lpstr>
      <vt:lpstr>Aptos</vt:lpstr>
      <vt:lpstr>Arial</vt:lpstr>
      <vt:lpstr>Calibri</vt:lpstr>
      <vt:lpstr>Courier New</vt:lpstr>
      <vt:lpstr>Times New Roman</vt:lpstr>
      <vt:lpstr>腾讯文档 默认主题​</vt:lpstr>
      <vt:lpstr>MPS-FOC拍摄脚本</vt:lpstr>
      <vt:lpstr>PowerPoint 演示文稿</vt:lpstr>
      <vt:lpstr>PowerPoint 演示文稿</vt:lpstr>
      <vt:lpstr>关节电机工程——零门槛快速落地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Leofwine (Huiwen) Yang</dc:creator>
  <cp:lastModifiedBy>Rise Sun</cp:lastModifiedBy>
  <cp:revision>198</cp:revision>
  <dcterms:created xsi:type="dcterms:W3CDTF">2026-05-12T11:03:54Z</dcterms:created>
  <dcterms:modified xsi:type="dcterms:W3CDTF">2026-05-25T14:40:15Z</dcterms:modified>
</cp:coreProperties>
</file>