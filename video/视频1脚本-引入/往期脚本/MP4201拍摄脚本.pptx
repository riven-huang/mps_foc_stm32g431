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notesSlides/notesSlide6.xml" ContentType="application/vnd.openxmlformats-officedocument.presentationml.notes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notesSlides/notesSlide1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5.xml" ContentType="application/vnd.openxmlformats-officedocument.presentationml.slideLayout+xml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  <Override PartName="/ppt/theme/theme2.xml" ContentType="application/vnd.openxmlformats-officedocument.theme+xml"/>
  <Override PartName="/ppt/notesSlides/notesSlide4.xml" ContentType="application/vnd.openxmlformats-officedocument.presentationml.notes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9" Type="http://schemas.openxmlformats.org/officeDocument/2006/relationships/slide" Target="slides/slide9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14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3" Type="http://schemas.openxmlformats.org/officeDocument/2006/relationships/slide" Target="slides/slide3.xml" /><Relationship Id="rId12" Type="http://schemas.openxmlformats.org/officeDocument/2006/relationships/slide" Target="slides/slide12.xml" /><Relationship Id="rId4" Type="http://schemas.openxmlformats.org/officeDocument/2006/relationships/slide" Target="slides/slide4.xml" /><Relationship Id="rId10" Type="http://schemas.openxmlformats.org/officeDocument/2006/relationships/slide" Target="slides/slide10.xml" /><Relationship Id="rId8" Type="http://schemas.openxmlformats.org/officeDocument/2006/relationships/slide" Target="slides/slide8.xml" /><Relationship Id="rId11" Type="http://schemas.openxmlformats.org/officeDocument/2006/relationships/slide" Target="slides/slide11.xml" /><Relationship Id="rId7" Type="http://schemas.openxmlformats.org/officeDocument/2006/relationships/slide" Target="slides/slide7.xml" /><Relationship Id="rId15" Type="http://schemas.openxmlformats.org/officeDocument/2006/relationships/tableStyles" Target="tableStyles.xml" /><Relationship Id="rId13" Type="http://schemas.openxmlformats.org/officeDocument/2006/relationships/slide" Target="slides/slide13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/>
              <a:t>现在为大家展示的是 MP4201 的大功率测试画面。我们在</a:t>
            </a:r>
            <a:r>
              <a:rPr lang="en-US"/>
              <a:t>6</a:t>
            </a:r>
            <a:r>
              <a:rPr/>
              <a:t>00W 持续带载的条件下进行验证，不仅实现了 97% 的峰值效率，</a:t>
            </a:r>
            <a:r>
              <a:rPr lang="zh-CN"/>
              <a:t>并且温度控制在</a:t>
            </a:r>
            <a:r>
              <a:rPr lang="en-US"/>
              <a:t>70</a:t>
            </a:r>
            <a:r>
              <a:rPr lang="zh-CN"/>
              <a:t>摄氏度以下，</a:t>
            </a:r>
            <a:r>
              <a:rPr/>
              <a:t>充分证明了方案在高功率应用场景下的出色适配能力。</a:t>
            </a: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>
                <a:latin typeface="Arial"/>
                <a:ea typeface="Microsoft YaHei"/>
              </a:rPr>
              <a:t>图示为不同输出功率下</a:t>
            </a:r>
            <a:r>
              <a:rPr lang="en-US">
                <a:latin typeface="Arial"/>
                <a:ea typeface="Microsoft YaHei"/>
              </a:rPr>
              <a:t>30</a:t>
            </a:r>
            <a:r>
              <a:rPr lang="zh-CN">
                <a:latin typeface="Arial"/>
                <a:ea typeface="Microsoft YaHei"/>
              </a:rPr>
              <a:t>分钟的热成像图片，可以见得在大效率和增强散热的前提下模块发热并不高，这使得他能实现较好的大功率输出性能</a:t>
            </a: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/>
              <a:t>现在为大家展示的是不同输入输出电压组合下的效率曲线。可以看到，所有测试工况下的效率峰值均高于</a:t>
            </a:r>
            <a:r>
              <a:rPr/>
              <a:t> 89%</a:t>
            </a:r>
            <a:r>
              <a:rPr/>
              <a:t>，在</a:t>
            </a:r>
            <a:r>
              <a:rPr/>
              <a:t> 48V </a:t>
            </a:r>
            <a:r>
              <a:rPr/>
              <a:t>输入、</a:t>
            </a:r>
            <a:r>
              <a:rPr/>
              <a:t>36V </a:t>
            </a:r>
            <a:r>
              <a:rPr/>
              <a:t>输出的场景下，峰值效率更是接近</a:t>
            </a:r>
            <a:r>
              <a:rPr/>
              <a:t> 98%</a:t>
            </a:r>
            <a:r>
              <a:rPr/>
              <a:t>，充分印证了</a:t>
            </a:r>
            <a:r>
              <a:rPr/>
              <a:t> MP4201 </a:t>
            </a:r>
            <a:r>
              <a:rPr/>
              <a:t>在宽压多档输出场景下的高效表现。</a:t>
            </a:r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>
              <a:buNone/>
            </a:pPr>
            <a:r>
              <a:rPr sz="1100">
                <a:solidFill>
                  <a:srgbClr val="333333">
                    <a:alpha val="100000"/>
                  </a:srgbClr>
                </a:solidFill>
              </a:rPr>
              <a:t>1.</a:t>
            </a:r>
            <a:r>
              <a:rPr sz="1100">
                <a:solidFill>
                  <a:srgbClr val="333333">
                    <a:alpha val="100000"/>
                  </a:srgbClr>
                </a:solidFill>
              </a:rPr>
              <a:t> 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（陈讲）“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总的来说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，MP4201是一款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设计简单，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集成功能丰富的芯片，目前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所有设计资料均已开源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，小白也可以轻松复刻。”</a:t>
            </a:r>
            <a:endParaRPr/>
          </a:p>
          <a:p>
            <a:pPr>
              <a:buNone/>
            </a:pPr>
            <a:r>
              <a:rPr sz="1100">
                <a:solidFill>
                  <a:srgbClr val="333333">
                    <a:alpha val="100000"/>
                  </a:srgbClr>
                </a:solidFill>
              </a:rPr>
              <a:t>2.</a:t>
            </a:r>
            <a:r>
              <a:rPr sz="1100">
                <a:solidFill>
                  <a:srgbClr val="333333">
                    <a:alpha val="100000"/>
                  </a:srgbClr>
                </a:solidFill>
              </a:rPr>
              <a:t> 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“当然，MP4201的潜力远不止于此，后续我们将基于此项目做进一步迭代和拓展，更新的内容也会同步上传至开源广场，欢迎大家持续关注。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（再次附上开源链接二维码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旁白（蔡）：“MP4201是一款四开关BUCK-BOOST开关电源控制芯片，同时支持BUCK、BOOST和BUCK-BOOST控制，这使得他能实现大范围的电压输出。“</a:t>
            </a: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sz="1100">
                <a:solidFill>
                  <a:srgbClr val="333333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（可调电源设计方案对比参考）</a:t>
            </a:r>
            <a:endParaRPr/>
          </a:p>
          <a:p>
            <a:pPr/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蔡：“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目前开源的数控可调电源方案一般是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FB注入式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和MCU直接控制四开关管等方案，那么基于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MP4201设计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的可调电源的优势在哪里呢？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它摆脱了FB注入式依赖大量模拟元件、反馈网络易受温度和元件漂移影响、难以实现真正无缝宽范围升降压、精度较低、保护响应慢的局限。MP4201作为专用四开关控制器，内置高精度数字控制环路、同步整流和硬件级多重保护，让输出电压电流更稳定、纹波更小、效率更高，同时轻松支持300W以上大功率和宽输入输出范围，整体性能远超模拟反馈方案。</a:t>
            </a:r>
            <a:endParaRPr/>
          </a:p>
          <a:p>
            <a:pPr/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相比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另一种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MCU直接PWM四开关方案，它避免了开发者必须自己编写复杂的PID算法、精确配置高分辨率定时器、反复调试死区和环路补偿、稍有不慎就出现振荡甚至烧板的繁琐过程。MP4201把底层开关驱动、电流电压闭环、软启动、各种保护全部硬件实现，MCU只需通过简单接口设置目标值即可，大幅降低开发难度、缩短调试周期、显著提高系统可靠性和一致性。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”</a:t>
            </a:r>
            <a:endParaRPr/>
          </a:p>
          <a:p>
            <a:pPr/>
            <a:endParaRPr sz="1100">
              <a:solidFill>
                <a:srgbClr val="000000">
                  <a:alpha val="100000"/>
                </a:srgbClr>
              </a:solidFill>
              <a:latin typeface="微软雅黑"/>
              <a:ea typeface="微软雅黑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在以上优势的基础上，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MP4201一个显著的特点是自带SCP和OCP等保护功能，在硬件上实现保护，比软件控制关断</a:t>
            </a:r>
            <a:r>
              <a:rPr lang="zh-CN"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更加迅速、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更加安全。</a:t>
            </a:r>
            <a:r>
              <a:rPr lang="zh-CN"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同时还具备自恢复功能，在负载正常之后能够自动恢复正常输出。以上是</a:t>
            </a:r>
            <a:r>
              <a:rPr lang="en-US"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24V10A</a:t>
            </a:r>
            <a:r>
              <a:rPr lang="zh-CN"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输出下的</a:t>
            </a:r>
            <a:r>
              <a:rPr lang="en-US"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SCP</a:t>
            </a:r>
            <a:r>
              <a:rPr lang="zh-CN"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和</a:t>
            </a:r>
            <a:r>
              <a:rPr lang="en-US"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OCP</a:t>
            </a:r>
            <a:r>
              <a:rPr lang="zh-CN"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触发和恢复波形图</a:t>
            </a: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蔡：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”硬件设计部分，这个可调电源模块由MP4201控制的BUCK-BOOST主电路和控制MP4201的外围电路组成，外围电路包括MP4583的5V降压部分和MCU控制电路部分，MCU通过IIC接口控制MP4201，同时IIC总线上还搭载了DAC芯片对FREQ和MODE两个引脚的电平进行控制，达到调节开关频率和工作模式的效果，使其更符合实际应用场景。”
</a:t>
            </a:r>
            <a:r>
              <a:rPr lang="zh-CN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陈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：”软件控制方面，</a:t>
            </a:r>
            <a:r>
              <a:rPr lang="en-US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MP4201</a:t>
            </a:r>
            <a:r>
              <a:rPr lang="zh-CN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支持标准</a:t>
            </a:r>
            <a:r>
              <a:rPr lang="en-US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I2C</a:t>
            </a:r>
            <a:r>
              <a:rPr lang="zh-CN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通信协议，可通过常见</a:t>
            </a:r>
            <a:r>
              <a:rPr lang="en-US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MCU</a:t>
            </a:r>
            <a:r>
              <a:rPr lang="zh-CN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对寄存器进行灵活配置。为降低开发门槛，</a:t>
            </a:r>
            <a:r>
              <a:rPr lang="en-US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MPS</a:t>
            </a:r>
            <a:r>
              <a:rPr lang="zh-CN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还提供了配套的可视化</a:t>
            </a:r>
            <a:r>
              <a:rPr lang="en-US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GUI</a:t>
            </a:r>
            <a:r>
              <a:rPr lang="zh-CN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工具，可进一步提升配置与调试效率。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，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目前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MP4201的操作API已经完全开源，只需完成IIC移植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就能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实现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对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MP4201的操作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。”（展示滑动代码界面）</a:t>
            </a: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陈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：”软件控制方面，MP4201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这块芯片是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通过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IIC来驱动控制的，意味着我们可以用各类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MCU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来进行控制电路设计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，或者直接使用USB to IIC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（弹出MPS IIC设备）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，仅通过标准通信协议即可完成操作，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目前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MP4201的操作API已经完全开源，只需完成IIC移植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就能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实现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对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MP4201的操作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。”（展示滑动代码界面）</a:t>
            </a: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 lang="zh-CN"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陈</a:t>
            </a:r>
            <a:r>
              <a:rPr sz="1100">
                <a:solidFill>
                  <a:srgbClr val="333333">
                    <a:alpha val="100000"/>
                  </a:srgbClr>
                </a:solidFill>
                <a:latin typeface="微软雅黑"/>
                <a:ea typeface="微软雅黑"/>
              </a:rPr>
              <a:t>：”软件控制方面，MP4201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这块芯片是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通过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IIC来驱动控制的，意味着我们可以用各类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MCU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来进行控制电路设计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，或者直接使用USB to IIC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（弹出MPS IIC设备）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，仅通过标准通信协议即可完成操作，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目前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MP4201的操作API已经完全开源，只需完成IIC移植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就能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实现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对</a:t>
            </a:r>
            <a:r>
              <a:rPr sz="1100">
                <a:solidFill>
                  <a:srgbClr val="000000">
                    <a:alpha val="100000"/>
                  </a:srgbClr>
                </a:solidFill>
                <a:highlight>
                  <a:srgbClr val="FFFF00">
                    <a:alpha val="100000"/>
                  </a:srgbClr>
                </a:highlight>
                <a:latin typeface="微软雅黑"/>
                <a:ea typeface="微软雅黑"/>
              </a:rPr>
              <a:t>MP4201的操作</a:t>
            </a:r>
            <a:r>
              <a:rPr sz="11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。”（展示滑动代码界面）</a:t>
            </a:r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/>
              <a:t>这是我们的宽电压范围测试场景。在 48V 输入的带载工况下，MP4201 可实现 12V、24V、48V、60V </a:t>
            </a:r>
            <a:r>
              <a:rPr lang="zh-CN"/>
              <a:t>等</a:t>
            </a:r>
            <a:r>
              <a:rPr/>
              <a:t>多档位输出电压的快速、稳定切换，展现出优异的动态响应能力与输出稳定性。</a:t>
            </a:r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>
            <p:ph type="body"/>
          </p:nvPr>
        </p:nvSpPr>
        <p:spPr>
          <a:xfrm>
            <a:off x="0" y="0"/>
            <a:ext cx="177800" cy="444500"/>
          </a:xfrm>
          <a:prstGeom prst="rect">
            <a:avLst/>
          </a:prstGeom>
        </p:spPr>
        <p:txBody>
          <a:bodyPr/>
          <a:p>
            <a:pPr/>
            <a:r>
              <a:rPr/>
              <a:t>现在大家看到的是我们在 5A 恒流</a:t>
            </a:r>
            <a:r>
              <a:rPr lang="zh-CN"/>
              <a:t>输出</a:t>
            </a:r>
            <a:r>
              <a:rPr/>
              <a:t>设定下的多电压输出测试效果。可以清晰</a:t>
            </a:r>
            <a:r>
              <a:rPr lang="zh-CN"/>
              <a:t>的</a:t>
            </a:r>
            <a:r>
              <a:rPr/>
              <a:t>看到，在整个预设输出电压范围内，都能实现稳定的恒流输出，这充分验证了方案的恒流控制精度与可靠性。</a:t>
            </a: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 lang="zh-CN"/>
              <a:t>2022/12/22</a:t>
            </a:fld>
            <a:endParaRPr 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 lang="zh-CN"/>
              <a:t>2022/12/22</a:t>
            </a:fld>
            <a:endParaRPr 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19FF268-CF0C-4595-A6A8-A0B1FC2FEB42}" type="datetime1">
              <a:rPr lang="zh-CN"/>
              <a:t>2022/12/22</a:t>
            </a:fld>
            <a:endParaRPr 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05E0E50-3259-4429-AAEB-7BA10F2285FC}" type="datetime1">
              <a:rPr lang="zh-CN"/>
              <a:t>2022/12/22</a:t>
            </a:fld>
            <a:endParaRPr 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3EF5456-EA9D-47AD-816E-BBFCE6D3FB5C}" type="datetime1">
              <a:rPr lang="zh-CN"/>
              <a:t>2022/12/22</a:t>
            </a:fld>
            <a:endParaRPr 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 lang="zh-CN"/>
              <a:t>2022/12/22</a:t>
            </a:fld>
            <a:endParaRPr 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 lang="zh-CN"/>
              <a:t>2022/12/22</a:t>
            </a:fld>
            <a:endParaRPr 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 lang="zh-CN"/>
              <a:t>2022/12/22</a:t>
            </a:fld>
            <a:endParaRPr 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 lang="zh-CN"/>
              <a:t>2022/12/22</a:t>
            </a:fld>
            <a:endParaRPr 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6" Type="http://schemas.openxmlformats.org/officeDocument/2006/relationships/image" Target="media/image14.png" /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2.xml" /><Relationship Id="rId7" Type="http://schemas.openxmlformats.org/officeDocument/2006/relationships/image" Target="media/image15.png" /><Relationship Id="rId2" Type="http://schemas.openxmlformats.org/officeDocument/2006/relationships/image" Target="media/image10.png" /><Relationship Id="rId3" Type="http://schemas.openxmlformats.org/officeDocument/2006/relationships/image" Target="media/image11.png" /><Relationship Id="rId4" Type="http://schemas.openxmlformats.org/officeDocument/2006/relationships/image" Target="media/image12.png" /><Relationship Id="rId5" Type="http://schemas.openxmlformats.org/officeDocument/2006/relationships/image" Target="media/image13.png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16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6.xml" /></Relationships>
</file>

<file path=ppt/slides/_rels/slide4.xml.rels><?xml version="1.0" encoding="UTF-8" standalone="yes"?><Relationships xmlns="http://schemas.openxmlformats.org/package/2006/relationships"><Relationship Id="rId4" Type="http://schemas.openxmlformats.org/officeDocument/2006/relationships/image" Target="media/image19.png" /><Relationship Id="rId3" Type="http://schemas.openxmlformats.org/officeDocument/2006/relationships/image" Target="media/image18.png" /><Relationship Id="rId5" Type="http://schemas.openxmlformats.org/officeDocument/2006/relationships/image" Target="media/image20.png" /><Relationship Id="rId2" Type="http://schemas.openxmlformats.org/officeDocument/2006/relationships/image" Target="media/image17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7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21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8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4" Type="http://schemas.openxmlformats.org/officeDocument/2006/relationships/image" Target="media/image3.png" /><Relationship Id="rId3" Type="http://schemas.openxmlformats.org/officeDocument/2006/relationships/image" Target="media/image2.png" /><Relationship Id="rId2" Type="http://schemas.openxmlformats.org/officeDocument/2006/relationships/image" Target="media/image1.png" /><Relationship Id="rId0" Type="http://schemas.openxmlformats.org/officeDocument/2006/relationships/slideLayout" Target="../slideLayouts/slideLayout2.xml" /><Relationship Id="rId1" Type="http://schemas.openxmlformats.org/officeDocument/2006/relationships/notesSlide" Target="../notesSlides/notesSlide2.xml" /></Relationships>
</file>

<file path=ppt/slides/_rels/slide12.xml.rels><?xml version="1.0" encoding="UTF-8" standalone="yes"?><Relationships xmlns="http://schemas.openxmlformats.org/package/2006/relationships"><Relationship Id="rId7" Type="http://schemas.openxmlformats.org/officeDocument/2006/relationships/image" Target="media/image9.png" /><Relationship Id="rId6" Type="http://schemas.openxmlformats.org/officeDocument/2006/relationships/image" Target="media/image8.png" /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2.xml" /><Relationship Id="rId4" Type="http://schemas.openxmlformats.org/officeDocument/2006/relationships/image" Target="media/image6.png" /><Relationship Id="rId2" Type="http://schemas.openxmlformats.org/officeDocument/2006/relationships/image" Target="media/image4.png" /><Relationship Id="rId3" Type="http://schemas.openxmlformats.org/officeDocument/2006/relationships/image" Target="media/image5.png" /><Relationship Id="rId5" Type="http://schemas.openxmlformats.org/officeDocument/2006/relationships/image" Target="media/image7.png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 rot="0" flipH="false" flipV="false">
            <a:off x="1524000" y="2829791"/>
            <a:ext cx="9144000" cy="1198418"/>
          </a:xfr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en-US"/>
              <a:t>MP4201</a:t>
            </a:r>
            <a:r>
              <a:rPr lang="zh-CN"/>
              <a:t>拍摄脚本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289107" y="1496441"/>
            <a:ext cx="3595592" cy="1720471"/>
          </a:xfrm>
          <a:prstGeom prst="rect"/>
        </p:spPr>
      </p:pic>
      <p:pic>
        <p:nvPicPr>
          <p:cNvPr id="26" name="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289107" y="3216912"/>
            <a:ext cx="3595592" cy="1720838"/>
          </a:xfrm>
          <a:prstGeom prst="rect"/>
        </p:spPr>
      </p:pic>
      <p:sp>
        <p:nvSpPr>
          <p:cNvPr id="27" name=""/>
          <p:cNvSpPr txBox="true"/>
          <p:nvPr/>
        </p:nvSpPr>
        <p:spPr>
          <a:xfrm rot="0" flipH="false" flipV="false">
            <a:off x="1220128" y="732118"/>
            <a:ext cx="17335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BUCK</a:t>
            </a:r>
            <a:r>
              <a:rPr lang="zh-CN"/>
              <a:t>工作模式</a:t>
            </a:r>
            <a:endParaRPr/>
          </a:p>
        </p:txBody>
      </p:sp>
      <p:pic>
        <p:nvPicPr>
          <p:cNvPr id="28" name="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3967249" y="3207143"/>
            <a:ext cx="3596359" cy="1720838"/>
          </a:xfrm>
          <a:prstGeom prst="rect"/>
        </p:spPr>
      </p:pic>
      <p:sp>
        <p:nvSpPr>
          <p:cNvPr id="29" name=""/>
          <p:cNvSpPr txBox="true"/>
          <p:nvPr/>
        </p:nvSpPr>
        <p:spPr>
          <a:xfrm rot="0" flipH="false" flipV="false">
            <a:off x="4460504" y="722349"/>
            <a:ext cx="26098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BUCK-BOOST</a:t>
            </a:r>
            <a:r>
              <a:rPr lang="zh-CN"/>
              <a:t>工作模式</a:t>
            </a:r>
            <a:endParaRPr/>
          </a:p>
        </p:txBody>
      </p:sp>
      <p:pic>
        <p:nvPicPr>
          <p:cNvPr id="30" name="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3967249" y="1486672"/>
            <a:ext cx="3595590" cy="1720470"/>
          </a:xfrm>
          <a:prstGeom prst="rect"/>
        </p:spPr>
      </p:pic>
      <p:sp>
        <p:nvSpPr>
          <p:cNvPr id="31" name=""/>
          <p:cNvSpPr/>
          <p:nvPr/>
        </p:nvSpPr>
        <p:spPr>
          <a:xfrm rot="0" flipH="false" flipV="false">
            <a:off x="825241" y="635014"/>
            <a:ext cx="9880375" cy="194208"/>
          </a:xfrm>
          <a:prstGeom prst="rightArrow">
            <a:avLst/>
          </a:prstGeom>
          <a:solidFill>
            <a:schemeClr val="accent1">
              <a:alpha val="100000"/>
            </a:schemeClr>
          </a:solidFill>
          <a:ln w="12700">
            <a:solidFill>
              <a:srgbClr val="5C5C5C">
                <a:alpha val="100000"/>
              </a:srgbClr>
            </a:solidFill>
            <a:prstDash val="solid"/>
            <a:miter lim="800000"/>
          </a:ln>
        </p:spPr>
        <p:txBody>
          <a:bodyPr anchor="ctr"/>
          <a:p>
            <a:pPr algn="ctr"/>
            <a:endParaRPr/>
          </a:p>
        </p:txBody>
      </p:sp>
      <p:pic>
        <p:nvPicPr>
          <p:cNvPr id="32" name="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 flipH="false" flipV="false">
            <a:off x="7562839" y="1486672"/>
            <a:ext cx="3595590" cy="1720471"/>
          </a:xfrm>
          <a:prstGeom prst="rect"/>
        </p:spPr>
      </p:pic>
      <p:pic>
        <p:nvPicPr>
          <p:cNvPr id="33" name="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 flipH="false" flipV="false">
            <a:off x="7562839" y="3207143"/>
            <a:ext cx="3596358" cy="1720836"/>
          </a:xfrm>
          <a:prstGeom prst="rect"/>
          <a:ln w="0">
            <a:noFill/>
          </a:ln>
        </p:spPr>
      </p:pic>
      <p:sp>
        <p:nvSpPr>
          <p:cNvPr id="34" name=""/>
          <p:cNvSpPr txBox="true"/>
          <p:nvPr/>
        </p:nvSpPr>
        <p:spPr>
          <a:xfrm rot="0" flipH="false" flipV="false">
            <a:off x="8494243" y="722349"/>
            <a:ext cx="18986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BOOST</a:t>
            </a:r>
            <a:r>
              <a:rPr lang="zh-CN"/>
              <a:t>工作模式</a:t>
            </a:r>
            <a:endParaRPr/>
          </a:p>
        </p:txBody>
      </p:sp>
      <p:sp>
        <p:nvSpPr>
          <p:cNvPr id="35" name=""/>
          <p:cNvSpPr txBox="true"/>
          <p:nvPr/>
        </p:nvSpPr>
        <p:spPr>
          <a:xfrm rot="0" flipH="false" flipV="false">
            <a:off x="9060966" y="281268"/>
            <a:ext cx="16446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VOUT Voltage</a:t>
            </a:r>
            <a:endParaRPr/>
          </a:p>
        </p:txBody>
      </p:sp>
      <p:sp>
        <p:nvSpPr>
          <p:cNvPr id="36" name=""/>
          <p:cNvSpPr txBox="true"/>
          <p:nvPr/>
        </p:nvSpPr>
        <p:spPr>
          <a:xfrm rot="0" flipH="false" flipV="false">
            <a:off x="1296328" y="1467866"/>
            <a:ext cx="17780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1</a:t>
            </a:r>
            <a:endParaRPr/>
          </a:p>
        </p:txBody>
      </p:sp>
      <p:sp>
        <p:nvSpPr>
          <p:cNvPr id="37" name=""/>
          <p:cNvSpPr txBox="true"/>
          <p:nvPr/>
        </p:nvSpPr>
        <p:spPr>
          <a:xfrm rot="0" flipH="false" flipV="false">
            <a:off x="1792568" y="1591691"/>
            <a:ext cx="236068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2</a:t>
            </a:r>
            <a:endParaRPr/>
          </a:p>
        </p:txBody>
      </p:sp>
      <p:sp>
        <p:nvSpPr>
          <p:cNvPr id="38" name=""/>
          <p:cNvSpPr txBox="true"/>
          <p:nvPr/>
        </p:nvSpPr>
        <p:spPr>
          <a:xfrm rot="0" flipH="false" flipV="false">
            <a:off x="2028636" y="1839341"/>
            <a:ext cx="116535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3</a:t>
            </a:r>
            <a:endParaRPr/>
          </a:p>
        </p:txBody>
      </p:sp>
      <p:sp>
        <p:nvSpPr>
          <p:cNvPr id="39" name=""/>
          <p:cNvSpPr txBox="true"/>
          <p:nvPr/>
        </p:nvSpPr>
        <p:spPr>
          <a:xfrm rot="0" flipH="false" flipV="false">
            <a:off x="2145171" y="1591691"/>
            <a:ext cx="17780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4</a:t>
            </a:r>
            <a:endParaRPr/>
          </a:p>
        </p:txBody>
      </p:sp>
      <p:sp>
        <p:nvSpPr>
          <p:cNvPr id="40" name=""/>
          <p:cNvSpPr txBox="true"/>
          <p:nvPr/>
        </p:nvSpPr>
        <p:spPr>
          <a:xfrm rot="0" flipH="false" flipV="false">
            <a:off x="2631789" y="1467866"/>
            <a:ext cx="17780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5</a:t>
            </a:r>
            <a:endParaRPr/>
          </a:p>
        </p:txBody>
      </p:sp>
      <p:sp>
        <p:nvSpPr>
          <p:cNvPr id="41" name=""/>
          <p:cNvSpPr txBox="true"/>
          <p:nvPr/>
        </p:nvSpPr>
        <p:spPr>
          <a:xfrm rot="0" flipH="false" flipV="false">
            <a:off x="1792568" y="4038987"/>
            <a:ext cx="118033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1</a:t>
            </a:r>
            <a:endParaRPr/>
          </a:p>
        </p:txBody>
      </p:sp>
      <p:sp>
        <p:nvSpPr>
          <p:cNvPr id="42" name=""/>
          <p:cNvSpPr txBox="true"/>
          <p:nvPr/>
        </p:nvSpPr>
        <p:spPr>
          <a:xfrm rot="0" flipH="false" flipV="false">
            <a:off x="1969428" y="3606800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2</a:t>
            </a:r>
            <a:endParaRPr/>
          </a:p>
        </p:txBody>
      </p:sp>
      <p:sp>
        <p:nvSpPr>
          <p:cNvPr id="43" name=""/>
          <p:cNvSpPr txBox="true"/>
          <p:nvPr/>
        </p:nvSpPr>
        <p:spPr>
          <a:xfrm rot="0" flipH="false" flipV="false">
            <a:off x="2086903" y="3482975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3</a:t>
            </a:r>
            <a:endParaRPr/>
          </a:p>
        </p:txBody>
      </p:sp>
      <p:sp>
        <p:nvSpPr>
          <p:cNvPr id="44" name=""/>
          <p:cNvSpPr txBox="true"/>
          <p:nvPr/>
        </p:nvSpPr>
        <p:spPr>
          <a:xfrm rot="0" flipH="false" flipV="false">
            <a:off x="2631789" y="3235325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4</a:t>
            </a:r>
            <a:endParaRPr/>
          </a:p>
        </p:txBody>
      </p:sp>
      <p:sp>
        <p:nvSpPr>
          <p:cNvPr id="45" name=""/>
          <p:cNvSpPr txBox="true"/>
          <p:nvPr/>
        </p:nvSpPr>
        <p:spPr>
          <a:xfrm rot="0" flipH="false" flipV="false">
            <a:off x="5451355" y="2109027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1</a:t>
            </a:r>
            <a:endParaRPr/>
          </a:p>
        </p:txBody>
      </p:sp>
      <p:sp>
        <p:nvSpPr>
          <p:cNvPr id="46" name=""/>
          <p:cNvSpPr txBox="true"/>
          <p:nvPr/>
        </p:nvSpPr>
        <p:spPr>
          <a:xfrm rot="0" flipH="false" flipV="false">
            <a:off x="5647954" y="1839341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2</a:t>
            </a:r>
            <a:endParaRPr/>
          </a:p>
        </p:txBody>
      </p:sp>
      <p:sp>
        <p:nvSpPr>
          <p:cNvPr id="47" name=""/>
          <p:cNvSpPr txBox="true"/>
          <p:nvPr/>
        </p:nvSpPr>
        <p:spPr>
          <a:xfrm rot="0" flipH="false" flipV="false">
            <a:off x="5765429" y="1591691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3</a:t>
            </a:r>
            <a:endParaRPr/>
          </a:p>
        </p:txBody>
      </p:sp>
      <p:sp>
        <p:nvSpPr>
          <p:cNvPr id="48" name=""/>
          <p:cNvSpPr txBox="true"/>
          <p:nvPr/>
        </p:nvSpPr>
        <p:spPr>
          <a:xfrm rot="0" flipH="false" flipV="false">
            <a:off x="6259774" y="1467866"/>
            <a:ext cx="24130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4</a:t>
            </a:r>
            <a:endParaRPr/>
          </a:p>
        </p:txBody>
      </p:sp>
      <p:sp>
        <p:nvSpPr>
          <p:cNvPr id="49" name=""/>
          <p:cNvSpPr txBox="true"/>
          <p:nvPr/>
        </p:nvSpPr>
        <p:spPr>
          <a:xfrm rot="0" flipH="false" flipV="false">
            <a:off x="4917320" y="3188337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1</a:t>
            </a:r>
            <a:endParaRPr/>
          </a:p>
        </p:txBody>
      </p:sp>
      <p:sp>
        <p:nvSpPr>
          <p:cNvPr id="50" name=""/>
          <p:cNvSpPr txBox="true"/>
          <p:nvPr/>
        </p:nvSpPr>
        <p:spPr>
          <a:xfrm rot="0" flipH="false" flipV="false">
            <a:off x="5451355" y="3359150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2</a:t>
            </a:r>
            <a:endParaRPr/>
          </a:p>
        </p:txBody>
      </p:sp>
      <p:sp>
        <p:nvSpPr>
          <p:cNvPr id="51" name=""/>
          <p:cNvSpPr txBox="true"/>
          <p:nvPr/>
        </p:nvSpPr>
        <p:spPr>
          <a:xfrm rot="0" flipH="false" flipV="false">
            <a:off x="5647570" y="3606800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3</a:t>
            </a:r>
            <a:endParaRPr/>
          </a:p>
        </p:txBody>
      </p:sp>
      <p:sp>
        <p:nvSpPr>
          <p:cNvPr id="52" name=""/>
          <p:cNvSpPr txBox="true"/>
          <p:nvPr/>
        </p:nvSpPr>
        <p:spPr>
          <a:xfrm rot="0" flipH="false" flipV="false">
            <a:off x="5765429" y="4038987"/>
            <a:ext cx="24130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4</a:t>
            </a:r>
            <a:endParaRPr/>
          </a:p>
        </p:txBody>
      </p:sp>
      <p:sp>
        <p:nvSpPr>
          <p:cNvPr id="53" name=""/>
          <p:cNvSpPr txBox="true"/>
          <p:nvPr/>
        </p:nvSpPr>
        <p:spPr>
          <a:xfrm rot="0" flipH="false" flipV="false">
            <a:off x="8513293" y="1467866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1</a:t>
            </a:r>
            <a:endParaRPr/>
          </a:p>
        </p:txBody>
      </p:sp>
      <p:sp>
        <p:nvSpPr>
          <p:cNvPr id="54" name=""/>
          <p:cNvSpPr txBox="true"/>
          <p:nvPr/>
        </p:nvSpPr>
        <p:spPr>
          <a:xfrm rot="0" flipH="false" flipV="false">
            <a:off x="9060966" y="1715516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2</a:t>
            </a:r>
            <a:endParaRPr/>
          </a:p>
        </p:txBody>
      </p:sp>
      <p:sp>
        <p:nvSpPr>
          <p:cNvPr id="55" name=""/>
          <p:cNvSpPr txBox="true"/>
          <p:nvPr/>
        </p:nvSpPr>
        <p:spPr>
          <a:xfrm rot="0" flipH="false" flipV="false">
            <a:off x="9243543" y="1839341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3</a:t>
            </a:r>
            <a:endParaRPr/>
          </a:p>
        </p:txBody>
      </p:sp>
      <p:sp>
        <p:nvSpPr>
          <p:cNvPr id="56" name=""/>
          <p:cNvSpPr txBox="true"/>
          <p:nvPr/>
        </p:nvSpPr>
        <p:spPr>
          <a:xfrm rot="0" flipH="false" flipV="false">
            <a:off x="9382411" y="1692625"/>
            <a:ext cx="24130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4</a:t>
            </a:r>
            <a:endParaRPr/>
          </a:p>
        </p:txBody>
      </p:sp>
      <p:sp>
        <p:nvSpPr>
          <p:cNvPr id="57" name=""/>
          <p:cNvSpPr txBox="true"/>
          <p:nvPr/>
        </p:nvSpPr>
        <p:spPr>
          <a:xfrm rot="0" flipH="false" flipV="false">
            <a:off x="9883291" y="1467866"/>
            <a:ext cx="24130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5</a:t>
            </a:r>
            <a:endParaRPr/>
          </a:p>
        </p:txBody>
      </p:sp>
      <p:sp>
        <p:nvSpPr>
          <p:cNvPr id="58" name=""/>
          <p:cNvSpPr txBox="true"/>
          <p:nvPr/>
        </p:nvSpPr>
        <p:spPr>
          <a:xfrm rot="0" flipH="false" flipV="false">
            <a:off x="8513293" y="3178568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1</a:t>
            </a:r>
            <a:endParaRPr/>
          </a:p>
        </p:txBody>
      </p:sp>
      <p:sp>
        <p:nvSpPr>
          <p:cNvPr id="59" name=""/>
          <p:cNvSpPr txBox="true"/>
          <p:nvPr/>
        </p:nvSpPr>
        <p:spPr>
          <a:xfrm rot="0" flipH="false" flipV="false">
            <a:off x="9060966" y="3359150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2</a:t>
            </a:r>
            <a:endParaRPr/>
          </a:p>
        </p:txBody>
      </p:sp>
      <p:sp>
        <p:nvSpPr>
          <p:cNvPr id="60" name=""/>
          <p:cNvSpPr txBox="true"/>
          <p:nvPr/>
        </p:nvSpPr>
        <p:spPr>
          <a:xfrm rot="0" flipH="false" flipV="false">
            <a:off x="9243543" y="3533316"/>
            <a:ext cx="23495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3</a:t>
            </a:r>
            <a:endParaRPr/>
          </a:p>
        </p:txBody>
      </p:sp>
      <p:sp>
        <p:nvSpPr>
          <p:cNvPr id="61" name=""/>
          <p:cNvSpPr txBox="true"/>
          <p:nvPr/>
        </p:nvSpPr>
        <p:spPr>
          <a:xfrm rot="0" flipH="false" flipV="false">
            <a:off x="9361018" y="4048756"/>
            <a:ext cx="241300" cy="2476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en-US" sz="800">
                <a:solidFill>
                  <a:schemeClr val="accent3">
                    <a:alpha val="100000"/>
                  </a:schemeClr>
                </a:solidFill>
              </a:rPr>
              <a:t>4</a:t>
            </a:r>
            <a:endParaRPr/>
          </a:p>
        </p:txBody>
      </p:sp>
      <p:sp>
        <p:nvSpPr>
          <p:cNvPr id="62" name=""/>
          <p:cNvSpPr txBox="true"/>
          <p:nvPr/>
        </p:nvSpPr>
        <p:spPr>
          <a:xfrm rot="0" flipH="false" flipV="false">
            <a:off x="1415861" y="4844034"/>
            <a:ext cx="12255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48V</a:t>
            </a:r>
            <a:r>
              <a:rPr lang="zh-CN"/>
              <a:t>转</a:t>
            </a:r>
            <a:r>
              <a:rPr lang="en-US">
                <a:solidFill>
                  <a:srgbClr val="00a3f5">
                    <a:alpha val="100000"/>
                  </a:srgbClr>
                </a:solidFill>
              </a:rPr>
              <a:t>12V</a:t>
            </a:r>
            <a:endParaRPr/>
          </a:p>
        </p:txBody>
      </p:sp>
      <p:sp>
        <p:nvSpPr>
          <p:cNvPr id="63" name=""/>
          <p:cNvSpPr txBox="true"/>
          <p:nvPr/>
        </p:nvSpPr>
        <p:spPr>
          <a:xfrm rot="0" flipH="false" flipV="false">
            <a:off x="5073530" y="4844034"/>
            <a:ext cx="12255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48V</a:t>
            </a:r>
            <a:r>
              <a:rPr lang="zh-CN"/>
              <a:t>转</a:t>
            </a:r>
            <a:r>
              <a:rPr lang="en-US">
                <a:solidFill>
                  <a:srgbClr val="00a3f5">
                    <a:alpha val="100000"/>
                  </a:srgbClr>
                </a:solidFill>
              </a:rPr>
              <a:t>48V</a:t>
            </a:r>
            <a:endParaRPr/>
          </a:p>
        </p:txBody>
      </p:sp>
      <p:sp>
        <p:nvSpPr>
          <p:cNvPr id="64" name=""/>
          <p:cNvSpPr txBox="true"/>
          <p:nvPr/>
        </p:nvSpPr>
        <p:spPr>
          <a:xfrm rot="0" flipH="false" flipV="false">
            <a:off x="8747859" y="4844034"/>
            <a:ext cx="12255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48V</a:t>
            </a:r>
            <a:r>
              <a:rPr lang="zh-CN"/>
              <a:t>转</a:t>
            </a:r>
            <a:r>
              <a:rPr lang="en-US">
                <a:solidFill>
                  <a:srgbClr val="00a3f5">
                    <a:alpha val="100000"/>
                  </a:srgbClr>
                </a:solidFill>
              </a:rPr>
              <a:t>60V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67288" y="767730"/>
            <a:ext cx="10457424" cy="5322540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878193" y="408377"/>
            <a:ext cx="4654474" cy="2567985"/>
          </a:xfrm>
          <a:prstGeom prst="rect"/>
        </p:spPr>
      </p:pic>
      <p:sp>
        <p:nvSpPr>
          <p:cNvPr id="69" name=""/>
          <p:cNvSpPr txBox="true"/>
          <p:nvPr/>
        </p:nvSpPr>
        <p:spPr>
          <a:xfrm rot="0" flipH="false" flipV="false">
            <a:off x="2649805" y="2976362"/>
            <a:ext cx="11112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SCP</a:t>
            </a:r>
            <a:r>
              <a:rPr lang="zh-CN"/>
              <a:t>保护</a:t>
            </a:r>
            <a:endParaRPr/>
          </a:p>
        </p:txBody>
      </p:sp>
      <p:pic>
        <p:nvPicPr>
          <p:cNvPr id="70" name="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6842852" y="408377"/>
            <a:ext cx="4470955" cy="2567985"/>
          </a:xfrm>
          <a:prstGeom prst="rect"/>
        </p:spPr>
      </p:pic>
      <p:sp>
        <p:nvSpPr>
          <p:cNvPr id="71" name=""/>
          <p:cNvSpPr txBox="true"/>
          <p:nvPr/>
        </p:nvSpPr>
        <p:spPr>
          <a:xfrm rot="0" flipH="false" flipV="false">
            <a:off x="8510005" y="2976362"/>
            <a:ext cx="11366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OCP</a:t>
            </a:r>
            <a:r>
              <a:rPr lang="zh-CN"/>
              <a:t>保护</a:t>
            </a:r>
            <a:endParaRPr/>
          </a:p>
        </p:txBody>
      </p:sp>
      <p:pic>
        <p:nvPicPr>
          <p:cNvPr id="72" name="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6842852" y="3427212"/>
            <a:ext cx="4470955" cy="2571561"/>
          </a:xfrm>
          <a:prstGeom prst="rect"/>
        </p:spPr>
      </p:pic>
      <p:sp>
        <p:nvSpPr>
          <p:cNvPr id="73" name=""/>
          <p:cNvSpPr txBox="true"/>
          <p:nvPr/>
        </p:nvSpPr>
        <p:spPr>
          <a:xfrm rot="0" flipH="false" flipV="false">
            <a:off x="8395705" y="5998773"/>
            <a:ext cx="13652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OCP</a:t>
            </a:r>
            <a:r>
              <a:rPr lang="zh-CN"/>
              <a:t>自恢复</a:t>
            </a:r>
            <a:endParaRPr/>
          </a:p>
        </p:txBody>
      </p:sp>
      <p:pic>
        <p:nvPicPr>
          <p:cNvPr id="74" name="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878193" y="3427212"/>
            <a:ext cx="4654473" cy="2572771"/>
          </a:xfrm>
          <a:prstGeom prst="rect"/>
        </p:spPr>
      </p:pic>
      <p:sp>
        <p:nvSpPr>
          <p:cNvPr id="75" name=""/>
          <p:cNvSpPr txBox="true"/>
          <p:nvPr/>
        </p:nvSpPr>
        <p:spPr>
          <a:xfrm rot="0" flipH="false" flipV="false">
            <a:off x="2522805" y="5998773"/>
            <a:ext cx="1365250" cy="4508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en-US"/>
              <a:t>SCP</a:t>
            </a:r>
            <a:r>
              <a:rPr lang="zh-CN"/>
              <a:t>自恢复</a:t>
            </a:r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1478032" y="144223"/>
            <a:ext cx="9235935" cy="6569554"/>
          </a:xfrm>
          <a:prstGeom prst="rect"/>
        </p:spPr>
      </p:pic>
      <p:sp>
        <p:nvSpPr>
          <p:cNvPr id="78" name=""/>
          <p:cNvSpPr txBox="true"/>
          <p:nvPr/>
        </p:nvSpPr>
        <p:spPr>
          <a:xfrm rot="0" flipH="false" flipV="false">
            <a:off x="10995121" y="2155152"/>
            <a:ext cx="1104900" cy="151765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/>
            <a:r>
              <a:rPr lang="zh-CN"/>
              <a:t>这里的框看看能不能做成流动性的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 txBox="true"/>
          <p:nvPr/>
        </p:nvSpPr>
        <p:spPr>
          <a:xfrm rot="0" flipH="false" flipV="false">
            <a:off x="3502025" y="3203575"/>
            <a:ext cx="51879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弹出</a:t>
            </a:r>
            <a:r>
              <a:rPr lang="en-US"/>
              <a:t>MP4201</a:t>
            </a:r>
            <a:r>
              <a:rPr lang="zh-CN"/>
              <a:t>电脑操作并配出</a:t>
            </a:r>
            <a:r>
              <a:rPr lang="en-US"/>
              <a:t>MPS USB to IIC</a:t>
            </a:r>
            <a:r>
              <a:rPr lang="zh-CN"/>
              <a:t>设备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 txBox="true"/>
          <p:nvPr/>
        </p:nvSpPr>
        <p:spPr>
          <a:xfrm rot="0" flipH="false" flipV="false">
            <a:off x="3378200" y="3203575"/>
            <a:ext cx="543560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代码滑动界面，这里文件太大放不下，可以剪辑进去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 txBox="true"/>
          <p:nvPr/>
        </p:nvSpPr>
        <p:spPr>
          <a:xfrm rot="0" flipH="false" flipV="false">
            <a:off x="4584700" y="1385812"/>
            <a:ext cx="3022600" cy="7239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sz="32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宽电压范围测试</a:t>
            </a:r>
            <a:endParaRPr/>
          </a:p>
        </p:txBody>
      </p:sp>
      <p:sp>
        <p:nvSpPr>
          <p:cNvPr id="85" name=""/>
          <p:cNvSpPr txBox="true"/>
          <p:nvPr/>
        </p:nvSpPr>
        <p:spPr>
          <a:xfrm rot="0" flipH="false" flipV="false">
            <a:off x="1346603" y="2806095"/>
            <a:ext cx="10096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48 to 12</a:t>
            </a:r>
            <a:endParaRPr/>
          </a:p>
        </p:txBody>
      </p:sp>
      <p:sp>
        <p:nvSpPr>
          <p:cNvPr id="86" name=""/>
          <p:cNvSpPr txBox="true"/>
          <p:nvPr/>
        </p:nvSpPr>
        <p:spPr>
          <a:xfrm rot="0" flipH="false" flipV="false">
            <a:off x="3701415" y="2806095"/>
            <a:ext cx="10096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48 to 24</a:t>
            </a:r>
            <a:endParaRPr/>
          </a:p>
        </p:txBody>
      </p:sp>
      <p:sp>
        <p:nvSpPr>
          <p:cNvPr id="87" name=""/>
          <p:cNvSpPr txBox="true"/>
          <p:nvPr/>
        </p:nvSpPr>
        <p:spPr>
          <a:xfrm rot="0" flipH="false" flipV="false">
            <a:off x="6056227" y="2806095"/>
            <a:ext cx="10096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48 to 48</a:t>
            </a:r>
            <a:endParaRPr/>
          </a:p>
        </p:txBody>
      </p:sp>
      <p:sp>
        <p:nvSpPr>
          <p:cNvPr id="88" name=""/>
          <p:cNvSpPr txBox="true"/>
          <p:nvPr/>
        </p:nvSpPr>
        <p:spPr>
          <a:xfrm rot="0" flipH="false" flipV="false">
            <a:off x="9141470" y="2806095"/>
            <a:ext cx="1009650" cy="45085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48 to 60</a:t>
            </a:r>
            <a:endParaRPr/>
          </a:p>
        </p:txBody>
      </p:sp>
      <p:sp>
        <p:nvSpPr>
          <p:cNvPr id="89" name=""/>
          <p:cNvSpPr txBox="true"/>
          <p:nvPr/>
        </p:nvSpPr>
        <p:spPr>
          <a:xfrm rot="0">
            <a:off x="5183632" y="4033520"/>
            <a:ext cx="46355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3A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 txBox="true"/>
          <p:nvPr/>
        </p:nvSpPr>
        <p:spPr>
          <a:xfrm rot="0" flipH="false" flipV="false">
            <a:off x="5194300" y="334010"/>
            <a:ext cx="1803400" cy="7239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sz="32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恒流测试</a:t>
            </a:r>
            <a:endParaRPr/>
          </a:p>
        </p:txBody>
      </p:sp>
      <p:sp>
        <p:nvSpPr>
          <p:cNvPr id="92" name=""/>
          <p:cNvSpPr txBox="true"/>
          <p:nvPr/>
        </p:nvSpPr>
        <p:spPr>
          <a:xfrm rot="0" flipH="false" flipV="false">
            <a:off x="1495552" y="1605280"/>
            <a:ext cx="114935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48V-input</a:t>
            </a:r>
            <a:endParaRPr/>
          </a:p>
        </p:txBody>
      </p:sp>
      <p:sp>
        <p:nvSpPr>
          <p:cNvPr id="93" name=""/>
          <p:cNvSpPr txBox="true"/>
          <p:nvPr/>
        </p:nvSpPr>
        <p:spPr>
          <a:xfrm rot="0" flipH="false" flipV="false">
            <a:off x="8669325" y="1605280"/>
            <a:ext cx="117475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5A-output</a:t>
            </a:r>
            <a:endParaRPr/>
          </a:p>
        </p:txBody>
      </p:sp>
      <p:sp>
        <p:nvSpPr>
          <p:cNvPr id="94" name=""/>
          <p:cNvSpPr txBox="true"/>
          <p:nvPr/>
        </p:nvSpPr>
        <p:spPr>
          <a:xfrm rot="0" flipH="false" flipV="false">
            <a:off x="8961425" y="2056130"/>
            <a:ext cx="59055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12V</a:t>
            </a:r>
            <a:endParaRPr/>
          </a:p>
        </p:txBody>
      </p:sp>
      <p:sp>
        <p:nvSpPr>
          <p:cNvPr id="95" name=""/>
          <p:cNvSpPr txBox="true"/>
          <p:nvPr/>
        </p:nvSpPr>
        <p:spPr>
          <a:xfrm rot="0" flipH="false" flipV="false">
            <a:off x="8961425" y="2603500"/>
            <a:ext cx="59055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24V</a:t>
            </a:r>
            <a:endParaRPr/>
          </a:p>
        </p:txBody>
      </p:sp>
      <p:sp>
        <p:nvSpPr>
          <p:cNvPr id="96" name=""/>
          <p:cNvSpPr txBox="true"/>
          <p:nvPr/>
        </p:nvSpPr>
        <p:spPr>
          <a:xfrm rot="0" flipH="false" flipV="false">
            <a:off x="8961425" y="3150870"/>
            <a:ext cx="59055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48V</a:t>
            </a:r>
            <a:endParaRPr/>
          </a:p>
        </p:txBody>
      </p:sp>
      <p:sp>
        <p:nvSpPr>
          <p:cNvPr id="97" name=""/>
          <p:cNvSpPr txBox="true"/>
          <p:nvPr/>
        </p:nvSpPr>
        <p:spPr>
          <a:xfrm rot="0" flipH="false" flipV="false">
            <a:off x="8961425" y="3698240"/>
            <a:ext cx="59055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en-US"/>
              <a:t>60V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 txBox="true"/>
          <p:nvPr/>
        </p:nvSpPr>
        <p:spPr>
          <a:xfrm rot="0" flipH="false" flipV="false">
            <a:off x="4381500" y="1503838"/>
            <a:ext cx="3429000" cy="7239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sz="32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大功率长时间测试</a:t>
            </a:r>
            <a:endParaRPr/>
          </a:p>
        </p:txBody>
      </p:sp>
      <p:sp>
        <p:nvSpPr>
          <p:cNvPr id="5" name=""/>
          <p:cNvSpPr txBox="true"/>
          <p:nvPr/>
        </p:nvSpPr>
        <p:spPr>
          <a:xfrm rot="0" flipH="false" flipV="false">
            <a:off x="3194050" y="2978150"/>
            <a:ext cx="237490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测试视频</a:t>
            </a:r>
            <a:r>
              <a:rPr lang="en-US"/>
              <a:t>+</a:t>
            </a:r>
            <a:r>
              <a:rPr lang="zh-CN"/>
              <a:t>热成像视频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true"/>
          <p:nvPr/>
        </p:nvSpPr>
        <p:spPr>
          <a:xfrm rot="0" flipH="false" flipV="false">
            <a:off x="4991100" y="163093"/>
            <a:ext cx="2209800" cy="7239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zh-CN" sz="32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发热图</a:t>
            </a:r>
            <a:r>
              <a:rPr sz="32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展示</a:t>
            </a:r>
            <a:endParaRPr/>
          </a:p>
        </p:txBody>
      </p:sp>
      <p:pic>
        <p:nvPicPr>
          <p:cNvPr id="8" name=""/>
          <p:cNvPicPr>
            <a:picLocks noChangeAspect="true"/>
          </p:cNvPicPr>
          <p:nvPr/>
        </p:nvPicPr>
        <p:blipFill>
          <a:blip r:embed="rId2"/>
          <a:srcRect l="0" t="-1515" r="-1010" b="9091"/>
          <a:stretch>
            <a:fillRect/>
          </a:stretch>
        </p:blipFill>
        <p:spPr>
          <a:xfrm rot="0" flipH="false" flipV="false">
            <a:off x="1399309" y="1858818"/>
            <a:ext cx="2309090" cy="2817090"/>
          </a:xfrm>
          <a:prstGeom prst="rect"/>
        </p:spPr>
      </p:pic>
      <p:pic>
        <p:nvPicPr>
          <p:cNvPr id="9" name=""/>
          <p:cNvPicPr>
            <a:picLocks noChangeAspect="true"/>
          </p:cNvPicPr>
          <p:nvPr/>
        </p:nvPicPr>
        <p:blipFill>
          <a:blip r:embed="rId3"/>
          <a:srcRect l="0" t="0" r="0" b="7955"/>
          <a:stretch>
            <a:fillRect/>
          </a:stretch>
        </p:blipFill>
        <p:spPr>
          <a:xfrm rot="0" flipH="false" flipV="false">
            <a:off x="4953000" y="1905000"/>
            <a:ext cx="2286000" cy="2805545"/>
          </a:xfrm>
          <a:prstGeom prst="rect"/>
        </p:spPr>
      </p:pic>
      <p:pic>
        <p:nvPicPr>
          <p:cNvPr id="10" name=""/>
          <p:cNvPicPr>
            <a:picLocks noChangeAspect="true"/>
          </p:cNvPicPr>
          <p:nvPr/>
        </p:nvPicPr>
        <p:blipFill>
          <a:blip r:embed="rId4"/>
          <a:srcRect l="0" t="0" r="0" b="8712"/>
          <a:stretch>
            <a:fillRect/>
          </a:stretch>
        </p:blipFill>
        <p:spPr>
          <a:xfrm rot="0" flipH="false" flipV="false">
            <a:off x="8506691" y="1905000"/>
            <a:ext cx="2286000" cy="2782454"/>
          </a:xfrm>
          <a:prstGeom prst="rect"/>
        </p:spPr>
      </p:pic>
      <p:sp>
        <p:nvSpPr>
          <p:cNvPr id="11" name=""/>
          <p:cNvSpPr txBox="true"/>
          <p:nvPr/>
        </p:nvSpPr>
        <p:spPr>
          <a:xfrm rot="0" flipH="false" flipV="false">
            <a:off x="4381500" y="5135274"/>
            <a:ext cx="3429000" cy="7239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zh-CN" sz="32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以上图片仅为占位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true"/>
          <p:nvPr/>
        </p:nvSpPr>
        <p:spPr>
          <a:xfrm rot="0" flipH="false" flipV="false">
            <a:off x="6206308" y="0"/>
            <a:ext cx="2209800" cy="7239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sz="32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效率图展示</a:t>
            </a:r>
            <a:endParaRPr/>
          </a:p>
        </p:txBody>
      </p:sp>
      <p:pic>
        <p:nvPicPr>
          <p:cNvPr id="14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36182" y="0"/>
            <a:ext cx="3029909" cy="2191568"/>
          </a:xfrm>
          <a:prstGeom prst="rect"/>
        </p:spPr>
      </p:pic>
      <p:pic>
        <p:nvPicPr>
          <p:cNvPr id="15" name="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 flipH="false" flipV="false">
            <a:off x="36182" y="2191568"/>
            <a:ext cx="3029908" cy="2191567"/>
          </a:xfrm>
          <a:prstGeom prst="rect"/>
        </p:spPr>
      </p:pic>
      <p:pic>
        <p:nvPicPr>
          <p:cNvPr id="16" name="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36182" y="4383135"/>
            <a:ext cx="3029908" cy="2191567"/>
          </a:xfrm>
          <a:prstGeom prst="rect"/>
        </p:spPr>
      </p:pic>
      <p:pic>
        <p:nvPicPr>
          <p:cNvPr id="17" name="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3066091" y="0"/>
            <a:ext cx="3029908" cy="2191567"/>
          </a:xfrm>
          <a:prstGeom prst="rect"/>
        </p:spPr>
      </p:pic>
      <p:pic>
        <p:nvPicPr>
          <p:cNvPr id="18" name="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 flipH="false" flipV="false">
            <a:off x="3066091" y="4384785"/>
            <a:ext cx="3029908" cy="2193218"/>
          </a:xfrm>
          <a:prstGeom prst="rect"/>
        </p:spPr>
      </p:pic>
      <p:pic>
        <p:nvPicPr>
          <p:cNvPr id="19" name="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 flipH="false" flipV="false">
            <a:off x="3066091" y="2191568"/>
            <a:ext cx="3029908" cy="2193217"/>
          </a:xfrm>
          <a:prstGeom prst="rect"/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 txBox="true"/>
          <p:nvPr/>
        </p:nvSpPr>
        <p:spPr>
          <a:xfrm rot="0" flipH="false" flipV="false">
            <a:off x="5600700" y="1929547"/>
            <a:ext cx="990600" cy="723900"/>
          </a:xfrm>
          <a:prstGeom prst="rect">
            <a:avLst/>
          </a:prstGeom>
          <a:ln w="12700">
            <a:prstDash val="solid"/>
          </a:ln>
        </p:spPr>
        <p:txBody>
          <a:bodyPr wrap="none">
            <a:spAutoFit/>
          </a:bodyPr>
          <a:p>
            <a:pPr/>
            <a:r>
              <a:rPr lang="zh-CN" sz="3200"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</a:rPr>
              <a:t>总结</a:t>
            </a:r>
            <a:endParaRPr/>
          </a:p>
        </p:txBody>
      </p:sp>
      <p:sp>
        <p:nvSpPr>
          <p:cNvPr id="22" name=""/>
          <p:cNvSpPr txBox="true"/>
          <p:nvPr/>
        </p:nvSpPr>
        <p:spPr>
          <a:xfrm rot="0" flipH="false" flipV="false">
            <a:off x="4311073" y="2653447"/>
            <a:ext cx="3569854" cy="45085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p>
            <a:pPr/>
            <a:r>
              <a:rPr lang="zh-CN"/>
              <a:t>（此处不断跳出</a:t>
            </a:r>
            <a:r>
              <a:rPr lang="en-US"/>
              <a:t>MP4201</a:t>
            </a:r>
            <a:r>
              <a:rPr lang="zh-CN"/>
              <a:t>的特点）</a:t>
            </a:r>
            <a:endParaRPr/>
          </a:p>
        </p:txBody>
      </p:sp>
      <p:sp>
        <p:nvSpPr>
          <p:cNvPr id="23" name=""/>
          <p:cNvSpPr txBox="true"/>
          <p:nvPr/>
        </p:nvSpPr>
        <p:spPr>
          <a:xfrm rot="0" flipH="false" flipV="false">
            <a:off x="4638675" y="3203575"/>
            <a:ext cx="2914650" cy="450850"/>
          </a:xfrm>
          <a:prstGeom prst="rect">
            <a:avLst/>
          </a:prstGeom>
          <a:ln w="6350">
            <a:prstDash val="solid"/>
          </a:ln>
        </p:spPr>
        <p:txBody>
          <a:bodyPr wrap="none">
            <a:spAutoFit/>
          </a:bodyPr>
          <a:p>
            <a:pPr/>
            <a:r>
              <a:rPr lang="zh-CN"/>
              <a:t>此处为两人拍摄，没有</a:t>
            </a:r>
            <a:r>
              <a:rPr lang="en-US"/>
              <a:t>PPT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ppt/theme/theme2.xml><?xml version="1.0" encoding="utf-8"?>
<a:theme xmlns:a="http://schemas.openxmlformats.org/drawingml/2006/main" name="notesMaster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2026-05-12T11:03:54Z</dcterms:created>
  <dcterms:modified xsi:type="dcterms:W3CDTF">2026-05-12T11:03:54Z</dcterms:modified>
</cp:coreProperties>
</file>