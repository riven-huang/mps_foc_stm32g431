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D_3FC95710.xml" ContentType="application/vnd.ms-powerpoint.comments+xml"/>
  <Override PartName="/ppt/notesSlides/notesSlide3.xml" ContentType="application/vnd.openxmlformats-officedocument.presentationml.notesSlide+xml"/>
  <Override PartName="/ppt/comments/modernComment_7FFFD77A_7F4BC4C8.xml" ContentType="application/vnd.ms-powerpoint.comments+xml"/>
  <Override PartName="/ppt/media/image2.jpg" ContentType="image/jpeg"/>
  <Override PartName="/ppt/notesSlides/notesSlide4.xml" ContentType="application/vnd.openxmlformats-officedocument.presentationml.notesSlide+xml"/>
  <Override PartName="/ppt/comments/modernComment_7FFFD779_A5C36FA6.xml" ContentType="application/vnd.ms-powerpoint.comments+xml"/>
  <Override PartName="/ppt/notesSlides/notesSlide5.xml" ContentType="application/vnd.openxmlformats-officedocument.presentationml.notesSlide+xml"/>
  <Override PartName="/ppt/comments/modernComment_10E_C5CE0ADC.xml" ContentType="application/vnd.ms-powerpoint.comments+xml"/>
  <Override PartName="/ppt/notesSlides/notesSlide6.xml" ContentType="application/vnd.openxmlformats-officedocument.presentationml.notesSlide+xml"/>
  <Override PartName="/ppt/comments/modernComment_167_29C30F1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10_2A349E40.xml" ContentType="application/vnd.ms-powerpoint.comments+xml"/>
  <Override PartName="/ppt/notesSlides/notesSlide9.xml" ContentType="application/vnd.openxmlformats-officedocument.presentationml.notesSlide+xml"/>
  <Override PartName="/ppt/comments/modernComment_10F_4AEEEBE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147473274" r:id="rId4"/>
    <p:sldId id="2147473273" r:id="rId5"/>
    <p:sldId id="270" r:id="rId6"/>
    <p:sldId id="359" r:id="rId7"/>
    <p:sldId id="360" r:id="rId8"/>
    <p:sldId id="272" r:id="rId9"/>
    <p:sldId id="271" r:id="rId10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60" autoAdjust="0"/>
    <p:restoredTop sz="66387" autoAdjust="0"/>
  </p:normalViewPr>
  <p:slideViewPr>
    <p:cSldViewPr snapToGrid="0">
      <p:cViewPr varScale="1">
        <p:scale>
          <a:sx n="50" d="100"/>
          <a:sy n="50" d="100"/>
        </p:scale>
        <p:origin x="188" y="2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7FFFD77A_7F4BC4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2EA338-3BCA-45B9-A9DC-5F0B2AFFF503}" authorId="{DBF8D1DB-DC70-CD51-A32D-A25DA2D31ED3}" created="2026-05-22T04:37:42.243">
    <pc:sldMkLst xmlns:pc="http://schemas.microsoft.com/office/powerpoint/2013/main/command">
      <pc:docMk/>
      <pc:sldMk cId="3318614748" sldId="270"/>
    </pc:sldMkLst>
    <p188:txBody>
      <a:bodyPr/>
      <a:lstStyle/>
      <a:p>
        <a:r>
          <a:rPr lang="en-US"/>
          <a:t>这段说什么内容，MPS的介绍和项目背景是不是放在这里更好？</a:t>
        </a:r>
      </a:p>
    </p188:txBody>
  </p188:cm>
</p188:cmLst>
</file>

<file path=ppt/comments/modernComment_7FFFD779_A5C36F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D0A640-5374-43F4-9EBE-868A874E90DB}" authorId="{DBF8D1DB-DC70-CD51-A32D-A25DA2D31ED3}" created="2026-05-22T02:08:37.686">
    <pc:sldMkLst xmlns:pc="http://schemas.microsoft.com/office/powerpoint/2013/main/command">
      <pc:docMk/>
      <pc:sldMk cId="2781048742" sldId="2147473273"/>
    </pc:sldMkLst>
    <p188:replyLst/>
    <p188:txBody>
      <a:bodyPr/>
      <a:lstStyle/>
      <a:p>
        <a:r>
          <a:rPr lang="en-US"/>
          <a:t>这个放在第一页：抛出成品和开源生态，同时突出本系列视频的目的是手把手教学。</a:t>
        </a:r>
      </a:p>
    </p188:txBody>
  </p188:cm>
</p188:cmLst>
</file>

<file path=ppt/comments/modernComment_10D_3FC957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1F95F7-7D11-4D36-89D7-7E52D2824CF0}" authorId="{DBF8D1DB-DC70-CD51-A32D-A25DA2D31ED3}" created="2026-05-22T02:10:04.893">
    <pc:sldMkLst xmlns:pc="http://schemas.microsoft.com/office/powerpoint/2013/main/command">
      <pc:docMk/>
      <pc:sldMk cId="1070159632" sldId="269"/>
    </pc:sldMkLst>
    <p188:txBody>
      <a:bodyPr/>
      <a:lstStyle/>
      <a:p>
        <a:r>
          <a:rPr lang="en-US"/>
          <a:t>实际效果展示放在第二页</a:t>
        </a:r>
      </a:p>
    </p188:txBody>
  </p188:cm>
</p188:cmLst>
</file>

<file path=ppt/comments/modernComment_10E_C5CE0AD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279B03-28F1-4D26-863F-2854C1605DEF}" authorId="{DBF8D1DB-DC70-CD51-A32D-A25DA2D31ED3}" created="2026-05-22T04:37:42.243">
    <pc:sldMkLst xmlns:pc="http://schemas.microsoft.com/office/powerpoint/2013/main/command">
      <pc:docMk/>
      <pc:sldMk cId="3318614748" sldId="270"/>
    </pc:sldMkLst>
    <p188:txBody>
      <a:bodyPr/>
      <a:lstStyle/>
      <a:p>
        <a:r>
          <a:rPr lang="en-US"/>
          <a:t>这段说什么内容，MPS的介绍和项目背景是不是放在这里更好？</a:t>
        </a:r>
      </a:p>
    </p188:txBody>
  </p188:cm>
</p188:cmLst>
</file>

<file path=ppt/comments/modernComment_10F_4AEEEB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9BFB61-5066-4C71-9D05-467B09110EBA}" authorId="{DBF8D1DB-DC70-CD51-A32D-A25DA2D31ED3}" created="2026-05-22T02:18:12.370">
    <pc:sldMkLst xmlns:pc="http://schemas.microsoft.com/office/powerpoint/2013/main/command">
      <pc:docMk/>
      <pc:sldMk cId="1257171949" sldId="271"/>
    </pc:sldMkLst>
    <p188:txBody>
      <a:bodyPr/>
      <a:lstStyle/>
      <a:p>
        <a:r>
          <a:rPr lang="en-US"/>
          <a:t>和上一页合并</a:t>
        </a:r>
      </a:p>
    </p188:txBody>
  </p188:cm>
</p188:cmLst>
</file>

<file path=ppt/comments/modernComment_110_2A349E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C3CF93-4367-4E33-81F8-DEFCFB5F179C}" authorId="{DBF8D1DB-DC70-CD51-A32D-A25DA2D31ED3}" created="2026-05-22T02:13:05.947">
    <pc:sldMkLst xmlns:pc="http://schemas.microsoft.com/office/powerpoint/2013/main/command">
      <pc:docMk/>
      <pc:sldMk cId="708091456" sldId="272"/>
    </pc:sldMkLst>
    <p188:txBody>
      <a:bodyPr/>
      <a:lstStyle/>
      <a:p>
        <a:r>
          <a:rPr lang="en-US"/>
          <a:t>这里建议呈现软硬件的开源工程获取路径：github和立创。后面另起一页，说这个项目的成功落地是基于MPS的机器人关节电机工程，大家可以参与复刻。如果有其他项目需求，可以联系MPS大学计划。</a:t>
        </a:r>
      </a:p>
    </p188:txBody>
  </p188:cm>
</p188:cmLst>
</file>

<file path=ppt/comments/modernComment_167_29C3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490EE3-A8B6-42EF-83D9-47F8788E4D47}" authorId="{1AC17FB6-8DBC-C8E7-EA6A-CEBDE8B2FED1}" created="2026-05-19T02:10:19.1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3790577" sldId="359"/>
      <ac:spMk id="53" creationId="{0F083F37-5B71-0D54-33A8-ABE0CC42AEC0}"/>
      <ac:txMk cp="0" len="5">
        <ac:context len="6" hash="1296426890"/>
      </ac:txMk>
    </ac:txMkLst>
    <p188:pos x="1346052" y="339549"/>
    <p188:replyLst>
      <p188:reply id="{24667675-03C0-4840-8474-9E51CC2BE339}" authorId="{DBF8D1DB-DC70-CD51-A32D-A25DA2D31ED3}" created="2026-05-22T04:47:37.407">
        <p188:txBody>
          <a:bodyPr/>
          <a:lstStyle/>
          <a:p>
            <a:r>
              <a:rPr lang="en-US"/>
              <a:t>MPM3632S料号错误，48Vdc改为48V电池包，MIE1W0505料号没写</a:t>
            </a:r>
          </a:p>
        </p188:txBody>
      </p188:reply>
    </p188:replyLst>
    <p188:txBody>
      <a:bodyPr/>
      <a:lstStyle/>
      <a:p>
        <a:r>
          <a:rPr lang="zh-CN" altLang="en-US"/>
          <a:t>其他品牌隐去型号
如INA240A1换成电流感应放大器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宣传策略：</a:t>
            </a:r>
            <a:r>
              <a:rPr lang="en-US" altLang="zh-CN" b="1" dirty="0"/>
              <a:t>KOL</a:t>
            </a:r>
            <a:r>
              <a:rPr lang="zh-CN" altLang="en-US" b="1" dirty="0"/>
              <a:t>配合转发；生态群宣发</a:t>
            </a:r>
            <a:endParaRPr lang="en-US" altLang="zh-CN" b="1" dirty="0"/>
          </a:p>
          <a:p>
            <a:r>
              <a:rPr lang="zh-CN" altLang="en-US" b="1" dirty="0"/>
              <a:t>转发微信文章版本集结所有</a:t>
            </a:r>
            <a:r>
              <a:rPr lang="en-US" altLang="zh-CN" b="1" dirty="0"/>
              <a:t>link</a:t>
            </a:r>
            <a:r>
              <a:rPr lang="zh-CN" altLang="en-US" b="1" dirty="0"/>
              <a:t>合辑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666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快闪切入（黄河拍摄素材</a:t>
            </a:r>
            <a:r>
              <a:rPr lang="en-US" altLang="zh-CN" b="1" dirty="0"/>
              <a:t>/</a:t>
            </a:r>
            <a:r>
              <a:rPr lang="zh-CN" altLang="en-US" b="1" dirty="0"/>
              <a:t>后续媒体团队到实验室拍摄）</a:t>
            </a:r>
            <a:r>
              <a:rPr lang="en-US" altLang="zh-CN" dirty="0"/>
              <a:t>---</a:t>
            </a:r>
            <a:r>
              <a:rPr lang="zh-CN" altLang="en-US" dirty="0"/>
              <a:t>到电机转动特写</a:t>
            </a:r>
            <a:r>
              <a:rPr lang="en-US" altLang="zh-CN" dirty="0"/>
              <a:t>—</a:t>
            </a:r>
            <a:r>
              <a:rPr lang="zh-CN" altLang="en-US" dirty="0"/>
              <a:t>再切换到</a:t>
            </a:r>
            <a:r>
              <a:rPr lang="en-US" altLang="zh-CN" dirty="0"/>
              <a:t>P3</a:t>
            </a:r>
            <a:r>
              <a:rPr lang="zh-CN" altLang="en-US" dirty="0"/>
              <a:t>的关节电机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B55C-062B-386B-7F21-7DB34BA8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FAA72602-102B-A54B-3259-CAC57AB97C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抛钩子 互动  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互动式提问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短时互动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701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D1E-DAE8-328A-B779-26C50EE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FF1FB-92ED-31A1-A0ED-D30FB4C33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197C3-066F-DB8D-754A-03425492D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图片增加 </a:t>
            </a:r>
            <a:r>
              <a:rPr lang="en-US" altLang="zh-CN" b="1" dirty="0"/>
              <a:t>FOC </a:t>
            </a:r>
            <a:r>
              <a:rPr lang="zh-CN" altLang="en-US" b="1" dirty="0"/>
              <a:t>三环控制</a:t>
            </a:r>
            <a:endParaRPr lang="en-US" altLang="zh-CN" b="1" dirty="0"/>
          </a:p>
          <a:p>
            <a:r>
              <a:rPr lang="zh-CN" altLang="en-US" b="1" dirty="0"/>
              <a:t>这页交代故事背景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点名受众：公司项目</a:t>
            </a:r>
            <a:r>
              <a:rPr lang="en-US" altLang="zh-CN" b="1" dirty="0"/>
              <a:t>/</a:t>
            </a:r>
            <a:r>
              <a:rPr lang="zh-CN" altLang="en-US" b="1" dirty="0"/>
              <a:t>感兴趣的开发者学习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b="1" dirty="0"/>
              <a:t>软件</a:t>
            </a:r>
            <a:r>
              <a:rPr lang="en-US" altLang="zh-CN" b="1" dirty="0"/>
              <a:t>3D</a:t>
            </a:r>
            <a:r>
              <a:rPr lang="zh-CN" altLang="en-US" b="1" dirty="0"/>
              <a:t>图旋转效果（现场录频）</a:t>
            </a:r>
            <a:endParaRPr lang="en-US" altLang="zh-CN" b="1" dirty="0"/>
          </a:p>
          <a:p>
            <a:endParaRPr lang="en-US" dirty="0"/>
          </a:p>
          <a:p>
            <a:r>
              <a:rPr lang="zh-CN" altLang="en-US" b="1" dirty="0"/>
              <a:t>同款工程芯片二维码更新</a:t>
            </a:r>
            <a:r>
              <a:rPr lang="en-US" altLang="zh-CN" b="1" dirty="0"/>
              <a:t>—</a:t>
            </a:r>
            <a:r>
              <a:rPr lang="zh-CN" altLang="en-US" b="1" dirty="0"/>
              <a:t>推广参数：</a:t>
            </a:r>
            <a:r>
              <a:rPr lang="en-US" altLang="zh-CN" b="1" dirty="0"/>
              <a:t>B</a:t>
            </a:r>
            <a:r>
              <a:rPr lang="zh-CN" altLang="en-US" b="1" dirty="0"/>
              <a:t>站复刻活动；配合评论区置顶链接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CC2-D07E-1BF7-BCDB-8333A578C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6558B-D363-4614-BF9C-2488D1FD59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9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近年来，机器人和具身智能的发展迅速，尤其是人形机器人、四足机器人、协作机械臂这些方向，已经从实验室展示逐渐走向真实应用。这里面有一个很核心、但经常被忽略的部分，就是关节电机。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对机器人来说，关节就像人的一样，决定了它能不能稳定地站起来、走起来、抓取物体，甚至完成更精细的动作。而想让一个电机既有力、又平稳、还要响应快，就离不开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FOC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，也就是电机的磁场定向控制。它直接影响电机的转矩控制、速度控制和位置控制效果。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但真正想自己做一套关节电机控制系统时，仍然存在一定门槛和学习成本。它涉及到控制算法，驱动芯片、电源设计、电流采样、编码器反馈、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PCB Layout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、上电调试和保护机制等诸多</a:t>
            </a:r>
            <a:r>
              <a:rPr lang="zh-CN" altLang="en-US" sz="1600" b="0" i="0">
                <a:solidFill>
                  <a:srgbClr val="1A1C1F"/>
                </a:solidFill>
                <a:effectLst/>
                <a:latin typeface="+mn-ea"/>
                <a:ea typeface="+mn-ea"/>
              </a:rPr>
              <a:t>内容。</a:t>
            </a:r>
            <a:endParaRPr lang="en-US" altLang="zh-CN" sz="1600" b="0" i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altLang="zh-CN" sz="1600" b="0" i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en-US" altLang="zh-CN" sz="1600" b="1" i="0">
                <a:solidFill>
                  <a:srgbClr val="1A1C1F"/>
                </a:solidFill>
                <a:effectLst/>
                <a:latin typeface="+mn-ea"/>
                <a:ea typeface="+mn-ea"/>
              </a:rPr>
              <a:t>(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文稿拆分至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P3-P5 -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文稿不用太官方，口语化一些 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KOL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风格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1:30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2:20</a:t>
            </a:r>
          </a:p>
          <a:p>
            <a:r>
              <a:rPr lang="zh-CN" altLang="en-US" dirty="0"/>
              <a:t>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 </a:t>
            </a:r>
            <a:r>
              <a:rPr lang="zh-CN" altLang="en-US" dirty="0"/>
              <a:t>等降压芯片与隔离模块组合，将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主电源逐级转化为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、预驱动芯片以及通信接口提供稳定的供电。核心驱动部分以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 </a:t>
            </a:r>
            <a:r>
              <a:rPr lang="zh-CN" altLang="en-US" dirty="0"/>
              <a:t>直接驱动电机运转。最后的闭环反馈环节，则通过电流传感器和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磁编码器，实时采集电机的相电流与转子位置信息并传回主控，从而完成整个系统的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添加</a:t>
            </a:r>
            <a:r>
              <a:rPr lang="en-US" altLang="zh-CN" b="1" dirty="0"/>
              <a:t>MIE</a:t>
            </a:r>
          </a:p>
          <a:p>
            <a:r>
              <a:rPr lang="zh-CN" altLang="en-US" b="1" dirty="0"/>
              <a:t>提现物料描述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?</a:t>
            </a:r>
            <a:r>
              <a:rPr lang="zh-CN" altLang="en-US" dirty="0"/>
              <a:t>在第二篇章讲选型到</a:t>
            </a:r>
            <a:r>
              <a:rPr lang="en-US" altLang="zh-CN" dirty="0"/>
              <a:t>100V</a:t>
            </a:r>
            <a:r>
              <a:rPr lang="zh-CN" altLang="en-US" dirty="0"/>
              <a:t>耐压的必要性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2:20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2:40</a:t>
            </a:r>
            <a:r>
              <a:rPr lang="zh-CN" altLang="en-US" dirty="0"/>
              <a:t>为了说明这套方案已经落地，我们做了完整测试。当前项目已经完成 </a:t>
            </a:r>
            <a:r>
              <a:rPr lang="en-US" altLang="zh-CN" dirty="0"/>
              <a:t>40V </a:t>
            </a:r>
            <a:r>
              <a:rPr lang="zh-CN" altLang="en-US" dirty="0"/>
              <a:t>到 </a:t>
            </a:r>
            <a:r>
              <a:rPr lang="en-US" altLang="zh-CN" dirty="0"/>
              <a:t>56V </a:t>
            </a:r>
            <a:r>
              <a:rPr lang="zh-CN" altLang="en-US" dirty="0"/>
              <a:t>宽输入、速度环和位置环控制，以及 </a:t>
            </a:r>
            <a:r>
              <a:rPr lang="en-US" altLang="zh-CN" dirty="0"/>
              <a:t>180W </a:t>
            </a:r>
            <a:r>
              <a:rPr lang="zh-CN" altLang="en-US" dirty="0"/>
              <a:t>对拖带载和温升测试。相关测试视频都可以在我</a:t>
            </a:r>
            <a:r>
              <a:rPr lang="en-US" altLang="zh-CN" dirty="0"/>
              <a:t>b</a:t>
            </a:r>
            <a:r>
              <a:rPr lang="zh-CN" altLang="en-US" dirty="0"/>
              <a:t>站的往期视频找到，或者查看开源文档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视频动效渲染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两个控制环视频公司动态呈现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温升测试录频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745694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CB66-1354-4832-7732-DEE4C8F0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F71D534-3AD1-F718-0459-D9B4C379E2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zh-CN" altLang="en-US" dirty="0"/>
              <a:t>为了能让这份探索更有价值，这个项目从底层的硬件原理图、软件代码，再到完整的上电测试和复刻流程，我会细致到从发板到实际跑起来全过程，全部整理并开源出来。希望这些资料能为大家提供一个直观的参考。如果大家有兴趣，完全可以对照着，自己动手复刻一套真正能跑起来的</a:t>
            </a:r>
            <a:r>
              <a:rPr lang="en-US" altLang="zh-CN" dirty="0"/>
              <a:t>FOC</a:t>
            </a:r>
            <a:r>
              <a:rPr lang="zh-CN" altLang="en-US" dirty="0"/>
              <a:t>。</a:t>
            </a:r>
          </a:p>
          <a:p>
            <a:pPr>
              <a:buNone/>
            </a:pPr>
            <a:r>
              <a:rPr lang="zh-CN" altLang="en-US" dirty="0"/>
              <a:t>另外，</a:t>
            </a:r>
            <a:r>
              <a:rPr lang="zh-CN" altLang="en-US" b="1" dirty="0"/>
              <a:t>考虑到便于大家快速复刻本工程，零成本启动项目开发，</a:t>
            </a:r>
            <a:r>
              <a:rPr lang="zh-CN" altLang="en-US" dirty="0"/>
              <a:t>得益于 </a:t>
            </a:r>
            <a:r>
              <a:rPr lang="en-US" altLang="zh-CN" dirty="0"/>
              <a:t>MPS </a:t>
            </a:r>
            <a:r>
              <a:rPr lang="zh-CN" altLang="en-US" dirty="0"/>
              <a:t>官方的支持，大家在复刻这个项目时，相关</a:t>
            </a:r>
            <a:r>
              <a:rPr lang="en-US" altLang="zh-CN" dirty="0"/>
              <a:t>MPS</a:t>
            </a:r>
            <a:r>
              <a:rPr lang="zh-CN" altLang="en-US" dirty="0"/>
              <a:t>方案的芯片可以免费获取。</a:t>
            </a:r>
          </a:p>
          <a:p>
            <a:pPr>
              <a:buNone/>
            </a:pPr>
            <a:r>
              <a:rPr lang="en-US" altLang="zh-CN" dirty="0"/>
              <a:t>MPS </a:t>
            </a:r>
            <a:r>
              <a:rPr lang="zh-CN" altLang="en-US" dirty="0"/>
              <a:t>的‘大学计划’，持续支持高校学生的科研实践和电子类的学科竞赛。只要是在校学生，就可以通过 </a:t>
            </a:r>
            <a:r>
              <a:rPr lang="en-US" altLang="zh-CN" dirty="0"/>
              <a:t>MPS </a:t>
            </a:r>
            <a:r>
              <a:rPr lang="zh-CN" altLang="en-US" dirty="0"/>
              <a:t>官网的大学计划专属通道，申请到这套电机方案的免费样品。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我已经把所有的开源文件链接，以及芯片申请的官方入口，都详细地整理在了视频简介里。下一集进入硬件设计，讲这块板子为什么这样选型、这样分区，以及 </a:t>
            </a:r>
            <a:r>
              <a:rPr lang="en-US" altLang="zh-CN" dirty="0"/>
              <a:t>Layout </a:t>
            </a:r>
            <a:r>
              <a:rPr lang="zh-CN" altLang="en-US" dirty="0"/>
              <a:t>关键点。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左侧放两个平台的工程路径二维码  右侧滑动屏幕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9026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刚好借着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推出了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2025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机器人关节电机挑战赛，提供了一套完整的电机驱动和电源方案。</a:t>
            </a:r>
            <a:r>
              <a:rPr lang="zh-CN" altLang="en-US" sz="2400" dirty="0"/>
              <a:t>我就借此机会，设计并实现了一套完整的闭环 </a:t>
            </a:r>
            <a:r>
              <a:rPr lang="en-US" altLang="zh-CN" sz="2400" dirty="0"/>
              <a:t>FOC </a:t>
            </a:r>
            <a:r>
              <a:rPr lang="zh-CN" altLang="en-US" sz="2400" dirty="0"/>
              <a:t>关节控制系统参与该比赛，并进行一系列测试，获得一等奖，验证了该套方案的可行性。</a:t>
            </a:r>
            <a:endParaRPr lang="en-US" altLang="zh-CN" sz="2400" dirty="0"/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altLang="zh-CN" sz="24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altLang="zh-CN" sz="24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人物背景实拍：号召复刻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+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后续篇章的预告引流（后几集的预约组件）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媒体团队准备复刻活动介绍文件（后续同步至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MPSNOW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微页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\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大学计划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banner, 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复刻社群）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同款芯片申请二维码 </a:t>
            </a:r>
            <a:r>
              <a:rPr lang="en-US" altLang="zh-CN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–Jing</a:t>
            </a: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表单提交后出现社群二维码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r>
              <a:rPr lang="zh-CN" altLang="en-US" sz="1600" b="1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结尾超快花絮（工程背后的实操  横版）</a:t>
            </a:r>
            <a:endParaRPr lang="en-US" altLang="zh-CN" sz="16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5/22/2026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5/22/2026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5/22/2026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5/22/2026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5/22/2026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5/22/2026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5/22/2026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5/22/2026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5/22/2026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5/22/2026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5/22/2026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1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1726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5/22/2026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3FC957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77A_7F4BC4C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8/10/relationships/comments" Target="../comments/modernComment_7FFFD779_A5C36FA6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C5CE0ADC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18/10/relationships/comments" Target="../comments/modernComment_167_29C30F1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2A349E4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4AEEEBED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577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、位置环带力臂</a:t>
            </a:r>
            <a:r>
              <a:rPr lang="en-US" altLang="zh-CN" dirty="0"/>
              <a:t>+</a:t>
            </a:r>
            <a:r>
              <a:rPr lang="zh-CN" altLang="en-US" dirty="0"/>
              <a:t>重物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、电机带载测试片段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、人和电机带力臂扳手腕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pic>
        <p:nvPicPr>
          <p:cNvPr id="4" name="Image 1" descr="D:\A_RivenHuang\Electronic_Design_Project\mps-foc-STM32G431\docs\images\test-platform-dual-motor.jpg">
            <a:extLst>
              <a:ext uri="{FF2B5EF4-FFF2-40B4-BE49-F238E27FC236}">
                <a16:creationId xmlns:a16="http://schemas.microsoft.com/office/drawing/2014/main" id="{AF479331-4AC3-5A2F-C317-37859D002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808" y="1328636"/>
            <a:ext cx="5276088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FC4E-6A92-6EB9-0846-ED715327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44F946-82E7-BCF4-5481-D70DEDD091B0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2E3554-BB19-6CD0-B74E-D992D27B6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3AC4F3-606E-FD1E-ECEB-8979B29DA351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56720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88E-D8FD-9891-5FE8-31C4702E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4B1A7C9-FDD4-FA66-73E8-66B9781B5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679" y="1"/>
            <a:ext cx="1639790" cy="163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0BE1010C-FF25-5504-02B6-4507203D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08" y="203285"/>
            <a:ext cx="9015644" cy="521208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关节电机工程</a:t>
            </a:r>
            <a:r>
              <a:rPr lang="en-US" altLang="zh-CN" dirty="0"/>
              <a:t>——</a:t>
            </a:r>
            <a:r>
              <a:rPr lang="zh-CN" altLang="en-US" dirty="0"/>
              <a:t>零门槛快速落地</a:t>
            </a:r>
            <a:endParaRPr lang="en-US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367863-E0E5-ADBA-04D7-ED7079B2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793" y="1600276"/>
            <a:ext cx="3825318" cy="20668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F1C334-265E-1678-BBC6-2E9C0D5449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/>
          <a:stretch>
            <a:fillRect/>
          </a:stretch>
        </p:blipFill>
        <p:spPr bwMode="auto">
          <a:xfrm>
            <a:off x="217808" y="1624629"/>
            <a:ext cx="6616518" cy="4516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D2F617-8D33-7162-8660-33E0F64188E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t="15216" r="10620" b="7390"/>
          <a:stretch/>
        </p:blipFill>
        <p:spPr bwMode="auto">
          <a:xfrm>
            <a:off x="7320793" y="3837286"/>
            <a:ext cx="4309110" cy="243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35314B-9BD1-6608-5B9C-26B37DA0E46E}"/>
              </a:ext>
            </a:extLst>
          </p:cNvPr>
          <p:cNvSpPr txBox="1"/>
          <p:nvPr/>
        </p:nvSpPr>
        <p:spPr>
          <a:xfrm>
            <a:off x="216030" y="782973"/>
            <a:ext cx="9529233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12~48V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宽压输入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|180W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持续带载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适配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80mm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电机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电流环、速度环、位置环</a:t>
            </a:r>
            <a:endParaRPr lang="zh-CN" altLang="en-US" sz="2000" dirty="0"/>
          </a:p>
        </p:txBody>
      </p:sp>
      <p:pic>
        <p:nvPicPr>
          <p:cNvPr id="5" name="图片 4" descr="散点图, QR 代码&#10;&#10;AI 生成的内容可能不正确。">
            <a:extLst>
              <a:ext uri="{FF2B5EF4-FFF2-40B4-BE49-F238E27FC236}">
                <a16:creationId xmlns:a16="http://schemas.microsoft.com/office/drawing/2014/main" id="{E807C57C-E897-1C1A-A90D-DFDEFD16B4D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10682206" y="110696"/>
            <a:ext cx="1575051" cy="1443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10487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954343-954C-BF74-F39F-C95351C942E8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6390281" y="3939505"/>
            <a:ext cx="1751537" cy="217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217808" y="3924092"/>
            <a:ext cx="6050681" cy="2193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8263610" y="3939505"/>
            <a:ext cx="3409738" cy="21782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168859" y="1261621"/>
            <a:ext cx="11455540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391146" y="235891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261032" y="2448017"/>
            <a:ext cx="1295895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5099635" y="1236125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579037" y="1913397"/>
            <a:ext cx="1509689" cy="140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2427117" y="3255662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降压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圆角右 20">
            <a:extLst>
              <a:ext uri="{FF2B5EF4-FFF2-40B4-BE49-F238E27FC236}">
                <a16:creationId xmlns:a16="http://schemas.microsoft.com/office/drawing/2014/main" id="{57490716-3626-C468-B76C-5ABF7DCFF028}"/>
              </a:ext>
            </a:extLst>
          </p:cNvPr>
          <p:cNvSpPr/>
          <p:nvPr/>
        </p:nvSpPr>
        <p:spPr>
          <a:xfrm rot="5400000">
            <a:off x="9909535" y="2425375"/>
            <a:ext cx="1348970" cy="1214324"/>
          </a:xfrm>
          <a:prstGeom prst="bentArrow">
            <a:avLst>
              <a:gd name="adj1" fmla="val 25625"/>
              <a:gd name="adj2" fmla="val 23087"/>
              <a:gd name="adj3" fmla="val 26696"/>
              <a:gd name="adj4" fmla="val 4375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180" y="1744522"/>
            <a:ext cx="1647316" cy="164731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635" y="1744100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948" y="4360595"/>
            <a:ext cx="1416331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151" y="4408935"/>
            <a:ext cx="1236297" cy="1231188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652842" y="3939505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9070491" y="3953791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579037" y="3921749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61">
            <a:extLst>
              <a:ext uri="{FF2B5EF4-FFF2-40B4-BE49-F238E27FC236}">
                <a16:creationId xmlns:a16="http://schemas.microsoft.com/office/drawing/2014/main" id="{75305385-BED8-1092-10D5-934780C4B919}"/>
              </a:ext>
            </a:extLst>
          </p:cNvPr>
          <p:cNvSpPr/>
          <p:nvPr/>
        </p:nvSpPr>
        <p:spPr>
          <a:xfrm>
            <a:off x="5257455" y="4865001"/>
            <a:ext cx="927612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139560" y="3345204"/>
            <a:ext cx="1406445" cy="432566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4997259" y="3257384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降压模块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8107888" y="3257384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8242448" y="555325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813279" y="5548896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6414142" y="552452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688805" y="5581097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345686" y="55927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B8666-AC42-AE54-FB07-F6BA0DAE92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1844" y="4447480"/>
            <a:ext cx="1055608" cy="10556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80891-87F3-CBA3-E915-1D4CAC22607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7428"/>
          <a:stretch/>
        </p:blipFill>
        <p:spPr>
          <a:xfrm>
            <a:off x="412082" y="4177866"/>
            <a:ext cx="1592539" cy="1314991"/>
          </a:xfrm>
          <a:prstGeom prst="rect">
            <a:avLst/>
          </a:prstGeom>
        </p:spPr>
      </p:pic>
      <p:pic>
        <p:nvPicPr>
          <p:cNvPr id="7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BEDEC412-FFBD-C215-6EDD-64969EBB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77" y="4557900"/>
            <a:ext cx="1258758" cy="81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2B8A6DD-FF06-DAAB-4F89-EFB32DECFF0C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总体方案设计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系统架构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C3B47-5E63-0A24-8AE1-61E7D703B593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MPS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关节电机方案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高功率密度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多功能模块集成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宽电压适配</a:t>
            </a:r>
            <a:endParaRPr lang="zh-CN" altLang="en-US" sz="2000" dirty="0"/>
          </a:p>
        </p:txBody>
      </p:sp>
      <p:sp>
        <p:nvSpPr>
          <p:cNvPr id="10" name="右箭头 13">
            <a:extLst>
              <a:ext uri="{FF2B5EF4-FFF2-40B4-BE49-F238E27FC236}">
                <a16:creationId xmlns:a16="http://schemas.microsoft.com/office/drawing/2014/main" id="{44E306B8-D2BF-414B-BEBA-7D8229F62E7D}"/>
              </a:ext>
            </a:extLst>
          </p:cNvPr>
          <p:cNvSpPr/>
          <p:nvPr/>
        </p:nvSpPr>
        <p:spPr>
          <a:xfrm>
            <a:off x="4024869" y="235299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右箭头 13">
            <a:extLst>
              <a:ext uri="{FF2B5EF4-FFF2-40B4-BE49-F238E27FC236}">
                <a16:creationId xmlns:a16="http://schemas.microsoft.com/office/drawing/2014/main" id="{D3FDD90B-C336-347A-811E-81D5AC02FFF2}"/>
              </a:ext>
            </a:extLst>
          </p:cNvPr>
          <p:cNvSpPr/>
          <p:nvPr/>
        </p:nvSpPr>
        <p:spPr>
          <a:xfrm>
            <a:off x="6919066" y="235891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DA3891F6-4F9E-5FFA-4B78-5B187DBB178C}"/>
              </a:ext>
            </a:extLst>
          </p:cNvPr>
          <p:cNvSpPr/>
          <p:nvPr/>
        </p:nvSpPr>
        <p:spPr>
          <a:xfrm rot="10800000" flipV="1">
            <a:off x="1791339" y="4798918"/>
            <a:ext cx="1094791" cy="41703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BA511C76-B972-2FF9-7A6A-EFD4E08CAB26}"/>
              </a:ext>
            </a:extLst>
          </p:cNvPr>
          <p:cNvSpPr/>
          <p:nvPr/>
        </p:nvSpPr>
        <p:spPr>
          <a:xfrm rot="10800000" flipV="1">
            <a:off x="4152083" y="4812416"/>
            <a:ext cx="1094791" cy="41703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A1EA48-F1AF-DF4B-0DF1-3648265D181B}"/>
              </a:ext>
            </a:extLst>
          </p:cNvPr>
          <p:cNvSpPr txBox="1"/>
          <p:nvPr/>
        </p:nvSpPr>
        <p:spPr>
          <a:xfrm>
            <a:off x="10660782" y="3302751"/>
            <a:ext cx="527709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14BB7B20-938E-AFA8-3087-4C383B2B7128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方案验证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完整测试结果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BB33F7-3612-7A1B-7099-48E4F3119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33196"/>
              </p:ext>
            </p:extLst>
          </p:nvPr>
        </p:nvGraphicFramePr>
        <p:xfrm>
          <a:off x="217807" y="3567005"/>
          <a:ext cx="11400033" cy="281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11">
                  <a:extLst>
                    <a:ext uri="{9D8B030D-6E8A-4147-A177-3AD203B41FA5}">
                      <a16:colId xmlns:a16="http://schemas.microsoft.com/office/drawing/2014/main" val="4056263176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925276843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378683119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位置环控制精度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速度环控制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带载温升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67917"/>
                  </a:ext>
                </a:extLst>
              </a:tr>
              <a:tr h="23698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79353"/>
                  </a:ext>
                </a:extLst>
              </a:tr>
            </a:tbl>
          </a:graphicData>
        </a:graphic>
      </p:graphicFrame>
      <p:pic>
        <p:nvPicPr>
          <p:cNvPr id="7" name="Picture 4" descr="Position Control Accuracy">
            <a:extLst>
              <a:ext uri="{FF2B5EF4-FFF2-40B4-BE49-F238E27FC236}">
                <a16:creationId xmlns:a16="http://schemas.microsoft.com/office/drawing/2014/main" id="{B339293B-DBD0-1B1D-3759-02CC0AA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8" y="3999132"/>
            <a:ext cx="3665986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eed Control Accuracy">
            <a:extLst>
              <a:ext uri="{FF2B5EF4-FFF2-40B4-BE49-F238E27FC236}">
                <a16:creationId xmlns:a16="http://schemas.microsoft.com/office/drawing/2014/main" id="{1CB6CBD2-447A-B7F6-C88E-B0C690B1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600" y="3999132"/>
            <a:ext cx="3440445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8B973F-8E27-4BF1-8BD6-74551E8EC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3454" r="13278" b="8636"/>
          <a:stretch/>
        </p:blipFill>
        <p:spPr bwMode="auto">
          <a:xfrm>
            <a:off x="8297469" y="3999132"/>
            <a:ext cx="2899144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7E9E2D-E6F9-BE0B-368A-619758634AD0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力矩环 速度环 位置环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多层嵌套，易于调试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长时带载温升测试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测试平台全开源</a:t>
            </a:r>
            <a:endParaRPr lang="zh-CN" altLang="en-US" sz="20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2034DB9E-4E02-579C-3FCA-C8E8A2032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818" y="1360423"/>
            <a:ext cx="3440445" cy="206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14B571-86E9-5E68-2042-3EEC3FF75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808" y="1200862"/>
            <a:ext cx="7664462" cy="22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D37A-71DC-F259-31DD-F6128F6B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26B342-C9C5-AC57-22B6-7BB3F4EE9FC3}"/>
              </a:ext>
            </a:extLst>
          </p:cNvPr>
          <p:cNvSpPr txBox="1"/>
          <p:nvPr/>
        </p:nvSpPr>
        <p:spPr>
          <a:xfrm>
            <a:off x="942109" y="1891146"/>
            <a:ext cx="6814686" cy="113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这边放一下</a:t>
            </a:r>
            <a:r>
              <a:rPr lang="en-US" altLang="zh-CN" dirty="0" err="1"/>
              <a:t>github</a:t>
            </a:r>
            <a:r>
              <a:rPr lang="zh-CN" altLang="en-US" dirty="0"/>
              <a:t>和立创开源广场从上往下滑的页面，边滑边讲，</a:t>
            </a:r>
            <a:endParaRPr lang="en-US" altLang="zh-CN" dirty="0"/>
          </a:p>
          <a:p>
            <a:r>
              <a:rPr lang="zh-CN" altLang="en-US" strike="sngStrike" dirty="0"/>
              <a:t>再滑到大学计划界面，介绍下大学计划，</a:t>
            </a:r>
            <a:endParaRPr lang="en-US" altLang="zh-CN" strike="sngStrike" dirty="0"/>
          </a:p>
          <a:p>
            <a:r>
              <a:rPr lang="zh-CN" altLang="en-US" strike="sngStrike" dirty="0"/>
              <a:t>再给大学计划拿到的芯片拍一个全景图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4C851A-1F89-E3BD-91E7-579F61B8E7CA}"/>
              </a:ext>
            </a:extLst>
          </p:cNvPr>
          <p:cNvSpPr txBox="1"/>
          <p:nvPr/>
        </p:nvSpPr>
        <p:spPr>
          <a:xfrm>
            <a:off x="740404" y="413611"/>
            <a:ext cx="1552942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2:40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3:30</a:t>
            </a:r>
          </a:p>
        </p:txBody>
      </p:sp>
    </p:spTree>
    <p:extLst>
      <p:ext uri="{BB962C8B-B14F-4D97-AF65-F5344CB8AC3E}">
        <p14:creationId xmlns:p14="http://schemas.microsoft.com/office/powerpoint/2010/main" val="7080914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A4018B-4708-2864-4A7E-8BCBFF660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19" y="629228"/>
            <a:ext cx="5022058" cy="55995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4950F5-18CE-34A8-DEBE-F59586CD8E8D}"/>
              </a:ext>
            </a:extLst>
          </p:cNvPr>
          <p:cNvSpPr txBox="1"/>
          <p:nvPr/>
        </p:nvSpPr>
        <p:spPr>
          <a:xfrm>
            <a:off x="5673436" y="3581399"/>
            <a:ext cx="5262979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这个画面，录一小段浏览器在这个比赛界面</a:t>
            </a:r>
            <a:endParaRPr lang="en-US" altLang="zh-CN" dirty="0"/>
          </a:p>
          <a:p>
            <a:r>
              <a:rPr lang="zh-CN" altLang="en-US" dirty="0"/>
              <a:t>往下滑的视频平移录屏，以及比赛结算的推广界面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71719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1195</Words>
  <Application>Microsoft Office PowerPoint</Application>
  <PresentationFormat>宽屏</PresentationFormat>
  <Paragraphs>102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Aptos</vt:lpstr>
      <vt:lpstr>微软雅黑</vt:lpstr>
      <vt:lpstr>微软雅黑</vt:lpstr>
      <vt:lpstr>Arial</vt:lpstr>
      <vt:lpstr>Calibri</vt:lpstr>
      <vt:lpstr>Courier New</vt:lpstr>
      <vt:lpstr>Times New Roman</vt:lpstr>
      <vt:lpstr>腾讯文档 默认主题​</vt:lpstr>
      <vt:lpstr>MPS-FOC拍摄脚本</vt:lpstr>
      <vt:lpstr>PowerPoint 演示文稿</vt:lpstr>
      <vt:lpstr>PowerPoint 演示文稿</vt:lpstr>
      <vt:lpstr>关节电机工程——零门槛快速落地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Leofwine (Huiwen) Yang</dc:creator>
  <cp:lastModifiedBy>Leofwine (Huiwen) Yang</cp:lastModifiedBy>
  <cp:revision>129</cp:revision>
  <dcterms:created xsi:type="dcterms:W3CDTF">2026-05-12T11:03:54Z</dcterms:created>
  <dcterms:modified xsi:type="dcterms:W3CDTF">2026-05-22T07:28:49Z</dcterms:modified>
</cp:coreProperties>
</file>