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70" r:id="rId4"/>
    <p:sldId id="271" r:id="rId5"/>
    <p:sldId id="274" r:id="rId6"/>
    <p:sldId id="359" r:id="rId7"/>
    <p:sldId id="360" r:id="rId8"/>
    <p:sldId id="272" r:id="rId9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11" autoAdjust="0"/>
  </p:normalViewPr>
  <p:slideViewPr>
    <p:cSldViewPr snapToGrid="0">
      <p:cViewPr varScale="1">
        <p:scale>
          <a:sx n="131" d="100"/>
          <a:sy n="131" d="100"/>
        </p:scale>
        <p:origin x="6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E7CBA-572D-1E83-596C-E70532EE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4BA27594-16DC-170F-69B7-782806E6B5E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122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5E54-F4D7-1618-07C0-D568E8FD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EC579B1E-62F7-9841-F530-E70AD263AD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近年来，机器人和具身智能的发展迅速，尤其是人形机器人、四足机器人、协作机械臂这些方向，已经从实验室展示逐渐走向真实应用。这里面有一个很核心、但经常被忽略的部分，就是关节电机。</a:t>
            </a:r>
            <a:endParaRPr lang="en-US" altLang="zh-CN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对机器人来说，关节就像人的一样，决定了它能不能稳定地站起来、走起来、抓取物体，甚至完成更精细的动作。而想让一个电机既有力、又平稳、还要响应快，就离不开 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FOC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，也就是电机的磁场定向控制。它直接影响电机的转矩控制、速度控制和位置控制效果。</a:t>
            </a:r>
            <a:endParaRPr lang="en-US" altLang="zh-CN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但真正想自己做一套关节电机控制系统时，仍然存在一定门槛和学习成本。它涉及到控制算法，驱动芯片、电源设计、电流采样、编码器反馈、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PCB Layout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、上电调试和保护机制等诸多内容。</a:t>
            </a:r>
            <a:endParaRPr lang="en-US" altLang="zh-CN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2344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刚好借着 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MPS 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推出了 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2025 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机器人关节电机挑战赛，提供了一套完整的电机驱动和电源方案。</a:t>
            </a:r>
            <a:r>
              <a:rPr lang="zh-CN" altLang="en-US" sz="2400" dirty="0"/>
              <a:t>我就借此机会，设计并实现了一套完整的闭环 </a:t>
            </a:r>
            <a:r>
              <a:rPr lang="en-US" altLang="zh-CN" sz="2400" dirty="0"/>
              <a:t>FOC </a:t>
            </a:r>
            <a:r>
              <a:rPr lang="zh-CN" altLang="en-US" sz="2400" dirty="0"/>
              <a:t>关节控制系统参与该比赛，并进行一系列测试，获得一等奖，验证了该套方案的可行性。</a:t>
            </a: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1008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B30A-7DEE-A492-D743-DD29F635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7A4DC4A5-DF86-7AFA-9E1B-C639B82C8CA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400" dirty="0"/>
              <a:t>MPS </a:t>
            </a:r>
            <a:r>
              <a:rPr lang="zh-CN" altLang="en-US" sz="2400" dirty="0"/>
              <a:t>一直致力于不断突破功率密度的极限，将复杂的硬件系统做到极致的小巧与高效。例如后面要提到的</a:t>
            </a:r>
            <a:r>
              <a:rPr lang="en-US" altLang="zh-CN" sz="2400" dirty="0"/>
              <a:t>MP3632S</a:t>
            </a:r>
            <a:r>
              <a:rPr lang="zh-CN" altLang="en-US" sz="2400" dirty="0"/>
              <a:t>与</a:t>
            </a:r>
            <a:r>
              <a:rPr lang="en-US" altLang="zh-CN" sz="2400" dirty="0"/>
              <a:t>MP6539</a:t>
            </a:r>
            <a:r>
              <a:rPr lang="zh-CN" altLang="en-US" sz="2400" dirty="0"/>
              <a:t>等，都是高集成度的典型代表，对比传统的其他开关电源或</a:t>
            </a:r>
            <a:r>
              <a:rPr lang="en-US" altLang="zh-CN" sz="2400" dirty="0"/>
              <a:t>MOS</a:t>
            </a:r>
            <a:r>
              <a:rPr lang="zh-CN" altLang="en-US" sz="2400" dirty="0"/>
              <a:t>驱动，庞杂的驱动、功率器件、保护电路融于方寸之间。这与电机控制领域渴求的‘化繁为简’理念不谋而合。</a:t>
            </a: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136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系统的整体架构主要分为供电、驱动控制和闭环反馈三大模块。辅助电源部分由 </a:t>
            </a:r>
            <a:r>
              <a:rPr lang="en-US" altLang="zh-CN" dirty="0"/>
              <a:t>MP4583</a:t>
            </a:r>
            <a:r>
              <a:rPr lang="zh-CN" altLang="en-US" dirty="0"/>
              <a:t>、</a:t>
            </a:r>
            <a:r>
              <a:rPr lang="en-US" altLang="zh-CN" dirty="0"/>
              <a:t>MPM3632S </a:t>
            </a:r>
            <a:r>
              <a:rPr lang="zh-CN" altLang="en-US" dirty="0"/>
              <a:t>等降压芯片与隔离模块组合，将 </a:t>
            </a:r>
            <a:r>
              <a:rPr lang="en-US" altLang="zh-CN" dirty="0"/>
              <a:t>48V </a:t>
            </a:r>
            <a:r>
              <a:rPr lang="zh-CN" altLang="en-US" dirty="0"/>
              <a:t>主电源逐级转化为 </a:t>
            </a:r>
            <a:r>
              <a:rPr lang="en-US" altLang="zh-CN" dirty="0"/>
              <a:t>12V</a:t>
            </a:r>
            <a:r>
              <a:rPr lang="zh-CN" altLang="en-US" dirty="0"/>
              <a:t>、</a:t>
            </a:r>
            <a:r>
              <a:rPr lang="en-US" altLang="zh-CN" dirty="0"/>
              <a:t>5V </a:t>
            </a:r>
            <a:r>
              <a:rPr lang="zh-CN" altLang="en-US" dirty="0"/>
              <a:t>和 </a:t>
            </a:r>
            <a:r>
              <a:rPr lang="en-US" altLang="zh-CN" dirty="0"/>
              <a:t>3.3V</a:t>
            </a:r>
            <a:r>
              <a:rPr lang="zh-CN" altLang="en-US" dirty="0"/>
              <a:t>，分别为主控 </a:t>
            </a:r>
            <a:r>
              <a:rPr lang="en-US" altLang="zh-CN" dirty="0"/>
              <a:t>MCU</a:t>
            </a:r>
            <a:r>
              <a:rPr lang="zh-CN" altLang="en-US" dirty="0"/>
              <a:t>、预驱动芯片以及通信接口提供稳定的供电。核心驱动部分以 </a:t>
            </a:r>
            <a:r>
              <a:rPr lang="en-US" altLang="zh-CN" dirty="0"/>
              <a:t>MP6539B </a:t>
            </a:r>
            <a:r>
              <a:rPr lang="zh-CN" altLang="en-US" dirty="0"/>
              <a:t>三相预驱动芯片为主，控制后级功率 </a:t>
            </a:r>
            <a:r>
              <a:rPr lang="en-US" altLang="zh-CN" dirty="0"/>
              <a:t>MOSFET </a:t>
            </a:r>
            <a:r>
              <a:rPr lang="zh-CN" altLang="en-US" dirty="0"/>
              <a:t>直接驱动电机运转。最后的闭环反馈环节，则通过电流传感器和 </a:t>
            </a:r>
            <a:r>
              <a:rPr lang="en-US" altLang="zh-CN" dirty="0"/>
              <a:t>MA600A </a:t>
            </a:r>
            <a:r>
              <a:rPr lang="zh-CN" altLang="en-US" dirty="0"/>
              <a:t>磁编码器，实时采集电机的相电流与转子位置信息并传回主控，从而完成整个系统的 </a:t>
            </a:r>
            <a:r>
              <a:rPr lang="en-US" altLang="zh-CN" dirty="0"/>
              <a:t>FOC </a:t>
            </a:r>
            <a:r>
              <a:rPr lang="zh-CN" altLang="en-US" dirty="0"/>
              <a:t>闭环控制。</a:t>
            </a:r>
          </a:p>
        </p:txBody>
      </p:sp>
    </p:spTree>
    <p:extLst>
      <p:ext uri="{BB962C8B-B14F-4D97-AF65-F5344CB8AC3E}">
        <p14:creationId xmlns:p14="http://schemas.microsoft.com/office/powerpoint/2010/main" val="3518578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7CED-C7C2-8AA1-FF66-A2CF6291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594698E4-1B0C-7884-7168-83BE7A1F00F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为了说明这套方案已经落地，我们做了完整测试。当前项目已经完成 </a:t>
            </a:r>
            <a:r>
              <a:rPr lang="en-US" altLang="zh-CN" dirty="0"/>
              <a:t>40V </a:t>
            </a:r>
            <a:r>
              <a:rPr lang="zh-CN" altLang="en-US" dirty="0"/>
              <a:t>到 </a:t>
            </a:r>
            <a:r>
              <a:rPr lang="en-US" altLang="zh-CN" dirty="0"/>
              <a:t>56V </a:t>
            </a:r>
            <a:r>
              <a:rPr lang="zh-CN" altLang="en-US" dirty="0"/>
              <a:t>宽输入、速度环和位置环控制，以及 </a:t>
            </a:r>
            <a:r>
              <a:rPr lang="en-US" altLang="zh-CN" dirty="0"/>
              <a:t>180W </a:t>
            </a:r>
            <a:r>
              <a:rPr lang="zh-CN" altLang="en-US" dirty="0"/>
              <a:t>对拖带载和温升测试。相关测试视频都可以在我</a:t>
            </a:r>
            <a:r>
              <a:rPr lang="en-US" altLang="zh-CN" dirty="0"/>
              <a:t>b</a:t>
            </a:r>
            <a:r>
              <a:rPr lang="zh-CN" altLang="en-US" dirty="0"/>
              <a:t>站的往期视频找到，或者查看开源文档</a:t>
            </a:r>
          </a:p>
        </p:txBody>
      </p:sp>
    </p:spTree>
    <p:extLst>
      <p:ext uri="{BB962C8B-B14F-4D97-AF65-F5344CB8AC3E}">
        <p14:creationId xmlns:p14="http://schemas.microsoft.com/office/powerpoint/2010/main" val="745694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CB66-1354-4832-7732-DEE4C8F0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4F71D534-3AD1-F718-0459-D9B4C379E27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zh-CN" altLang="en-US" dirty="0"/>
              <a:t>为了能让这份探索更有价值，这个项目从底层的硬件原理图、软件代码，再到完整的上电测试和复刻流程，我会细致到从发板到实际跑起来全过程，全部整理并开源出来。希望这些资料能为大家提供一个直观的参考。如果大家有兴趣，完全可以对照着，自己动手复刻一套真正能跑起来的</a:t>
            </a:r>
            <a:r>
              <a:rPr lang="en-US" altLang="zh-CN" dirty="0"/>
              <a:t>FOC</a:t>
            </a:r>
            <a:r>
              <a:rPr lang="zh-CN" altLang="en-US" dirty="0"/>
              <a:t>。</a:t>
            </a:r>
          </a:p>
          <a:p>
            <a:pPr>
              <a:buNone/>
            </a:pPr>
            <a:r>
              <a:rPr lang="zh-CN" altLang="en-US" dirty="0"/>
              <a:t>另外，考虑到采购核心元器件的成本门槛。这里特别提一下，得益于 </a:t>
            </a:r>
            <a:r>
              <a:rPr lang="en-US" altLang="zh-CN" dirty="0"/>
              <a:t>MPS </a:t>
            </a:r>
            <a:r>
              <a:rPr lang="zh-CN" altLang="en-US" dirty="0"/>
              <a:t>官方的支持，大家在复刻这个项目时，相关</a:t>
            </a:r>
            <a:r>
              <a:rPr lang="en-US" altLang="zh-CN" dirty="0"/>
              <a:t>MPS</a:t>
            </a:r>
            <a:r>
              <a:rPr lang="zh-CN" altLang="en-US" dirty="0"/>
              <a:t>方案的芯片可以免费获取。</a:t>
            </a:r>
          </a:p>
          <a:p>
            <a:pPr>
              <a:buNone/>
            </a:pPr>
            <a:r>
              <a:rPr lang="en-US" altLang="zh-CN" dirty="0"/>
              <a:t>MPS </a:t>
            </a:r>
            <a:r>
              <a:rPr lang="zh-CN" altLang="en-US" dirty="0"/>
              <a:t>的‘大学计划’，持续支持高校学生的科研实践和电子类的学科竞赛。只要是在校学生，就可以通过 </a:t>
            </a:r>
            <a:r>
              <a:rPr lang="en-US" altLang="zh-CN" dirty="0"/>
              <a:t>MPS </a:t>
            </a:r>
            <a:r>
              <a:rPr lang="zh-CN" altLang="en-US" dirty="0"/>
              <a:t>官网的大学计划专属通道，申请到这套电机方案的免费样品。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我已经把所有的开源文件链接，以及芯片申请的官方入口，都详细地整理在了视频简介里。下一集进入硬件设计，讲这块板子为什么这样选型、这样分区，以及 </a:t>
            </a:r>
            <a:r>
              <a:rPr lang="en-US" altLang="zh-CN" dirty="0"/>
              <a:t>Layout </a:t>
            </a:r>
            <a:r>
              <a:rPr lang="zh-CN" altLang="en-US" dirty="0"/>
              <a:t>关键点。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902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en-US" altLang="zh-CN"/>
              <a:t>5/17/2026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en-US" altLang="zh-CN"/>
              <a:t>5/17/2026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en-US" altLang="zh-CN"/>
              <a:t>5/17/2026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en-US" altLang="zh-CN"/>
              <a:t>5/17/2026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en-US" altLang="zh-CN"/>
              <a:t>5/17/2026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en-US" altLang="zh-CN"/>
              <a:t>5/17/2026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en-US" altLang="zh-CN"/>
              <a:t>5/17/2026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en-US" altLang="zh-CN"/>
              <a:t>5/17/2026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en-US" altLang="zh-CN"/>
              <a:t>5/17/2026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en-US" altLang="zh-CN"/>
              <a:t>5/17/2026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en-US" altLang="zh-CN"/>
              <a:t>5/17/2026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37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2pPr>
            <a:lvl3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591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en-US" altLang="zh-CN"/>
              <a:t>5/17/2026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olithicpower.cn/cn/about-mps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29791"/>
            <a:ext cx="9144000" cy="11984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MPS-FOC</a:t>
            </a:r>
            <a:r>
              <a:rPr lang="zh-CN" altLang="en-US" dirty="0"/>
              <a:t>拍摄脚本</a:t>
            </a:r>
            <a:endParaRPr 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DA84-D7D7-4F17-6D52-7F1D0F7D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 txBox="1"/>
          <p:nvPr/>
        </p:nvSpPr>
        <p:spPr>
          <a:xfrm>
            <a:off x="338203" y="194153"/>
            <a:ext cx="10700365" cy="22174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0-10s</a:t>
            </a:r>
          </a:p>
          <a:p>
            <a:r>
              <a:rPr lang="zh-CN" altLang="en-US" dirty="0"/>
              <a:t>开场引入，以</a:t>
            </a:r>
            <a:r>
              <a:rPr lang="en-US" altLang="zh-CN" dirty="0"/>
              <a:t>1</a:t>
            </a:r>
            <a:r>
              <a:rPr lang="zh-CN" altLang="en-US" dirty="0"/>
              <a:t>个电机带动一小段有一定重量力臂，进行位置环闭环的视频引入。这里可以放三段视频：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、放一些宇树，众擎片段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、电机带力臂测试片段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配点比较欢快的</a:t>
            </a:r>
            <a:r>
              <a:rPr lang="en-US" altLang="zh-CN" dirty="0"/>
              <a:t>BGM</a:t>
            </a:r>
            <a:r>
              <a:rPr lang="zh-CN" altLang="en-US" dirty="0"/>
              <a:t>，</a:t>
            </a:r>
          </a:p>
        </p:txBody>
      </p:sp>
      <p:pic>
        <p:nvPicPr>
          <p:cNvPr id="4" name="Image 1" descr="D:\A_RivenHuang\Electronic_Design_Project\mps-foc-STM32G431\docs\images\test-platform-dual-motor.jpg">
            <a:extLst>
              <a:ext uri="{FF2B5EF4-FFF2-40B4-BE49-F238E27FC236}">
                <a16:creationId xmlns:a16="http://schemas.microsoft.com/office/drawing/2014/main" id="{AF479331-4AC3-5A2F-C317-37859D00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808" y="1328636"/>
            <a:ext cx="5276088" cy="31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3217-7C26-3467-AAC2-799DC644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0AF62E-E581-F739-DA34-B52715B9BE6E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3D15E1-A379-5A8C-16BA-771DB2742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A954343-954C-BF74-F39F-C95351C942E8}"/>
              </a:ext>
            </a:extLst>
          </p:cNvPr>
          <p:cNvSpPr txBox="1"/>
          <p:nvPr/>
        </p:nvSpPr>
        <p:spPr>
          <a:xfrm>
            <a:off x="338203" y="1817631"/>
            <a:ext cx="2943616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A1C1F"/>
                </a:solidFill>
                <a:latin typeface="+mn-ea"/>
                <a:ea typeface="+mn-ea"/>
              </a:rPr>
              <a:t>人在这个背景，说这一段话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861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3C97C1-F402-67ED-8261-3EF91425F852}"/>
              </a:ext>
            </a:extLst>
          </p:cNvPr>
          <p:cNvSpPr txBox="1"/>
          <p:nvPr/>
        </p:nvSpPr>
        <p:spPr>
          <a:xfrm>
            <a:off x="338203" y="194153"/>
            <a:ext cx="1287532" cy="414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1:00 - 1:10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A4018B-4708-2864-4A7E-8BCBFF660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19" y="629228"/>
            <a:ext cx="5022058" cy="55995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54950F5-18CE-34A8-DEBE-F59586CD8E8D}"/>
              </a:ext>
            </a:extLst>
          </p:cNvPr>
          <p:cNvSpPr txBox="1"/>
          <p:nvPr/>
        </p:nvSpPr>
        <p:spPr>
          <a:xfrm>
            <a:off x="5673436" y="3581399"/>
            <a:ext cx="5262979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这个画面，录一小段浏览器在这个比赛界面</a:t>
            </a:r>
            <a:endParaRPr lang="en-US" altLang="zh-CN" dirty="0"/>
          </a:p>
          <a:p>
            <a:r>
              <a:rPr lang="zh-CN" altLang="en-US" dirty="0"/>
              <a:t>往下滑的视频平移录屏，以及比赛结算的推广界面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7171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A4C3B-5CAF-8742-8C38-9B7BF7AC2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5FB567-86B6-2005-28F7-A027AE09D0B9}"/>
              </a:ext>
            </a:extLst>
          </p:cNvPr>
          <p:cNvSpPr txBox="1"/>
          <p:nvPr/>
        </p:nvSpPr>
        <p:spPr>
          <a:xfrm>
            <a:off x="248425" y="419372"/>
            <a:ext cx="1552942" cy="777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1:10 – 1</a:t>
            </a:r>
            <a:r>
              <a:rPr lang="zh-CN" altLang="en-US" dirty="0"/>
              <a:t>：</a:t>
            </a:r>
            <a:r>
              <a:rPr lang="en-US" altLang="zh-CN" dirty="0"/>
              <a:t>30</a:t>
            </a:r>
          </a:p>
          <a:p>
            <a:r>
              <a:rPr lang="zh-CN" altLang="en-US" dirty="0"/>
              <a:t>回到口播：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FFE51C-5575-32DC-F6D2-BFB829E4A5A9}"/>
              </a:ext>
            </a:extLst>
          </p:cNvPr>
          <p:cNvSpPr txBox="1"/>
          <p:nvPr/>
        </p:nvSpPr>
        <p:spPr>
          <a:xfrm>
            <a:off x="2638958" y="716465"/>
            <a:ext cx="6784848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关于</a:t>
            </a:r>
            <a:r>
              <a:rPr lang="en-US" altLang="zh-CN" dirty="0">
                <a:hlinkClick r:id="rId3"/>
              </a:rPr>
              <a:t>MPS</a:t>
            </a:r>
            <a:r>
              <a:rPr lang="en-US" altLang="zh-CN" dirty="0"/>
              <a:t>,</a:t>
            </a:r>
            <a:r>
              <a:rPr lang="zh-CN" altLang="en-US" dirty="0"/>
              <a:t>在这个界面，往下滑的视频平移录屏</a:t>
            </a:r>
          </a:p>
        </p:txBody>
      </p:sp>
    </p:spTree>
    <p:extLst>
      <p:ext uri="{BB962C8B-B14F-4D97-AF65-F5344CB8AC3E}">
        <p14:creationId xmlns:p14="http://schemas.microsoft.com/office/powerpoint/2010/main" val="367516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FE47-8F1F-D44E-2C33-D0DE0B47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80FFFB6E-472F-7D67-DB58-D62F3821A404}"/>
              </a:ext>
            </a:extLst>
          </p:cNvPr>
          <p:cNvSpPr/>
          <p:nvPr/>
        </p:nvSpPr>
        <p:spPr>
          <a:xfrm>
            <a:off x="6390281" y="3939506"/>
            <a:ext cx="1751537" cy="19703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5D12CB-006F-57AB-918C-D92DC0D837B7}"/>
              </a:ext>
            </a:extLst>
          </p:cNvPr>
          <p:cNvSpPr/>
          <p:nvPr/>
        </p:nvSpPr>
        <p:spPr>
          <a:xfrm>
            <a:off x="762953" y="3924092"/>
            <a:ext cx="5505536" cy="1985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5F71E0-5388-DA6A-588E-9FD064962E9A}"/>
              </a:ext>
            </a:extLst>
          </p:cNvPr>
          <p:cNvSpPr/>
          <p:nvPr/>
        </p:nvSpPr>
        <p:spPr>
          <a:xfrm>
            <a:off x="8263610" y="3939505"/>
            <a:ext cx="3204773" cy="19703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1B64A2-8100-78B3-ED19-E60EAE6E9C0B}"/>
              </a:ext>
            </a:extLst>
          </p:cNvPr>
          <p:cNvSpPr/>
          <p:nvPr/>
        </p:nvSpPr>
        <p:spPr>
          <a:xfrm>
            <a:off x="765322" y="1248223"/>
            <a:ext cx="10703061" cy="25550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D79AA1F-992A-ABB6-C571-3F20E99F0021}"/>
              </a:ext>
            </a:extLst>
          </p:cNvPr>
          <p:cNvSpPr txBox="1"/>
          <p:nvPr/>
        </p:nvSpPr>
        <p:spPr>
          <a:xfrm>
            <a:off x="723617" y="341598"/>
            <a:ext cx="3072200" cy="5281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3439"/>
              </a:lnSpc>
            </a:pPr>
            <a:r>
              <a:rPr lang="zh-CN" altLang="en-US" sz="2999" b="1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总体方案设计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B81AE0-743D-4846-6C82-6D7C7C15D834}"/>
              </a:ext>
            </a:extLst>
          </p:cNvPr>
          <p:cNvSpPr txBox="1"/>
          <p:nvPr/>
        </p:nvSpPr>
        <p:spPr>
          <a:xfrm>
            <a:off x="723617" y="778465"/>
            <a:ext cx="5372382" cy="4923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3439"/>
              </a:lnSpc>
            </a:pPr>
            <a:r>
              <a:rPr lang="zh-CN" altLang="en-US" sz="1999" b="1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</a:p>
        </p:txBody>
      </p:sp>
      <p:sp>
        <p:nvSpPr>
          <p:cNvPr id="22" name="右箭头 13">
            <a:extLst>
              <a:ext uri="{FF2B5EF4-FFF2-40B4-BE49-F238E27FC236}">
                <a16:creationId xmlns:a16="http://schemas.microsoft.com/office/drawing/2014/main" id="{AEF2B5B6-DEDA-1311-FC1B-49529985B086}"/>
              </a:ext>
            </a:extLst>
          </p:cNvPr>
          <p:cNvSpPr/>
          <p:nvPr/>
        </p:nvSpPr>
        <p:spPr>
          <a:xfrm>
            <a:off x="1989798" y="2358914"/>
            <a:ext cx="793683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61">
            <a:extLst>
              <a:ext uri="{FF2B5EF4-FFF2-40B4-BE49-F238E27FC236}">
                <a16:creationId xmlns:a16="http://schemas.microsoft.com/office/drawing/2014/main" id="{0271783C-8FE2-91B6-858E-363BD1B4E393}"/>
              </a:ext>
            </a:extLst>
          </p:cNvPr>
          <p:cNvSpPr/>
          <p:nvPr/>
        </p:nvSpPr>
        <p:spPr>
          <a:xfrm>
            <a:off x="1015913" y="2454337"/>
            <a:ext cx="927612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100">
            <a:extLst>
              <a:ext uri="{FF2B5EF4-FFF2-40B4-BE49-F238E27FC236}">
                <a16:creationId xmlns:a16="http://schemas.microsoft.com/office/drawing/2014/main" id="{079FE0B3-ABB8-6069-D014-8DF6A1A61572}"/>
              </a:ext>
            </a:extLst>
          </p:cNvPr>
          <p:cNvSpPr/>
          <p:nvPr/>
        </p:nvSpPr>
        <p:spPr>
          <a:xfrm>
            <a:off x="5214007" y="1266841"/>
            <a:ext cx="1763983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辅助电源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093C5D-50B5-50D3-1569-97BCDC89F6EF}"/>
              </a:ext>
            </a:extLst>
          </p:cNvPr>
          <p:cNvSpPr txBox="1"/>
          <p:nvPr/>
        </p:nvSpPr>
        <p:spPr>
          <a:xfrm>
            <a:off x="3713538" y="579049"/>
            <a:ext cx="1552942" cy="41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1:30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2:20</a:t>
            </a:r>
          </a:p>
        </p:txBody>
      </p:sp>
      <p:pic>
        <p:nvPicPr>
          <p:cNvPr id="1026" name="Picture 2" descr="MP4583">
            <a:extLst>
              <a:ext uri="{FF2B5EF4-FFF2-40B4-BE49-F238E27FC236}">
                <a16:creationId xmlns:a16="http://schemas.microsoft.com/office/drawing/2014/main" id="{83AAFA6F-0CAC-71DC-9C04-AFC8A07C9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1" r="22239"/>
          <a:stretch/>
        </p:blipFill>
        <p:spPr bwMode="auto">
          <a:xfrm>
            <a:off x="2898588" y="1913397"/>
            <a:ext cx="1509689" cy="140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2F4E98D-491A-5CF6-A6C8-1B3D0970F518}"/>
              </a:ext>
            </a:extLst>
          </p:cNvPr>
          <p:cNvSpPr txBox="1"/>
          <p:nvPr/>
        </p:nvSpPr>
        <p:spPr>
          <a:xfrm>
            <a:off x="2636001" y="3307178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MP4583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右箭头 13">
            <a:extLst>
              <a:ext uri="{FF2B5EF4-FFF2-40B4-BE49-F238E27FC236}">
                <a16:creationId xmlns:a16="http://schemas.microsoft.com/office/drawing/2014/main" id="{9EDC78AA-A87D-9844-41B1-365BEE227F8A}"/>
              </a:ext>
            </a:extLst>
          </p:cNvPr>
          <p:cNvSpPr/>
          <p:nvPr/>
        </p:nvSpPr>
        <p:spPr>
          <a:xfrm>
            <a:off x="4419649" y="2333176"/>
            <a:ext cx="846831" cy="566886"/>
          </a:xfrm>
          <a:prstGeom prst="rightArrow">
            <a:avLst>
              <a:gd name="adj1" fmla="val 50000"/>
              <a:gd name="adj2" fmla="val 67609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右箭头 13">
            <a:extLst>
              <a:ext uri="{FF2B5EF4-FFF2-40B4-BE49-F238E27FC236}">
                <a16:creationId xmlns:a16="http://schemas.microsoft.com/office/drawing/2014/main" id="{714BF1BE-7E8C-958C-3258-00CE0CAA015D}"/>
              </a:ext>
            </a:extLst>
          </p:cNvPr>
          <p:cNvSpPr/>
          <p:nvPr/>
        </p:nvSpPr>
        <p:spPr>
          <a:xfrm>
            <a:off x="7007997" y="2333176"/>
            <a:ext cx="846831" cy="570534"/>
          </a:xfrm>
          <a:prstGeom prst="rightArrow">
            <a:avLst>
              <a:gd name="adj1" fmla="val 50000"/>
              <a:gd name="adj2" fmla="val 67609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箭头: 圆角右 20">
            <a:extLst>
              <a:ext uri="{FF2B5EF4-FFF2-40B4-BE49-F238E27FC236}">
                <a16:creationId xmlns:a16="http://schemas.microsoft.com/office/drawing/2014/main" id="{57490716-3626-C468-B76C-5ABF7DCFF028}"/>
              </a:ext>
            </a:extLst>
          </p:cNvPr>
          <p:cNvSpPr/>
          <p:nvPr/>
        </p:nvSpPr>
        <p:spPr>
          <a:xfrm rot="5400000">
            <a:off x="9602711" y="2405953"/>
            <a:ext cx="1348970" cy="1214324"/>
          </a:xfrm>
          <a:prstGeom prst="bentArrow">
            <a:avLst>
              <a:gd name="adj1" fmla="val 23196"/>
              <a:gd name="adj2" fmla="val 23087"/>
              <a:gd name="adj3" fmla="val 26696"/>
              <a:gd name="adj4" fmla="val 4375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C00DB19-FFA2-6F8F-46BA-12827B538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163" y="1751539"/>
            <a:ext cx="1647316" cy="164731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4702FCC-B272-5F66-543F-66408D4064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10" y="1751539"/>
            <a:ext cx="1725330" cy="173240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5145AD8-AA97-87E8-DEA6-509110B3E4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948" y="4360595"/>
            <a:ext cx="1416331" cy="1219807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EA30CCB5-0E31-A41A-3817-896FAC0F55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6934" y="4323611"/>
            <a:ext cx="1251245" cy="121980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2371215-6A89-DE01-7A59-5E8F25D9A2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1912" y="4407684"/>
            <a:ext cx="1236297" cy="123118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9F08082-99DE-ACF5-356B-6354869C402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3969" t="30435" r="27303" b="34019"/>
          <a:stretch/>
        </p:blipFill>
        <p:spPr>
          <a:xfrm>
            <a:off x="899905" y="4497688"/>
            <a:ext cx="1392383" cy="1015732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06FA89D4-57DA-7AE3-B9A6-19CBEB52CF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4044" t="7897" r="23975" b="9236"/>
          <a:stretch/>
        </p:blipFill>
        <p:spPr>
          <a:xfrm>
            <a:off x="6707006" y="4460241"/>
            <a:ext cx="1139602" cy="1020517"/>
          </a:xfrm>
          <a:prstGeom prst="rect">
            <a:avLst/>
          </a:prstGeom>
        </p:spPr>
      </p:pic>
      <p:sp>
        <p:nvSpPr>
          <p:cNvPr id="40" name="圆角矩形 100">
            <a:extLst>
              <a:ext uri="{FF2B5EF4-FFF2-40B4-BE49-F238E27FC236}">
                <a16:creationId xmlns:a16="http://schemas.microsoft.com/office/drawing/2014/main" id="{89369530-5347-6E2C-73CF-CE8D9DF62C12}"/>
              </a:ext>
            </a:extLst>
          </p:cNvPr>
          <p:cNvSpPr/>
          <p:nvPr/>
        </p:nvSpPr>
        <p:spPr>
          <a:xfrm>
            <a:off x="6652842" y="3939505"/>
            <a:ext cx="1247931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100">
            <a:extLst>
              <a:ext uri="{FF2B5EF4-FFF2-40B4-BE49-F238E27FC236}">
                <a16:creationId xmlns:a16="http://schemas.microsoft.com/office/drawing/2014/main" id="{73E04FB8-778A-2DFF-6FBC-F77A783EBDAD}"/>
              </a:ext>
            </a:extLst>
          </p:cNvPr>
          <p:cNvSpPr/>
          <p:nvPr/>
        </p:nvSpPr>
        <p:spPr>
          <a:xfrm>
            <a:off x="8930746" y="3952888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采样控制</a:t>
            </a:r>
          </a:p>
        </p:txBody>
      </p:sp>
      <p:sp>
        <p:nvSpPr>
          <p:cNvPr id="42" name="圆角矩形 100">
            <a:extLst>
              <a:ext uri="{FF2B5EF4-FFF2-40B4-BE49-F238E27FC236}">
                <a16:creationId xmlns:a16="http://schemas.microsoft.com/office/drawing/2014/main" id="{15CCF45B-BD81-CE35-9EA8-216FB72C9D87}"/>
              </a:ext>
            </a:extLst>
          </p:cNvPr>
          <p:cNvSpPr/>
          <p:nvPr/>
        </p:nvSpPr>
        <p:spPr>
          <a:xfrm>
            <a:off x="2668937" y="3930810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功率回路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右箭头 13">
            <a:extLst>
              <a:ext uri="{FF2B5EF4-FFF2-40B4-BE49-F238E27FC236}">
                <a16:creationId xmlns:a16="http://schemas.microsoft.com/office/drawing/2014/main" id="{221DC5CC-B44B-02F7-CABA-D807CBFD8DDE}"/>
              </a:ext>
            </a:extLst>
          </p:cNvPr>
          <p:cNvSpPr/>
          <p:nvPr/>
        </p:nvSpPr>
        <p:spPr>
          <a:xfrm rot="10800000" flipV="1">
            <a:off x="4338633" y="4739546"/>
            <a:ext cx="752374" cy="532016"/>
          </a:xfrm>
          <a:prstGeom prst="rightArrow">
            <a:avLst>
              <a:gd name="adj1" fmla="val 50000"/>
              <a:gd name="adj2" fmla="val 52432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61">
            <a:extLst>
              <a:ext uri="{FF2B5EF4-FFF2-40B4-BE49-F238E27FC236}">
                <a16:creationId xmlns:a16="http://schemas.microsoft.com/office/drawing/2014/main" id="{75305385-BED8-1092-10D5-934780C4B919}"/>
              </a:ext>
            </a:extLst>
          </p:cNvPr>
          <p:cNvSpPr/>
          <p:nvPr/>
        </p:nvSpPr>
        <p:spPr>
          <a:xfrm>
            <a:off x="5189240" y="4832039"/>
            <a:ext cx="927612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右箭头 13">
            <a:extLst>
              <a:ext uri="{FF2B5EF4-FFF2-40B4-BE49-F238E27FC236}">
                <a16:creationId xmlns:a16="http://schemas.microsoft.com/office/drawing/2014/main" id="{0409EAB0-F210-B375-2500-289F834D1E79}"/>
              </a:ext>
            </a:extLst>
          </p:cNvPr>
          <p:cNvSpPr/>
          <p:nvPr/>
        </p:nvSpPr>
        <p:spPr>
          <a:xfrm rot="5400000">
            <a:off x="858404" y="3540405"/>
            <a:ext cx="1406445" cy="432566"/>
          </a:xfrm>
          <a:prstGeom prst="rightArrow">
            <a:avLst/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右箭头 13">
            <a:extLst>
              <a:ext uri="{FF2B5EF4-FFF2-40B4-BE49-F238E27FC236}">
                <a16:creationId xmlns:a16="http://schemas.microsoft.com/office/drawing/2014/main" id="{925EBFCC-8FA2-BF54-365D-31804F9754C6}"/>
              </a:ext>
            </a:extLst>
          </p:cNvPr>
          <p:cNvSpPr/>
          <p:nvPr/>
        </p:nvSpPr>
        <p:spPr>
          <a:xfrm rot="10800000" flipV="1">
            <a:off x="2262938" y="4749425"/>
            <a:ext cx="684607" cy="489795"/>
          </a:xfrm>
          <a:prstGeom prst="rightArrow">
            <a:avLst>
              <a:gd name="adj1" fmla="val 50000"/>
              <a:gd name="adj2" fmla="val 52432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D75BF15-E021-A6B3-9476-7EA0E66563DC}"/>
              </a:ext>
            </a:extLst>
          </p:cNvPr>
          <p:cNvSpPr txBox="1"/>
          <p:nvPr/>
        </p:nvSpPr>
        <p:spPr>
          <a:xfrm>
            <a:off x="5282667" y="3275111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MP3632S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E14414-813D-E62C-3686-884DFF0AFBB2}"/>
              </a:ext>
            </a:extLst>
          </p:cNvPr>
          <p:cNvSpPr txBox="1"/>
          <p:nvPr/>
        </p:nvSpPr>
        <p:spPr>
          <a:xfrm>
            <a:off x="7855942" y="3242883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F083F37-5B71-0D54-33A8-ABE0CC42AEC0}"/>
              </a:ext>
            </a:extLst>
          </p:cNvPr>
          <p:cNvSpPr txBox="1"/>
          <p:nvPr/>
        </p:nvSpPr>
        <p:spPr>
          <a:xfrm>
            <a:off x="8242448" y="5553251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INA240A1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37DBDBD-C4AF-1394-F04F-B621CD3DFE6C}"/>
              </a:ext>
            </a:extLst>
          </p:cNvPr>
          <p:cNvSpPr txBox="1"/>
          <p:nvPr/>
        </p:nvSpPr>
        <p:spPr>
          <a:xfrm>
            <a:off x="9769891" y="5524530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STM32G431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5DF388-7336-683C-9BC3-2E7CDE61DBB7}"/>
              </a:ext>
            </a:extLst>
          </p:cNvPr>
          <p:cNvSpPr txBox="1"/>
          <p:nvPr/>
        </p:nvSpPr>
        <p:spPr>
          <a:xfrm>
            <a:off x="6414142" y="5524529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TJA1051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7DAB6F-54E0-651A-709E-42CC7EED8189}"/>
              </a:ext>
            </a:extLst>
          </p:cNvPr>
          <p:cNvSpPr txBox="1"/>
          <p:nvPr/>
        </p:nvSpPr>
        <p:spPr>
          <a:xfrm>
            <a:off x="2817396" y="5579680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MP6539B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5E17E83-AFB4-0D0D-CDF5-E2DDD0B797DE}"/>
              </a:ext>
            </a:extLst>
          </p:cNvPr>
          <p:cNvSpPr txBox="1"/>
          <p:nvPr/>
        </p:nvSpPr>
        <p:spPr>
          <a:xfrm>
            <a:off x="760607" y="5484984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BSC030N08NS5</a:t>
            </a:r>
          </a:p>
        </p:txBody>
      </p:sp>
    </p:spTree>
    <p:extLst>
      <p:ext uri="{BB962C8B-B14F-4D97-AF65-F5344CB8AC3E}">
        <p14:creationId xmlns:p14="http://schemas.microsoft.com/office/powerpoint/2010/main" val="4379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FBC1-F837-97A0-3494-FDA08584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32DCED1-96F8-FB8C-5F2B-3D8088ECE2B5}"/>
              </a:ext>
            </a:extLst>
          </p:cNvPr>
          <p:cNvSpPr txBox="1"/>
          <p:nvPr/>
        </p:nvSpPr>
        <p:spPr>
          <a:xfrm>
            <a:off x="740404" y="413611"/>
            <a:ext cx="1552942" cy="775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系统展示 </a:t>
            </a:r>
            <a:r>
              <a:rPr lang="en-US" altLang="zh-CN" dirty="0"/>
              <a:t>2:20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2:40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53A710-A905-B070-366E-F154DF9F1E25}"/>
              </a:ext>
            </a:extLst>
          </p:cNvPr>
          <p:cNvSpPr txBox="1"/>
          <p:nvPr/>
        </p:nvSpPr>
        <p:spPr>
          <a:xfrm>
            <a:off x="740404" y="1188695"/>
            <a:ext cx="6096000" cy="1135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快切 </a:t>
            </a:r>
            <a:r>
              <a:rPr lang="en-US" altLang="zh-CN" dirty="0"/>
              <a:t>40V-56V </a:t>
            </a:r>
            <a:r>
              <a:rPr lang="zh-CN" altLang="en-US" dirty="0"/>
              <a:t>输入测试、</a:t>
            </a:r>
            <a:r>
              <a:rPr lang="en-US" altLang="zh-CN" dirty="0" err="1"/>
              <a:t>LoadTEST</a:t>
            </a:r>
            <a:r>
              <a:rPr lang="en-US" altLang="zh-CN" dirty="0"/>
              <a:t> </a:t>
            </a:r>
            <a:r>
              <a:rPr lang="zh-CN" altLang="en-US" dirty="0"/>
              <a:t>对拖平台画面。</a:t>
            </a:r>
            <a:endParaRPr lang="en-US" altLang="zh-CN" dirty="0"/>
          </a:p>
          <a:p>
            <a:r>
              <a:rPr lang="zh-CN" altLang="en-US" dirty="0"/>
              <a:t>插入速度控制精度图、位置控制精度图、热像图。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372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DD37A-71DC-F259-31DD-F6128F6B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26B342-C9C5-AC57-22B6-7BB3F4EE9FC3}"/>
              </a:ext>
            </a:extLst>
          </p:cNvPr>
          <p:cNvSpPr txBox="1"/>
          <p:nvPr/>
        </p:nvSpPr>
        <p:spPr>
          <a:xfrm>
            <a:off x="942109" y="1891146"/>
            <a:ext cx="1096967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这边放一下</a:t>
            </a:r>
            <a:r>
              <a:rPr lang="en-US" altLang="zh-CN" dirty="0" err="1"/>
              <a:t>github</a:t>
            </a:r>
            <a:r>
              <a:rPr lang="zh-CN" altLang="en-US" dirty="0"/>
              <a:t>和立创开源广场从上往下滑的页面，边滑边讲，再滑到大学计划界面，介绍下大学计划，</a:t>
            </a:r>
            <a:endParaRPr lang="en-US" altLang="zh-CN" dirty="0"/>
          </a:p>
          <a:p>
            <a:r>
              <a:rPr lang="zh-CN" altLang="en-US" dirty="0"/>
              <a:t>再给大学计划拿到的芯片拍一个全景图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4C851A-1F89-E3BD-91E7-579F61B8E7CA}"/>
              </a:ext>
            </a:extLst>
          </p:cNvPr>
          <p:cNvSpPr txBox="1"/>
          <p:nvPr/>
        </p:nvSpPr>
        <p:spPr>
          <a:xfrm>
            <a:off x="740404" y="413611"/>
            <a:ext cx="1552942" cy="41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2:40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3:30</a:t>
            </a:r>
          </a:p>
        </p:txBody>
      </p:sp>
    </p:spTree>
    <p:extLst>
      <p:ext uri="{BB962C8B-B14F-4D97-AF65-F5344CB8AC3E}">
        <p14:creationId xmlns:p14="http://schemas.microsoft.com/office/powerpoint/2010/main" val="708091456"/>
      </p:ext>
    </p:extLst>
  </p:cSld>
  <p:clrMapOvr>
    <a:masterClrMapping/>
  </p:clrMapOvr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939</Words>
  <Application>Microsoft Office PowerPoint</Application>
  <PresentationFormat>宽屏</PresentationFormat>
  <Paragraphs>58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黑体</vt:lpstr>
      <vt:lpstr>Microsoft YaHei</vt:lpstr>
      <vt:lpstr>Microsoft YaHei</vt:lpstr>
      <vt:lpstr>Arial</vt:lpstr>
      <vt:lpstr>腾讯文档 默认主题​</vt:lpstr>
      <vt:lpstr>MPS-FOC拍摄脚本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Rise Sun</cp:lastModifiedBy>
  <cp:revision>90</cp:revision>
  <dcterms:created xsi:type="dcterms:W3CDTF">2026-05-12T11:03:54Z</dcterms:created>
  <dcterms:modified xsi:type="dcterms:W3CDTF">2026-05-18T05:36:03Z</dcterms:modified>
</cp:coreProperties>
</file>