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FB160-5075-4D4A-9F6D-9D658B829FC2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74121-2594-4F82-9CE5-DB17766C90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08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讲这一页时按三段走：第一段，上电后 </a:t>
            </a:r>
            <a:r>
              <a:rPr lang="en-US" altLang="zh-CN">
                <a:latin typeface="Microsoft YaHei" panose="020B0503020204020204" pitchFamily="34" charset="-122"/>
              </a:rPr>
              <a:t>main </a:t>
            </a:r>
            <a:r>
              <a:rPr lang="zh-CN" altLang="en-US">
                <a:latin typeface="Microsoft YaHei" panose="020B0503020204020204" pitchFamily="34" charset="-122"/>
              </a:rPr>
              <a:t>完成外设初始化，</a:t>
            </a:r>
            <a:r>
              <a:rPr lang="en-US" altLang="zh-CN">
                <a:latin typeface="Microsoft YaHei" panose="020B0503020204020204" pitchFamily="34" charset="-122"/>
              </a:rPr>
              <a:t>program_init </a:t>
            </a:r>
            <a:r>
              <a:rPr lang="zh-CN" altLang="en-US">
                <a:latin typeface="Microsoft YaHei" panose="020B0503020204020204" pitchFamily="34" charset="-122"/>
              </a:rPr>
              <a:t>完成 </a:t>
            </a:r>
            <a:r>
              <a:rPr lang="en-US" altLang="zh-CN">
                <a:latin typeface="Microsoft YaHei" panose="020B0503020204020204" pitchFamily="34" charset="-122"/>
              </a:rPr>
              <a:t>ADC </a:t>
            </a:r>
            <a:r>
              <a:rPr lang="zh-CN" altLang="en-US">
                <a:latin typeface="Microsoft YaHei" panose="020B0503020204020204" pitchFamily="34" charset="-122"/>
              </a:rPr>
              <a:t>校准、控制对象初始化，并启动 </a:t>
            </a:r>
            <a:r>
              <a:rPr lang="en-US" altLang="zh-CN">
                <a:latin typeface="Microsoft YaHei" panose="020B0503020204020204" pitchFamily="34" charset="-122"/>
              </a:rPr>
              <a:t>ADC2 </a:t>
            </a:r>
            <a:r>
              <a:rPr lang="zh-CN" altLang="en-US">
                <a:latin typeface="Microsoft YaHei" panose="020B0503020204020204" pitchFamily="34" charset="-122"/>
              </a:rPr>
              <a:t>慢采样和 </a:t>
            </a:r>
            <a:r>
              <a:rPr lang="en-US" altLang="zh-CN">
                <a:latin typeface="Microsoft YaHei" panose="020B0503020204020204" pitchFamily="34" charset="-122"/>
              </a:rPr>
              <a:t>TIM1/ADC1 </a:t>
            </a:r>
            <a:r>
              <a:rPr lang="zh-CN" altLang="en-US">
                <a:latin typeface="Microsoft YaHei" panose="020B0503020204020204" pitchFamily="34" charset="-122"/>
              </a:rPr>
              <a:t>快采样链。第二段，</a:t>
            </a:r>
            <a:r>
              <a:rPr lang="en-US" altLang="zh-CN">
                <a:latin typeface="Microsoft YaHei" panose="020B0503020204020204" pitchFamily="34" charset="-122"/>
              </a:rPr>
              <a:t>10kHz </a:t>
            </a:r>
            <a:r>
              <a:rPr lang="zh-CN" altLang="en-US">
                <a:latin typeface="Microsoft YaHei" panose="020B0503020204020204" pitchFamily="34" charset="-122"/>
              </a:rPr>
              <a:t>快环由 </a:t>
            </a:r>
            <a:r>
              <a:rPr lang="en-US" altLang="zh-CN">
                <a:latin typeface="Microsoft YaHei" panose="020B0503020204020204" pitchFamily="34" charset="-122"/>
              </a:rPr>
              <a:t>TIM1 </a:t>
            </a:r>
            <a:r>
              <a:rPr lang="zh-CN" altLang="en-US">
                <a:latin typeface="Microsoft YaHei" panose="020B0503020204020204" pitchFamily="34" charset="-122"/>
              </a:rPr>
              <a:t>触发 </a:t>
            </a:r>
            <a:r>
              <a:rPr lang="en-US" altLang="zh-CN">
                <a:latin typeface="Microsoft YaHei" panose="020B0503020204020204" pitchFamily="34" charset="-122"/>
              </a:rPr>
              <a:t>ADC1 </a:t>
            </a:r>
            <a:r>
              <a:rPr lang="zh-CN" altLang="en-US">
                <a:latin typeface="Microsoft YaHei" panose="020B0503020204020204" pitchFamily="34" charset="-122"/>
              </a:rPr>
              <a:t>注入组，回调中读取三相电流、调度 </a:t>
            </a:r>
            <a:r>
              <a:rPr lang="en-US" altLang="zh-CN">
                <a:latin typeface="Microsoft YaHei" panose="020B0503020204020204" pitchFamily="34" charset="-122"/>
              </a:rPr>
              <a:t>MA600A</a:t>
            </a:r>
            <a:r>
              <a:rPr lang="zh-CN" altLang="en-US">
                <a:latin typeface="Microsoft YaHei" panose="020B0503020204020204" pitchFamily="34" charset="-122"/>
              </a:rPr>
              <a:t>、更新角度</a:t>
            </a:r>
            <a:r>
              <a:rPr lang="en-US" altLang="zh-CN">
                <a:latin typeface="Microsoft YaHei" panose="020B0503020204020204" pitchFamily="34" charset="-122"/>
              </a:rPr>
              <a:t>/</a:t>
            </a:r>
            <a:r>
              <a:rPr lang="zh-CN" altLang="en-US">
                <a:latin typeface="Microsoft YaHei" panose="020B0503020204020204" pitchFamily="34" charset="-122"/>
              </a:rPr>
              <a:t>速度观测、做 </a:t>
            </a:r>
            <a:r>
              <a:rPr lang="en-US" altLang="zh-CN">
                <a:latin typeface="Microsoft YaHei" panose="020B0503020204020204" pitchFamily="34" charset="-122"/>
              </a:rPr>
              <a:t>Clarke/Park</a:t>
            </a:r>
            <a:r>
              <a:rPr lang="zh-CN" altLang="en-US">
                <a:latin typeface="Microsoft YaHei" panose="020B0503020204020204" pitchFamily="34" charset="-122"/>
              </a:rPr>
              <a:t>，然后进入 </a:t>
            </a:r>
            <a:r>
              <a:rPr lang="en-US" altLang="zh-CN">
                <a:latin typeface="Microsoft YaHei" panose="020B0503020204020204" pitchFamily="34" charset="-122"/>
              </a:rPr>
              <a:t>program_run_speed_current_control </a:t>
            </a:r>
            <a:r>
              <a:rPr lang="zh-CN" altLang="en-US">
                <a:latin typeface="Microsoft YaHei" panose="020B0503020204020204" pitchFamily="34" charset="-122"/>
              </a:rPr>
              <a:t>状态机。第三段，闭环时外环给 </a:t>
            </a:r>
            <a:r>
              <a:rPr lang="en-US" altLang="zh-CN">
                <a:latin typeface="Microsoft YaHei" panose="020B0503020204020204" pitchFamily="34" charset="-122"/>
              </a:rPr>
              <a:t>iq_ref</a:t>
            </a:r>
            <a:r>
              <a:rPr lang="zh-CN" altLang="en-US">
                <a:latin typeface="Microsoft YaHei" panose="020B0503020204020204" pitchFamily="34" charset="-122"/>
              </a:rPr>
              <a:t>，电流环给 </a:t>
            </a:r>
            <a:r>
              <a:rPr lang="en-US" altLang="zh-CN">
                <a:latin typeface="Microsoft YaHei" panose="020B0503020204020204" pitchFamily="34" charset="-122"/>
              </a:rPr>
              <a:t>ud/uq</a:t>
            </a:r>
            <a:r>
              <a:rPr lang="zh-CN" altLang="en-US">
                <a:latin typeface="Microsoft YaHei" panose="020B0503020204020204" pitchFamily="34" charset="-122"/>
              </a:rPr>
              <a:t>，</a:t>
            </a:r>
            <a:r>
              <a:rPr lang="en-US" altLang="zh-CN">
                <a:latin typeface="Microsoft YaHei" panose="020B0503020204020204" pitchFamily="34" charset="-122"/>
              </a:rPr>
              <a:t>foc_core </a:t>
            </a:r>
            <a:r>
              <a:rPr lang="zh-CN" altLang="en-US">
                <a:latin typeface="Microsoft YaHei" panose="020B0503020204020204" pitchFamily="34" charset="-122"/>
              </a:rPr>
              <a:t>反 </a:t>
            </a:r>
            <a:r>
              <a:rPr lang="en-US" altLang="zh-CN">
                <a:latin typeface="Microsoft YaHei" panose="020B0503020204020204" pitchFamily="34" charset="-122"/>
              </a:rPr>
              <a:t>Park </a:t>
            </a:r>
            <a:r>
              <a:rPr lang="zh-CN" altLang="en-US">
                <a:latin typeface="Microsoft YaHei" panose="020B0503020204020204" pitchFamily="34" charset="-122"/>
              </a:rPr>
              <a:t>和 </a:t>
            </a:r>
            <a:r>
              <a:rPr lang="en-US" altLang="zh-CN">
                <a:latin typeface="Microsoft YaHei" panose="020B0503020204020204" pitchFamily="34" charset="-122"/>
              </a:rPr>
              <a:t>SVPWM </a:t>
            </a:r>
            <a:r>
              <a:rPr lang="zh-CN" altLang="en-US">
                <a:latin typeface="Microsoft YaHei" panose="020B0503020204020204" pitchFamily="34" charset="-122"/>
              </a:rPr>
              <a:t>生成 </a:t>
            </a:r>
            <a:r>
              <a:rPr lang="en-US" altLang="zh-CN">
                <a:latin typeface="Microsoft YaHei" panose="020B0503020204020204" pitchFamily="34" charset="-122"/>
              </a:rPr>
              <a:t>duty</a:t>
            </a:r>
            <a:r>
              <a:rPr lang="zh-CN" altLang="en-US">
                <a:latin typeface="Microsoft YaHei" panose="020B0503020204020204" pitchFamily="34" charset="-122"/>
              </a:rPr>
              <a:t>，最后写入 </a:t>
            </a:r>
            <a:r>
              <a:rPr lang="en-US" altLang="zh-CN">
                <a:latin typeface="Microsoft YaHei" panose="020B0503020204020204" pitchFamily="34" charset="-122"/>
              </a:rPr>
              <a:t>TIM1 CCR </a:t>
            </a:r>
            <a:r>
              <a:rPr lang="zh-CN" altLang="en-US">
                <a:latin typeface="Microsoft YaHei" panose="020B0503020204020204" pitchFamily="34" charset="-122"/>
              </a:rPr>
              <a:t>驱动功率级。慢任务只做 </a:t>
            </a:r>
            <a:r>
              <a:rPr lang="en-US" altLang="zh-CN">
                <a:latin typeface="Microsoft YaHei" panose="020B0503020204020204" pitchFamily="34" charset="-122"/>
              </a:rPr>
              <a:t>VBUS/NTC</a:t>
            </a:r>
            <a:r>
              <a:rPr lang="zh-CN" altLang="en-US">
                <a:latin typeface="Microsoft YaHei" panose="020B0503020204020204" pitchFamily="34" charset="-122"/>
              </a:rPr>
              <a:t>、故障标志和 </a:t>
            </a:r>
            <a:r>
              <a:rPr lang="en-US" altLang="zh-CN">
                <a:latin typeface="Microsoft YaHei" panose="020B0503020204020204" pitchFamily="34" charset="-122"/>
              </a:rPr>
              <a:t>VOFA </a:t>
            </a:r>
            <a:r>
              <a:rPr lang="zh-CN" altLang="en-US">
                <a:latin typeface="Microsoft YaHei" panose="020B0503020204020204" pitchFamily="34" charset="-122"/>
              </a:rPr>
              <a:t>遥测，不要把慢任务讲成真正的控制快环。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74121-2594-4F82-9CE5-DB17766C90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1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FFBBD-C164-5E75-2126-DC7801D36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E84B31-F823-CBDC-55F3-BD7865929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C55F1B-BD62-95D4-7713-E5A090DA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22B73C-9A7B-B333-8664-6947B12B1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0BA49-4B36-B0A9-5F33-19E9F99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28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3FFC0-E545-BA24-35DD-2EE838BF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739DA-C2F7-E060-0294-A7F0ED0E6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22BCE4-7A16-E28A-C2EE-0C200D47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88281C-74F2-B3AC-890B-ACC40B79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15AC8-C3F7-F516-323B-DE04E82E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50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C44EE-E19E-BA46-5902-3E9DAF22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1E6B39-AC59-E69F-E5E0-6799EE40D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8C3E9-1EE6-FB84-26A6-3902A55F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62A955-882D-A662-5ECB-CD65D6C7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6C418E-4ACF-62F1-681E-7919D45F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57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B4EEE-8575-E544-721D-6DD6F9E8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24A53-E6C0-6714-DA9D-E37E811B1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D93C3D-34B7-B820-1E9A-E55EFA16A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B15793-59D8-D53E-6B41-9A386199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30102-422A-AC51-6236-F56ED275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175886-E3B4-EFD3-F05B-C0A091F8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04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8CD97-0C6C-6A61-EDA4-7159C0D0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6D13F5-BEE9-1F81-16EE-FA08527C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F7F4AC-6162-DD24-55B6-5C311925B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4AB9CA-E5C1-9239-1BD0-6D7120F64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66B6F1-195D-DC53-CB2C-D32506269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B2C58C-526F-C0AF-7550-8375DF85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CC444C-63BE-42DE-0246-B88863DA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C32215-76B8-C96E-BEFE-50507922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71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5A757-4338-2790-9B19-5E130224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EDF9A9-FD96-51DE-E272-E01F4AB5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AE8274-BA59-3153-AD3C-AB383093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2DA5E4-7523-0E7B-D74C-704BEA19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6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078401-BB0E-288F-E93D-D132FB62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730821-5065-A32A-FDBA-99E41DC2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B3CDB-AB47-CF9A-28A1-62604F01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45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3CF55-F374-A41F-9494-8AB6D09A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7BD94B-E374-06EB-112C-5F8599A04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597A38-BE16-A7C8-F925-198472CA1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B128A0-4F11-870B-23ED-74EA8D60C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AE172F-20BE-43E8-A836-BA9DB629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44D1D2-EF6E-C4E4-C6B1-5330E09C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132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3C21F-998E-8F1B-9A0F-D97201EA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4DCF66-3D2A-73B6-3716-42013DEE3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AC7C3D-1645-38D1-F228-D3C4A0962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F73A5B-5B48-823A-4DC4-D88F12BD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816345-26A1-9010-BF7C-331D659A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D4D22B-19A5-24D0-9075-41E7BBFB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44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4F1B3-4536-DC85-D092-8C82996C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529B13-A27B-86B6-26EE-2F37EF780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CF75B3-4836-5CAE-9692-EC752114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F88145-3BD4-2B87-DC99-37015946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4A6F44-E5B1-CBCF-D1B1-6F3B33B7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57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DB1F32-4815-28BF-C053-E50D69189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21B0D7-FAAA-40C4-8555-F13C608B2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27CC30-B777-0352-01C9-1EC84472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3D13F5-2A60-3C9F-FF02-D1207B09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833858-7FFE-61CD-ED38-6FC0B29B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78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13950E-5B95-2CA1-8631-677CFBB3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72FDAE-A617-2405-1675-934234BCD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583E95-48DF-E0E4-E52C-70C80883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3202C-F2C9-4401-9888-8FCB56A50DE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66A45-EC57-AF35-A502-32BE2BBD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32BAB8-BA46-C0E3-E006-606B53CE1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D29B4-6395-4D47-82FF-403B094D9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39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D0434A-9FAA-F2D6-4315-539D6801F13C}"/>
              </a:ext>
            </a:extLst>
          </p:cNvPr>
          <p:cNvSpPr/>
          <p:nvPr/>
        </p:nvSpPr>
        <p:spPr>
          <a:xfrm>
            <a:off x="609600" y="355600"/>
            <a:ext cx="15036800" cy="812800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D6FD20-2D53-3F7D-DF0D-6CA08B1A4D1E}"/>
              </a:ext>
            </a:extLst>
          </p:cNvPr>
          <p:cNvSpPr txBox="1"/>
          <p:nvPr/>
        </p:nvSpPr>
        <p:spPr>
          <a:xfrm>
            <a:off x="965200" y="546100"/>
            <a:ext cx="8763000" cy="42062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代码逻辑图 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—— </a:t>
            </a: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从上电到 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FOC </a:t>
            </a: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闭环控制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E518E2-7C60-7DC8-87F8-965C31B123D1}"/>
              </a:ext>
            </a:extLst>
          </p:cNvPr>
          <p:cNvSpPr txBox="1"/>
          <p:nvPr/>
        </p:nvSpPr>
        <p:spPr>
          <a:xfrm>
            <a:off x="9906000" y="609600"/>
            <a:ext cx="5270500" cy="25135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r"/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</a:rPr>
              <a:t>讲解顺序：初始化 → 快环 → 外环 → </a:t>
            </a:r>
            <a:r>
              <a:rPr lang="en-US" altLang="zh-CN" sz="1300">
                <a:solidFill>
                  <a:srgbClr val="FFFFFF"/>
                </a:solidFill>
                <a:latin typeface="Microsoft YaHei" panose="020B0503020204020204" pitchFamily="34" charset="-122"/>
              </a:rPr>
              <a:t>PWM → </a:t>
            </a:r>
            <a:r>
              <a:rPr lang="zh-CN" altLang="en-US" sz="1300">
                <a:solidFill>
                  <a:srgbClr val="FFFFFF"/>
                </a:solidFill>
                <a:latin typeface="Microsoft YaHei" panose="020B0503020204020204" pitchFamily="34" charset="-122"/>
              </a:rPr>
              <a:t>遥测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A8D8EC6-6F0B-931D-52F7-EDC3E6EBF22A}"/>
              </a:ext>
            </a:extLst>
          </p:cNvPr>
          <p:cNvSpPr/>
          <p:nvPr/>
        </p:nvSpPr>
        <p:spPr>
          <a:xfrm>
            <a:off x="10261600" y="1270000"/>
            <a:ext cx="1092200" cy="304800"/>
          </a:xfrm>
          <a:prstGeom prst="roundRect">
            <a:avLst/>
          </a:prstGeom>
          <a:solidFill>
            <a:srgbClr val="E0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005496"/>
                </a:solidFill>
                <a:latin typeface="Microsoft YaHei" panose="020B0503020204020204" pitchFamily="34" charset="-122"/>
              </a:rPr>
              <a:t>启动链路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60A52CC-06D8-EA66-0895-98E702FDD654}"/>
              </a:ext>
            </a:extLst>
          </p:cNvPr>
          <p:cNvSpPr/>
          <p:nvPr/>
        </p:nvSpPr>
        <p:spPr>
          <a:xfrm>
            <a:off x="11455400" y="1270000"/>
            <a:ext cx="1219200" cy="304800"/>
          </a:xfrm>
          <a:prstGeom prst="roundRect">
            <a:avLst/>
          </a:prstGeom>
          <a:solidFill>
            <a:srgbClr val="FFF3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solidFill>
                  <a:srgbClr val="E68E23"/>
                </a:solidFill>
                <a:latin typeface="Microsoft YaHei" panose="020B0503020204020204" pitchFamily="34" charset="-122"/>
              </a:rPr>
              <a:t>10kHz</a:t>
            </a:r>
            <a:r>
              <a:rPr lang="zh-CN" altLang="en-US" sz="900" b="1">
                <a:solidFill>
                  <a:srgbClr val="E68E23"/>
                </a:solidFill>
                <a:latin typeface="Microsoft YaHei" panose="020B0503020204020204" pitchFamily="34" charset="-122"/>
              </a:rPr>
              <a:t>快环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864DC59-43CE-F55E-0F69-9C1BC68543EE}"/>
              </a:ext>
            </a:extLst>
          </p:cNvPr>
          <p:cNvSpPr/>
          <p:nvPr/>
        </p:nvSpPr>
        <p:spPr>
          <a:xfrm>
            <a:off x="12776200" y="1270000"/>
            <a:ext cx="1092200" cy="304800"/>
          </a:xfrm>
          <a:prstGeom prst="roundRect">
            <a:avLst/>
          </a:prstGeom>
          <a:solidFill>
            <a:srgbClr val="E8F7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solidFill>
                  <a:srgbClr val="369662"/>
                </a:solidFill>
                <a:latin typeface="Microsoft YaHei" panose="020B0503020204020204" pitchFamily="34" charset="-122"/>
              </a:rPr>
              <a:t>FOC</a:t>
            </a:r>
            <a:r>
              <a:rPr lang="zh-CN" altLang="en-US" sz="900" b="1">
                <a:solidFill>
                  <a:srgbClr val="369662"/>
                </a:solidFill>
                <a:latin typeface="Microsoft YaHei" panose="020B0503020204020204" pitchFamily="34" charset="-122"/>
              </a:rPr>
              <a:t>算法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F3CDFD9-6E75-D837-571B-F22398EF32E3}"/>
              </a:ext>
            </a:extLst>
          </p:cNvPr>
          <p:cNvSpPr/>
          <p:nvPr/>
        </p:nvSpPr>
        <p:spPr>
          <a:xfrm>
            <a:off x="13970000" y="1270000"/>
            <a:ext cx="1219200" cy="304800"/>
          </a:xfrm>
          <a:prstGeom prst="roundRect">
            <a:avLst/>
          </a:prstGeom>
          <a:solidFill>
            <a:srgbClr val="FFEB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CA4036"/>
                </a:solidFill>
                <a:latin typeface="Microsoft YaHei" panose="020B0503020204020204" pitchFamily="34" charset="-122"/>
              </a:rPr>
              <a:t>保护</a:t>
            </a:r>
            <a:r>
              <a:rPr lang="en-US" altLang="zh-CN" sz="900" b="1">
                <a:solidFill>
                  <a:srgbClr val="CA403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 b="1">
                <a:solidFill>
                  <a:srgbClr val="CA4036"/>
                </a:solidFill>
                <a:latin typeface="Microsoft YaHei" panose="020B0503020204020204" pitchFamily="34" charset="-122"/>
              </a:rPr>
              <a:t>停机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7689F6-9E20-E431-DEE1-34871AA010BF}"/>
              </a:ext>
            </a:extLst>
          </p:cNvPr>
          <p:cNvSpPr/>
          <p:nvPr/>
        </p:nvSpPr>
        <p:spPr>
          <a:xfrm>
            <a:off x="609600" y="1651000"/>
            <a:ext cx="939800" cy="1117600"/>
          </a:xfrm>
          <a:prstGeom prst="rect">
            <a:avLst/>
          </a:prstGeom>
          <a:solidFill>
            <a:srgbClr val="E0F2FF"/>
          </a:solidFill>
          <a:ln w="1524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启动</a:t>
            </a:r>
          </a:p>
          <a:p>
            <a:pPr algn="ctr"/>
            <a:r>
              <a:rPr lang="zh-CN" altLang="en-US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初始化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A13A50-0941-BEB7-9930-BCDD3E8463DE}"/>
              </a:ext>
            </a:extLst>
          </p:cNvPr>
          <p:cNvSpPr/>
          <p:nvPr/>
        </p:nvSpPr>
        <p:spPr>
          <a:xfrm>
            <a:off x="609600" y="2946400"/>
            <a:ext cx="939800" cy="4089400"/>
          </a:xfrm>
          <a:prstGeom prst="rect">
            <a:avLst/>
          </a:prstGeom>
          <a:solidFill>
            <a:srgbClr val="FFF3E0"/>
          </a:solidFill>
          <a:ln w="15240">
            <a:solidFill>
              <a:srgbClr val="E68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E68E23"/>
                </a:solidFill>
                <a:latin typeface="Microsoft YaHei" panose="020B0503020204020204" pitchFamily="34" charset="-122"/>
              </a:rPr>
              <a:t>10 kHz</a:t>
            </a:r>
          </a:p>
          <a:p>
            <a:pPr algn="ctr"/>
            <a:r>
              <a:rPr lang="zh-CN" altLang="en-US" sz="1300" b="1">
                <a:solidFill>
                  <a:srgbClr val="E68E23"/>
                </a:solidFill>
                <a:latin typeface="Microsoft YaHei" panose="020B0503020204020204" pitchFamily="34" charset="-122"/>
              </a:rPr>
              <a:t>控制快环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9535F8-C5A7-A27E-553D-BF0FD080DA29}"/>
              </a:ext>
            </a:extLst>
          </p:cNvPr>
          <p:cNvSpPr/>
          <p:nvPr/>
        </p:nvSpPr>
        <p:spPr>
          <a:xfrm>
            <a:off x="609600" y="7289800"/>
            <a:ext cx="939800" cy="1270000"/>
          </a:xfrm>
          <a:prstGeom prst="rect">
            <a:avLst/>
          </a:prstGeom>
          <a:solidFill>
            <a:srgbClr val="F5F7FA"/>
          </a:solidFill>
          <a:ln w="15240"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747474"/>
                </a:solidFill>
                <a:latin typeface="Microsoft YaHei" panose="020B0503020204020204" pitchFamily="34" charset="-122"/>
              </a:rPr>
              <a:t>1 kHz</a:t>
            </a:r>
          </a:p>
          <a:p>
            <a:pPr algn="ctr"/>
            <a:r>
              <a:rPr lang="zh-CN" altLang="en-US" sz="1300" b="1">
                <a:solidFill>
                  <a:srgbClr val="747474"/>
                </a:solidFill>
                <a:latin typeface="Microsoft YaHei" panose="020B0503020204020204" pitchFamily="34" charset="-122"/>
              </a:rPr>
              <a:t>后台遥测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485E37-7E03-9EA8-0B8B-E764525A2DB3}"/>
              </a:ext>
            </a:extLst>
          </p:cNvPr>
          <p:cNvSpPr/>
          <p:nvPr/>
        </p:nvSpPr>
        <p:spPr>
          <a:xfrm>
            <a:off x="1778000" y="1752600"/>
            <a:ext cx="2032000" cy="838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main()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HAL_Init / Clock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MX_GPIO DMA ADC SPI TIM UART</a:t>
            </a:r>
            <a:endParaRPr lang="zh-CN" altLang="en-US" sz="85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7FD4BC8-1280-C5F5-2E5E-BBA8B599D622}"/>
              </a:ext>
            </a:extLst>
          </p:cNvPr>
          <p:cNvSpPr/>
          <p:nvPr/>
        </p:nvSpPr>
        <p:spPr>
          <a:xfrm>
            <a:off x="4089400" y="1752600"/>
            <a:ext cx="1905000" cy="838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program_init()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N_SLEEP=0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ADC1/ADC2 </a:t>
            </a:r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校准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24E103-6112-6273-D761-84E7A1D0A2EF}"/>
              </a:ext>
            </a:extLst>
          </p:cNvPr>
          <p:cNvSpPr/>
          <p:nvPr/>
        </p:nvSpPr>
        <p:spPr>
          <a:xfrm>
            <a:off x="6273800" y="1752600"/>
            <a:ext cx="2159000" cy="838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初始化对象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g_foc / g_motor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filter / telemetry</a:t>
            </a:r>
            <a:endParaRPr lang="zh-CN" altLang="en-US" sz="85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DCB637F-63FD-6726-8E63-21BA77A1F44B}"/>
              </a:ext>
            </a:extLst>
          </p:cNvPr>
          <p:cNvSpPr/>
          <p:nvPr/>
        </p:nvSpPr>
        <p:spPr>
          <a:xfrm>
            <a:off x="8763000" y="1752600"/>
            <a:ext cx="2159000" cy="838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慢采样链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ADC2 DMA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TIM6 1 ms TRGO</a:t>
            </a:r>
            <a:endParaRPr lang="zh-CN" altLang="en-US" sz="85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9DA9601-A404-BA82-07AF-3A059D1AADB0}"/>
              </a:ext>
            </a:extLst>
          </p:cNvPr>
          <p:cNvSpPr/>
          <p:nvPr/>
        </p:nvSpPr>
        <p:spPr>
          <a:xfrm>
            <a:off x="11277600" y="1752600"/>
            <a:ext cx="2387600" cy="838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快环采样链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TIM1 </a:t>
            </a:r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三相</a:t>
            </a:r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PWM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ADC1 Injected IT</a:t>
            </a:r>
            <a:endParaRPr lang="zh-CN" altLang="en-US" sz="85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AB05F61-13F1-13A3-B4C6-C522B4DAEB86}"/>
              </a:ext>
            </a:extLst>
          </p:cNvPr>
          <p:cNvSpPr/>
          <p:nvPr/>
        </p:nvSpPr>
        <p:spPr>
          <a:xfrm>
            <a:off x="13995400" y="1752600"/>
            <a:ext cx="1397000" cy="838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进入运行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while(1)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program_task()</a:t>
            </a:r>
            <a:endParaRPr lang="zh-CN" altLang="en-US" sz="85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DFF50FD-0AA2-F187-BD34-26266317BEDD}"/>
              </a:ext>
            </a:extLst>
          </p:cNvPr>
          <p:cNvCxnSpPr/>
          <p:nvPr/>
        </p:nvCxnSpPr>
        <p:spPr>
          <a:xfrm>
            <a:off x="3810000" y="2171700"/>
            <a:ext cx="2794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92548F3-0512-F9C7-E501-E27AED8040ED}"/>
              </a:ext>
            </a:extLst>
          </p:cNvPr>
          <p:cNvCxnSpPr/>
          <p:nvPr/>
        </p:nvCxnSpPr>
        <p:spPr>
          <a:xfrm>
            <a:off x="5994400" y="2171700"/>
            <a:ext cx="2794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3E8F0D0-3F39-71F3-845C-4A1DD6CED955}"/>
              </a:ext>
            </a:extLst>
          </p:cNvPr>
          <p:cNvCxnSpPr/>
          <p:nvPr/>
        </p:nvCxnSpPr>
        <p:spPr>
          <a:xfrm>
            <a:off x="8432800" y="2171700"/>
            <a:ext cx="3302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2E07595-B485-1D7C-7338-FE074DC8F572}"/>
              </a:ext>
            </a:extLst>
          </p:cNvPr>
          <p:cNvCxnSpPr/>
          <p:nvPr/>
        </p:nvCxnSpPr>
        <p:spPr>
          <a:xfrm>
            <a:off x="10922000" y="2171700"/>
            <a:ext cx="3556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DDF40A5-65CC-B4EF-06D0-FAD85293261A}"/>
              </a:ext>
            </a:extLst>
          </p:cNvPr>
          <p:cNvCxnSpPr/>
          <p:nvPr/>
        </p:nvCxnSpPr>
        <p:spPr>
          <a:xfrm>
            <a:off x="13665200" y="2171700"/>
            <a:ext cx="3302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43EC348-A4FA-A4D0-69FB-24F5BBFBA6D6}"/>
              </a:ext>
            </a:extLst>
          </p:cNvPr>
          <p:cNvCxnSpPr/>
          <p:nvPr/>
        </p:nvCxnSpPr>
        <p:spPr>
          <a:xfrm>
            <a:off x="12471400" y="2590800"/>
            <a:ext cx="0" cy="355600"/>
          </a:xfrm>
          <a:prstGeom prst="straightConnector1">
            <a:avLst/>
          </a:prstGeom>
          <a:ln w="22860">
            <a:solidFill>
              <a:srgbClr val="E68E2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E018EB9-64F4-09B5-0499-1E498C6AE6B9}"/>
              </a:ext>
            </a:extLst>
          </p:cNvPr>
          <p:cNvSpPr/>
          <p:nvPr/>
        </p:nvSpPr>
        <p:spPr>
          <a:xfrm>
            <a:off x="1778000" y="3124200"/>
            <a:ext cx="1905000" cy="83820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8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TIM1_TRGO2</a:t>
            </a:r>
          </a:p>
          <a:p>
            <a:pPr algn="ctr"/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中心对齐 </a:t>
            </a:r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PWM </a:t>
            </a:r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节点</a:t>
            </a:r>
          </a:p>
          <a:p>
            <a:pPr algn="ctr"/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触发电流采样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51F3109-7A43-B303-8535-0F4113549477}"/>
              </a:ext>
            </a:extLst>
          </p:cNvPr>
          <p:cNvSpPr/>
          <p:nvPr/>
        </p:nvSpPr>
        <p:spPr>
          <a:xfrm>
            <a:off x="3937000" y="3124200"/>
            <a:ext cx="1905000" cy="83820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8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ADC1 </a:t>
            </a:r>
            <a:r>
              <a:rPr lang="zh-CN" altLang="en-US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注入组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IA / IB / IC</a:t>
            </a:r>
          </a:p>
          <a:p>
            <a:pPr algn="ctr"/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同步采样完成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DC4449F-14AB-90D2-E342-EE93AAADCC13}"/>
              </a:ext>
            </a:extLst>
          </p:cNvPr>
          <p:cNvSpPr/>
          <p:nvPr/>
        </p:nvSpPr>
        <p:spPr>
          <a:xfrm>
            <a:off x="6096000" y="3124200"/>
            <a:ext cx="2159000" cy="83820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8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Injected </a:t>
            </a:r>
            <a:r>
              <a:rPr lang="zh-CN" altLang="en-US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回调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program_adc_injected_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conv_cplt_callback()</a:t>
            </a:r>
            <a:endParaRPr lang="zh-CN" altLang="en-US" sz="82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C66AB59-5FB4-9DB6-B607-44EAAE36ED46}"/>
              </a:ext>
            </a:extLst>
          </p:cNvPr>
          <p:cNvSpPr/>
          <p:nvPr/>
        </p:nvSpPr>
        <p:spPr>
          <a:xfrm>
            <a:off x="8509000" y="3124200"/>
            <a:ext cx="1841500" cy="838200"/>
          </a:xfrm>
          <a:prstGeom prst="roundRect">
            <a:avLst/>
          </a:prstGeom>
          <a:solidFill>
            <a:srgbClr val="FFEBE9"/>
          </a:solidFill>
          <a:ln w="17780">
            <a:solidFill>
              <a:srgbClr val="CA40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50" b="1">
                <a:solidFill>
                  <a:srgbClr val="CA4036"/>
                </a:solidFill>
                <a:latin typeface="Microsoft YaHei" panose="020B0503020204020204" pitchFamily="34" charset="-122"/>
              </a:rPr>
              <a:t>零点校准</a:t>
            </a:r>
          </a:p>
          <a:p>
            <a:pPr algn="ctr"/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未 </a:t>
            </a:r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：累计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点偏置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9F54832-19E7-66E0-FF3E-CFC8731D78CC}"/>
              </a:ext>
            </a:extLst>
          </p:cNvPr>
          <p:cNvSpPr/>
          <p:nvPr/>
        </p:nvSpPr>
        <p:spPr>
          <a:xfrm>
            <a:off x="10604500" y="3124200"/>
            <a:ext cx="1968500" cy="838200"/>
          </a:xfrm>
          <a:prstGeom prst="roundRect">
            <a:avLst/>
          </a:prstGeom>
          <a:solidFill>
            <a:srgbClr val="E0F2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50" b="1">
                <a:solidFill>
                  <a:srgbClr val="005496"/>
                </a:solidFill>
                <a:latin typeface="Microsoft YaHei" panose="020B0503020204020204" pitchFamily="34" charset="-122"/>
              </a:rPr>
              <a:t>MA600A </a:t>
            </a:r>
            <a:r>
              <a:rPr lang="zh-CN" altLang="en-US" sz="1250" b="1">
                <a:solidFill>
                  <a:srgbClr val="005496"/>
                </a:solidFill>
                <a:latin typeface="Microsoft YaHei" panose="020B0503020204020204" pitchFamily="34" charset="-122"/>
              </a:rPr>
              <a:t>角度</a:t>
            </a:r>
          </a:p>
          <a:p>
            <a:pPr algn="ctr"/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SPI IT </a:t>
            </a:r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读角度</a:t>
            </a:r>
          </a:p>
          <a:p>
            <a:pPr algn="ctr"/>
            <a:r>
              <a:rPr lang="zh-CN" altLang="en-US" sz="850">
                <a:solidFill>
                  <a:srgbClr val="000000"/>
                </a:solidFill>
                <a:latin typeface="Microsoft YaHei" panose="020B0503020204020204" pitchFamily="34" charset="-122"/>
              </a:rPr>
              <a:t>缓存 </a:t>
            </a:r>
            <a:r>
              <a:rPr lang="en-US" altLang="zh-CN" sz="850">
                <a:solidFill>
                  <a:srgbClr val="000000"/>
                </a:solidFill>
                <a:latin typeface="Microsoft YaHei" panose="020B0503020204020204" pitchFamily="34" charset="-122"/>
              </a:rPr>
              <a:t>raw/deg/rad</a:t>
            </a:r>
            <a:endParaRPr lang="zh-CN" altLang="en-US" sz="85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BC12F89-362D-9002-F383-4DA506038385}"/>
              </a:ext>
            </a:extLst>
          </p:cNvPr>
          <p:cNvSpPr/>
          <p:nvPr/>
        </p:nvSpPr>
        <p:spPr>
          <a:xfrm>
            <a:off x="12827000" y="3124200"/>
            <a:ext cx="2286000" cy="838200"/>
          </a:xfrm>
          <a:prstGeom prst="roundRect">
            <a:avLst/>
          </a:prstGeom>
          <a:solidFill>
            <a:srgbClr val="E0F2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50" b="1">
                <a:solidFill>
                  <a:srgbClr val="005496"/>
                </a:solidFill>
                <a:latin typeface="Microsoft YaHei" panose="020B0503020204020204" pitchFamily="34" charset="-122"/>
              </a:rPr>
              <a:t>角度</a:t>
            </a:r>
            <a:r>
              <a:rPr lang="en-US" altLang="zh-CN" sz="1250" b="1">
                <a:solidFill>
                  <a:srgbClr val="00549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50" b="1">
                <a:solidFill>
                  <a:srgbClr val="005496"/>
                </a:solidFill>
                <a:latin typeface="Microsoft YaHei" panose="020B0503020204020204" pitchFamily="34" charset="-122"/>
              </a:rPr>
              <a:t>速度观测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theta_elec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20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样本窗口 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+ LPF</a:t>
            </a:r>
            <a:endParaRPr lang="zh-CN" altLang="en-US" sz="82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52778A9-F11F-163A-5023-505649F1A31B}"/>
              </a:ext>
            </a:extLst>
          </p:cNvPr>
          <p:cNvCxnSpPr/>
          <p:nvPr/>
        </p:nvCxnSpPr>
        <p:spPr>
          <a:xfrm>
            <a:off x="3683000" y="3543300"/>
            <a:ext cx="254000" cy="0"/>
          </a:xfrm>
          <a:prstGeom prst="straightConnector1">
            <a:avLst/>
          </a:prstGeom>
          <a:ln w="20320">
            <a:solidFill>
              <a:srgbClr val="E68E2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042F524-74FE-84DE-2B02-B6FA03ED9D8D}"/>
              </a:ext>
            </a:extLst>
          </p:cNvPr>
          <p:cNvCxnSpPr/>
          <p:nvPr/>
        </p:nvCxnSpPr>
        <p:spPr>
          <a:xfrm>
            <a:off x="5842000" y="3543300"/>
            <a:ext cx="254000" cy="0"/>
          </a:xfrm>
          <a:prstGeom prst="straightConnector1">
            <a:avLst/>
          </a:prstGeom>
          <a:ln w="20320">
            <a:solidFill>
              <a:srgbClr val="E68E2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B0F1BC9-8F18-1479-C54E-59BE215B93F0}"/>
              </a:ext>
            </a:extLst>
          </p:cNvPr>
          <p:cNvCxnSpPr/>
          <p:nvPr/>
        </p:nvCxnSpPr>
        <p:spPr>
          <a:xfrm>
            <a:off x="8255000" y="3543300"/>
            <a:ext cx="254000" cy="0"/>
          </a:xfrm>
          <a:prstGeom prst="straightConnector1">
            <a:avLst/>
          </a:prstGeom>
          <a:ln w="20320">
            <a:solidFill>
              <a:srgbClr val="E68E2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0FEA704-5629-7E74-E193-867C6BCC5FDB}"/>
              </a:ext>
            </a:extLst>
          </p:cNvPr>
          <p:cNvCxnSpPr/>
          <p:nvPr/>
        </p:nvCxnSpPr>
        <p:spPr>
          <a:xfrm>
            <a:off x="10350500" y="3543300"/>
            <a:ext cx="2540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09B9ED4-2812-BBF3-2C7A-D148A37B6602}"/>
              </a:ext>
            </a:extLst>
          </p:cNvPr>
          <p:cNvCxnSpPr/>
          <p:nvPr/>
        </p:nvCxnSpPr>
        <p:spPr>
          <a:xfrm>
            <a:off x="12573000" y="3543300"/>
            <a:ext cx="2540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7B910CD-1DD4-154C-911B-5AB3DCC81946}"/>
              </a:ext>
            </a:extLst>
          </p:cNvPr>
          <p:cNvSpPr/>
          <p:nvPr/>
        </p:nvSpPr>
        <p:spPr>
          <a:xfrm>
            <a:off x="1778000" y="4343400"/>
            <a:ext cx="21590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8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电流工程量</a:t>
            </a:r>
          </a:p>
          <a:p>
            <a:pPr algn="ctr"/>
            <a:r>
              <a:rPr lang="en-US" altLang="zh-CN" sz="830">
                <a:solidFill>
                  <a:srgbClr val="000000"/>
                </a:solidFill>
                <a:latin typeface="Microsoft YaHei" panose="020B0503020204020204" pitchFamily="34" charset="-122"/>
              </a:rPr>
              <a:t>raw - offset</a:t>
            </a:r>
          </a:p>
          <a:p>
            <a:pPr algn="ctr"/>
            <a:r>
              <a:rPr lang="en-US" altLang="zh-CN" sz="830">
                <a:solidFill>
                  <a:srgbClr val="000000"/>
                </a:solidFill>
                <a:latin typeface="Microsoft YaHei" panose="020B0503020204020204" pitchFamily="34" charset="-122"/>
              </a:rPr>
              <a:t>ADC→A</a:t>
            </a:r>
            <a:r>
              <a:rPr lang="zh-CN" altLang="en-US" sz="830">
                <a:solidFill>
                  <a:srgbClr val="000000"/>
                </a:solidFill>
                <a:latin typeface="Microsoft YaHei" panose="020B0503020204020204" pitchFamily="34" charset="-122"/>
              </a:rPr>
              <a:t>，极性修正</a:t>
            </a:r>
          </a:p>
          <a:p>
            <a:pPr algn="ctr"/>
            <a:r>
              <a:rPr lang="en-US" altLang="zh-CN" sz="830">
                <a:solidFill>
                  <a:srgbClr val="000000"/>
                </a:solidFill>
                <a:latin typeface="Microsoft YaHei" panose="020B0503020204020204" pitchFamily="34" charset="-122"/>
              </a:rPr>
              <a:t>ia/ib/ic</a:t>
            </a:r>
            <a:endParaRPr lang="zh-CN" altLang="en-US" sz="83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3C4A619-66FD-F0E3-B560-8C2920F3B870}"/>
              </a:ext>
            </a:extLst>
          </p:cNvPr>
          <p:cNvSpPr/>
          <p:nvPr/>
        </p:nvSpPr>
        <p:spPr>
          <a:xfrm>
            <a:off x="4216400" y="4343400"/>
            <a:ext cx="2057400" cy="914400"/>
          </a:xfrm>
          <a:prstGeom prst="roundRect">
            <a:avLst/>
          </a:prstGeom>
          <a:solidFill>
            <a:srgbClr val="E8F7EE"/>
          </a:solidFill>
          <a:ln w="17780">
            <a:solidFill>
              <a:srgbClr val="3696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50" b="1">
                <a:solidFill>
                  <a:srgbClr val="369662"/>
                </a:solidFill>
                <a:latin typeface="Microsoft YaHei" panose="020B0503020204020204" pitchFamily="34" charset="-122"/>
              </a:rPr>
              <a:t>Clarke / Park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abc → alpha/beta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alpha/beta → d/q</a:t>
            </a:r>
          </a:p>
          <a:p>
            <a:pPr algn="ctr"/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得到 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id / iq</a:t>
            </a:r>
            <a:endParaRPr lang="zh-CN" altLang="en-US" sz="82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1ECFF44-0703-85B7-801C-7D997A7DE63A}"/>
              </a:ext>
            </a:extLst>
          </p:cNvPr>
          <p:cNvSpPr/>
          <p:nvPr/>
        </p:nvSpPr>
        <p:spPr>
          <a:xfrm>
            <a:off x="6604000" y="4216400"/>
            <a:ext cx="3073400" cy="1498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4C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300" b="1">
                <a:solidFill>
                  <a:srgbClr val="005496"/>
                </a:solidFill>
                <a:latin typeface="Microsoft YaHei" panose="020B0503020204020204" pitchFamily="34" charset="-122"/>
              </a:rPr>
              <a:t>状态机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program_run_speed_current_control()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故障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/offset/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角度检查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2 run_request 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停机判断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编码器对齐 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ALIGN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闭环控制 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CLOSED_LOOP</a:t>
            </a:r>
            <a:endParaRPr lang="zh-CN" altLang="en-US" sz="82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223265A-D960-9ECB-8F9F-B98F950E8120}"/>
              </a:ext>
            </a:extLst>
          </p:cNvPr>
          <p:cNvSpPr/>
          <p:nvPr/>
        </p:nvSpPr>
        <p:spPr>
          <a:xfrm>
            <a:off x="10058400" y="4343400"/>
            <a:ext cx="2159000" cy="1092200"/>
          </a:xfrm>
          <a:prstGeom prst="roundRect">
            <a:avLst/>
          </a:prstGeom>
          <a:solidFill>
            <a:srgbClr val="FFF3E0"/>
          </a:solidFill>
          <a:ln w="17780">
            <a:solidFill>
              <a:srgbClr val="E68E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位置</a:t>
            </a:r>
            <a:r>
              <a:rPr lang="en-US" altLang="zh-CN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50" b="1">
                <a:solidFill>
                  <a:srgbClr val="E68E23"/>
                </a:solidFill>
                <a:latin typeface="Microsoft YaHei" panose="020B0503020204020204" pitchFamily="34" charset="-122"/>
              </a:rPr>
              <a:t>速度外环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位置环：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200 Hz </a:t>
            </a:r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可选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速度观测完成后运行 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PI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iq_ref </a:t>
            </a:r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uq_ref</a:t>
            </a:r>
            <a:endParaRPr lang="zh-CN" altLang="en-US" sz="81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2BC08D7-42F3-7ECE-556D-51FE32D3F7F9}"/>
              </a:ext>
            </a:extLst>
          </p:cNvPr>
          <p:cNvSpPr/>
          <p:nvPr/>
        </p:nvSpPr>
        <p:spPr>
          <a:xfrm>
            <a:off x="12522200" y="4343400"/>
            <a:ext cx="2387600" cy="1092200"/>
          </a:xfrm>
          <a:prstGeom prst="roundRect">
            <a:avLst/>
          </a:prstGeom>
          <a:solidFill>
            <a:srgbClr val="E8F7EE"/>
          </a:solidFill>
          <a:ln w="17780">
            <a:solidFill>
              <a:srgbClr val="3696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50" b="1">
                <a:solidFill>
                  <a:srgbClr val="369662"/>
                </a:solidFill>
                <a:latin typeface="Microsoft YaHei" panose="020B0503020204020204" pitchFamily="34" charset="-122"/>
              </a:rPr>
              <a:t>电流环 </a:t>
            </a:r>
            <a:r>
              <a:rPr lang="en-US" altLang="zh-CN" sz="1250" b="1">
                <a:solidFill>
                  <a:srgbClr val="369662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50" b="1">
                <a:solidFill>
                  <a:srgbClr val="369662"/>
                </a:solidFill>
                <a:latin typeface="Microsoft YaHei" panose="020B0503020204020204" pitchFamily="34" charset="-122"/>
              </a:rPr>
              <a:t>电压模式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电流环：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id/iq PI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限幅得到 </a:t>
            </a:r>
            <a:r>
              <a:rPr lang="en-US" altLang="zh-CN" sz="810">
                <a:solidFill>
                  <a:srgbClr val="000000"/>
                </a:solidFill>
                <a:latin typeface="Microsoft YaHei" panose="020B0503020204020204" pitchFamily="34" charset="-122"/>
              </a:rPr>
              <a:t>ud/uq</a:t>
            </a:r>
          </a:p>
          <a:p>
            <a:pPr algn="ctr"/>
            <a:r>
              <a:rPr lang="zh-CN" altLang="en-US" sz="810">
                <a:solidFill>
                  <a:srgbClr val="000000"/>
                </a:solidFill>
                <a:latin typeface="Microsoft YaHei" panose="020B0503020204020204" pitchFamily="34" charset="-122"/>
              </a:rPr>
              <a:t>关电流环则直接用电压命令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FE5CA62-36F7-AE3D-D208-49CAE9F31EF0}"/>
              </a:ext>
            </a:extLst>
          </p:cNvPr>
          <p:cNvCxnSpPr/>
          <p:nvPr/>
        </p:nvCxnSpPr>
        <p:spPr>
          <a:xfrm>
            <a:off x="2857500" y="3962400"/>
            <a:ext cx="0" cy="381000"/>
          </a:xfrm>
          <a:prstGeom prst="straightConnector1">
            <a:avLst/>
          </a:prstGeom>
          <a:ln w="20320">
            <a:solidFill>
              <a:srgbClr val="E68E2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584D08E-A94A-1F9D-A6A0-9B5E0A70E7FE}"/>
              </a:ext>
            </a:extLst>
          </p:cNvPr>
          <p:cNvCxnSpPr/>
          <p:nvPr/>
        </p:nvCxnSpPr>
        <p:spPr>
          <a:xfrm>
            <a:off x="3937000" y="4800600"/>
            <a:ext cx="279400" cy="0"/>
          </a:xfrm>
          <a:prstGeom prst="straightConnector1">
            <a:avLst/>
          </a:prstGeom>
          <a:ln w="20320">
            <a:solidFill>
              <a:srgbClr val="3696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96388A4-74DA-1C42-E475-8B6E5D8E47F5}"/>
              </a:ext>
            </a:extLst>
          </p:cNvPr>
          <p:cNvCxnSpPr/>
          <p:nvPr/>
        </p:nvCxnSpPr>
        <p:spPr>
          <a:xfrm>
            <a:off x="6273800" y="4800600"/>
            <a:ext cx="330200" cy="0"/>
          </a:xfrm>
          <a:prstGeom prst="straightConnector1">
            <a:avLst/>
          </a:prstGeom>
          <a:ln w="20320">
            <a:solidFill>
              <a:srgbClr val="3696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D3BB2A68-AB65-C42E-D65B-0D54D044E0A6}"/>
              </a:ext>
            </a:extLst>
          </p:cNvPr>
          <p:cNvCxnSpPr/>
          <p:nvPr/>
        </p:nvCxnSpPr>
        <p:spPr>
          <a:xfrm>
            <a:off x="9677400" y="4851400"/>
            <a:ext cx="381000" cy="0"/>
          </a:xfrm>
          <a:prstGeom prst="straightConnector1">
            <a:avLst/>
          </a:prstGeom>
          <a:ln w="20320">
            <a:solidFill>
              <a:srgbClr val="E68E2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D9876EC-94C2-53BC-5782-9E45DCFA499A}"/>
              </a:ext>
            </a:extLst>
          </p:cNvPr>
          <p:cNvCxnSpPr/>
          <p:nvPr/>
        </p:nvCxnSpPr>
        <p:spPr>
          <a:xfrm>
            <a:off x="12217400" y="4851400"/>
            <a:ext cx="304800" cy="0"/>
          </a:xfrm>
          <a:prstGeom prst="straightConnector1">
            <a:avLst/>
          </a:prstGeom>
          <a:ln w="20320">
            <a:solidFill>
              <a:srgbClr val="3696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677F42E-FB66-7DD2-9FFE-86DC3867495F}"/>
              </a:ext>
            </a:extLst>
          </p:cNvPr>
          <p:cNvCxnSpPr/>
          <p:nvPr/>
        </p:nvCxnSpPr>
        <p:spPr>
          <a:xfrm>
            <a:off x="13944600" y="3962400"/>
            <a:ext cx="0" cy="38100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2672FD6-761E-113B-68F2-40EA95867B69}"/>
              </a:ext>
            </a:extLst>
          </p:cNvPr>
          <p:cNvCxnSpPr/>
          <p:nvPr/>
        </p:nvCxnSpPr>
        <p:spPr>
          <a:xfrm flipH="1">
            <a:off x="5334000" y="3962400"/>
            <a:ext cx="8610600" cy="0"/>
          </a:xfrm>
          <a:prstGeom prst="straightConnector1">
            <a:avLst/>
          </a:prstGeom>
          <a:ln w="1524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F765F58-D5C2-C45D-8A8B-3059B6C5076B}"/>
              </a:ext>
            </a:extLst>
          </p:cNvPr>
          <p:cNvCxnSpPr/>
          <p:nvPr/>
        </p:nvCxnSpPr>
        <p:spPr>
          <a:xfrm>
            <a:off x="5334000" y="3962400"/>
            <a:ext cx="0" cy="381000"/>
          </a:xfrm>
          <a:prstGeom prst="straightConnector1">
            <a:avLst/>
          </a:prstGeom>
          <a:ln w="1524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DA007BEF-612F-8C35-DC21-F0E5E387C67B}"/>
              </a:ext>
            </a:extLst>
          </p:cNvPr>
          <p:cNvSpPr/>
          <p:nvPr/>
        </p:nvSpPr>
        <p:spPr>
          <a:xfrm>
            <a:off x="6604000" y="5943600"/>
            <a:ext cx="3073400" cy="711200"/>
          </a:xfrm>
          <a:prstGeom prst="roundRect">
            <a:avLst/>
          </a:prstGeom>
          <a:solidFill>
            <a:srgbClr val="FFEBE9"/>
          </a:solidFill>
          <a:ln w="17780">
            <a:solidFill>
              <a:srgbClr val="CA40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50" b="1">
                <a:solidFill>
                  <a:srgbClr val="CA4036"/>
                </a:solidFill>
                <a:latin typeface="Microsoft YaHei" panose="020B0503020204020204" pitchFamily="34" charset="-122"/>
              </a:rPr>
              <a:t>安全分支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FAULT / 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未准备 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停机：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PWM=50%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N_SLEEP=0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PI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与观测器复位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EA0B106-52C7-6F1B-0222-A4B6F4DFF458}"/>
              </a:ext>
            </a:extLst>
          </p:cNvPr>
          <p:cNvSpPr/>
          <p:nvPr/>
        </p:nvSpPr>
        <p:spPr>
          <a:xfrm>
            <a:off x="10033000" y="5994400"/>
            <a:ext cx="2235200" cy="965200"/>
          </a:xfrm>
          <a:prstGeom prst="roundRect">
            <a:avLst/>
          </a:prstGeom>
          <a:solidFill>
            <a:srgbClr val="E8F7EE"/>
          </a:solidFill>
          <a:ln w="17780">
            <a:solidFill>
              <a:srgbClr val="3696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50" b="1">
                <a:solidFill>
                  <a:srgbClr val="369662"/>
                </a:solidFill>
                <a:latin typeface="Microsoft YaHei" panose="020B0503020204020204" pitchFamily="34" charset="-122"/>
              </a:rPr>
              <a:t>foc_core.c</a:t>
            </a:r>
          </a:p>
          <a:p>
            <a:pPr algn="ctr"/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反 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Park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dq→alpha/beta</a:t>
            </a:r>
          </a:p>
          <a:p>
            <a:pPr algn="ctr"/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SVPWM</a:t>
            </a:r>
            <a:r>
              <a:rPr lang="zh-CN" altLang="en-US" sz="820">
                <a:solidFill>
                  <a:srgbClr val="000000"/>
                </a:solidFill>
                <a:latin typeface="Microsoft YaHei" panose="020B0503020204020204" pitchFamily="34" charset="-122"/>
              </a:rPr>
              <a:t>：生成 </a:t>
            </a:r>
            <a:r>
              <a:rPr lang="en-US" altLang="zh-CN" sz="820">
                <a:solidFill>
                  <a:srgbClr val="000000"/>
                </a:solidFill>
                <a:latin typeface="Microsoft YaHei" panose="020B0503020204020204" pitchFamily="34" charset="-122"/>
              </a:rPr>
              <a:t>duty_a/b/c</a:t>
            </a:r>
            <a:endParaRPr lang="zh-CN" altLang="en-US" sz="82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077A9AA-5BD7-BE96-53BF-146530708757}"/>
              </a:ext>
            </a:extLst>
          </p:cNvPr>
          <p:cNvSpPr/>
          <p:nvPr/>
        </p:nvSpPr>
        <p:spPr>
          <a:xfrm>
            <a:off x="12573000" y="5994400"/>
            <a:ext cx="19558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50" b="1">
                <a:solidFill>
                  <a:srgbClr val="005496"/>
                </a:solidFill>
                <a:latin typeface="Microsoft YaHei" panose="020B0503020204020204" pitchFamily="34" charset="-122"/>
              </a:rPr>
              <a:t>TIM1 </a:t>
            </a:r>
            <a:r>
              <a:rPr lang="zh-CN" altLang="en-US" sz="1250" b="1">
                <a:solidFill>
                  <a:srgbClr val="005496"/>
                </a:solidFill>
                <a:latin typeface="Microsoft YaHei" panose="020B0503020204020204" pitchFamily="34" charset="-122"/>
              </a:rPr>
              <a:t>输出</a:t>
            </a:r>
          </a:p>
          <a:p>
            <a:pPr algn="ctr"/>
            <a:r>
              <a:rPr lang="en-US" altLang="zh-CN" sz="830">
                <a:solidFill>
                  <a:srgbClr val="000000"/>
                </a:solidFill>
                <a:latin typeface="Microsoft YaHei" panose="020B0503020204020204" pitchFamily="34" charset="-122"/>
              </a:rPr>
              <a:t>CCR1/2/3 </a:t>
            </a:r>
            <a:r>
              <a:rPr lang="zh-CN" altLang="en-US" sz="830">
                <a:solidFill>
                  <a:srgbClr val="000000"/>
                </a:solidFill>
                <a:latin typeface="Microsoft YaHei" panose="020B0503020204020204" pitchFamily="34" charset="-122"/>
              </a:rPr>
              <a:t>更新</a:t>
            </a:r>
          </a:p>
          <a:p>
            <a:pPr algn="ctr"/>
            <a:r>
              <a:rPr lang="zh-CN" altLang="en-US" sz="830">
                <a:solidFill>
                  <a:srgbClr val="000000"/>
                </a:solidFill>
                <a:latin typeface="Microsoft YaHei" panose="020B0503020204020204" pitchFamily="34" charset="-122"/>
              </a:rPr>
              <a:t>三相互补 </a:t>
            </a:r>
            <a:r>
              <a:rPr lang="en-US" altLang="zh-CN" sz="830">
                <a:solidFill>
                  <a:srgbClr val="000000"/>
                </a:solidFill>
                <a:latin typeface="Microsoft YaHei" panose="020B0503020204020204" pitchFamily="34" charset="-122"/>
              </a:rPr>
              <a:t>PWM</a:t>
            </a:r>
            <a:endParaRPr lang="zh-CN" altLang="en-US" sz="83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EA6E3523-8D71-084E-137A-3C784C1087DD}"/>
              </a:ext>
            </a:extLst>
          </p:cNvPr>
          <p:cNvSpPr/>
          <p:nvPr/>
        </p:nvSpPr>
        <p:spPr>
          <a:xfrm>
            <a:off x="14757400" y="5994400"/>
            <a:ext cx="9144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54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00" b="1">
                <a:solidFill>
                  <a:srgbClr val="005496"/>
                </a:solidFill>
                <a:latin typeface="Microsoft YaHei" panose="020B0503020204020204" pitchFamily="34" charset="-122"/>
              </a:rPr>
              <a:t>功率级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MP6539B</a:t>
            </a:r>
          </a:p>
          <a:p>
            <a:pPr algn="ctr"/>
            <a:r>
              <a:rPr lang="en-US" altLang="zh-CN" sz="780">
                <a:solidFill>
                  <a:srgbClr val="000000"/>
                </a:solidFill>
                <a:latin typeface="Microsoft YaHei" panose="020B0503020204020204" pitchFamily="34" charset="-122"/>
              </a:rPr>
              <a:t>MOSFET</a:t>
            </a:r>
          </a:p>
          <a:p>
            <a:pPr algn="ctr"/>
            <a:r>
              <a:rPr lang="zh-CN" altLang="en-US" sz="780">
                <a:solidFill>
                  <a:srgbClr val="000000"/>
                </a:solidFill>
                <a:latin typeface="Microsoft YaHei" panose="020B0503020204020204" pitchFamily="34" charset="-122"/>
              </a:rPr>
              <a:t>电机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43EFFF-91E5-78AB-1C77-CB096744F94D}"/>
              </a:ext>
            </a:extLst>
          </p:cNvPr>
          <p:cNvCxnSpPr/>
          <p:nvPr/>
        </p:nvCxnSpPr>
        <p:spPr>
          <a:xfrm>
            <a:off x="8128000" y="5715000"/>
            <a:ext cx="0" cy="228600"/>
          </a:xfrm>
          <a:prstGeom prst="straightConnector1">
            <a:avLst/>
          </a:prstGeom>
          <a:ln w="20320">
            <a:solidFill>
              <a:srgbClr val="CA403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1FD71F9-12D9-868D-9325-F83E1F66D9EA}"/>
              </a:ext>
            </a:extLst>
          </p:cNvPr>
          <p:cNvCxnSpPr/>
          <p:nvPr/>
        </p:nvCxnSpPr>
        <p:spPr>
          <a:xfrm flipH="1">
            <a:off x="11150600" y="5435600"/>
            <a:ext cx="2565400" cy="558800"/>
          </a:xfrm>
          <a:prstGeom prst="straightConnector1">
            <a:avLst/>
          </a:prstGeom>
          <a:ln w="20320">
            <a:solidFill>
              <a:srgbClr val="3696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681CD8A-E446-D0ED-6E15-570153575F3C}"/>
              </a:ext>
            </a:extLst>
          </p:cNvPr>
          <p:cNvCxnSpPr/>
          <p:nvPr/>
        </p:nvCxnSpPr>
        <p:spPr>
          <a:xfrm>
            <a:off x="12268200" y="6477000"/>
            <a:ext cx="304800" cy="0"/>
          </a:xfrm>
          <a:prstGeom prst="straightConnector1">
            <a:avLst/>
          </a:prstGeom>
          <a:ln w="20320">
            <a:solidFill>
              <a:srgbClr val="36966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924A49B-02E2-1D52-2424-C6BD849CDD41}"/>
              </a:ext>
            </a:extLst>
          </p:cNvPr>
          <p:cNvCxnSpPr/>
          <p:nvPr/>
        </p:nvCxnSpPr>
        <p:spPr>
          <a:xfrm>
            <a:off x="14528800" y="6477000"/>
            <a:ext cx="228600" cy="0"/>
          </a:xfrm>
          <a:prstGeom prst="straightConnector1">
            <a:avLst/>
          </a:prstGeom>
          <a:ln w="20320">
            <a:solidFill>
              <a:srgbClr val="0054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CAE20D2-0625-A476-576E-89CF14851016}"/>
              </a:ext>
            </a:extLst>
          </p:cNvPr>
          <p:cNvSpPr/>
          <p:nvPr/>
        </p:nvSpPr>
        <p:spPr>
          <a:xfrm>
            <a:off x="1778000" y="7493000"/>
            <a:ext cx="1905000" cy="7366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TIM6 </a:t>
            </a:r>
            <a:r>
              <a:rPr lang="zh-CN" altLang="en-US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中断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1 ms tick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program_tim...</a:t>
            </a:r>
            <a:endParaRPr lang="zh-CN" altLang="en-US" sz="8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64D75D2-81E6-4E1B-4029-3C10F7903F13}"/>
              </a:ext>
            </a:extLst>
          </p:cNvPr>
          <p:cNvSpPr/>
          <p:nvPr/>
        </p:nvSpPr>
        <p:spPr>
          <a:xfrm>
            <a:off x="4000500" y="7493000"/>
            <a:ext cx="1905000" cy="7366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program_task()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while(1) 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轮询</a:t>
            </a:r>
          </a:p>
          <a:p>
            <a:pPr algn="ctr"/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按 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tick 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A80F439-5008-AAD1-5074-EC7208A97C27}"/>
              </a:ext>
            </a:extLst>
          </p:cNvPr>
          <p:cNvSpPr/>
          <p:nvPr/>
        </p:nvSpPr>
        <p:spPr>
          <a:xfrm>
            <a:off x="6223000" y="7493000"/>
            <a:ext cx="2286000" cy="7366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慢变量换算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ADC2 DMA: VBUS/NTC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vbus LPF + telemetry</a:t>
            </a:r>
            <a:endParaRPr lang="zh-CN" altLang="en-US" sz="80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D8178E4-21D0-8AE8-0095-28351567D1B7}"/>
              </a:ext>
            </a:extLst>
          </p:cNvPr>
          <p:cNvSpPr/>
          <p:nvPr/>
        </p:nvSpPr>
        <p:spPr>
          <a:xfrm>
            <a:off x="8826500" y="7493000"/>
            <a:ext cx="1968500" cy="7366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故障</a:t>
            </a:r>
            <a:r>
              <a:rPr lang="en-US" altLang="zh-CN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调试量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driver_fault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g_motor / g_foc 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快照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17EBC7A-C5AD-66C1-95ED-4324BB55516E}"/>
              </a:ext>
            </a:extLst>
          </p:cNvPr>
          <p:cNvSpPr/>
          <p:nvPr/>
        </p:nvSpPr>
        <p:spPr>
          <a:xfrm>
            <a:off x="11112500" y="7493000"/>
            <a:ext cx="2159000" cy="7366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en-US" altLang="zh-CN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VOFA / </a:t>
            </a:r>
            <a:r>
              <a:rPr lang="zh-CN" altLang="en-US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串口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JustFloat</a:t>
            </a:r>
          </a:p>
          <a:p>
            <a:pPr algn="ctr"/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USART1 DMA, 2 ms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节流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228BA710-A445-9B0B-45C0-85FF1F9A3ECA}"/>
              </a:ext>
            </a:extLst>
          </p:cNvPr>
          <p:cNvSpPr/>
          <p:nvPr/>
        </p:nvSpPr>
        <p:spPr>
          <a:xfrm>
            <a:off x="13589000" y="7493000"/>
            <a:ext cx="1803400" cy="73660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747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50800" rtlCol="0" anchor="ctr"/>
          <a:lstStyle/>
          <a:p>
            <a:pPr algn="ctr"/>
            <a:r>
              <a:rPr lang="zh-CN" altLang="en-US" sz="1200" b="1">
                <a:solidFill>
                  <a:srgbClr val="747474"/>
                </a:solidFill>
                <a:latin typeface="Microsoft YaHei" panose="020B0503020204020204" pitchFamily="34" charset="-122"/>
              </a:rPr>
              <a:t>讲解用途</a:t>
            </a:r>
          </a:p>
          <a:p>
            <a:pPr algn="ctr"/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速度</a:t>
            </a:r>
            <a:r>
              <a:rPr lang="en-US" altLang="zh-CN" sz="80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位置曲线</a:t>
            </a:r>
          </a:p>
          <a:p>
            <a:pPr algn="ctr"/>
            <a:r>
              <a:rPr lang="zh-CN" altLang="en-US" sz="800">
                <a:solidFill>
                  <a:srgbClr val="000000"/>
                </a:solidFill>
                <a:latin typeface="Microsoft YaHei" panose="020B0503020204020204" pitchFamily="34" charset="-122"/>
              </a:rPr>
              <a:t>调参和排查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BA28109-23AE-7546-88E8-7DA7C7CAB08E}"/>
              </a:ext>
            </a:extLst>
          </p:cNvPr>
          <p:cNvCxnSpPr/>
          <p:nvPr/>
        </p:nvCxnSpPr>
        <p:spPr>
          <a:xfrm>
            <a:off x="3683000" y="7861300"/>
            <a:ext cx="317500" cy="0"/>
          </a:xfrm>
          <a:prstGeom prst="straightConnector1">
            <a:avLst/>
          </a:prstGeom>
          <a:ln w="20320">
            <a:solidFill>
              <a:srgbClr val="7474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06A3BC0-0499-2587-08D1-6C0432E0B5AF}"/>
              </a:ext>
            </a:extLst>
          </p:cNvPr>
          <p:cNvCxnSpPr/>
          <p:nvPr/>
        </p:nvCxnSpPr>
        <p:spPr>
          <a:xfrm>
            <a:off x="5905500" y="7861300"/>
            <a:ext cx="317500" cy="0"/>
          </a:xfrm>
          <a:prstGeom prst="straightConnector1">
            <a:avLst/>
          </a:prstGeom>
          <a:ln w="20320">
            <a:solidFill>
              <a:srgbClr val="7474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A31C79B-5C99-0329-71C2-EACE31922AFB}"/>
              </a:ext>
            </a:extLst>
          </p:cNvPr>
          <p:cNvCxnSpPr/>
          <p:nvPr/>
        </p:nvCxnSpPr>
        <p:spPr>
          <a:xfrm>
            <a:off x="8509000" y="7861300"/>
            <a:ext cx="317500" cy="0"/>
          </a:xfrm>
          <a:prstGeom prst="straightConnector1">
            <a:avLst/>
          </a:prstGeom>
          <a:ln w="20320">
            <a:solidFill>
              <a:srgbClr val="7474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6ACC49E4-2B0C-0FAA-D3BA-0789F423A329}"/>
              </a:ext>
            </a:extLst>
          </p:cNvPr>
          <p:cNvCxnSpPr/>
          <p:nvPr/>
        </p:nvCxnSpPr>
        <p:spPr>
          <a:xfrm>
            <a:off x="10795000" y="7861300"/>
            <a:ext cx="317500" cy="0"/>
          </a:xfrm>
          <a:prstGeom prst="straightConnector1">
            <a:avLst/>
          </a:prstGeom>
          <a:ln w="20320">
            <a:solidFill>
              <a:srgbClr val="7474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12C944E-9151-7D9B-5352-7454266FE577}"/>
              </a:ext>
            </a:extLst>
          </p:cNvPr>
          <p:cNvCxnSpPr/>
          <p:nvPr/>
        </p:nvCxnSpPr>
        <p:spPr>
          <a:xfrm>
            <a:off x="13271500" y="7861300"/>
            <a:ext cx="317500" cy="0"/>
          </a:xfrm>
          <a:prstGeom prst="straightConnector1">
            <a:avLst/>
          </a:prstGeom>
          <a:ln w="20320">
            <a:solidFill>
              <a:srgbClr val="7474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5501856-C9FC-8B56-EFBD-3322539E0C3B}"/>
              </a:ext>
            </a:extLst>
          </p:cNvPr>
          <p:cNvCxnSpPr/>
          <p:nvPr/>
        </p:nvCxnSpPr>
        <p:spPr>
          <a:xfrm>
            <a:off x="4927600" y="2590800"/>
            <a:ext cx="0" cy="4902200"/>
          </a:xfrm>
          <a:prstGeom prst="straightConnector1">
            <a:avLst/>
          </a:prstGeom>
          <a:ln w="13970">
            <a:solidFill>
              <a:srgbClr val="7474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979D93D2-DD78-2583-5224-22221C05E82B}"/>
              </a:ext>
            </a:extLst>
          </p:cNvPr>
          <p:cNvCxnSpPr/>
          <p:nvPr/>
        </p:nvCxnSpPr>
        <p:spPr>
          <a:xfrm>
            <a:off x="9652000" y="1752600"/>
            <a:ext cx="0" cy="5740400"/>
          </a:xfrm>
          <a:prstGeom prst="straightConnector1">
            <a:avLst/>
          </a:prstGeom>
          <a:ln w="13970">
            <a:solidFill>
              <a:srgbClr val="74747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7C762BDF-195A-A8B5-378E-6DB21BB0467D}"/>
              </a:ext>
            </a:extLst>
          </p:cNvPr>
          <p:cNvSpPr/>
          <p:nvPr/>
        </p:nvSpPr>
        <p:spPr>
          <a:xfrm>
            <a:off x="1778000" y="8458200"/>
            <a:ext cx="13614400" cy="431800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B4C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核心讲法：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program.c 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是调度中心；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g_program_telemetry 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负责观测，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g_motor 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负责状态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指令，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g_foc 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负责 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FOC 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计算结果；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foc_core.c 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做 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Clarke/Park/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反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Park/SVPWM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ma600a.c </a:t>
            </a:r>
            <a:r>
              <a:rPr lang="zh-CN" altLang="en-US" sz="1100" b="1">
                <a:solidFill>
                  <a:srgbClr val="005496"/>
                </a:solidFill>
                <a:latin typeface="Microsoft YaHei" panose="020B0503020204020204" pitchFamily="34" charset="-122"/>
              </a:rPr>
              <a:t>提供角度反馈。</a:t>
            </a:r>
          </a:p>
        </p:txBody>
      </p:sp>
    </p:spTree>
    <p:extLst>
      <p:ext uri="{BB962C8B-B14F-4D97-AF65-F5344CB8AC3E}">
        <p14:creationId xmlns:p14="http://schemas.microsoft.com/office/powerpoint/2010/main" val="235585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自定义</PresentationFormat>
  <Paragraphs>103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1</cp:revision>
  <dcterms:created xsi:type="dcterms:W3CDTF">2026-06-28T12:41:20Z</dcterms:created>
  <dcterms:modified xsi:type="dcterms:W3CDTF">2026-06-28T12:41:20Z</dcterms:modified>
</cp:coreProperties>
</file>