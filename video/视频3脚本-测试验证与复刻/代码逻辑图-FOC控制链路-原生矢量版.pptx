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C3317-1DCF-4ECF-B8A0-C1E26244815B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F505C-0DF2-42C7-B5E3-EB795F222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29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这页用原生 </a:t>
            </a:r>
            <a:r>
              <a:rPr lang="en-US" altLang="zh-CN">
                <a:latin typeface="Microsoft YaHei" panose="020B0503020204020204" pitchFamily="34" charset="-122"/>
              </a:rPr>
              <a:t>PPT </a:t>
            </a:r>
            <a:r>
              <a:rPr lang="zh-CN" altLang="en-US">
                <a:latin typeface="Microsoft YaHei" panose="020B0503020204020204" pitchFamily="34" charset="-122"/>
              </a:rPr>
              <a:t>矢量形状绘制，不是截图。讲解顺序：</a:t>
            </a:r>
            <a:r>
              <a:rPr lang="en-US" altLang="zh-CN">
                <a:latin typeface="Microsoft YaHei" panose="020B0503020204020204" pitchFamily="34" charset="-122"/>
              </a:rPr>
              <a:t>1 main </a:t>
            </a:r>
            <a:r>
              <a:rPr lang="zh-CN" altLang="en-US">
                <a:latin typeface="Microsoft YaHei" panose="020B0503020204020204" pitchFamily="34" charset="-122"/>
              </a:rPr>
              <a:t>初始化外设；</a:t>
            </a:r>
            <a:r>
              <a:rPr lang="en-US" altLang="zh-CN">
                <a:latin typeface="Microsoft YaHei" panose="020B0503020204020204" pitchFamily="34" charset="-122"/>
              </a:rPr>
              <a:t>2 program_init </a:t>
            </a:r>
            <a:r>
              <a:rPr lang="zh-CN" altLang="en-US">
                <a:latin typeface="Microsoft YaHei" panose="020B0503020204020204" pitchFamily="34" charset="-122"/>
              </a:rPr>
              <a:t>做驱动休眠、</a:t>
            </a:r>
            <a:r>
              <a:rPr lang="en-US" altLang="zh-CN">
                <a:latin typeface="Microsoft YaHei" panose="020B0503020204020204" pitchFamily="34" charset="-122"/>
              </a:rPr>
              <a:t>ADC </a:t>
            </a:r>
            <a:r>
              <a:rPr lang="zh-CN" altLang="en-US">
                <a:latin typeface="Microsoft YaHei" panose="020B0503020204020204" pitchFamily="34" charset="-122"/>
              </a:rPr>
              <a:t>校准和控制对象初始化；</a:t>
            </a:r>
            <a:r>
              <a:rPr lang="en-US" altLang="zh-CN">
                <a:latin typeface="Microsoft YaHei" panose="020B0503020204020204" pitchFamily="34" charset="-122"/>
              </a:rPr>
              <a:t>3 </a:t>
            </a:r>
            <a:r>
              <a:rPr lang="zh-CN" altLang="en-US">
                <a:latin typeface="Microsoft YaHei" panose="020B0503020204020204" pitchFamily="34" charset="-122"/>
              </a:rPr>
              <a:t>启动 </a:t>
            </a:r>
            <a:r>
              <a:rPr lang="en-US" altLang="zh-CN">
                <a:latin typeface="Microsoft YaHei" panose="020B0503020204020204" pitchFamily="34" charset="-122"/>
              </a:rPr>
              <a:t>ADC2/TIM6 </a:t>
            </a:r>
            <a:r>
              <a:rPr lang="zh-CN" altLang="en-US">
                <a:latin typeface="Microsoft YaHei" panose="020B0503020204020204" pitchFamily="34" charset="-122"/>
              </a:rPr>
              <a:t>慢采样链和 </a:t>
            </a:r>
            <a:r>
              <a:rPr lang="en-US" altLang="zh-CN">
                <a:latin typeface="Microsoft YaHei" panose="020B0503020204020204" pitchFamily="34" charset="-122"/>
              </a:rPr>
              <a:t>TIM1/ADC1 </a:t>
            </a:r>
            <a:r>
              <a:rPr lang="zh-CN" altLang="en-US">
                <a:latin typeface="Microsoft YaHei" panose="020B0503020204020204" pitchFamily="34" charset="-122"/>
              </a:rPr>
              <a:t>快采样链；</a:t>
            </a:r>
            <a:r>
              <a:rPr lang="en-US" altLang="zh-CN">
                <a:latin typeface="Microsoft YaHei" panose="020B0503020204020204" pitchFamily="34" charset="-122"/>
              </a:rPr>
              <a:t>4 while(1) </a:t>
            </a:r>
            <a:r>
              <a:rPr lang="zh-CN" altLang="en-US">
                <a:latin typeface="Microsoft YaHei" panose="020B0503020204020204" pitchFamily="34" charset="-122"/>
              </a:rPr>
              <a:t>只跑后台慢任务；</a:t>
            </a:r>
            <a:r>
              <a:rPr lang="en-US" altLang="zh-CN">
                <a:latin typeface="Microsoft YaHei" panose="020B0503020204020204" pitchFamily="34" charset="-122"/>
              </a:rPr>
              <a:t>5 10kHz </a:t>
            </a:r>
            <a:r>
              <a:rPr lang="zh-CN" altLang="en-US">
                <a:latin typeface="Microsoft YaHei" panose="020B0503020204020204" pitchFamily="34" charset="-122"/>
              </a:rPr>
              <a:t>快环由 </a:t>
            </a:r>
            <a:r>
              <a:rPr lang="en-US" altLang="zh-CN">
                <a:latin typeface="Microsoft YaHei" panose="020B0503020204020204" pitchFamily="34" charset="-122"/>
              </a:rPr>
              <a:t>TIM1 </a:t>
            </a:r>
            <a:r>
              <a:rPr lang="zh-CN" altLang="en-US">
                <a:latin typeface="Microsoft YaHei" panose="020B0503020204020204" pitchFamily="34" charset="-122"/>
              </a:rPr>
              <a:t>触发 </a:t>
            </a:r>
            <a:r>
              <a:rPr lang="en-US" altLang="zh-CN">
                <a:latin typeface="Microsoft YaHei" panose="020B0503020204020204" pitchFamily="34" charset="-122"/>
              </a:rPr>
              <a:t>ADC1 injected</a:t>
            </a:r>
            <a:r>
              <a:rPr lang="zh-CN" altLang="en-US">
                <a:latin typeface="Microsoft YaHei" panose="020B0503020204020204" pitchFamily="34" charset="-122"/>
              </a:rPr>
              <a:t>，回调里完成电流读取、</a:t>
            </a:r>
            <a:r>
              <a:rPr lang="en-US" altLang="zh-CN">
                <a:latin typeface="Microsoft YaHei" panose="020B0503020204020204" pitchFamily="34" charset="-122"/>
              </a:rPr>
              <a:t>MA600A </a:t>
            </a:r>
            <a:r>
              <a:rPr lang="zh-CN" altLang="en-US">
                <a:latin typeface="Microsoft YaHei" panose="020B0503020204020204" pitchFamily="34" charset="-122"/>
              </a:rPr>
              <a:t>角度调度、</a:t>
            </a:r>
            <a:r>
              <a:rPr lang="en-US" altLang="zh-CN">
                <a:latin typeface="Microsoft YaHei" panose="020B0503020204020204" pitchFamily="34" charset="-122"/>
              </a:rPr>
              <a:t>Clarke/Park</a:t>
            </a:r>
            <a:r>
              <a:rPr lang="zh-CN" altLang="en-US">
                <a:latin typeface="Microsoft YaHei" panose="020B0503020204020204" pitchFamily="34" charset="-122"/>
              </a:rPr>
              <a:t>；</a:t>
            </a:r>
            <a:r>
              <a:rPr lang="en-US" altLang="zh-CN">
                <a:latin typeface="Microsoft YaHei" panose="020B0503020204020204" pitchFamily="34" charset="-122"/>
              </a:rPr>
              <a:t>6 </a:t>
            </a:r>
            <a:r>
              <a:rPr lang="zh-CN" altLang="en-US">
                <a:latin typeface="Microsoft YaHei" panose="020B0503020204020204" pitchFamily="34" charset="-122"/>
              </a:rPr>
              <a:t>状态机负责安全检查、停机、编码器对齐和闭环切换；</a:t>
            </a:r>
            <a:r>
              <a:rPr lang="en-US" altLang="zh-CN">
                <a:latin typeface="Microsoft YaHei" panose="020B0503020204020204" pitchFamily="34" charset="-122"/>
              </a:rPr>
              <a:t>7 </a:t>
            </a:r>
            <a:r>
              <a:rPr lang="zh-CN" altLang="en-US">
                <a:latin typeface="Microsoft YaHei" panose="020B0503020204020204" pitchFamily="34" charset="-122"/>
              </a:rPr>
              <a:t>外环给 </a:t>
            </a:r>
            <a:r>
              <a:rPr lang="en-US" altLang="zh-CN">
                <a:latin typeface="Microsoft YaHei" panose="020B0503020204020204" pitchFamily="34" charset="-122"/>
              </a:rPr>
              <a:t>iq_ref </a:t>
            </a:r>
            <a:r>
              <a:rPr lang="zh-CN" altLang="en-US">
                <a:latin typeface="Microsoft YaHei" panose="020B0503020204020204" pitchFamily="34" charset="-122"/>
              </a:rPr>
              <a:t>或 </a:t>
            </a:r>
            <a:r>
              <a:rPr lang="en-US" altLang="zh-CN">
                <a:latin typeface="Microsoft YaHei" panose="020B0503020204020204" pitchFamily="34" charset="-122"/>
              </a:rPr>
              <a:t>uq_ref</a:t>
            </a:r>
            <a:r>
              <a:rPr lang="zh-CN" altLang="en-US">
                <a:latin typeface="Microsoft YaHei" panose="020B0503020204020204" pitchFamily="34" charset="-122"/>
              </a:rPr>
              <a:t>；</a:t>
            </a:r>
            <a:r>
              <a:rPr lang="en-US" altLang="zh-CN">
                <a:latin typeface="Microsoft YaHei" panose="020B0503020204020204" pitchFamily="34" charset="-122"/>
              </a:rPr>
              <a:t>8 </a:t>
            </a:r>
            <a:r>
              <a:rPr lang="zh-CN" altLang="en-US">
                <a:latin typeface="Microsoft YaHei" panose="020B0503020204020204" pitchFamily="34" charset="-122"/>
              </a:rPr>
              <a:t>内环和 </a:t>
            </a:r>
            <a:r>
              <a:rPr lang="en-US" altLang="zh-CN">
                <a:latin typeface="Microsoft YaHei" panose="020B0503020204020204" pitchFamily="34" charset="-122"/>
              </a:rPr>
              <a:t>foc_core </a:t>
            </a:r>
            <a:r>
              <a:rPr lang="zh-CN" altLang="en-US">
                <a:latin typeface="Microsoft YaHei" panose="020B0503020204020204" pitchFamily="34" charset="-122"/>
              </a:rPr>
              <a:t>输出 </a:t>
            </a:r>
            <a:r>
              <a:rPr lang="en-US" altLang="zh-CN">
                <a:latin typeface="Microsoft YaHei" panose="020B0503020204020204" pitchFamily="34" charset="-122"/>
              </a:rPr>
              <a:t>SVPWM</a:t>
            </a:r>
            <a:r>
              <a:rPr lang="zh-CN" altLang="en-US">
                <a:latin typeface="Microsoft YaHei" panose="020B0503020204020204" pitchFamily="34" charset="-122"/>
              </a:rPr>
              <a:t>，占空比写入 </a:t>
            </a:r>
            <a:r>
              <a:rPr lang="en-US" altLang="zh-CN">
                <a:latin typeface="Microsoft YaHei" panose="020B0503020204020204" pitchFamily="34" charset="-122"/>
              </a:rPr>
              <a:t>TIM1 CCR</a:t>
            </a:r>
            <a:r>
              <a:rPr lang="zh-CN" altLang="en-US">
                <a:latin typeface="Microsoft YaHei" panose="020B0503020204020204" pitchFamily="34" charset="-122"/>
              </a:rPr>
              <a:t>，驱动功率级。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F505C-0DF2-42C7-B5E3-EB795F222F3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308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652C3-492D-F096-07E0-2DD235733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599FA-70B9-8DE9-D8B2-B50D70004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3EE75-68A3-E154-5919-D591AE3CF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A62035-9E40-A2BA-499C-A59E460A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93419C-0F91-A918-4E68-6ABA73CD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73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3EEEA-8B66-5C18-0474-205C198B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8831BE-8AD7-643C-694E-7D8C4CBA6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51F01A-9994-46F3-B633-756F70F2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775766-98F4-1EEE-73D7-BF640AFD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B9E51F-0CCA-24B1-232D-72D27644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170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89450-549B-730E-19A8-E7BB7154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1579C3-6DB2-2BAA-B428-F9E5133D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D7373-44D9-CB12-B1F4-C4D6AAB9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5EE1E-E0F1-8627-4762-A19005BD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F16DD1-0C2B-CC85-D23D-32684C30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30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B891F-9F9C-952E-A522-ACF10884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221624-7CCC-B429-561D-DE628242E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7A03A0-CA79-739D-D2DD-7F6DCAFF4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DAAB9F-2324-25F3-9ACD-76D76ADF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3FC285-4F6E-8D93-F75C-AE99B840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915DB7-AFFD-B259-30BC-89BFE992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725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33189-1F2E-3AA6-D667-85D10EC6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CB79A8-D0C8-3EFE-EDEF-42A19B0FD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4D69A0-656D-C374-6A3C-8091F2D26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DE035F-6948-01AE-451E-AC5175BA2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D7D9FF-BE04-8F5C-94E6-408D330C7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EECA97-8A68-2F3E-390B-F8B6C8EDD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1B2459-16B6-91D4-4971-261D41F7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A1F852-38BC-6C3D-51B2-677C89C7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49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CAD58-4410-6F27-C098-C19AF01B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AE293E-1F2B-7F3A-35E8-01A77FF0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A59365-B2C9-A999-CC67-67AB6A2D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8ED467-5171-88DD-860D-86D3441F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30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3F8C5D-2E7A-3C2C-BE27-A131D372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2303FB-984D-E244-9C61-B69EE6A8D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5D15D4-7D9A-69BB-0635-5F86EDEE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45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F22B1-1DA8-B74C-98ED-A304AD9D1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83058-011A-B0BB-A36C-D1BB2BADE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7E3603-6C84-05F1-90B9-81010E69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35D5D8-E696-2D91-A181-E2E02197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209C48-7B2A-9F4B-73B6-C664224B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9DE532-1AB3-1AE9-E373-B7F79C99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95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ADD96-7C23-11D3-6D77-30B522024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CE189E-0E37-BDA8-4D2A-0B7D7EC50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5F809D-2AFF-939C-4931-BD8C6FE77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2920C0-BF61-AC19-5E79-74098A4F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788C3C-C758-C154-9A28-BB3BF739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C6312D-685F-2465-D2EA-E553403B3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11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88459-A724-588A-2536-56963F1E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4C9F7C-1CC6-CEB6-66D7-6EFEFD003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6FD3F-66B5-96AF-F33D-CB19BC8E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221261-1F34-A5F9-8EBC-731552BAE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931051-C246-2EAD-9C41-D4D7BD6D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49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960350-23BF-B127-9643-7501997CC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8635FF-DD03-9155-C917-57BF86E89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AC0A4-1EDC-8B07-6683-E40A8DD48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262C7E-47B5-B33D-06BA-BBAEC5BC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4557A5-765C-DBF7-4418-413FE218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63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7C1C54-164F-3259-63A8-478F59D0E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F564C7-1F2F-86DF-DCF2-71021A62B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56A98C-8D60-3889-864D-389269BFB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C4246-287F-41AD-B59F-09119CB8FCD6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E2BAF-151A-54E2-D784-9331E5665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7FCD3C-6230-9742-886A-8BFBFBBB3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BB7D7-093F-404A-880C-4A35107D1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14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C6628A-E63C-D27D-41B4-E404B66C0969}"/>
              </a:ext>
            </a:extLst>
          </p:cNvPr>
          <p:cNvSpPr/>
          <p:nvPr/>
        </p:nvSpPr>
        <p:spPr>
          <a:xfrm>
            <a:off x="609600" y="355600"/>
            <a:ext cx="15036800" cy="812800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E0A479-A6E0-DCD4-786F-802CF35A1A45}"/>
              </a:ext>
            </a:extLst>
          </p:cNvPr>
          <p:cNvSpPr txBox="1"/>
          <p:nvPr/>
        </p:nvSpPr>
        <p:spPr>
          <a:xfrm>
            <a:off x="965200" y="546100"/>
            <a:ext cx="8128000" cy="40523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2300" b="1">
                <a:solidFill>
                  <a:srgbClr val="FFFFFF"/>
                </a:solidFill>
                <a:latin typeface="Microsoft YaHei" panose="020B0503020204020204" pitchFamily="34" charset="-122"/>
              </a:rPr>
              <a:t>FOC </a:t>
            </a:r>
            <a:r>
              <a:rPr lang="zh-CN" altLang="en-US" sz="2300" b="1">
                <a:solidFill>
                  <a:srgbClr val="FFFFFF"/>
                </a:solidFill>
                <a:latin typeface="Microsoft YaHei" panose="020B0503020204020204" pitchFamily="34" charset="-122"/>
              </a:rPr>
              <a:t>代码逻辑图：从上电入口到闭环输出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0C1360-9C90-98FC-C5BB-89FF3B424D2A}"/>
              </a:ext>
            </a:extLst>
          </p:cNvPr>
          <p:cNvSpPr txBox="1"/>
          <p:nvPr/>
        </p:nvSpPr>
        <p:spPr>
          <a:xfrm>
            <a:off x="9969500" y="622300"/>
            <a:ext cx="5080000" cy="243656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r"/>
            <a:r>
              <a:rPr lang="zh-CN" altLang="en-US" sz="1250">
                <a:solidFill>
                  <a:srgbClr val="FFFFFF"/>
                </a:solidFill>
                <a:latin typeface="Microsoft YaHei" panose="020B0503020204020204" pitchFamily="34" charset="-122"/>
              </a:rPr>
              <a:t>主线：初始化 → </a:t>
            </a:r>
            <a:r>
              <a:rPr lang="en-US" altLang="zh-CN" sz="1250">
                <a:solidFill>
                  <a:srgbClr val="FFFFFF"/>
                </a:solidFill>
                <a:latin typeface="Microsoft YaHei" panose="020B0503020204020204" pitchFamily="34" charset="-122"/>
              </a:rPr>
              <a:t>10kHz</a:t>
            </a:r>
            <a:r>
              <a:rPr lang="zh-CN" altLang="en-US" sz="1250">
                <a:solidFill>
                  <a:srgbClr val="FFFFFF"/>
                </a:solidFill>
                <a:latin typeface="Microsoft YaHei" panose="020B0503020204020204" pitchFamily="34" charset="-122"/>
              </a:rPr>
              <a:t>快环 → 状态机 → </a:t>
            </a:r>
            <a:r>
              <a:rPr lang="en-US" altLang="zh-CN" sz="1250">
                <a:solidFill>
                  <a:srgbClr val="FFFFFF"/>
                </a:solidFill>
                <a:latin typeface="Microsoft YaHei" panose="020B0503020204020204" pitchFamily="34" charset="-122"/>
              </a:rPr>
              <a:t>FOC → PWM</a:t>
            </a:r>
            <a:endParaRPr lang="zh-CN" altLang="en-US" sz="125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59BE9F3-4E30-240F-0DA4-25B828519754}"/>
              </a:ext>
            </a:extLst>
          </p:cNvPr>
          <p:cNvSpPr/>
          <p:nvPr/>
        </p:nvSpPr>
        <p:spPr>
          <a:xfrm>
            <a:off x="9956800" y="1320800"/>
            <a:ext cx="1041400" cy="304800"/>
          </a:xfrm>
          <a:prstGeom prst="roundRect">
            <a:avLst/>
          </a:prstGeom>
          <a:solidFill>
            <a:srgbClr val="E8F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>
                <a:solidFill>
                  <a:srgbClr val="005696"/>
                </a:solidFill>
                <a:latin typeface="Microsoft YaHei" panose="020B0503020204020204" pitchFamily="34" charset="-122"/>
              </a:rPr>
              <a:t>硬件入口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06535FD-2A84-E0B0-AB15-3101B94340F5}"/>
              </a:ext>
            </a:extLst>
          </p:cNvPr>
          <p:cNvSpPr/>
          <p:nvPr/>
        </p:nvSpPr>
        <p:spPr>
          <a:xfrm>
            <a:off x="11112500" y="1320800"/>
            <a:ext cx="1092200" cy="304800"/>
          </a:xfrm>
          <a:prstGeom prst="roundRect">
            <a:avLst/>
          </a:prstGeom>
          <a:solidFill>
            <a:srgbClr val="FFF2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>
                <a:solidFill>
                  <a:srgbClr val="C66015"/>
                </a:solidFill>
                <a:latin typeface="Microsoft YaHei" panose="020B0503020204020204" pitchFamily="34" charset="-122"/>
              </a:rPr>
              <a:t>快环调度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2163A04-6736-C4C1-3533-72CA1F7F8249}"/>
              </a:ext>
            </a:extLst>
          </p:cNvPr>
          <p:cNvSpPr/>
          <p:nvPr/>
        </p:nvSpPr>
        <p:spPr>
          <a:xfrm>
            <a:off x="12319000" y="1320800"/>
            <a:ext cx="914400" cy="304800"/>
          </a:xfrm>
          <a:prstGeom prst="roundRect">
            <a:avLst/>
          </a:prstGeom>
          <a:solidFill>
            <a:srgbClr val="E8F7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>
                <a:solidFill>
                  <a:srgbClr val="1E7A48"/>
                </a:solidFill>
                <a:latin typeface="Microsoft YaHei" panose="020B0503020204020204" pitchFamily="34" charset="-122"/>
              </a:rPr>
              <a:t>FOC</a:t>
            </a:r>
            <a:r>
              <a:rPr lang="zh-CN" altLang="en-US" sz="900" b="1">
                <a:solidFill>
                  <a:srgbClr val="1E7A48"/>
                </a:solidFill>
                <a:latin typeface="Microsoft YaHei" panose="020B0503020204020204" pitchFamily="34" charset="-122"/>
              </a:rPr>
              <a:t>算法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745C0B0-1555-E69E-E787-5842D6E048B3}"/>
              </a:ext>
            </a:extLst>
          </p:cNvPr>
          <p:cNvSpPr/>
          <p:nvPr/>
        </p:nvSpPr>
        <p:spPr>
          <a:xfrm>
            <a:off x="13335000" y="1320800"/>
            <a:ext cx="1016000" cy="304800"/>
          </a:xfrm>
          <a:prstGeom prst="roundRect">
            <a:avLst/>
          </a:prstGeom>
          <a:solidFill>
            <a:srgbClr val="FFEC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>
                <a:solidFill>
                  <a:srgbClr val="C9433B"/>
                </a:solidFill>
                <a:latin typeface="Microsoft YaHei" panose="020B0503020204020204" pitchFamily="34" charset="-122"/>
              </a:rPr>
              <a:t>安全分支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E6414F9-3047-A45E-C1D1-46A0B1DB219D}"/>
              </a:ext>
            </a:extLst>
          </p:cNvPr>
          <p:cNvSpPr/>
          <p:nvPr/>
        </p:nvSpPr>
        <p:spPr>
          <a:xfrm>
            <a:off x="14452600" y="1320800"/>
            <a:ext cx="914400" cy="304800"/>
          </a:xfrm>
          <a:prstGeom prst="round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>
                <a:solidFill>
                  <a:srgbClr val="757575"/>
                </a:solidFill>
                <a:latin typeface="Microsoft YaHei" panose="020B0503020204020204" pitchFamily="34" charset="-122"/>
              </a:rPr>
              <a:t>慢任务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72C452-9728-72CA-8ABB-384B6E1D314D}"/>
              </a:ext>
            </a:extLst>
          </p:cNvPr>
          <p:cNvSpPr/>
          <p:nvPr/>
        </p:nvSpPr>
        <p:spPr>
          <a:xfrm>
            <a:off x="685800" y="1625600"/>
            <a:ext cx="914400" cy="914400"/>
          </a:xfrm>
          <a:prstGeom prst="rect">
            <a:avLst/>
          </a:prstGeom>
          <a:solidFill>
            <a:srgbClr val="E8F5FF"/>
          </a:solidFill>
          <a:ln w="13970">
            <a:solidFill>
              <a:srgbClr val="0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b="1">
                <a:solidFill>
                  <a:srgbClr val="005696"/>
                </a:solidFill>
                <a:latin typeface="Microsoft YaHei" panose="020B0503020204020204" pitchFamily="34" charset="-122"/>
              </a:rPr>
              <a:t>启动</a:t>
            </a:r>
          </a:p>
          <a:p>
            <a:pPr algn="ctr"/>
            <a:r>
              <a:rPr lang="zh-CN" altLang="en-US" sz="1500" b="1">
                <a:solidFill>
                  <a:srgbClr val="005696"/>
                </a:solidFill>
                <a:latin typeface="Microsoft YaHei" panose="020B0503020204020204" pitchFamily="34" charset="-122"/>
              </a:rPr>
              <a:t>初始化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193FF-0AC1-D24D-E859-0A5829803C12}"/>
              </a:ext>
            </a:extLst>
          </p:cNvPr>
          <p:cNvSpPr/>
          <p:nvPr/>
        </p:nvSpPr>
        <p:spPr>
          <a:xfrm>
            <a:off x="685800" y="2794000"/>
            <a:ext cx="914400" cy="3987800"/>
          </a:xfrm>
          <a:prstGeom prst="rect">
            <a:avLst/>
          </a:prstGeom>
          <a:solidFill>
            <a:srgbClr val="FFF2E0"/>
          </a:solidFill>
          <a:ln w="13970">
            <a:solidFill>
              <a:srgbClr val="C66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>
                <a:solidFill>
                  <a:srgbClr val="C66015"/>
                </a:solidFill>
                <a:latin typeface="Microsoft YaHei" panose="020B0503020204020204" pitchFamily="34" charset="-122"/>
              </a:rPr>
              <a:t>10kHz</a:t>
            </a:r>
          </a:p>
          <a:p>
            <a:pPr algn="ctr"/>
            <a:r>
              <a:rPr lang="zh-CN" altLang="en-US" sz="1500" b="1">
                <a:solidFill>
                  <a:srgbClr val="C66015"/>
                </a:solidFill>
                <a:latin typeface="Microsoft YaHei" panose="020B0503020204020204" pitchFamily="34" charset="-122"/>
              </a:rPr>
              <a:t>控制快环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22508E-8F4E-F288-061E-ACDD7D4098D1}"/>
              </a:ext>
            </a:extLst>
          </p:cNvPr>
          <p:cNvSpPr/>
          <p:nvPr/>
        </p:nvSpPr>
        <p:spPr>
          <a:xfrm>
            <a:off x="685800" y="7137400"/>
            <a:ext cx="914400" cy="1117600"/>
          </a:xfrm>
          <a:prstGeom prst="rect">
            <a:avLst/>
          </a:prstGeom>
          <a:solidFill>
            <a:srgbClr val="F5F7FA"/>
          </a:solidFill>
          <a:ln w="13970">
            <a:solidFill>
              <a:srgbClr val="7575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>
                <a:solidFill>
                  <a:srgbClr val="757575"/>
                </a:solidFill>
                <a:latin typeface="Microsoft YaHei" panose="020B0503020204020204" pitchFamily="34" charset="-122"/>
              </a:rPr>
              <a:t>1kHz</a:t>
            </a:r>
          </a:p>
          <a:p>
            <a:pPr algn="ctr"/>
            <a:r>
              <a:rPr lang="zh-CN" altLang="en-US" sz="1500" b="1">
                <a:solidFill>
                  <a:srgbClr val="757575"/>
                </a:solidFill>
                <a:latin typeface="Microsoft YaHei" panose="020B0503020204020204" pitchFamily="34" charset="-122"/>
              </a:rPr>
              <a:t>后台遥测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E14DE45-A987-E5C7-DA16-8C657DD7CE4F}"/>
              </a:ext>
            </a:extLst>
          </p:cNvPr>
          <p:cNvSpPr/>
          <p:nvPr/>
        </p:nvSpPr>
        <p:spPr>
          <a:xfrm>
            <a:off x="1905000" y="1676400"/>
            <a:ext cx="1803400" cy="787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20" b="1">
                <a:solidFill>
                  <a:srgbClr val="005696"/>
                </a:solidFill>
                <a:latin typeface="Microsoft YaHei" panose="020B0503020204020204" pitchFamily="34" charset="-122"/>
              </a:rPr>
              <a:t>1. main()</a:t>
            </a:r>
          </a:p>
          <a:p>
            <a:pPr algn="ctr"/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外设初始化</a:t>
            </a:r>
          </a:p>
          <a:p>
            <a:pPr algn="ctr"/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MX_GPIO/DMA/ADC/SPI</a:t>
            </a:r>
            <a:endParaRPr lang="zh-CN" altLang="en-US" sz="81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7DCBAC-17B0-7B31-64D5-2FC000E42435}"/>
              </a:ext>
            </a:extLst>
          </p:cNvPr>
          <p:cNvSpPr/>
          <p:nvPr/>
        </p:nvSpPr>
        <p:spPr>
          <a:xfrm>
            <a:off x="4089400" y="1676400"/>
            <a:ext cx="1955800" cy="787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20" b="1">
                <a:solidFill>
                  <a:srgbClr val="005696"/>
                </a:solidFill>
                <a:latin typeface="Microsoft YaHei" panose="020B0503020204020204" pitchFamily="34" charset="-122"/>
              </a:rPr>
              <a:t>2. program_init()</a:t>
            </a:r>
          </a:p>
          <a:p>
            <a:pPr algn="ctr"/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驱动休眠 </a:t>
            </a:r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+ ADC</a:t>
            </a:r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校准</a:t>
            </a:r>
          </a:p>
          <a:p>
            <a:pPr algn="ctr"/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初始化 </a:t>
            </a:r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g_motor/g_foc</a:t>
            </a:r>
            <a:endParaRPr lang="zh-CN" altLang="en-US" sz="81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3DC613A-304D-68A4-866B-028D83E80484}"/>
              </a:ext>
            </a:extLst>
          </p:cNvPr>
          <p:cNvSpPr/>
          <p:nvPr/>
        </p:nvSpPr>
        <p:spPr>
          <a:xfrm>
            <a:off x="6426200" y="1676400"/>
            <a:ext cx="2209800" cy="787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20" b="1">
                <a:solidFill>
                  <a:srgbClr val="005696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220" b="1">
                <a:solidFill>
                  <a:srgbClr val="005696"/>
                </a:solidFill>
                <a:latin typeface="Microsoft YaHei" panose="020B0503020204020204" pitchFamily="34" charset="-122"/>
              </a:rPr>
              <a:t>启动采样链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ADC2 DMA + TIM6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TIM1 PWM + ADC1 Injected</a:t>
            </a:r>
            <a:endParaRPr lang="zh-CN" altLang="en-US" sz="80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2033A4A-80F6-0328-ED58-DE356CC031C8}"/>
              </a:ext>
            </a:extLst>
          </p:cNvPr>
          <p:cNvSpPr/>
          <p:nvPr/>
        </p:nvSpPr>
        <p:spPr>
          <a:xfrm>
            <a:off x="9017000" y="1676400"/>
            <a:ext cx="1879600" cy="787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20" b="1">
                <a:solidFill>
                  <a:srgbClr val="005696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220" b="1">
                <a:solidFill>
                  <a:srgbClr val="005696"/>
                </a:solidFill>
                <a:latin typeface="Microsoft YaHei" panose="020B0503020204020204" pitchFamily="34" charset="-122"/>
              </a:rPr>
              <a:t>进入后台</a:t>
            </a:r>
          </a:p>
          <a:p>
            <a:pPr algn="ctr"/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while(1)</a:t>
            </a:r>
          </a:p>
          <a:p>
            <a:pPr algn="ctr"/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program_task()</a:t>
            </a:r>
            <a:endParaRPr lang="zh-CN" altLang="en-US" sz="81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D4FE607-8802-2D1B-C409-E27BE018B22C}"/>
              </a:ext>
            </a:extLst>
          </p:cNvPr>
          <p:cNvCxnSpPr/>
          <p:nvPr/>
        </p:nvCxnSpPr>
        <p:spPr>
          <a:xfrm>
            <a:off x="3708400" y="2070100"/>
            <a:ext cx="381000" cy="0"/>
          </a:xfrm>
          <a:prstGeom prst="straightConnector1">
            <a:avLst/>
          </a:prstGeom>
          <a:ln w="21590">
            <a:solidFill>
              <a:srgbClr val="0056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838B920-BC9C-5A82-0EA4-DC867A539776}"/>
              </a:ext>
            </a:extLst>
          </p:cNvPr>
          <p:cNvCxnSpPr/>
          <p:nvPr/>
        </p:nvCxnSpPr>
        <p:spPr>
          <a:xfrm>
            <a:off x="6045200" y="2070100"/>
            <a:ext cx="381000" cy="0"/>
          </a:xfrm>
          <a:prstGeom prst="straightConnector1">
            <a:avLst/>
          </a:prstGeom>
          <a:ln w="21590">
            <a:solidFill>
              <a:srgbClr val="0056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7525192-F615-DE47-8246-7751AC0EBC4A}"/>
              </a:ext>
            </a:extLst>
          </p:cNvPr>
          <p:cNvCxnSpPr/>
          <p:nvPr/>
        </p:nvCxnSpPr>
        <p:spPr>
          <a:xfrm>
            <a:off x="8636000" y="2070100"/>
            <a:ext cx="381000" cy="0"/>
          </a:xfrm>
          <a:prstGeom prst="straightConnector1">
            <a:avLst/>
          </a:prstGeom>
          <a:ln w="21590">
            <a:solidFill>
              <a:srgbClr val="0056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42D55B9-9CF4-EA80-E82E-B063B0F8616A}"/>
              </a:ext>
            </a:extLst>
          </p:cNvPr>
          <p:cNvCxnSpPr/>
          <p:nvPr/>
        </p:nvCxnSpPr>
        <p:spPr>
          <a:xfrm>
            <a:off x="7531100" y="2463800"/>
            <a:ext cx="0" cy="533400"/>
          </a:xfrm>
          <a:prstGeom prst="straightConnector1">
            <a:avLst/>
          </a:prstGeom>
          <a:ln w="21590">
            <a:solidFill>
              <a:srgbClr val="C6601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2127052-5F66-6188-6DB8-8B491298DE2E}"/>
              </a:ext>
            </a:extLst>
          </p:cNvPr>
          <p:cNvSpPr/>
          <p:nvPr/>
        </p:nvSpPr>
        <p:spPr>
          <a:xfrm>
            <a:off x="1905000" y="2997200"/>
            <a:ext cx="1803400" cy="812800"/>
          </a:xfrm>
          <a:prstGeom prst="roundRect">
            <a:avLst/>
          </a:prstGeom>
          <a:solidFill>
            <a:srgbClr val="FFF2E0"/>
          </a:solidFill>
          <a:ln w="17145">
            <a:solidFill>
              <a:srgbClr val="C66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00" b="1">
                <a:solidFill>
                  <a:srgbClr val="C66015"/>
                </a:solidFill>
                <a:latin typeface="Microsoft YaHei" panose="020B0503020204020204" pitchFamily="34" charset="-122"/>
              </a:rPr>
              <a:t>5. TIM1_TRGO2</a:t>
            </a:r>
          </a:p>
          <a:p>
            <a:pPr algn="ctr"/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中心对齐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PWM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节点</a:t>
            </a:r>
          </a:p>
          <a:p>
            <a:pPr algn="ctr"/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触发三相电流采样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394286E-3105-7627-2947-B3EDC465CCB1}"/>
              </a:ext>
            </a:extLst>
          </p:cNvPr>
          <p:cNvSpPr/>
          <p:nvPr/>
        </p:nvSpPr>
        <p:spPr>
          <a:xfrm>
            <a:off x="4089400" y="2997200"/>
            <a:ext cx="1955800" cy="812800"/>
          </a:xfrm>
          <a:prstGeom prst="roundRect">
            <a:avLst/>
          </a:prstGeom>
          <a:solidFill>
            <a:srgbClr val="FFF2E0"/>
          </a:solidFill>
          <a:ln w="17145">
            <a:solidFill>
              <a:srgbClr val="C66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00" b="1">
                <a:solidFill>
                  <a:srgbClr val="C66015"/>
                </a:solidFill>
                <a:latin typeface="Microsoft YaHei" panose="020B0503020204020204" pitchFamily="34" charset="-122"/>
              </a:rPr>
              <a:t>ADC1 Injected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IA / IB / IC</a:t>
            </a:r>
          </a:p>
          <a:p>
            <a:pPr algn="ctr"/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同步采样完成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8CAA566-7B7C-C65C-7D86-02A2012D2341}"/>
              </a:ext>
            </a:extLst>
          </p:cNvPr>
          <p:cNvSpPr/>
          <p:nvPr/>
        </p:nvSpPr>
        <p:spPr>
          <a:xfrm>
            <a:off x="6426200" y="2997200"/>
            <a:ext cx="2209800" cy="812800"/>
          </a:xfrm>
          <a:prstGeom prst="roundRect">
            <a:avLst/>
          </a:prstGeom>
          <a:solidFill>
            <a:srgbClr val="FFF2E0"/>
          </a:solidFill>
          <a:ln w="17145">
            <a:solidFill>
              <a:srgbClr val="C66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200" b="1">
                <a:solidFill>
                  <a:srgbClr val="C66015"/>
                </a:solidFill>
                <a:latin typeface="Microsoft YaHei" panose="020B0503020204020204" pitchFamily="34" charset="-122"/>
              </a:rPr>
              <a:t>快环回调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program_adc_injected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_conv_cplt_callback()</a:t>
            </a:r>
            <a:endParaRPr lang="zh-CN" altLang="en-US" sz="80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5AB9F39-D8B8-6E2E-C3DB-CDBA9DF4E0F1}"/>
              </a:ext>
            </a:extLst>
          </p:cNvPr>
          <p:cNvSpPr/>
          <p:nvPr/>
        </p:nvSpPr>
        <p:spPr>
          <a:xfrm>
            <a:off x="9017000" y="2997200"/>
            <a:ext cx="1752600" cy="812800"/>
          </a:xfrm>
          <a:prstGeom prst="roundRect">
            <a:avLst/>
          </a:prstGeom>
          <a:solidFill>
            <a:srgbClr val="FFECEA"/>
          </a:solidFill>
          <a:ln w="17145">
            <a:solidFill>
              <a:srgbClr val="C94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200" b="1">
                <a:solidFill>
                  <a:srgbClr val="C9433B"/>
                </a:solidFill>
                <a:latin typeface="Microsoft YaHei" panose="020B0503020204020204" pitchFamily="34" charset="-122"/>
              </a:rPr>
              <a:t>零点校准</a:t>
            </a:r>
          </a:p>
          <a:p>
            <a:pPr algn="ctr"/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未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累计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1024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点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offset</a:t>
            </a:r>
            <a:endParaRPr lang="zh-CN" altLang="en-US" sz="80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79E0061-241A-5289-0523-7FD3B7F8A61F}"/>
              </a:ext>
            </a:extLst>
          </p:cNvPr>
          <p:cNvSpPr/>
          <p:nvPr/>
        </p:nvSpPr>
        <p:spPr>
          <a:xfrm>
            <a:off x="11150600" y="2997200"/>
            <a:ext cx="1803400" cy="812800"/>
          </a:xfrm>
          <a:prstGeom prst="roundRect">
            <a:avLst/>
          </a:prstGeom>
          <a:solidFill>
            <a:srgbClr val="E8F5FF"/>
          </a:solidFill>
          <a:ln w="17145">
            <a:solidFill>
              <a:srgbClr val="0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00" b="1">
                <a:solidFill>
                  <a:srgbClr val="005696"/>
                </a:solidFill>
                <a:latin typeface="Microsoft YaHei" panose="020B0503020204020204" pitchFamily="34" charset="-122"/>
              </a:rPr>
              <a:t>MA600A</a:t>
            </a:r>
            <a:r>
              <a:rPr lang="zh-CN" altLang="en-US" sz="1200" b="1">
                <a:solidFill>
                  <a:srgbClr val="005696"/>
                </a:solidFill>
                <a:latin typeface="Microsoft YaHei" panose="020B0503020204020204" pitchFamily="34" charset="-122"/>
              </a:rPr>
              <a:t>角度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SPI IT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读角度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raw / deg / rad</a:t>
            </a:r>
            <a:endParaRPr lang="zh-CN" altLang="en-US" sz="80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38F3525-DC9D-4E8B-0A7A-C4EF6705C576}"/>
              </a:ext>
            </a:extLst>
          </p:cNvPr>
          <p:cNvSpPr/>
          <p:nvPr/>
        </p:nvSpPr>
        <p:spPr>
          <a:xfrm>
            <a:off x="13335000" y="2997200"/>
            <a:ext cx="2006600" cy="812800"/>
          </a:xfrm>
          <a:prstGeom prst="roundRect">
            <a:avLst/>
          </a:prstGeom>
          <a:solidFill>
            <a:srgbClr val="E8F5FF"/>
          </a:solidFill>
          <a:ln w="17145">
            <a:solidFill>
              <a:srgbClr val="0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200" b="1">
                <a:solidFill>
                  <a:srgbClr val="005696"/>
                </a:solidFill>
                <a:latin typeface="Microsoft YaHei" panose="020B0503020204020204" pitchFamily="34" charset="-122"/>
              </a:rPr>
              <a:t>角度</a:t>
            </a:r>
            <a:r>
              <a:rPr lang="en-US" altLang="zh-CN" sz="1200" b="1">
                <a:solidFill>
                  <a:srgbClr val="00569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 b="1">
                <a:solidFill>
                  <a:srgbClr val="005696"/>
                </a:solidFill>
                <a:latin typeface="Microsoft YaHei" panose="020B0503020204020204" pitchFamily="34" charset="-122"/>
              </a:rPr>
              <a:t>速度观测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theta_elec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20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样本窗口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+LPF</a:t>
            </a:r>
            <a:endParaRPr lang="zh-CN" altLang="en-US" sz="80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7E04219-A820-4DF5-749B-A285D1E91DA7}"/>
              </a:ext>
            </a:extLst>
          </p:cNvPr>
          <p:cNvCxnSpPr/>
          <p:nvPr/>
        </p:nvCxnSpPr>
        <p:spPr>
          <a:xfrm>
            <a:off x="3708400" y="3403600"/>
            <a:ext cx="381000" cy="0"/>
          </a:xfrm>
          <a:prstGeom prst="straightConnector1">
            <a:avLst/>
          </a:prstGeom>
          <a:ln w="21590">
            <a:solidFill>
              <a:srgbClr val="C6601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765D184-60CE-CBFE-2DBC-41D56D0C2B24}"/>
              </a:ext>
            </a:extLst>
          </p:cNvPr>
          <p:cNvCxnSpPr/>
          <p:nvPr/>
        </p:nvCxnSpPr>
        <p:spPr>
          <a:xfrm>
            <a:off x="6045200" y="3403600"/>
            <a:ext cx="381000" cy="0"/>
          </a:xfrm>
          <a:prstGeom prst="straightConnector1">
            <a:avLst/>
          </a:prstGeom>
          <a:ln w="21590">
            <a:solidFill>
              <a:srgbClr val="C6601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9354579-8898-2EBC-0179-CA7AB3A71603}"/>
              </a:ext>
            </a:extLst>
          </p:cNvPr>
          <p:cNvCxnSpPr/>
          <p:nvPr/>
        </p:nvCxnSpPr>
        <p:spPr>
          <a:xfrm>
            <a:off x="8636000" y="3403600"/>
            <a:ext cx="381000" cy="0"/>
          </a:xfrm>
          <a:prstGeom prst="straightConnector1">
            <a:avLst/>
          </a:prstGeom>
          <a:ln w="21590">
            <a:solidFill>
              <a:srgbClr val="C6601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C62C87E-FEF8-AD80-4657-B67103CA2F9A}"/>
              </a:ext>
            </a:extLst>
          </p:cNvPr>
          <p:cNvCxnSpPr/>
          <p:nvPr/>
        </p:nvCxnSpPr>
        <p:spPr>
          <a:xfrm>
            <a:off x="10769600" y="3403600"/>
            <a:ext cx="381000" cy="0"/>
          </a:xfrm>
          <a:prstGeom prst="straightConnector1">
            <a:avLst/>
          </a:prstGeom>
          <a:ln w="21590">
            <a:solidFill>
              <a:srgbClr val="0056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746F9EA-34D2-FC62-F415-9E86325BC3A2}"/>
              </a:ext>
            </a:extLst>
          </p:cNvPr>
          <p:cNvCxnSpPr/>
          <p:nvPr/>
        </p:nvCxnSpPr>
        <p:spPr>
          <a:xfrm>
            <a:off x="12954000" y="3403600"/>
            <a:ext cx="381000" cy="0"/>
          </a:xfrm>
          <a:prstGeom prst="straightConnector1">
            <a:avLst/>
          </a:prstGeom>
          <a:ln w="21590">
            <a:solidFill>
              <a:srgbClr val="0056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C4A81F3-3FC5-386B-E0A4-B1283EAA07FC}"/>
              </a:ext>
            </a:extLst>
          </p:cNvPr>
          <p:cNvSpPr/>
          <p:nvPr/>
        </p:nvSpPr>
        <p:spPr>
          <a:xfrm>
            <a:off x="1905000" y="4572000"/>
            <a:ext cx="1981200" cy="9906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C66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200" b="1">
                <a:solidFill>
                  <a:srgbClr val="C66015"/>
                </a:solidFill>
                <a:latin typeface="Microsoft YaHei" panose="020B0503020204020204" pitchFamily="34" charset="-122"/>
              </a:rPr>
              <a:t>电流工程量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raw - offset → A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极性修正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ia / ib / ic</a:t>
            </a:r>
            <a:endParaRPr lang="zh-CN" altLang="en-US" sz="78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2B955FE-2F08-D345-207B-BA72FAE99000}"/>
              </a:ext>
            </a:extLst>
          </p:cNvPr>
          <p:cNvSpPr/>
          <p:nvPr/>
        </p:nvSpPr>
        <p:spPr>
          <a:xfrm>
            <a:off x="4292600" y="4572000"/>
            <a:ext cx="1981200" cy="990600"/>
          </a:xfrm>
          <a:prstGeom prst="roundRect">
            <a:avLst/>
          </a:prstGeom>
          <a:solidFill>
            <a:srgbClr val="E8F7EE"/>
          </a:solidFill>
          <a:ln w="17145">
            <a:solidFill>
              <a:srgbClr val="1E7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00" b="1">
                <a:solidFill>
                  <a:srgbClr val="1E7A48"/>
                </a:solidFill>
                <a:latin typeface="Microsoft YaHei" panose="020B0503020204020204" pitchFamily="34" charset="-122"/>
              </a:rPr>
              <a:t>Clarke / Park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abc → alpha/beta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alpha/beta → d/q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得到 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id / iq</a:t>
            </a:r>
            <a:endParaRPr lang="zh-CN" altLang="en-US" sz="78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8700099-7735-DCE4-450D-CB83AC4227FE}"/>
              </a:ext>
            </a:extLst>
          </p:cNvPr>
          <p:cNvSpPr/>
          <p:nvPr/>
        </p:nvSpPr>
        <p:spPr>
          <a:xfrm>
            <a:off x="6731000" y="4343400"/>
            <a:ext cx="2667000" cy="1422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AC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300" b="1">
                <a:solidFill>
                  <a:srgbClr val="005696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1300" b="1">
                <a:solidFill>
                  <a:srgbClr val="005696"/>
                </a:solidFill>
                <a:latin typeface="Microsoft YaHei" panose="020B0503020204020204" pitchFamily="34" charset="-122"/>
              </a:rPr>
              <a:t>状态机</a:t>
            </a:r>
          </a:p>
          <a:p>
            <a:pPr algn="ctr"/>
            <a:r>
              <a:rPr lang="zh-CN" altLang="en-US" sz="770">
                <a:solidFill>
                  <a:srgbClr val="000000"/>
                </a:solidFill>
                <a:latin typeface="Microsoft YaHei" panose="020B0503020204020204" pitchFamily="34" charset="-122"/>
              </a:rPr>
              <a:t>故障 </a:t>
            </a:r>
            <a:r>
              <a:rPr lang="en-US" altLang="zh-CN" sz="770">
                <a:solidFill>
                  <a:srgbClr val="000000"/>
                </a:solidFill>
                <a:latin typeface="Microsoft YaHei" panose="020B0503020204020204" pitchFamily="34" charset="-122"/>
              </a:rPr>
              <a:t>/ offset / </a:t>
            </a:r>
            <a:r>
              <a:rPr lang="zh-CN" altLang="en-US" sz="770">
                <a:solidFill>
                  <a:srgbClr val="000000"/>
                </a:solidFill>
                <a:latin typeface="Microsoft YaHei" panose="020B0503020204020204" pitchFamily="34" charset="-122"/>
              </a:rPr>
              <a:t>角度检查</a:t>
            </a:r>
          </a:p>
          <a:p>
            <a:pPr algn="ctr"/>
            <a:r>
              <a:rPr lang="en-US" altLang="zh-CN" sz="770">
                <a:solidFill>
                  <a:srgbClr val="000000"/>
                </a:solidFill>
                <a:latin typeface="Microsoft YaHei" panose="020B0503020204020204" pitchFamily="34" charset="-122"/>
              </a:rPr>
              <a:t>run_request</a:t>
            </a:r>
            <a:r>
              <a:rPr lang="zh-CN" altLang="en-US" sz="770">
                <a:solidFill>
                  <a:srgbClr val="000000"/>
                </a:solidFill>
                <a:latin typeface="Microsoft YaHei" panose="020B0503020204020204" pitchFamily="34" charset="-122"/>
              </a:rPr>
              <a:t>停机判断</a:t>
            </a:r>
          </a:p>
          <a:p>
            <a:pPr algn="ctr"/>
            <a:r>
              <a:rPr lang="en-US" altLang="zh-CN" sz="770">
                <a:solidFill>
                  <a:srgbClr val="000000"/>
                </a:solidFill>
                <a:latin typeface="Microsoft YaHei" panose="020B0503020204020204" pitchFamily="34" charset="-122"/>
              </a:rPr>
              <a:t>ALIGN</a:t>
            </a:r>
            <a:r>
              <a:rPr lang="zh-CN" altLang="en-US" sz="770">
                <a:solidFill>
                  <a:srgbClr val="000000"/>
                </a:solidFill>
                <a:latin typeface="Microsoft YaHei" panose="020B0503020204020204" pitchFamily="34" charset="-122"/>
              </a:rPr>
              <a:t>对齐</a:t>
            </a:r>
          </a:p>
          <a:p>
            <a:pPr algn="ctr"/>
            <a:r>
              <a:rPr lang="en-US" altLang="zh-CN" sz="770">
                <a:solidFill>
                  <a:srgbClr val="000000"/>
                </a:solidFill>
                <a:latin typeface="Microsoft YaHei" panose="020B0503020204020204" pitchFamily="34" charset="-122"/>
              </a:rPr>
              <a:t>CLOSED_LOOP</a:t>
            </a:r>
            <a:r>
              <a:rPr lang="zh-CN" altLang="en-US" sz="770">
                <a:solidFill>
                  <a:srgbClr val="000000"/>
                </a:solidFill>
                <a:latin typeface="Microsoft YaHei" panose="020B0503020204020204" pitchFamily="34" charset="-122"/>
              </a:rPr>
              <a:t>闭环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815C01F-3227-2508-F6F1-FB2A8ADA4503}"/>
              </a:ext>
            </a:extLst>
          </p:cNvPr>
          <p:cNvSpPr/>
          <p:nvPr/>
        </p:nvSpPr>
        <p:spPr>
          <a:xfrm>
            <a:off x="9829800" y="4572000"/>
            <a:ext cx="2057400" cy="990600"/>
          </a:xfrm>
          <a:prstGeom prst="roundRect">
            <a:avLst/>
          </a:prstGeom>
          <a:solidFill>
            <a:srgbClr val="FFF2E0"/>
          </a:solidFill>
          <a:ln w="17145">
            <a:solidFill>
              <a:srgbClr val="C66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00" b="1">
                <a:solidFill>
                  <a:srgbClr val="C66015"/>
                </a:solidFill>
                <a:latin typeface="Microsoft YaHei" panose="020B0503020204020204" pitchFamily="34" charset="-122"/>
              </a:rPr>
              <a:t>7. </a:t>
            </a:r>
            <a:r>
              <a:rPr lang="zh-CN" altLang="en-US" sz="1200" b="1">
                <a:solidFill>
                  <a:srgbClr val="C66015"/>
                </a:solidFill>
                <a:latin typeface="Microsoft YaHei" panose="020B0503020204020204" pitchFamily="34" charset="-122"/>
              </a:rPr>
              <a:t>外环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位置环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200Hz</a:t>
            </a:r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可选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速度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PI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iq_ref / uq_ref</a:t>
            </a:r>
            <a:endParaRPr lang="zh-CN" altLang="en-US" sz="78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042A337-58FD-2898-9388-62157A3FD0CA}"/>
              </a:ext>
            </a:extLst>
          </p:cNvPr>
          <p:cNvSpPr/>
          <p:nvPr/>
        </p:nvSpPr>
        <p:spPr>
          <a:xfrm>
            <a:off x="12293600" y="4572000"/>
            <a:ext cx="2057400" cy="990600"/>
          </a:xfrm>
          <a:prstGeom prst="roundRect">
            <a:avLst/>
          </a:prstGeom>
          <a:solidFill>
            <a:srgbClr val="E8F7EE"/>
          </a:solidFill>
          <a:ln w="17145">
            <a:solidFill>
              <a:srgbClr val="1E7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00" b="1">
                <a:solidFill>
                  <a:srgbClr val="1E7A48"/>
                </a:solidFill>
                <a:latin typeface="Microsoft YaHei" panose="020B0503020204020204" pitchFamily="34" charset="-122"/>
              </a:rPr>
              <a:t>8. </a:t>
            </a:r>
            <a:r>
              <a:rPr lang="zh-CN" altLang="en-US" sz="1200" b="1">
                <a:solidFill>
                  <a:srgbClr val="1E7A48"/>
                </a:solidFill>
                <a:latin typeface="Microsoft YaHei" panose="020B0503020204020204" pitchFamily="34" charset="-122"/>
              </a:rPr>
              <a:t>内环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id / iq PI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电压矢量限幅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得到 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ud / uq</a:t>
            </a:r>
            <a:endParaRPr lang="zh-CN" altLang="en-US" sz="78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64F02DD-5056-BF48-C342-BB9B8E05DB8D}"/>
              </a:ext>
            </a:extLst>
          </p:cNvPr>
          <p:cNvCxnSpPr/>
          <p:nvPr/>
        </p:nvCxnSpPr>
        <p:spPr>
          <a:xfrm flipH="1">
            <a:off x="2895600" y="3810000"/>
            <a:ext cx="4635500" cy="762000"/>
          </a:xfrm>
          <a:prstGeom prst="straightConnector1">
            <a:avLst/>
          </a:prstGeom>
          <a:ln w="19050">
            <a:solidFill>
              <a:srgbClr val="C6601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C257978-179D-6CE4-4892-846F04B801BC}"/>
              </a:ext>
            </a:extLst>
          </p:cNvPr>
          <p:cNvCxnSpPr/>
          <p:nvPr/>
        </p:nvCxnSpPr>
        <p:spPr>
          <a:xfrm>
            <a:off x="3886200" y="5067300"/>
            <a:ext cx="406400" cy="0"/>
          </a:xfrm>
          <a:prstGeom prst="straightConnector1">
            <a:avLst/>
          </a:prstGeom>
          <a:ln w="21590">
            <a:solidFill>
              <a:srgbClr val="1E7A4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60F58F1-6F74-A7E6-8BF1-ACB50552CD3E}"/>
              </a:ext>
            </a:extLst>
          </p:cNvPr>
          <p:cNvCxnSpPr/>
          <p:nvPr/>
        </p:nvCxnSpPr>
        <p:spPr>
          <a:xfrm>
            <a:off x="6273800" y="5067300"/>
            <a:ext cx="457200" cy="0"/>
          </a:xfrm>
          <a:prstGeom prst="straightConnector1">
            <a:avLst/>
          </a:prstGeom>
          <a:ln w="21590">
            <a:solidFill>
              <a:srgbClr val="1E7A4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CC4AE53-123F-F662-C3C5-81B2C88BCD11}"/>
              </a:ext>
            </a:extLst>
          </p:cNvPr>
          <p:cNvCxnSpPr/>
          <p:nvPr/>
        </p:nvCxnSpPr>
        <p:spPr>
          <a:xfrm>
            <a:off x="14338300" y="3810000"/>
            <a:ext cx="0" cy="330200"/>
          </a:xfrm>
          <a:prstGeom prst="straightConnector1">
            <a:avLst/>
          </a:prstGeom>
          <a:ln w="17780">
            <a:solidFill>
              <a:srgbClr val="0056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9D0D0A0-0E3F-B0D0-AF5A-1925F7835549}"/>
              </a:ext>
            </a:extLst>
          </p:cNvPr>
          <p:cNvCxnSpPr/>
          <p:nvPr/>
        </p:nvCxnSpPr>
        <p:spPr>
          <a:xfrm flipH="1">
            <a:off x="9169400" y="4140200"/>
            <a:ext cx="5168900" cy="457200"/>
          </a:xfrm>
          <a:prstGeom prst="straightConnector1">
            <a:avLst/>
          </a:prstGeom>
          <a:ln w="17780">
            <a:solidFill>
              <a:srgbClr val="0056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6E7C15B-C3C9-1BEC-DA4A-2AAC170FA4EC}"/>
              </a:ext>
            </a:extLst>
          </p:cNvPr>
          <p:cNvCxnSpPr/>
          <p:nvPr/>
        </p:nvCxnSpPr>
        <p:spPr>
          <a:xfrm>
            <a:off x="9398000" y="5067300"/>
            <a:ext cx="431800" cy="0"/>
          </a:xfrm>
          <a:prstGeom prst="straightConnector1">
            <a:avLst/>
          </a:prstGeom>
          <a:ln w="21590">
            <a:solidFill>
              <a:srgbClr val="C6601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65D7FF2-8D36-6D25-115C-1BBD5B59128D}"/>
              </a:ext>
            </a:extLst>
          </p:cNvPr>
          <p:cNvCxnSpPr/>
          <p:nvPr/>
        </p:nvCxnSpPr>
        <p:spPr>
          <a:xfrm>
            <a:off x="11887200" y="5067300"/>
            <a:ext cx="406400" cy="0"/>
          </a:xfrm>
          <a:prstGeom prst="straightConnector1">
            <a:avLst/>
          </a:prstGeom>
          <a:ln w="21590">
            <a:solidFill>
              <a:srgbClr val="1E7A4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D1E8A99-3436-EF95-1266-2D56A54A9F6B}"/>
              </a:ext>
            </a:extLst>
          </p:cNvPr>
          <p:cNvSpPr/>
          <p:nvPr/>
        </p:nvSpPr>
        <p:spPr>
          <a:xfrm>
            <a:off x="6731000" y="6019800"/>
            <a:ext cx="2667000" cy="787400"/>
          </a:xfrm>
          <a:prstGeom prst="roundRect">
            <a:avLst/>
          </a:prstGeom>
          <a:solidFill>
            <a:srgbClr val="FFECEA"/>
          </a:solidFill>
          <a:ln w="17145">
            <a:solidFill>
              <a:srgbClr val="C94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200" b="1">
                <a:solidFill>
                  <a:srgbClr val="C9433B"/>
                </a:solidFill>
                <a:latin typeface="Microsoft YaHei" panose="020B0503020204020204" pitchFamily="34" charset="-122"/>
              </a:rPr>
              <a:t>安全分支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FAULT/</a:t>
            </a:r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未准备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停机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N_SLEEP=0</a:t>
            </a:r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PWM=50%</a:t>
            </a:r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，复位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PI</a:t>
            </a:r>
            <a:endParaRPr lang="zh-CN" altLang="en-US" sz="78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6C1EA30-AD8A-93BE-1D0B-639A1F7598FE}"/>
              </a:ext>
            </a:extLst>
          </p:cNvPr>
          <p:cNvSpPr/>
          <p:nvPr/>
        </p:nvSpPr>
        <p:spPr>
          <a:xfrm>
            <a:off x="9829800" y="6019800"/>
            <a:ext cx="2057400" cy="787400"/>
          </a:xfrm>
          <a:prstGeom prst="roundRect">
            <a:avLst/>
          </a:prstGeom>
          <a:solidFill>
            <a:srgbClr val="E8F7EE"/>
          </a:solidFill>
          <a:ln w="17145">
            <a:solidFill>
              <a:srgbClr val="1E7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00" b="1">
                <a:solidFill>
                  <a:srgbClr val="1E7A48"/>
                </a:solidFill>
                <a:latin typeface="Microsoft YaHei" panose="020B0503020204020204" pitchFamily="34" charset="-122"/>
              </a:rPr>
              <a:t>foc_core.c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反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Park dq→</a:t>
            </a:r>
            <a:r>
              <a:rPr lang="el-GR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αβ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SVPWM duty_a/b/c</a:t>
            </a:r>
            <a:endParaRPr lang="zh-CN" altLang="en-US" sz="78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738AB5C1-8CC1-5BA3-4AC1-EF934A041CBE}"/>
              </a:ext>
            </a:extLst>
          </p:cNvPr>
          <p:cNvSpPr/>
          <p:nvPr/>
        </p:nvSpPr>
        <p:spPr>
          <a:xfrm>
            <a:off x="12293600" y="6019800"/>
            <a:ext cx="1803400" cy="787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200" b="1">
                <a:solidFill>
                  <a:srgbClr val="005696"/>
                </a:solidFill>
                <a:latin typeface="Microsoft YaHei" panose="020B0503020204020204" pitchFamily="34" charset="-122"/>
              </a:rPr>
              <a:t>TIM1 CCR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CCR1/2/3</a:t>
            </a:r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更新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三相互补</a:t>
            </a:r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PWM</a:t>
            </a:r>
            <a:endParaRPr lang="zh-CN" altLang="en-US" sz="78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D752C16-82C0-5E87-6707-CD5347AC8D1E}"/>
              </a:ext>
            </a:extLst>
          </p:cNvPr>
          <p:cNvSpPr/>
          <p:nvPr/>
        </p:nvSpPr>
        <p:spPr>
          <a:xfrm>
            <a:off x="14452600" y="6019800"/>
            <a:ext cx="889000" cy="787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100" b="1">
                <a:solidFill>
                  <a:srgbClr val="005696"/>
                </a:solidFill>
                <a:latin typeface="Microsoft YaHei" panose="020B0503020204020204" pitchFamily="34" charset="-122"/>
              </a:rPr>
              <a:t>功率级</a:t>
            </a:r>
          </a:p>
          <a:p>
            <a:pPr algn="ctr"/>
            <a:r>
              <a:rPr lang="en-US" altLang="zh-CN" sz="700">
                <a:solidFill>
                  <a:srgbClr val="000000"/>
                </a:solidFill>
                <a:latin typeface="Microsoft YaHei" panose="020B0503020204020204" pitchFamily="34" charset="-122"/>
              </a:rPr>
              <a:t>MP6539B</a:t>
            </a:r>
          </a:p>
          <a:p>
            <a:pPr algn="ctr"/>
            <a:r>
              <a:rPr lang="en-US" altLang="zh-CN" sz="700">
                <a:solidFill>
                  <a:srgbClr val="000000"/>
                </a:solidFill>
                <a:latin typeface="Microsoft YaHei" panose="020B0503020204020204" pitchFamily="34" charset="-122"/>
              </a:rPr>
              <a:t>MOSFET/</a:t>
            </a:r>
            <a:r>
              <a:rPr lang="zh-CN" altLang="en-US" sz="700">
                <a:solidFill>
                  <a:srgbClr val="000000"/>
                </a:solidFill>
                <a:latin typeface="Microsoft YaHei" panose="020B0503020204020204" pitchFamily="34" charset="-122"/>
              </a:rPr>
              <a:t>电机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2B336EE-B720-502D-7FE2-FFD2EF507CD0}"/>
              </a:ext>
            </a:extLst>
          </p:cNvPr>
          <p:cNvCxnSpPr/>
          <p:nvPr/>
        </p:nvCxnSpPr>
        <p:spPr>
          <a:xfrm>
            <a:off x="8064500" y="5765800"/>
            <a:ext cx="0" cy="254000"/>
          </a:xfrm>
          <a:prstGeom prst="straightConnector1">
            <a:avLst/>
          </a:prstGeom>
          <a:ln w="20320">
            <a:solidFill>
              <a:srgbClr val="C9433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D240227F-07DD-386D-1CC5-BC94ECF48371}"/>
              </a:ext>
            </a:extLst>
          </p:cNvPr>
          <p:cNvCxnSpPr/>
          <p:nvPr/>
        </p:nvCxnSpPr>
        <p:spPr>
          <a:xfrm flipH="1">
            <a:off x="10858500" y="5562600"/>
            <a:ext cx="2463800" cy="457200"/>
          </a:xfrm>
          <a:prstGeom prst="straightConnector1">
            <a:avLst/>
          </a:prstGeom>
          <a:ln w="21590">
            <a:solidFill>
              <a:srgbClr val="1E7A4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15C857F-AA7D-1F1C-210A-725D85B75504}"/>
              </a:ext>
            </a:extLst>
          </p:cNvPr>
          <p:cNvCxnSpPr/>
          <p:nvPr/>
        </p:nvCxnSpPr>
        <p:spPr>
          <a:xfrm>
            <a:off x="11887200" y="6413500"/>
            <a:ext cx="406400" cy="0"/>
          </a:xfrm>
          <a:prstGeom prst="straightConnector1">
            <a:avLst/>
          </a:prstGeom>
          <a:ln w="21590">
            <a:solidFill>
              <a:srgbClr val="1E7A4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BCA55EA6-2165-74DD-E88F-4BD8DD93A4C5}"/>
              </a:ext>
            </a:extLst>
          </p:cNvPr>
          <p:cNvCxnSpPr/>
          <p:nvPr/>
        </p:nvCxnSpPr>
        <p:spPr>
          <a:xfrm>
            <a:off x="14097000" y="6413500"/>
            <a:ext cx="355600" cy="0"/>
          </a:xfrm>
          <a:prstGeom prst="straightConnector1">
            <a:avLst/>
          </a:prstGeom>
          <a:ln w="21590">
            <a:solidFill>
              <a:srgbClr val="0056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6883B2CF-157B-783C-F01B-19C238DBF0C9}"/>
              </a:ext>
            </a:extLst>
          </p:cNvPr>
          <p:cNvSpPr/>
          <p:nvPr/>
        </p:nvSpPr>
        <p:spPr>
          <a:xfrm>
            <a:off x="1905000" y="6959600"/>
            <a:ext cx="13436600" cy="43180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BAC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共享运行态：</a:t>
            </a:r>
            <a:r>
              <a:rPr lang="en-US" altLang="zh-CN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g_program_telemetry </a:t>
            </a:r>
            <a:r>
              <a:rPr lang="zh-CN" altLang="en-US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负责观测，</a:t>
            </a:r>
            <a:r>
              <a:rPr lang="en-US" altLang="zh-CN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g_motor </a:t>
            </a:r>
            <a:r>
              <a:rPr lang="zh-CN" altLang="en-US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负责状态</a:t>
            </a:r>
            <a:r>
              <a:rPr lang="en-US" altLang="zh-CN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指令，</a:t>
            </a:r>
            <a:r>
              <a:rPr lang="en-US" altLang="zh-CN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g_foc </a:t>
            </a:r>
            <a:r>
              <a:rPr lang="zh-CN" altLang="en-US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负责 </a:t>
            </a:r>
            <a:r>
              <a:rPr lang="en-US" altLang="zh-CN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FOC </a:t>
            </a:r>
            <a:r>
              <a:rPr lang="zh-CN" altLang="en-US" sz="1050" b="1">
                <a:solidFill>
                  <a:srgbClr val="005696"/>
                </a:solidFill>
                <a:latin typeface="Microsoft YaHei" panose="020B0503020204020204" pitchFamily="34" charset="-122"/>
              </a:rPr>
              <a:t>中间量与最终占空比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C57EF9C-7136-981A-0084-63183D000A79}"/>
              </a:ext>
            </a:extLst>
          </p:cNvPr>
          <p:cNvCxnSpPr/>
          <p:nvPr/>
        </p:nvCxnSpPr>
        <p:spPr>
          <a:xfrm>
            <a:off x="5283200" y="5562600"/>
            <a:ext cx="0" cy="1397000"/>
          </a:xfrm>
          <a:prstGeom prst="straightConnector1">
            <a:avLst/>
          </a:prstGeom>
          <a:ln w="13970">
            <a:solidFill>
              <a:srgbClr val="00569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453DEFA-46BA-E11E-9520-DB7C72C06CBF}"/>
              </a:ext>
            </a:extLst>
          </p:cNvPr>
          <p:cNvCxnSpPr/>
          <p:nvPr/>
        </p:nvCxnSpPr>
        <p:spPr>
          <a:xfrm>
            <a:off x="8064500" y="6807200"/>
            <a:ext cx="0" cy="152400"/>
          </a:xfrm>
          <a:prstGeom prst="straightConnector1">
            <a:avLst/>
          </a:prstGeom>
          <a:ln w="13970">
            <a:solidFill>
              <a:srgbClr val="00569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A45C7A0-4C61-62E8-7108-CE1994CBD906}"/>
              </a:ext>
            </a:extLst>
          </p:cNvPr>
          <p:cNvCxnSpPr/>
          <p:nvPr/>
        </p:nvCxnSpPr>
        <p:spPr>
          <a:xfrm>
            <a:off x="10858500" y="6807200"/>
            <a:ext cx="0" cy="152400"/>
          </a:xfrm>
          <a:prstGeom prst="straightConnector1">
            <a:avLst/>
          </a:prstGeom>
          <a:ln w="13970">
            <a:solidFill>
              <a:srgbClr val="00569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EFC47042-D319-B57D-7EFF-22F71A5958FF}"/>
              </a:ext>
            </a:extLst>
          </p:cNvPr>
          <p:cNvSpPr/>
          <p:nvPr/>
        </p:nvSpPr>
        <p:spPr>
          <a:xfrm>
            <a:off x="1905000" y="7670800"/>
            <a:ext cx="1803400" cy="609600"/>
          </a:xfrm>
          <a:prstGeom prst="roundRect">
            <a:avLst/>
          </a:prstGeom>
          <a:solidFill>
            <a:srgbClr val="F5F7FA"/>
          </a:solidFill>
          <a:ln w="17145">
            <a:solidFill>
              <a:srgbClr val="7575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TIM6 tick</a:t>
            </a:r>
          </a:p>
          <a:p>
            <a:pPr algn="ctr"/>
            <a:r>
              <a:rPr lang="en-US" altLang="zh-CN" sz="750">
                <a:solidFill>
                  <a:srgbClr val="000000"/>
                </a:solidFill>
                <a:latin typeface="Microsoft YaHei" panose="020B0503020204020204" pitchFamily="34" charset="-122"/>
              </a:rPr>
              <a:t>1 ms</a:t>
            </a:r>
            <a:r>
              <a:rPr lang="zh-CN" altLang="en-US" sz="750">
                <a:solidFill>
                  <a:srgbClr val="000000"/>
                </a:solidFill>
                <a:latin typeface="Microsoft YaHei" panose="020B0503020204020204" pitchFamily="34" charset="-122"/>
              </a:rPr>
              <a:t>后台节拍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8D483870-83A5-7DB0-BFBF-A39BE22359CC}"/>
              </a:ext>
            </a:extLst>
          </p:cNvPr>
          <p:cNvSpPr/>
          <p:nvPr/>
        </p:nvSpPr>
        <p:spPr>
          <a:xfrm>
            <a:off x="4089400" y="7670800"/>
            <a:ext cx="1955800" cy="609600"/>
          </a:xfrm>
          <a:prstGeom prst="roundRect">
            <a:avLst/>
          </a:prstGeom>
          <a:solidFill>
            <a:srgbClr val="F5F7FA"/>
          </a:solidFill>
          <a:ln w="17145">
            <a:solidFill>
              <a:srgbClr val="7575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program_task()</a:t>
            </a:r>
          </a:p>
          <a:p>
            <a:pPr algn="ctr"/>
            <a:r>
              <a:rPr lang="en-US" altLang="zh-CN" sz="750">
                <a:solidFill>
                  <a:srgbClr val="000000"/>
                </a:solidFill>
                <a:latin typeface="Microsoft YaHei" panose="020B0503020204020204" pitchFamily="34" charset="-122"/>
              </a:rPr>
              <a:t>while(1)</a:t>
            </a:r>
            <a:r>
              <a:rPr lang="zh-CN" altLang="en-US" sz="750">
                <a:solidFill>
                  <a:srgbClr val="000000"/>
                </a:solidFill>
                <a:latin typeface="Microsoft YaHei" panose="020B0503020204020204" pitchFamily="34" charset="-122"/>
              </a:rPr>
              <a:t>按</a:t>
            </a:r>
            <a:r>
              <a:rPr lang="en-US" altLang="zh-CN" sz="750">
                <a:solidFill>
                  <a:srgbClr val="000000"/>
                </a:solidFill>
                <a:latin typeface="Microsoft YaHei" panose="020B0503020204020204" pitchFamily="34" charset="-122"/>
              </a:rPr>
              <a:t>tick</a:t>
            </a:r>
            <a:r>
              <a:rPr lang="zh-CN" altLang="en-US" sz="750">
                <a:solidFill>
                  <a:srgbClr val="000000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2C4C67B-65E1-65C0-E8F2-90C2FAA75CF4}"/>
              </a:ext>
            </a:extLst>
          </p:cNvPr>
          <p:cNvSpPr/>
          <p:nvPr/>
        </p:nvSpPr>
        <p:spPr>
          <a:xfrm>
            <a:off x="6426200" y="7670800"/>
            <a:ext cx="2209800" cy="609600"/>
          </a:xfrm>
          <a:prstGeom prst="roundRect">
            <a:avLst/>
          </a:prstGeom>
          <a:solidFill>
            <a:srgbClr val="F5F7FA"/>
          </a:solidFill>
          <a:ln w="17145">
            <a:solidFill>
              <a:srgbClr val="7575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ADC2 DMA</a:t>
            </a:r>
            <a:r>
              <a:rPr lang="zh-CN" altLang="en-US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慢变量</a:t>
            </a:r>
          </a:p>
          <a:p>
            <a:pPr algn="ctr"/>
            <a:r>
              <a:rPr lang="en-US" altLang="zh-CN" sz="750">
                <a:solidFill>
                  <a:srgbClr val="000000"/>
                </a:solidFill>
                <a:latin typeface="Microsoft YaHei" panose="020B0503020204020204" pitchFamily="34" charset="-122"/>
              </a:rPr>
              <a:t>VBUS/NTC</a:t>
            </a:r>
            <a:r>
              <a:rPr lang="zh-CN" altLang="en-US" sz="750">
                <a:solidFill>
                  <a:srgbClr val="000000"/>
                </a:solidFill>
                <a:latin typeface="Microsoft YaHei" panose="020B0503020204020204" pitchFamily="34" charset="-122"/>
              </a:rPr>
              <a:t>，母线</a:t>
            </a:r>
            <a:r>
              <a:rPr lang="en-US" altLang="zh-CN" sz="750">
                <a:solidFill>
                  <a:srgbClr val="000000"/>
                </a:solidFill>
                <a:latin typeface="Microsoft YaHei" panose="020B0503020204020204" pitchFamily="34" charset="-122"/>
              </a:rPr>
              <a:t>LPF</a:t>
            </a:r>
            <a:endParaRPr lang="zh-CN" altLang="en-US" sz="75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C361F385-C8A8-7AA1-8881-5E1A6DA5704B}"/>
              </a:ext>
            </a:extLst>
          </p:cNvPr>
          <p:cNvSpPr/>
          <p:nvPr/>
        </p:nvSpPr>
        <p:spPr>
          <a:xfrm>
            <a:off x="9017000" y="7670800"/>
            <a:ext cx="2108200" cy="609600"/>
          </a:xfrm>
          <a:prstGeom prst="roundRect">
            <a:avLst/>
          </a:prstGeom>
          <a:solidFill>
            <a:srgbClr val="F5F7FA"/>
          </a:solidFill>
          <a:ln w="17145">
            <a:solidFill>
              <a:srgbClr val="7575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故障</a:t>
            </a:r>
            <a:r>
              <a:rPr lang="en-US" altLang="zh-CN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遥测快照</a:t>
            </a:r>
          </a:p>
          <a:p>
            <a:pPr algn="ctr"/>
            <a:r>
              <a:rPr lang="en-US" altLang="zh-CN" sz="710">
                <a:solidFill>
                  <a:srgbClr val="000000"/>
                </a:solidFill>
                <a:latin typeface="Microsoft YaHei" panose="020B0503020204020204" pitchFamily="34" charset="-122"/>
              </a:rPr>
              <a:t>driver_fault / g_motor / g_foc</a:t>
            </a:r>
            <a:endParaRPr lang="zh-CN" altLang="en-US" sz="71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3D5054C-8605-F372-E3F8-80805A4099B1}"/>
              </a:ext>
            </a:extLst>
          </p:cNvPr>
          <p:cNvSpPr/>
          <p:nvPr/>
        </p:nvSpPr>
        <p:spPr>
          <a:xfrm>
            <a:off x="11506200" y="7670800"/>
            <a:ext cx="1803400" cy="609600"/>
          </a:xfrm>
          <a:prstGeom prst="roundRect">
            <a:avLst/>
          </a:prstGeom>
          <a:solidFill>
            <a:srgbClr val="F5F7FA"/>
          </a:solidFill>
          <a:ln w="17145">
            <a:solidFill>
              <a:srgbClr val="7575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VOFA</a:t>
            </a:r>
            <a:r>
              <a:rPr lang="zh-CN" altLang="en-US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输出</a:t>
            </a:r>
          </a:p>
          <a:p>
            <a:pPr algn="ctr"/>
            <a:r>
              <a:rPr lang="en-US" altLang="zh-CN" sz="730">
                <a:solidFill>
                  <a:srgbClr val="000000"/>
                </a:solidFill>
                <a:latin typeface="Microsoft YaHei" panose="020B0503020204020204" pitchFamily="34" charset="-122"/>
              </a:rPr>
              <a:t>USART1 DMA JustFloat</a:t>
            </a:r>
            <a:endParaRPr lang="zh-CN" altLang="en-US" sz="73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6512C6CB-2099-99E5-F10C-4364F41AD07C}"/>
              </a:ext>
            </a:extLst>
          </p:cNvPr>
          <p:cNvSpPr/>
          <p:nvPr/>
        </p:nvSpPr>
        <p:spPr>
          <a:xfrm>
            <a:off x="13690600" y="7670800"/>
            <a:ext cx="1651000" cy="609600"/>
          </a:xfrm>
          <a:prstGeom prst="roundRect">
            <a:avLst/>
          </a:prstGeom>
          <a:solidFill>
            <a:srgbClr val="F5F7FA"/>
          </a:solidFill>
          <a:ln w="17145">
            <a:solidFill>
              <a:srgbClr val="7575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100" b="1">
                <a:solidFill>
                  <a:srgbClr val="757575"/>
                </a:solidFill>
                <a:latin typeface="Microsoft YaHei" panose="020B0503020204020204" pitchFamily="34" charset="-122"/>
              </a:rPr>
              <a:t>视频曲线</a:t>
            </a:r>
          </a:p>
          <a:p>
            <a:pPr algn="ctr"/>
            <a:r>
              <a:rPr lang="zh-CN" altLang="en-US" sz="750">
                <a:solidFill>
                  <a:srgbClr val="000000"/>
                </a:solidFill>
                <a:latin typeface="Microsoft YaHei" panose="020B0503020204020204" pitchFamily="34" charset="-122"/>
              </a:rPr>
              <a:t>速度</a:t>
            </a:r>
            <a:r>
              <a:rPr lang="en-US" altLang="zh-CN" sz="75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50">
                <a:solidFill>
                  <a:srgbClr val="000000"/>
                </a:solidFill>
                <a:latin typeface="Microsoft YaHei" panose="020B0503020204020204" pitchFamily="34" charset="-122"/>
              </a:rPr>
              <a:t>位置</a:t>
            </a:r>
            <a:r>
              <a:rPr lang="en-US" altLang="zh-CN" sz="75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50">
                <a:solidFill>
                  <a:srgbClr val="000000"/>
                </a:solidFill>
                <a:latin typeface="Microsoft YaHei" panose="020B0503020204020204" pitchFamily="34" charset="-122"/>
              </a:rPr>
              <a:t>排查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2AB01DF4-8F38-7D04-4A4A-5EFD055DD9D8}"/>
              </a:ext>
            </a:extLst>
          </p:cNvPr>
          <p:cNvCxnSpPr/>
          <p:nvPr/>
        </p:nvCxnSpPr>
        <p:spPr>
          <a:xfrm>
            <a:off x="3708400" y="7975600"/>
            <a:ext cx="381000" cy="0"/>
          </a:xfrm>
          <a:prstGeom prst="straightConnector1">
            <a:avLst/>
          </a:prstGeom>
          <a:ln w="19050">
            <a:solidFill>
              <a:srgbClr val="75757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6F81537-1239-42EF-4FF9-6B56BC0F0249}"/>
              </a:ext>
            </a:extLst>
          </p:cNvPr>
          <p:cNvCxnSpPr/>
          <p:nvPr/>
        </p:nvCxnSpPr>
        <p:spPr>
          <a:xfrm>
            <a:off x="6045200" y="7975600"/>
            <a:ext cx="381000" cy="0"/>
          </a:xfrm>
          <a:prstGeom prst="straightConnector1">
            <a:avLst/>
          </a:prstGeom>
          <a:ln w="19050">
            <a:solidFill>
              <a:srgbClr val="75757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D892B4B-67DD-7A2F-9E54-D6E77142DDDF}"/>
              </a:ext>
            </a:extLst>
          </p:cNvPr>
          <p:cNvCxnSpPr/>
          <p:nvPr/>
        </p:nvCxnSpPr>
        <p:spPr>
          <a:xfrm>
            <a:off x="8636000" y="7975600"/>
            <a:ext cx="381000" cy="0"/>
          </a:xfrm>
          <a:prstGeom prst="straightConnector1">
            <a:avLst/>
          </a:prstGeom>
          <a:ln w="19050">
            <a:solidFill>
              <a:srgbClr val="75757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4C927AFC-CF22-9D17-3956-B4FA3C5378CE}"/>
              </a:ext>
            </a:extLst>
          </p:cNvPr>
          <p:cNvCxnSpPr/>
          <p:nvPr/>
        </p:nvCxnSpPr>
        <p:spPr>
          <a:xfrm>
            <a:off x="11125200" y="7975600"/>
            <a:ext cx="381000" cy="0"/>
          </a:xfrm>
          <a:prstGeom prst="straightConnector1">
            <a:avLst/>
          </a:prstGeom>
          <a:ln w="19050">
            <a:solidFill>
              <a:srgbClr val="75757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E8CC888F-02C8-83A9-335C-667D3987D257}"/>
              </a:ext>
            </a:extLst>
          </p:cNvPr>
          <p:cNvCxnSpPr/>
          <p:nvPr/>
        </p:nvCxnSpPr>
        <p:spPr>
          <a:xfrm>
            <a:off x="13309600" y="7975600"/>
            <a:ext cx="381000" cy="0"/>
          </a:xfrm>
          <a:prstGeom prst="straightConnector1">
            <a:avLst/>
          </a:prstGeom>
          <a:ln w="19050">
            <a:solidFill>
              <a:srgbClr val="75757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D4665EB5-7CD1-11E5-A4D5-8CC2E6AA7C15}"/>
              </a:ext>
            </a:extLst>
          </p:cNvPr>
          <p:cNvCxnSpPr/>
          <p:nvPr/>
        </p:nvCxnSpPr>
        <p:spPr>
          <a:xfrm>
            <a:off x="7531100" y="2463800"/>
            <a:ext cx="0" cy="520700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CA1582C-BFE2-8895-E9D4-9E84A4E3F69C}"/>
              </a:ext>
            </a:extLst>
          </p:cNvPr>
          <p:cNvCxnSpPr/>
          <p:nvPr/>
        </p:nvCxnSpPr>
        <p:spPr>
          <a:xfrm>
            <a:off x="9956800" y="2463800"/>
            <a:ext cx="0" cy="520700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9D08A1CD-2481-A5E4-BFD1-DB60B4F2E9D0}"/>
              </a:ext>
            </a:extLst>
          </p:cNvPr>
          <p:cNvSpPr txBox="1"/>
          <p:nvPr/>
        </p:nvSpPr>
        <p:spPr>
          <a:xfrm>
            <a:off x="889000" y="8636000"/>
            <a:ext cx="1422400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讲解提示：先讲蓝色启动链路，再讲橙色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10kHz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采样快环；绿色是 </a:t>
            </a:r>
            <a:r>
              <a:rPr lang="en-US" altLang="zh-CN" sz="1000">
                <a:solidFill>
                  <a:srgbClr val="757575"/>
                </a:solidFill>
                <a:latin typeface="Microsoft YaHei" panose="020B0503020204020204" pitchFamily="34" charset="-122"/>
              </a:rPr>
              <a:t>FOC </a:t>
            </a:r>
            <a:r>
              <a:rPr lang="zh-CN" altLang="en-US" sz="1000">
                <a:solidFill>
                  <a:srgbClr val="757575"/>
                </a:solidFill>
                <a:latin typeface="Microsoft YaHei" panose="020B0503020204020204" pitchFamily="34" charset="-122"/>
              </a:rPr>
              <a:t>数学链路，红色是所有异常都会走的安全出口，灰色只负责遥测和视频曲线。</a:t>
            </a:r>
          </a:p>
        </p:txBody>
      </p:sp>
    </p:spTree>
    <p:extLst>
      <p:ext uri="{BB962C8B-B14F-4D97-AF65-F5344CB8AC3E}">
        <p14:creationId xmlns:p14="http://schemas.microsoft.com/office/powerpoint/2010/main" val="3882133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Microsoft Office PowerPoint</Application>
  <PresentationFormat>自定义</PresentationFormat>
  <Paragraphs>92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Rise Sun</dc:creator>
  <cp:lastModifiedBy>Rise Sun</cp:lastModifiedBy>
  <cp:revision>1</cp:revision>
  <dcterms:created xsi:type="dcterms:W3CDTF">2026-06-28T12:56:17Z</dcterms:created>
  <dcterms:modified xsi:type="dcterms:W3CDTF">2026-06-28T12:56:17Z</dcterms:modified>
</cp:coreProperties>
</file>