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71" r:id="rId3"/>
    <p:sldId id="291" r:id="rId4"/>
    <p:sldId id="292" r:id="rId5"/>
    <p:sldId id="294" r:id="rId6"/>
    <p:sldId id="296" r:id="rId7"/>
    <p:sldId id="286" r:id="rId8"/>
    <p:sldId id="298" r:id="rId9"/>
    <p:sldId id="269" r:id="rId10"/>
    <p:sldId id="295" r:id="rId11"/>
    <p:sldId id="299" r:id="rId12"/>
    <p:sldId id="270" r:id="rId13"/>
    <p:sldId id="272" r:id="rId14"/>
    <p:sldId id="275" r:id="rId15"/>
    <p:sldId id="300" r:id="rId16"/>
    <p:sldId id="287" r:id="rId17"/>
    <p:sldId id="288" r:id="rId18"/>
    <p:sldId id="285" r:id="rId19"/>
    <p:sldId id="280" r:id="rId20"/>
    <p:sldId id="281" r:id="rId21"/>
    <p:sldId id="293" r:id="rId22"/>
    <p:sldId id="289" r:id="rId23"/>
  </p:sldIdLst>
  <p:sldSz cx="16256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1715" autoAdjust="0"/>
  </p:normalViewPr>
  <p:slideViewPr>
    <p:cSldViewPr snapToGrid="0">
      <p:cViewPr varScale="1">
        <p:scale>
          <a:sx n="61" d="100"/>
          <a:sy n="61" d="100"/>
        </p:scale>
        <p:origin x="11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F35D9-26B9-4360-B2D4-F089C6C87B21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7568B0-7F02-4C5E-A610-2EB3B6E42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71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7568B0-7F02-4C5E-A610-2EB3B6E42B9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870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b="1" dirty="0"/>
              <a:t>先来几秒钟快闪</a:t>
            </a:r>
            <a:endParaRPr sz="1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DBED6-0B3F-127C-6636-9A046D4D0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C2F43801-D783-A7F3-EFF3-0CFCB9254B1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4800" dirty="0"/>
              <a:t>大家好，经过前两章的课程，我们已经有了一个完整可用的板子。这一章我们正式进入代码使用、测试验证和复刻流程。本章节按照代码讲解、系统测试、实测数据和复刻步骤来展开。</a:t>
            </a:r>
            <a:endParaRPr lang="en-US" altLang="zh-CN" sz="2400" b="1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58457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8FBBD-A312-154A-4B6E-F43BB66F8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5A1D35-DE0C-44F6-5588-F79ABF0E5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F93499-F433-0899-A420-77D3D3C9E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在进入接下来的代码讲解之前，各位可以先从开源广场或者</a:t>
            </a:r>
            <a:r>
              <a:rPr lang="en-US" altLang="zh-CN" dirty="0"/>
              <a:t>GitHub </a:t>
            </a:r>
            <a:r>
              <a:rPr lang="zh-CN" altLang="en-US" dirty="0"/>
              <a:t>完整仓库，先把代码下载下来。边察看边学习。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D3F62-0F4C-3218-9BDC-54E25C85CA7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5157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E7582-290F-571A-CBC7-509AA0B79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AD6756-8EF8-4F85-D32B-46BC79E86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5871B83C-3EEA-8498-A53A-E3DF20375F9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电机控制的本质，是通过控制三相绕组电流，调节定子旋转磁场的</a:t>
                </a:r>
                <a:r>
                  <a:rPr lang="zh-CN" altLang="zh-CN" sz="1800" b="1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方向、大小及其与转子磁场的相对角度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，从而控制电机的电磁转矩，并进一步实现转速和位置控制。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三相绕组通入相差 </a:t>
                </a:r>
                <a:r>
                  <a:rPr lang="en-US" altLang="zh-CN" sz="1800" b="1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120°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的三相电流后即可合成旋转磁场。但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800" dirty="0" err="1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ia,ib,ic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都是不断变化的交流量，直接控制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非常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复杂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，根据内模原理还需要引入谐振控制器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但是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FOC 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通过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引入 </a:t>
                </a:r>
                <a:r>
                  <a:rPr lang="en-US" altLang="zh-CN" sz="1800" b="1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Clarke </a:t>
                </a:r>
                <a:r>
                  <a:rPr lang="zh-CN" altLang="zh-CN" sz="1800" b="1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800" b="1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Park </a:t>
                </a:r>
                <a:r>
                  <a:rPr lang="zh-CN" altLang="zh-CN" sz="1800" b="1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相当巧妙的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将三相交流量转换到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同步旋转坐标系中，将原本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个交流分量，转换成两个直流分量和一个不断变换的转子角度</a:t>
                </a:r>
                <a:r>
                  <a:rPr lang="en-US" altLang="zh-CN" sz="1800" dirty="0" err="1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wt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，使得我们仅仅用简单的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PI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控制器就可以控制。</a:t>
                </a:r>
                <a:b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</a:b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b="0" dirty="0"/>
                  <a:t>首先 简单介绍下</a:t>
                </a:r>
                <a:r>
                  <a:rPr lang="en-US" altLang="zh-CN" b="0" dirty="0"/>
                  <a:t>FOC</a:t>
                </a:r>
                <a:r>
                  <a:rPr lang="zh-CN" altLang="en-US" b="0" dirty="0"/>
                  <a:t>基本原理。</a:t>
                </a:r>
                <a:r>
                  <a:rPr lang="zh-CN" altLang="en-US" dirty="0"/>
                  <a:t>定子三相绕组通入相差 </a:t>
                </a:r>
                <a:r>
                  <a:rPr lang="en-US" altLang="zh-CN" dirty="0"/>
                  <a:t>120</a:t>
                </a:r>
                <a:r>
                  <a:rPr lang="zh-CN" altLang="en-US" dirty="0"/>
                  <a:t>度的交流电流后，会在电机内部合成一个旋转磁场。转子永磁体在这个磁场中受到电磁转矩，并跟随定子磁场同步旋转。只要定子磁场持续旋转，并与转子磁场保持合适的夹角，电机就能连续输出转矩。带动转子旋转。</a:t>
                </a:r>
                <a:endParaRPr lang="en-US" altLang="zh-CN" dirty="0"/>
              </a:p>
              <a:p>
                <a:endParaRPr lang="en-US" altLang="zh-CN" b="0" dirty="0"/>
              </a:p>
              <a:p>
                <a:r>
                  <a:rPr lang="zh-CN" altLang="en-US" dirty="0"/>
                  <a:t>六步换相根据转子所在的六个电角度区间切换导通相，相当于设定几个既定的离散状态去切换，每</a:t>
                </a:r>
                <a:r>
                  <a:rPr lang="en-US" altLang="zh-CN" dirty="0"/>
                  <a:t>60</a:t>
                </a:r>
                <a:r>
                  <a:rPr lang="zh-CN" altLang="en-US" dirty="0"/>
                  <a:t>度改变一次定子磁场方向，所以磁场是分段跳变的，这容易产生转矩脉动。</a:t>
                </a:r>
                <a:r>
                  <a:rPr lang="en-US" altLang="zh-CN" dirty="0"/>
                  <a:t>FOC</a:t>
                </a:r>
                <a:r>
                  <a:rPr lang="zh-CN" altLang="en-US" dirty="0"/>
                  <a:t>能够连续调节定子磁场的方向和大小，更适合机器人关节的低速运行和精确转矩控制。</a:t>
                </a:r>
                <a:endParaRPr lang="en-US" altLang="zh-CN" dirty="0"/>
              </a:p>
              <a:p>
                <a:endParaRPr lang="en-US" altLang="zh-CN" b="0" dirty="0"/>
              </a:p>
              <a:p>
                <a:r>
                  <a:rPr lang="zh-CN" altLang="en-US" dirty="0"/>
                  <a:t>接下来介绍</a:t>
                </a:r>
                <a:r>
                  <a:rPr lang="en-US" altLang="zh-CN" dirty="0"/>
                  <a:t>FOC</a:t>
                </a:r>
                <a:r>
                  <a:rPr lang="zh-CN" altLang="en-US" dirty="0"/>
                  <a:t>怎样实现这种控制。为了使用简单的</a:t>
                </a:r>
                <a:r>
                  <a:rPr lang="en-US" altLang="zh-CN" dirty="0"/>
                  <a:t>PI</a:t>
                </a:r>
                <a:r>
                  <a:rPr lang="zh-CN" altLang="en-US" dirty="0"/>
                  <a:t>控制器就实现完全的控制，基于内模原理，这里就要用想办法把交流量转换成直流量。就会用到</a:t>
                </a:r>
                <a:r>
                  <a:rPr lang="en-US" altLang="zh-CN" dirty="0"/>
                  <a:t>Clarke</a:t>
                </a:r>
                <a:r>
                  <a:rPr lang="zh-CN" altLang="en-US" dirty="0"/>
                  <a:t>变化和</a:t>
                </a:r>
                <a:r>
                  <a:rPr lang="en-US" altLang="zh-CN" dirty="0"/>
                  <a:t>Park</a:t>
                </a:r>
                <a:r>
                  <a:rPr lang="zh-CN" altLang="en-US" dirty="0"/>
                  <a:t>变换。</a:t>
                </a:r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zh-CN" sz="1200" kern="1200" dirty="0">
                    <a:effectLst/>
                  </a:rPr>
                  <a:t>采集三相电流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𝑎</a:t>
                </a:r>
                <a:r>
                  <a:rPr lang="zh-CN" altLang="zh-CN" sz="1200" kern="1200" dirty="0">
                    <a:effectLst/>
                  </a:rPr>
                  <a:t>、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𝑏</a:t>
                </a:r>
                <a:r>
                  <a:rPr lang="zh-CN" altLang="zh-CN" sz="1200" kern="1200" dirty="0">
                    <a:effectLst/>
                  </a:rPr>
                  <a:t>、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𝑐</a:t>
                </a:r>
                <a:r>
                  <a:rPr lang="zh-CN" altLang="zh-CN" sz="1200" kern="1200" dirty="0">
                    <a:effectLst/>
                  </a:rPr>
                  <a:t>。</a:t>
                </a:r>
                <a:r>
                  <a:rPr lang="en-US" altLang="zh-CN" sz="1200" kern="1200" dirty="0" err="1">
                    <a:effectLst/>
                  </a:rPr>
                  <a:t>三相平衡电流满足</a:t>
                </a:r>
                <a:r>
                  <a:rPr lang="en-US" altLang="zh-CN" sz="1200" kern="1200" dirty="0">
                    <a:effectLst/>
                  </a:rPr>
                  <a:t>：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𝑎+𝑖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𝑏+𝑖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𝑐=0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因此三个电流中只有两个独立分量。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Clarke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变换把三相电流投影到静止的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𝛼𝛽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坐标系中，得到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𝛼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𝛽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。这一步保留了原来电流矢量的大小和方向，只是把三个交流量合成为一个二维电流矢量。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这一步原本的交流量没有发生本质性变化，</a:t>
                </a:r>
                <a:r>
                  <a:rPr lang="en-US" altLang="zh-CN" sz="1200" i="0" kern="1200">
                    <a:effectLst/>
                  </a:rPr>
                  <a:t>𝛼𝛽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zh-CN" sz="1200" kern="1200" dirty="0">
                    <a:effectLst/>
                  </a:rPr>
                  <a:t>坐标系固定在定子上，电流矢量仍然在不断旋转，所以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𝛼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zh-CN" sz="1200" kern="1200" dirty="0">
                    <a:effectLst/>
                  </a:rPr>
                  <a:t>和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𝛽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zh-CN" sz="1200" kern="1200" dirty="0">
                    <a:effectLst/>
                  </a:rPr>
                  <a:t>仍然是交流量。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只是相较于三相交流电流表示上更简单了一点。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进行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Park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变换。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Park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变换利用编码器测得的转子电角度，让坐标系跟随转子一起旋转。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这样原本的交流信息被分到了旋转角速度去，如果不看这个，就只剩下了两个直流分量：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近似恒定的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，这样就可以使用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PI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控制器进行稳定调节。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其中，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轴与转子永磁体的磁链方向对齐：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："磁链分量</a:t>
                </a:r>
                <a:r>
                  <a:rPr lang="zh-CN" altLang="en-US" sz="1800" i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"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轴与磁链方向垂直：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："转矩分量</a:t>
                </a:r>
                <a:r>
                  <a:rPr lang="zh-CN" altLang="en-US" sz="1800" i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"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200" kern="1200" dirty="0">
                    <a:effectLst/>
                  </a:rPr>
                  <a:t>通过调节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𝑞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en-US" sz="1200" kern="1200" dirty="0">
                    <a:effectLst/>
                  </a:rPr>
                  <a:t>就可以</a:t>
                </a:r>
                <a:r>
                  <a:rPr lang="zh-CN" altLang="zh-CN" sz="1200" kern="1200" dirty="0">
                    <a:effectLst/>
                  </a:rPr>
                  <a:t>控制电机转矩</a:t>
                </a:r>
                <a:r>
                  <a:rPr lang="zh-CN" altLang="en-US" sz="1200" kern="1200" dirty="0">
                    <a:effectLst/>
                  </a:rPr>
                  <a:t>，调节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就可以用于抵消电机旋转产生的反电动势。设定好了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id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800" dirty="0" err="1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iq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，我们就可以将这个变换后的直流量通过反变换，回复成最原本的三相交流量</a:t>
                </a:r>
                <a:r>
                  <a:rPr lang="en-US" altLang="zh-CN" sz="1800" dirty="0" err="1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abc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，通过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SVPWM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去控制了。</a:t>
                </a: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dirty="0"/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01DD9D-6A74-FDCC-D912-E270A2F5CD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815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3583C-A187-914C-5A3E-8E15942C5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02A5A8-81D3-7D2F-0B97-1594D015EE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6A132A0E-EE39-8FB9-06A6-3C69F0190F3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转子永磁体产生基础磁链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FOC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将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轴定义在磁链方向上。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轴电流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与磁链同轴，通过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调节励磁：正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增磁，负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弱磁。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轴与磁链垂直，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轴电流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产生切向电磁力；对于表贴式永磁同步电机，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𝑝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 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产生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转矩。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转速升高时，反电动势按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∝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增大。</a:t>
                </a:r>
                <a:r>
                  <a:rPr lang="zh-CN" altLang="en-US" sz="1800" dirty="0"/>
                  <a:t>它与逆变器施加的驱动电压方向相反，因此逆变器必须先克服反电动势。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当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接近逆变器电压上限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sz="18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时，电流环无法维持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，转矩下降，转速受限。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此时注入负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，削弱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、降低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，便能恢复电压余量并扩展转速；代价是占用电流容量、降低高速转矩。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b="0" dirty="0"/>
                  <a:t>首先 简单介绍下</a:t>
                </a:r>
                <a:r>
                  <a:rPr lang="en-US" altLang="zh-CN" b="0" dirty="0"/>
                  <a:t>FOC</a:t>
                </a:r>
                <a:r>
                  <a:rPr lang="zh-CN" altLang="en-US" b="0" dirty="0"/>
                  <a:t>基本原理。</a:t>
                </a:r>
                <a:r>
                  <a:rPr lang="zh-CN" altLang="en-US" dirty="0"/>
                  <a:t>定子三相绕组通入相差 </a:t>
                </a:r>
                <a:r>
                  <a:rPr lang="en-US" altLang="zh-CN" dirty="0"/>
                  <a:t>120</a:t>
                </a:r>
                <a:r>
                  <a:rPr lang="zh-CN" altLang="en-US" dirty="0"/>
                  <a:t>度的交流电流后，会在电机内部合成一个旋转磁场。转子永磁体在这个磁场中受到电磁转矩，并跟随定子磁场同步旋转。只要定子磁场持续旋转，并与转子磁场保持合适的夹角，电机就能连续输出转矩。带动转子旋转。</a:t>
                </a:r>
                <a:endParaRPr lang="en-US" altLang="zh-CN" dirty="0"/>
              </a:p>
              <a:p>
                <a:endParaRPr lang="en-US" altLang="zh-CN" b="0" dirty="0"/>
              </a:p>
              <a:p>
                <a:r>
                  <a:rPr lang="zh-CN" altLang="en-US" dirty="0"/>
                  <a:t>六步换相根据转子所在的六个电角度区间切换导通相，相当于设定几个既定的离散状态去切换，每</a:t>
                </a:r>
                <a:r>
                  <a:rPr lang="en-US" altLang="zh-CN" dirty="0"/>
                  <a:t>60</a:t>
                </a:r>
                <a:r>
                  <a:rPr lang="zh-CN" altLang="en-US" dirty="0"/>
                  <a:t>度改变一次定子磁场方向，所以磁场是分段跳变的，这容易产生转矩脉动。</a:t>
                </a:r>
                <a:r>
                  <a:rPr lang="en-US" altLang="zh-CN" dirty="0"/>
                  <a:t>FOC</a:t>
                </a:r>
                <a:r>
                  <a:rPr lang="zh-CN" altLang="en-US" dirty="0"/>
                  <a:t>能够连续调节定子磁场的方向和大小，更适合机器人关节的低速运行和精确转矩控制。</a:t>
                </a:r>
                <a:endParaRPr lang="en-US" altLang="zh-CN" dirty="0"/>
              </a:p>
              <a:p>
                <a:endParaRPr lang="en-US" altLang="zh-CN" b="0" dirty="0"/>
              </a:p>
              <a:p>
                <a:r>
                  <a:rPr lang="zh-CN" altLang="en-US" dirty="0"/>
                  <a:t>接下来介绍</a:t>
                </a:r>
                <a:r>
                  <a:rPr lang="en-US" altLang="zh-CN" dirty="0"/>
                  <a:t>FOC</a:t>
                </a:r>
                <a:r>
                  <a:rPr lang="zh-CN" altLang="en-US" dirty="0"/>
                  <a:t>怎样实现这种控制。为了使用简单的</a:t>
                </a:r>
                <a:r>
                  <a:rPr lang="en-US" altLang="zh-CN" dirty="0"/>
                  <a:t>PI</a:t>
                </a:r>
                <a:r>
                  <a:rPr lang="zh-CN" altLang="en-US" dirty="0"/>
                  <a:t>控制器就实现完全的控制，基于内模原理，这里就要用想办法把交流量转换成直流量。就会用到</a:t>
                </a:r>
                <a:r>
                  <a:rPr lang="en-US" altLang="zh-CN" dirty="0"/>
                  <a:t>Clarke</a:t>
                </a:r>
                <a:r>
                  <a:rPr lang="zh-CN" altLang="en-US" dirty="0"/>
                  <a:t>变化和</a:t>
                </a:r>
                <a:r>
                  <a:rPr lang="en-US" altLang="zh-CN" dirty="0"/>
                  <a:t>Park</a:t>
                </a:r>
                <a:r>
                  <a:rPr lang="zh-CN" altLang="en-US" dirty="0"/>
                  <a:t>变换。</a:t>
                </a:r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zh-CN" sz="1200" kern="1200" dirty="0">
                    <a:effectLst/>
                  </a:rPr>
                  <a:t>采集三相电流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𝑎</a:t>
                </a:r>
                <a:r>
                  <a:rPr lang="zh-CN" altLang="zh-CN" sz="1200" kern="1200" dirty="0">
                    <a:effectLst/>
                  </a:rPr>
                  <a:t>、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𝑏</a:t>
                </a:r>
                <a:r>
                  <a:rPr lang="zh-CN" altLang="zh-CN" sz="1200" kern="1200" dirty="0">
                    <a:effectLst/>
                  </a:rPr>
                  <a:t>、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𝑐</a:t>
                </a:r>
                <a:r>
                  <a:rPr lang="zh-CN" altLang="zh-CN" sz="1200" kern="1200" dirty="0">
                    <a:effectLst/>
                  </a:rPr>
                  <a:t>。</a:t>
                </a:r>
                <a:r>
                  <a:rPr lang="en-US" altLang="zh-CN" sz="1200" kern="1200" dirty="0" err="1">
                    <a:effectLst/>
                  </a:rPr>
                  <a:t>三相平衡电流满足</a:t>
                </a:r>
                <a:r>
                  <a:rPr lang="en-US" altLang="zh-CN" sz="1200" kern="1200" dirty="0">
                    <a:effectLst/>
                  </a:rPr>
                  <a:t>：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𝑎+𝑖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𝑏+𝑖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𝑐=0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因此三个电流中只有两个独立分量。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Clarke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变换把三相电流投影到静止的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𝛼𝛽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坐标系中，得到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𝛼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𝛽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。这一步保留了原来电流矢量的大小和方向，只是把三个交流量合成为一个二维电流矢量。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这一步原本的交流量没有发生本质性变化，</a:t>
                </a:r>
                <a:r>
                  <a:rPr lang="en-US" altLang="zh-CN" sz="1200" i="0" kern="1200">
                    <a:effectLst/>
                  </a:rPr>
                  <a:t>𝛼𝛽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zh-CN" sz="1200" kern="1200" dirty="0">
                    <a:effectLst/>
                  </a:rPr>
                  <a:t>坐标系固定在定子上，电流矢量仍然在不断旋转，所以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𝛼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zh-CN" sz="1200" kern="1200" dirty="0">
                    <a:effectLst/>
                  </a:rPr>
                  <a:t>和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𝛽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zh-CN" sz="1200" kern="1200" dirty="0">
                    <a:effectLst/>
                  </a:rPr>
                  <a:t>仍然是交流量。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只是相较于三相交流电流表示上更简单了一点。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进行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Park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变换。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Park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变换利用编码器测得的转子电角度，让坐标系跟随转子一起旋转。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这样原本的交流信息被分到了旋转角速度去，如果不看这个，就只剩下了两个直流分量：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近似恒定的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，这样就可以使用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PI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控制器进行稳定调节。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其中，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轴与转子永磁体的磁链方向对齐：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："磁链分量</a:t>
                </a:r>
                <a:r>
                  <a:rPr lang="zh-CN" altLang="en-US" sz="1800" i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"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轴与磁链方向垂直：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："转矩分量</a:t>
                </a:r>
                <a:r>
                  <a:rPr lang="zh-CN" altLang="en-US" sz="1800" i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"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200" kern="1200" dirty="0">
                    <a:effectLst/>
                  </a:rPr>
                  <a:t>通过调节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𝑞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en-US" sz="1200" kern="1200" dirty="0">
                    <a:effectLst/>
                  </a:rPr>
                  <a:t>就可以</a:t>
                </a:r>
                <a:r>
                  <a:rPr lang="zh-CN" altLang="zh-CN" sz="1200" kern="1200" dirty="0">
                    <a:effectLst/>
                  </a:rPr>
                  <a:t>控制电机转矩</a:t>
                </a:r>
                <a:r>
                  <a:rPr lang="zh-CN" altLang="en-US" sz="1200" kern="1200" dirty="0">
                    <a:effectLst/>
                  </a:rPr>
                  <a:t>，调节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就可以用于抵消电机旋转产生的反电动势。设定好了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id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800" dirty="0" err="1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iq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，我们就可以将这个变换后的直流量通过反变换，回复成最原本的三相交流量</a:t>
                </a:r>
                <a:r>
                  <a:rPr lang="en-US" altLang="zh-CN" sz="1800" dirty="0" err="1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abc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，通过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SVPWM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去控制了。</a:t>
                </a: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dirty="0"/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CDD41C-12DF-9203-278E-F497A548E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028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4B028-112D-E8D2-BEA0-FF2DFEA3A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D125B7-83C3-ED44-EF81-95C03046E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F9CC7182-E7AE-4BF1-8A05-A2243EBD77D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代码结构分为上、中、下三个部分。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上半部分是系统初始化。</a:t>
                </a:r>
                <a:r>
                  <a:rPr lang="en-US" altLang="zh-CN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main()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依次完成外设配置、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ADC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校准和控制变量初始化，随后进入</a:t>
                </a:r>
                <a:r>
                  <a:rPr lang="en-US" altLang="zh-CN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while(1)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，循环执行后台任务。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中间部分是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FOC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实时控制核心。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TIM1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产生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20 kHz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中心对齐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PWM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，并以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10 kHz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触发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ADC1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同步采集三相电流。采样结果完成零偏校正后，通过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Clarke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Park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变换得到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，再依次进入位置环、速度环和电流环。三个环分别以目标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200 Hz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500 Hz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10 kHz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执行。控制结果经过反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Park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SVPWM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，转换为三相占空比，最终驱动功率桥和电机。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在这个过程中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MA600A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采用流水线方式读取角度，避免阻塞快环；发生故障时，系统立即复位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PWM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并关闭功率级。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下半部分是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 kHz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低速任务。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TIM6触发ADC2采集母线电压和温度，</a:t>
                </a:r>
                <a:r>
                  <a:rPr lang="en-US" altLang="zh-CN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Program_Task()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负责故障与遥测刷新，最后通过USART1 </a:t>
                </a:r>
                <a:r>
                  <a:rPr lang="en-US" altLang="zh-CN" sz="1800" dirty="0" err="1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DMA向VOFA发送波形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zh-CN" sz="18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F9CC7182-E7AE-4BF1-8A05-A2243EBD77D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代码结构分为上、中、下三个部分。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上半部分是系统初始化。</a:t>
                </a:r>
                <a:r>
                  <a:rPr lang="en-US" altLang="zh-CN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main()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依次完成外设配置、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ADC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校准和控制变量初始化，随后进入</a:t>
                </a:r>
                <a:r>
                  <a:rPr lang="en-US" altLang="zh-CN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while(1)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，循环执行后台任务。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中间部分是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FOC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实时控制核心。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TIM1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产生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20 kHz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中心对齐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PWM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，并以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10 kHz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触发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ADC1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同步采集三相电流。采样结果完成零偏校正后，通过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Clarke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Park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变换得到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与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，再依次进入位置环、速度环和电流环。三个环分别以目标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200 Hz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500 Hz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10 kHz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执行。控制结果经过反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Park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SVPWM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，转换为三相占空比，最终驱动功率桥和电机。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在这个过程中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MA600A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采用流水线方式读取角度，避免阻塞快环；发生故障时，系统立即复位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PWM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并关闭功率级。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下半部分是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 kHz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低速任务。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TIM6触发ADC2采集母线电压和温度，</a:t>
                </a:r>
                <a:r>
                  <a:rPr lang="en-US" altLang="zh-CN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Program_Task()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负责故障与遥测刷新，最后通过USART1 </a:t>
                </a:r>
                <a:r>
                  <a:rPr lang="en-US" altLang="zh-CN" sz="1800" dirty="0" err="1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DMA向VOFA发送波形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zh-CN" sz="18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E74E8-21ED-51E4-01A1-326991737A7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8901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AE707-7060-9AA1-910D-E2BAABC5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32E2F-CAC1-C402-DFAD-A211156799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0BF3B68A-F077-50D4-B948-9DE3FE34E32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程序通过状态机管理运行流程：系统依次经过初始化、待机和转子对齐，随后进入闭环控制；检测到过流、过压或</a:t>
                </a:r>
                <a:r>
                  <a:rPr lang="en-US" altLang="zh-CN" sz="180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nFAULT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信号时，立即关闭功率级并进入故障状态。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三环控制采用由外向内逐级嵌套的结构。位置环根据角度误差输出速度参考；速度环根据转速误差输出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参考；电流环跟踪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，生成电压指令。也就是说，外环的输出就是内环的输入。</a:t>
                </a:r>
                <a:endParaRPr lang="en-US" altLang="zh-CN" sz="180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电流环直接控制转矩，因此响应最快；速度环次之；位置环最慢。内环稳定后，外环才能获得近似理想的受控对象，整个系统逐级稳定。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zh-CN" sz="18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0BF3B68A-F077-50D4-B948-9DE3FE34E32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程序通过状态机管理运行流程：系统依次经过初始化、待机和转子对齐，随后进入闭环控制；检测到过流、过压或</a:t>
                </a:r>
                <a:r>
                  <a:rPr lang="en-US" altLang="zh-CN" sz="180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nFAULT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信号时，立即关闭功率级并进入故障状态。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三环控制采用由外向内逐级嵌套的结构。位置环根据角度误差输出速度参考；速度环根据转速误差输出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参考；电流环跟踪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，生成电压指令。也就是说，外环的输出就是内环的输入。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电流环直接控制转矩，因此响应最快；速度环次之；位置环最慢。内环稳定后，外环才能获得近似理想的受控对象，整个系统逐级稳定。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zh-CN" sz="18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ACC3C-760F-2678-2D90-8ADDCFF39B6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261235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52AA5-FDBF-51FF-DF95-D1656194A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DA522E-325E-4BEF-2BEF-F64E4F288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88FB34-6552-A80A-549B-1FC2D876B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如视频所示的代码工程，初始化主要在</a:t>
            </a:r>
            <a:r>
              <a:rPr lang="en-US" altLang="zh-CN" dirty="0"/>
              <a:t>main</a:t>
            </a:r>
            <a:r>
              <a:rPr lang="zh-CN" altLang="en-US" dirty="0"/>
              <a:t>函数进行。其余</a:t>
            </a:r>
            <a:r>
              <a:rPr lang="en-US" altLang="zh-CN" dirty="0"/>
              <a:t>user</a:t>
            </a:r>
            <a:r>
              <a:rPr lang="zh-CN" altLang="en-US" dirty="0"/>
              <a:t>文件皆存储在</a:t>
            </a:r>
            <a:r>
              <a:rPr lang="en-US" altLang="zh-CN" dirty="0"/>
              <a:t>user/app</a:t>
            </a:r>
            <a:r>
              <a:rPr lang="zh-CN" altLang="en-US" dirty="0"/>
              <a:t>文件夹中。</a:t>
            </a:r>
            <a:r>
              <a:rPr lang="en-US" altLang="zh-CN" dirty="0"/>
              <a:t>ma600a.c MA600A</a:t>
            </a:r>
            <a:r>
              <a:rPr lang="zh-CN" altLang="en-US" dirty="0"/>
              <a:t>为读取角度和角度结算相关函数，为该芯片的支持库。</a:t>
            </a:r>
            <a:r>
              <a:rPr lang="en-US" altLang="zh-CN" dirty="0" err="1"/>
              <a:t>program.c</a:t>
            </a:r>
            <a:r>
              <a:rPr lang="en-US" altLang="zh-CN" dirty="0"/>
              <a:t> </a:t>
            </a:r>
            <a:r>
              <a:rPr lang="zh-CN" altLang="en-US" dirty="0"/>
              <a:t>中运行状态机、速度环、电流环、位置环等控制器。</a:t>
            </a:r>
            <a:r>
              <a:rPr lang="en-US" altLang="zh-CN" dirty="0" err="1"/>
              <a:t>filter.c</a:t>
            </a:r>
            <a:r>
              <a:rPr lang="en-US" altLang="zh-CN" dirty="0"/>
              <a:t> </a:t>
            </a:r>
            <a:r>
              <a:rPr lang="zh-CN" altLang="en-US" dirty="0"/>
              <a:t>做速度</a:t>
            </a:r>
            <a:r>
              <a:rPr lang="en-US" altLang="zh-CN" dirty="0"/>
              <a:t>/</a:t>
            </a:r>
            <a:r>
              <a:rPr lang="zh-CN" altLang="en-US" dirty="0"/>
              <a:t>位置</a:t>
            </a:r>
            <a:r>
              <a:rPr lang="en-US" altLang="zh-CN" dirty="0"/>
              <a:t>/VBUS</a:t>
            </a:r>
            <a:r>
              <a:rPr lang="zh-CN" altLang="en-US" dirty="0"/>
              <a:t>滤波。</a:t>
            </a:r>
            <a:r>
              <a:rPr lang="en-US" altLang="zh-CN" dirty="0" err="1"/>
              <a:t>foc_core.c</a:t>
            </a:r>
            <a:r>
              <a:rPr lang="en-US" altLang="zh-CN" dirty="0"/>
              <a:t> </a:t>
            </a:r>
            <a:r>
              <a:rPr lang="zh-CN" altLang="en-US" dirty="0"/>
              <a:t>做 </a:t>
            </a:r>
            <a:r>
              <a:rPr lang="en-US" altLang="zh-CN" dirty="0"/>
              <a:t>Clarke/Park/</a:t>
            </a:r>
            <a:r>
              <a:rPr lang="zh-CN" altLang="en-US" dirty="0"/>
              <a:t>反</a:t>
            </a:r>
            <a:r>
              <a:rPr lang="en-US" altLang="zh-CN" dirty="0"/>
              <a:t>Park</a:t>
            </a:r>
            <a:r>
              <a:rPr lang="zh-CN" altLang="en-US" dirty="0"/>
              <a:t>的坐标系变换，以及</a:t>
            </a:r>
            <a:r>
              <a:rPr lang="en-US" altLang="zh-CN" dirty="0"/>
              <a:t>SVPWM</a:t>
            </a:r>
            <a:r>
              <a:rPr lang="zh-CN" altLang="en-US" dirty="0"/>
              <a:t>的生成。</a:t>
            </a:r>
            <a:r>
              <a:rPr lang="en-US" altLang="zh-CN" dirty="0" err="1"/>
              <a:t>cli_uart.c</a:t>
            </a:r>
            <a:r>
              <a:rPr lang="en-US" altLang="zh-CN" dirty="0"/>
              <a:t> </a:t>
            </a:r>
            <a:r>
              <a:rPr lang="zh-CN" altLang="en-US" dirty="0"/>
              <a:t>用于</a:t>
            </a:r>
            <a:r>
              <a:rPr lang="en-US" altLang="zh-CN" dirty="0"/>
              <a:t>VOFA</a:t>
            </a:r>
            <a:r>
              <a:rPr lang="zh-CN" altLang="en-US" dirty="0"/>
              <a:t>联调，发送串口信息。</a:t>
            </a:r>
            <a:r>
              <a:rPr lang="en-US" altLang="zh-CN" dirty="0" err="1"/>
              <a:t>drv_pid.c</a:t>
            </a:r>
            <a:r>
              <a:rPr lang="zh-CN" altLang="en-US" dirty="0"/>
              <a:t>为通用</a:t>
            </a:r>
            <a:r>
              <a:rPr lang="en-US" altLang="zh-CN" dirty="0"/>
              <a:t>PID</a:t>
            </a:r>
            <a:r>
              <a:rPr lang="zh-CN" altLang="en-US" dirty="0"/>
              <a:t>库。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4075E-BE2C-3773-AC32-A1AE43F2B0A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091491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A37BB-3F5D-ED36-FDF3-3FCA01547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02E94-F094-D2A7-C208-8949878E8B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742086A-AAE0-FFD7-2379-381DF6EA2E6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电流环被控对象由绕组电阻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和电感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决定。确定电流环带宽后，利用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PI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零点抵消电机的电气极点，即可得到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速度环以输出轴机械模型为基础，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通过转矩系数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产生转矩。给定速度环带宽和阻尼比后，通过二阶系统极点配置计算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。机械阻尼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不明确时可以先取零，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有条件的嘉人可以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根据实测响应调整。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zh-CN" sz="18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742086A-AAE0-FFD7-2379-381DF6EA2E6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电流环被控对象由绕组电阻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𝑅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和电感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𝐿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决定。确定电流环带宽后，利用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PI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零点抵消电机的电气极点，即可得到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𝐾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_(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𝑝,𝑖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𝐾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_(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𝑖,𝑖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速度环以输出轴机械模型为基础，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通过转矩系数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𝐾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𝑡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产生转矩。给定速度环带宽和阻尼比后，通过二阶系统极点配置计算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𝐾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_(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𝑝,𝜔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𝐾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_(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𝑖,𝜔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。机械阻尼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𝐵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𝑜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不明确时可以先取零，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有条件的嘉人可以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根据实测响应调整。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zh-CN" sz="18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CFA4B-0F3A-3BA6-DC58-BBBA9D290D1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60764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A9648-BEA3-1671-D40A-374460C8B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8DC0F-38DF-1DFB-D0FD-BEFC708DF7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AC24B377-65B6-0A39-E8C8-D2421E32D81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位置环位于最外层。由于速度环响应明显更快，可以近似认为实际速度能够及时跟随速度参考，因此位置对象可以简化为积分环节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位置环采用比例控制，将位置误差直接转换为速度参考。设定位置环带宽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bw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后，可取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𝜋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bw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由于位置对象本身已经包含积分环节，比例控制就能消除阶跃位置误差，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zh-CN" sz="18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AC24B377-65B6-0A39-E8C8-D2421E32D81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位置环位于最外层。由于速度环响应明显更快，可以近似认为实际速度能够及时跟随速度参考，因此位置对象可以简化为积分环节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1/𝑠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位置环采用比例控制，将位置误差直接转换为速度参考。设定位置环带宽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𝑓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_(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bw,𝜃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后，可取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𝐾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_(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𝑝,𝜃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=2𝜋𝑓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_(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bw,𝜃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由于位置对象本身已经包含积分环节，比例控制就能消除阶跃位置误差，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zh-CN" sz="18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749C1-CCF8-AF87-1334-20775C05295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54360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9FC7F-18DB-4C90-9366-C28EC401D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4CA773-6906-7B6A-6790-B3F271112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0D08EC-38A2-AF32-C59E-91CF650BA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/>
              <a:t>首先验证辅助电源是否正常。测试时先保持功率级关闭，并给直流电源设置限流。按照电源传递顺序，依次测量</a:t>
            </a:r>
            <a:r>
              <a:rPr lang="en-US" altLang="zh-CN" dirty="0"/>
              <a:t>MP4583</a:t>
            </a:r>
            <a:r>
              <a:rPr lang="zh-CN" altLang="en-US" dirty="0"/>
              <a:t>输出的</a:t>
            </a:r>
            <a:r>
              <a:rPr lang="en-US" altLang="zh-CN" dirty="0"/>
              <a:t>12 V</a:t>
            </a:r>
            <a:r>
              <a:rPr lang="zh-CN" altLang="en-US" dirty="0"/>
              <a:t>、</a:t>
            </a:r>
            <a:r>
              <a:rPr lang="en-US" altLang="zh-CN" dirty="0"/>
              <a:t>MPM3632S</a:t>
            </a:r>
            <a:r>
              <a:rPr lang="zh-CN" altLang="en-US" dirty="0"/>
              <a:t>输出的</a:t>
            </a:r>
            <a:r>
              <a:rPr lang="en-US" altLang="zh-CN" dirty="0"/>
              <a:t>5 V</a:t>
            </a:r>
            <a:r>
              <a:rPr lang="zh-CN" altLang="en-US" dirty="0"/>
              <a:t>、</a:t>
            </a:r>
            <a:r>
              <a:rPr lang="en-US" altLang="zh-CN" dirty="0"/>
              <a:t>MP20051</a:t>
            </a:r>
            <a:r>
              <a:rPr lang="zh-CN" altLang="en-US" dirty="0"/>
              <a:t>输出的</a:t>
            </a:r>
            <a:r>
              <a:rPr lang="en-US" altLang="zh-CN" dirty="0"/>
              <a:t>3.3 V</a:t>
            </a:r>
            <a:r>
              <a:rPr lang="zh-CN" altLang="en-US" dirty="0"/>
              <a:t>，以及</a:t>
            </a:r>
            <a:r>
              <a:rPr lang="en-US" altLang="zh-CN" dirty="0"/>
              <a:t>MIE1W0505</a:t>
            </a:r>
            <a:r>
              <a:rPr lang="zh-CN" altLang="en-US" dirty="0"/>
              <a:t>隔离侧的</a:t>
            </a:r>
            <a:r>
              <a:rPr lang="en-US" altLang="zh-CN" dirty="0"/>
              <a:t>5 V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除了电压值，还要观察输入电流、输出纹波所有电源轨稳定后，继续进行驱动级和功率级测试。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7AAE5-6D50-EFAE-5F7B-64E53D15D0D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28006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032D7-4256-7669-5599-A2C46C64F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C8CD70-82CC-6F0F-7181-ACC760A60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DF1B125-492B-417C-0B53-6FA846E9F4D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先保持电机断开，在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MCU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输出端检查六路互补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PWM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是否输出正常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随后使能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MP6539B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，分别测量低侧</a:t>
                </a:r>
                <a:r>
                  <a:rPr lang="en-US" altLang="zh-CN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LO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和高侧</a:t>
                </a:r>
                <a:r>
                  <a:rPr lang="en-US" altLang="zh-CN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HO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输出。低侧以功率地为参考，高侧测量</a:t>
                </a:r>
                <a:r>
                  <a:rPr lang="en-US" altLang="zh-CN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HO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与</a:t>
                </a:r>
                <a:r>
                  <a:rPr lang="en-US" altLang="zh-CN" sz="180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SHx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之间的电压，确认栅极驱动幅值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正确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，并且上下管不存在同时导通。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最后观察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MOSFET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𝐺𝑆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𝐷𝑆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和相线开关波形，检查是否存在明显过冲和振铃。三相波形一致且驱动正常后。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zh-CN" sz="18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DF1B125-492B-417C-0B53-6FA846E9F4D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先保持电机断开，在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MCU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输出端检查六路互补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PWM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是否输出正常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随后使能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MP6539B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，分别测量低侧</a:t>
                </a:r>
                <a:r>
                  <a:rPr lang="en-US" altLang="zh-CN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LO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和高侧</a:t>
                </a:r>
                <a:r>
                  <a:rPr lang="en-US" altLang="zh-CN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HO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输出。低侧以功率地为参考，高侧测量</a:t>
                </a:r>
                <a:r>
                  <a:rPr lang="en-US" altLang="zh-CN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HO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与</a:t>
                </a:r>
                <a:r>
                  <a:rPr lang="en-US" altLang="zh-CN" sz="180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SHx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之间的电压，确认栅极驱动幅值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正确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，并且上下管不存在同时导通。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最后观察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MOSFET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𝑉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𝐺𝑆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𝑉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𝐷𝑆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和相线开关波形，检查是否存在明显过冲和振铃。三相波形一致且驱动正常后。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zh-CN" sz="18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9A3F0-F9DE-B8EA-42BE-47FEE6BE9B9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60873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双脉冲测试用于验证功率级开关可靠性，是电力电子系统的必经测试。在这里有条件的嘉人可以做一下，毕竟电流探头一般来说比较难得。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我们按照如图所示连接电路，上管此时等效二极管，下管给双脉冲信号。记录 </a:t>
            </a:r>
            <a:r>
              <a:rPr lang="en-US" altLang="zh-CN" dirty="0"/>
              <a:t>VGS</a:t>
            </a:r>
            <a:r>
              <a:rPr lang="zh-CN" altLang="en-US" dirty="0"/>
              <a:t>、</a:t>
            </a:r>
            <a:r>
              <a:rPr lang="en-US" altLang="zh-CN" dirty="0"/>
              <a:t>VDS</a:t>
            </a:r>
            <a:r>
              <a:rPr lang="zh-CN" altLang="en-US" dirty="0"/>
              <a:t>、使用电流探头记录</a:t>
            </a:r>
            <a:r>
              <a:rPr lang="en-US" altLang="zh-CN" dirty="0" err="1"/>
              <a:t>Iload</a:t>
            </a:r>
            <a:r>
              <a:rPr lang="zh-CN" altLang="en-US" dirty="0"/>
              <a:t>上的电流和母线电压，观察过冲、振铃和开关损耗，再调整栅极电阻，直到上升沿脉冲稳定。</a:t>
            </a:r>
            <a:endParaRPr lang="en-US" altLang="zh-CN" dirty="0"/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2310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EC38B-B114-E2C1-F1DB-E67C1B1D7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910014-5F82-DA3D-27B1-65BB45C0C8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B3417D-0B97-DAEA-88F1-D3A5051D9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在零电流状态下完成偏置校准，再通入已知电流，对比输出、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换算值和万用表结果，确认三相通道的零点、增益和方向一致。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母线电压则通过改变输入电压，对比实际电压与程序采样值。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进行一次函数拟合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40464-4F53-69D0-C9F3-781C2D01CAE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190151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D0BE1-6E24-03AD-BD77-328D0F154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619663-98C4-F2EE-739A-A9BEE3AAE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FEA5C240-2CD5-794A-CFA0-198F5DCC6B4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前面计算得到的控制参数，需要转换成程序中的初始配置。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这里分别写入电流环的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，速度环的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，以及位置环的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反馈量的低通滤波等等一系列初始参数。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FEA5C240-2CD5-794A-CFA0-198F5DCC6B4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前面计算得到的控制参数，需要转换成程序中的初始配置。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这里分别写入电流环的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𝐾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_(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𝑝,𝑖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𝐾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_(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𝑖,𝑖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，速度环的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𝐾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_(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𝑝,𝜔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𝐾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_(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𝑖,𝜔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，以及位置环的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𝐾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_(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𝑝,𝜃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反馈量的低通滤波等等一系列初始参数。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B5392-A7C8-D9BB-C47B-75C27F2A2B7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34718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77030-226D-5196-654A-711A3EB49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FB5152-77C8-E193-33E1-C036A7AEF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AB2E95-F925-9310-6C7D-A7909E35B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G_motor</a:t>
            </a:r>
            <a:r>
              <a:rPr lang="zh-CN" altLang="en-US" dirty="0"/>
              <a:t>变量是本代码的核心变量，里面存储了几乎调试需要用到的全部参数和标志位。这里的</a:t>
            </a:r>
            <a:r>
              <a:rPr lang="en-US" altLang="zh-CN" dirty="0" err="1"/>
              <a:t>run_request</a:t>
            </a:r>
            <a:r>
              <a:rPr lang="zh-CN" altLang="en-US" dirty="0"/>
              <a:t>为系统使能标志位，使能后整个系统状态机才会进入正常工作状态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红色框中这几个标志位极其重要，以嵌套的形式工作：例如如果使能了电流环标志位和速度环标志位，那么此时就可以在下面给定速度参考值以速度环工作。若进而把位置环使能，则速度环参考量变成系统给定，用户可以手动给定位置环参考值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每个值基本都有</a:t>
            </a:r>
            <a:r>
              <a:rPr lang="en-US" altLang="zh-CN" dirty="0"/>
              <a:t>mech</a:t>
            </a:r>
            <a:r>
              <a:rPr lang="zh-CN" altLang="en-US" dirty="0"/>
              <a:t>和</a:t>
            </a:r>
            <a:r>
              <a:rPr lang="en-US" altLang="zh-CN" dirty="0" err="1"/>
              <a:t>elec</a:t>
            </a:r>
            <a:r>
              <a:rPr lang="zh-CN" altLang="en-US" dirty="0"/>
              <a:t>两个值，分别代表电角度下和机械角度下的值。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如果使能开环控制角度，那么系统将不采用</a:t>
            </a:r>
            <a:r>
              <a:rPr lang="en-US" altLang="zh-CN" dirty="0"/>
              <a:t>MA600A</a:t>
            </a:r>
            <a:r>
              <a:rPr lang="zh-CN" altLang="en-US" dirty="0"/>
              <a:t>的角度值工作，而是使用自动生成的开环电角度。各种标志位灵活使用，可以测试多种情况下的功能，以进一步方便二次开发和测试。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D9CFA-0B9F-4748-97E6-8A1964A8CFE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37037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E75D9-D072-FF76-4642-F9A33AC18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87E662-04F3-638D-6D44-A9EE8FFE7B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ED6B751-14B3-4BF6-78B8-3E979F24CF2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功能测试同样按照由内向外的顺序进行。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首先使用开环电角度和较小电压，验证三相驱动及电机方向。随后开启电流环，给定较小的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参考，观察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的跟踪效果，并确认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稳定在零附近。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电流环稳定后加入速度环，通过阶跃转速观察响应速度和超调；最后开启位置环，给定目标角度，检查定位精度和稳态抖动。测试过程中，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VOFA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波形与电机运行视频同步展示。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ED6B751-14B3-4BF6-78B8-3E979F24CF2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功能测试同样按照由内向外的顺序进行。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首先使用开环电角度和较小电压，验证三相驱动及电机方向。随后开启电流环，给定较小的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参考，观察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的跟踪效果，并确认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稳定在零附近。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电流环稳定后加入速度环，通过阶跃转速观察响应速度和超调；最后开启位置环，给定目标角度，检查定位精度和稳态抖动。测试过程中，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VOFA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波形与电机运行视频同步展示。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67DC2-777C-C460-A6F8-02A88D6DE49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14940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29191-1F79-D7BD-B539-E28947425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226933-F935-1699-9EF4-4E89771114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6116D6-5107-B5CB-3138-650569F59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满载测试采用电机对拖平台。左侧电机由驱动板控制，右侧电机作为发电机，通过三相整流和负载产生反向转矩。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该模型也已经开源。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在额定转速和目标负载下持续运行，同时记录转速和器件温度。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观察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长时间运行后转速是否稳定、系统是否误触发保护，以及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MOSFET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和电源器件的温度是否趋于稳定。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1304FE-27E8-8E8A-81DC-B50070D931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456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EDE80-4472-5B11-CC1D-2142C3CF1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86B01A-06CB-4DF9-340B-5E83DBA79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15A80F-E9DB-883F-F1CC-C5A86EACE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/>
              <a:t>保护测试用于确认异常发生后，系统能否及时停止功率输出。</a:t>
            </a:r>
            <a:endParaRPr lang="en-US" altLang="zh-CN" dirty="0"/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r>
              <a:rPr lang="zh-CN" altLang="en-US" dirty="0"/>
              <a:t>测试时通过降低软件保护阈值或注入故障条件，分别模拟过流和过压。触发后应观察到状态机立即进入</a:t>
            </a:r>
            <a:r>
              <a:rPr lang="en-US" altLang="zh-CN" dirty="0"/>
              <a:t>FAULT</a:t>
            </a:r>
            <a:r>
              <a:rPr lang="zh-CN" altLang="en-US" dirty="0"/>
              <a:t>，</a:t>
            </a:r>
            <a:r>
              <a:rPr lang="en-US" altLang="zh-CN" dirty="0"/>
              <a:t>PWM</a:t>
            </a:r>
            <a:r>
              <a:rPr lang="zh-CN" altLang="en-US" dirty="0"/>
              <a:t>停止输出，</a:t>
            </a:r>
            <a:r>
              <a:rPr lang="en-US" altLang="zh-CN" dirty="0" err="1"/>
              <a:t>nSLEEP</a:t>
            </a:r>
            <a:r>
              <a:rPr lang="zh-CN" altLang="en-US" dirty="0"/>
              <a:t>关闭功率级，并记录对应故障码。</a:t>
            </a:r>
            <a:endParaRPr lang="en-US" altLang="zh-CN" dirty="0"/>
          </a:p>
          <a:p>
            <a:pPr>
              <a:buNone/>
            </a:pPr>
            <a:endParaRPr lang="zh-CN" altLang="en-US" dirty="0"/>
          </a:p>
          <a:p>
            <a:r>
              <a:rPr lang="zh-CN" altLang="en-US" dirty="0"/>
              <a:t>故障消失后，清除故障并重新使能后恢复运行，避免反复启动造成二次损坏。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D42D05-DF4D-7CF7-CE79-17A908D205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4283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03131-B86C-02AC-9438-BFA22499B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24423C-9E7B-0048-ECE3-2AAA62C7E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1EFB5E-F207-EF3B-9D2A-C862B0425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/>
              <a:t>完成测试，我们再分享几个调试过程中比较容易遇到的问题。</a:t>
            </a:r>
            <a:endParaRPr lang="en-US" altLang="zh-CN" dirty="0"/>
          </a:p>
          <a:p>
            <a:pPr>
              <a:buNone/>
            </a:pPr>
            <a:endParaRPr lang="zh-CN" altLang="en-US" dirty="0"/>
          </a:p>
          <a:p>
            <a:r>
              <a:rPr lang="zh-CN" altLang="en-US" dirty="0"/>
              <a:t>相关问题和解决方案都放在了这一页上，有条件和需求的嘉人，可以暂停看一看。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18ACA-4E28-AFA2-3B77-8406B2873D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3095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998DA-56CB-F237-5ECE-63FF0AABA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34A576-A1DD-BF53-E45D-3A789FEA0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7B8641-B7DE-5D91-DEF6-F13921962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好的，那么到现在为止，我们已经获得了一块儿可以完整使用，跑起来了的</a:t>
            </a:r>
            <a:r>
              <a:rPr lang="en-US" altLang="zh-CN" dirty="0"/>
              <a:t>FOC</a:t>
            </a:r>
            <a:r>
              <a:rPr lang="zh-CN" altLang="en-US" dirty="0"/>
              <a:t>控制器。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有兴趣的同学可以进行复刻，这里最后再归纳一下复刻流程：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在开源广场</a:t>
            </a:r>
            <a:r>
              <a:rPr lang="zh-CN" altLang="en-US" dirty="0"/>
              <a:t>获取工程和资料，下单 </a:t>
            </a:r>
            <a:r>
              <a:rPr lang="en-US" altLang="zh-CN" dirty="0"/>
              <a:t>PCB</a:t>
            </a:r>
            <a:r>
              <a:rPr lang="zh-CN" altLang="en-US" dirty="0"/>
              <a:t>。而后可以扫描二维码进入</a:t>
            </a:r>
            <a:r>
              <a:rPr lang="en-US" altLang="zh-CN" dirty="0"/>
              <a:t>MPSNOW</a:t>
            </a:r>
            <a:r>
              <a:rPr lang="zh-CN" altLang="en-US" dirty="0"/>
              <a:t>申领芯片。焊接硬件，之后烧录代码并逐项调试。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r>
              <a:rPr lang="zh-CN" altLang="en-US" dirty="0"/>
              <a:t>本项目作为一个抛砖引玉，意在解读</a:t>
            </a:r>
            <a:r>
              <a:rPr lang="en-US" altLang="zh-CN" dirty="0"/>
              <a:t>FOC</a:t>
            </a:r>
            <a:r>
              <a:rPr lang="zh-CN" altLang="en-US" dirty="0"/>
              <a:t>的基础原理和推广一套即成可用的方案。欢迎大家对其进行拓展与参考。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本期视频就到这里感谢大家的收看，</a:t>
            </a:r>
            <a:r>
              <a:rPr lang="en-US" altLang="zh-CN" dirty="0" err="1"/>
              <a:t>ciallo</a:t>
            </a:r>
            <a:r>
              <a:rPr lang="en-US" altLang="zh-CN" dirty="0"/>
              <a:t>~</a:t>
            </a:r>
          </a:p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D04938-F726-773F-B9E6-DF900C8EA4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8B6E5C-3A4B-14B0-4EB5-D050320A2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02991A-B6F8-B701-7F94-7748D725CD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FE0DBA-1C12-A653-BB15-708430E15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789ABE-B2A9-7B7D-EFAB-1BDF8E3AF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764CBD-55EA-20BD-5685-C7C33D08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147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EA6E7D-5F49-D116-2C67-276BD0328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7A5986-8A0D-5D28-4531-2723A2007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3EB1D4-A972-704B-E67A-DFD4822B6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D02AAC-F956-4905-4CEC-7A7EDE0EF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58516A-9AF9-8375-2BDA-3619ABA1A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922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E7C782-E485-B7C7-B93B-689CFD20A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F450D4-24B6-5DEA-6126-FE7E77D5C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557722-44CF-4254-F133-655C7A890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94EB2C-7350-90BB-4DF5-B668C52B9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B2E1DD-7AC7-6D82-F661-BD167B78D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227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71D537-3B30-3447-BA4B-57E3AFC11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AE3491-D2B2-8619-9C60-69F351EC0A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5AA9E4-D79E-4D30-6AE1-617B4EBFE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70A0E2-C503-D1CF-6DDE-BFEB15D57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15107C-6AFA-40C1-4B1C-04B34B625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8E78D3-7A2E-9076-E34A-0901338DC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802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33E6E9-2EDB-0023-2F1A-39CE44130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07FFF0-ECE2-3188-DCB6-EAD17539E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24F393-7DCA-9186-314D-67CA9506C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C6A4218-598A-2719-AC58-9E39AE6C6A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D9B3C69-F647-603F-6E2F-04B943B2FE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3155081-C2B8-E59E-B27D-A4E61D4D5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523D9BE-F644-EB7C-6019-A8393EA6B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7568DFB-5399-1797-C076-AE1A546E8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198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B3A1F0-6A6F-480D-6D53-278A98F47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D20151E-1855-FBE8-74A7-22A5BD1C0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4D0F0B5-5AAE-B3B2-5B35-AD04FBFF2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8AC11F2-BA0E-0DE0-123C-B7F9D3262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606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0E67A4D-1F1A-9B5D-F645-E55272F6A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9050AF-D5DC-65D9-A44B-6C424810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B0B9BD-7D0F-5AA0-C935-194324256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820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5218EE-5D49-BED5-6557-E759661A5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C7C6B9-3551-FA0B-125E-1CA53B29C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31BB6C-D208-E028-3D33-504607C84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BC97E8-44A9-089E-A4DC-47FC54A00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5BA2FD-8E3C-BE41-7290-5AB08DA74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868F48-AE51-A9F7-EC10-3CC14244B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45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C504A2-98E6-A47D-BAC9-10DB090B9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1039F46-2BB8-3959-6B34-169E171B58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CD47F2-7CFA-FAAC-200D-8289034E4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7D510D-20A6-9E36-1173-A2D612CE3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6FC1EA-A41D-A804-2075-76B740C62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296E98-A3A4-7C38-FB53-2C493A141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38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490BCF-72AF-B3A9-2220-8926E2547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A87AC7-6B16-4F9E-875F-504D270D9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74884F-CF87-8D8B-A8FB-94D88E239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665296-63FA-D559-F820-635BD4642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7B32F1-D66B-38A3-ED5C-E212AFCB6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304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CA5B55F-444D-0E8C-56F5-27C6B7F5AD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B1EAE5D-AA43-66E3-B4DD-7A14C8ECE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1DA861-8FDE-93BE-4BC6-00694721F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73453E-D351-5BC5-ECD1-8DDA1FAFD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45BDCE-B078-A984-BE6C-6BB6941EA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68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2450476-412E-8805-0BDC-7CF24569E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F0E84F-741D-9C47-D70C-7C14C415C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FDA0B9-9457-B56E-EBD7-4F0EBF5976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EDD6D7-6AB1-469D-9F2A-3B7B510A2075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D61594-74DD-99A0-6367-1A30EE9DCB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1F44EE-F147-DB10-216E-C2F9F7167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014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gif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T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2.emf"/><Relationship Id="rId7" Type="http://schemas.openxmlformats.org/officeDocument/2006/relationships/image" Target="../media/image28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1.jpe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AB6E33A-98F5-DFC4-5503-EA83C3CF585E}"/>
              </a:ext>
            </a:extLst>
          </p:cNvPr>
          <p:cNvSpPr txBox="1"/>
          <p:nvPr/>
        </p:nvSpPr>
        <p:spPr>
          <a:xfrm>
            <a:off x="2032000" y="4013200"/>
            <a:ext cx="121920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4400">
                <a:solidFill>
                  <a:srgbClr val="000000"/>
                </a:solidFill>
                <a:latin typeface="Microsoft YaHei" panose="020B0503020204020204" pitchFamily="34" charset="-122"/>
              </a:rPr>
              <a:t>第三章：代码使用、测试验证与复刻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48C0B2D-72D7-7D0B-A3EA-D92DF4393754}"/>
              </a:ext>
            </a:extLst>
          </p:cNvPr>
          <p:cNvSpPr txBox="1"/>
          <p:nvPr/>
        </p:nvSpPr>
        <p:spPr>
          <a:xfrm>
            <a:off x="5079274" y="5769065"/>
            <a:ext cx="7874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300" b="1" dirty="0">
                <a:solidFill>
                  <a:srgbClr val="000000"/>
                </a:solidFill>
                <a:latin typeface="Microsoft YaHei" panose="020B0503020204020204" pitchFamily="34" charset="-122"/>
              </a:rPr>
              <a:t>代码讲解→ 系统测试 → 实测数据 → 复刻流程。</a:t>
            </a:r>
          </a:p>
        </p:txBody>
      </p:sp>
    </p:spTree>
    <p:extLst>
      <p:ext uri="{BB962C8B-B14F-4D97-AF65-F5344CB8AC3E}">
        <p14:creationId xmlns:p14="http://schemas.microsoft.com/office/powerpoint/2010/main" val="1876006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98C9B12-92BE-4008-54D0-660E06892BEE}"/>
              </a:ext>
            </a:extLst>
          </p:cNvPr>
          <p:cNvSpPr>
            <a:spLocks noGrp="1"/>
          </p:cNvSpPr>
          <p:nvPr/>
        </p:nvSpPr>
        <p:spPr>
          <a:xfrm>
            <a:off x="450937" y="258871"/>
            <a:ext cx="919514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/>
              <a:t>0-</a:t>
            </a:r>
            <a:r>
              <a:rPr lang="en-US" sz="2400" dirty="0"/>
              <a:t>5</a:t>
            </a:r>
            <a:r>
              <a:rPr sz="2400" dirty="0"/>
              <a:t>s</a:t>
            </a:r>
            <a:endParaRPr lang="en-US" sz="2400" dirty="0"/>
          </a:p>
          <a:p>
            <a:r>
              <a:rPr lang="zh-CN" altLang="en-US" sz="2400" dirty="0"/>
              <a:t>同样先来几秒钟快闪 大概是板子焊接，然后聚焦于板子的运镜视频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070159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61ABA-38A8-42C3-F5A6-231BC3AE6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E346207-D4B4-BE36-AC1C-53F934FBF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6376" y="1532059"/>
            <a:ext cx="9138433" cy="6853825"/>
          </a:xfrm>
          <a:prstGeom prst="rect">
            <a:avLst/>
          </a:prstGeom>
        </p:spPr>
      </p:pic>
      <p:sp>
        <p:nvSpPr>
          <p:cNvPr id="2" name="标题 4">
            <a:extLst>
              <a:ext uri="{FF2B5EF4-FFF2-40B4-BE49-F238E27FC236}">
                <a16:creationId xmlns:a16="http://schemas.microsoft.com/office/drawing/2014/main" id="{3C45EE04-DC69-6D37-7A15-192A84C6BF78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Introduction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325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4983A-13C2-9CF8-FDEC-B836838B7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866FFD1-A3D2-9819-75A3-45FBCD821FC1}"/>
              </a:ext>
            </a:extLst>
          </p:cNvPr>
          <p:cNvSpPr/>
          <p:nvPr/>
        </p:nvSpPr>
        <p:spPr>
          <a:xfrm>
            <a:off x="290410" y="1783197"/>
            <a:ext cx="7445828" cy="496080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开源广场压缩包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515FE6-2F55-F2CF-AF71-3F083547E1F7}"/>
              </a:ext>
            </a:extLst>
          </p:cNvPr>
          <p:cNvSpPr/>
          <p:nvPr/>
        </p:nvSpPr>
        <p:spPr>
          <a:xfrm>
            <a:off x="294697" y="2265530"/>
            <a:ext cx="7445828" cy="4858082"/>
          </a:xfrm>
          <a:prstGeom prst="rect">
            <a:avLst/>
          </a:prstGeom>
          <a:solidFill>
            <a:srgbClr val="FFFFFF"/>
          </a:solidFill>
          <a:ln w="10160">
            <a:solidFill>
              <a:srgbClr val="B6CD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A6F2CFD-826B-49ED-8D64-45B41283C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30" y="2458251"/>
            <a:ext cx="6713402" cy="41884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7F84273-8446-6922-EC49-24A6AFD3624C}"/>
              </a:ext>
            </a:extLst>
          </p:cNvPr>
          <p:cNvSpPr/>
          <p:nvPr/>
        </p:nvSpPr>
        <p:spPr>
          <a:xfrm>
            <a:off x="8040339" y="1783197"/>
            <a:ext cx="7445828" cy="496080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GITHUB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完整仓库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7002BF-165E-0287-5712-44E76AF6A1C0}"/>
              </a:ext>
            </a:extLst>
          </p:cNvPr>
          <p:cNvSpPr/>
          <p:nvPr/>
        </p:nvSpPr>
        <p:spPr>
          <a:xfrm>
            <a:off x="8044626" y="2265530"/>
            <a:ext cx="7445828" cy="4858082"/>
          </a:xfrm>
          <a:prstGeom prst="rect">
            <a:avLst/>
          </a:prstGeom>
          <a:solidFill>
            <a:srgbClr val="FFFFFF"/>
          </a:solidFill>
          <a:ln w="10160">
            <a:solidFill>
              <a:srgbClr val="B6CD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C7B9F5A-331E-8DAF-438E-048D027BC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6555" y="2973363"/>
            <a:ext cx="7349612" cy="3442415"/>
          </a:xfrm>
          <a:prstGeom prst="rect">
            <a:avLst/>
          </a:prstGeom>
        </p:spPr>
      </p:pic>
      <p:sp>
        <p:nvSpPr>
          <p:cNvPr id="4" name="标题 4">
            <a:extLst>
              <a:ext uri="{FF2B5EF4-FFF2-40B4-BE49-F238E27FC236}">
                <a16:creationId xmlns:a16="http://schemas.microsoft.com/office/drawing/2014/main" id="{DB586D4D-C860-0764-E836-2BDA7FC94CCB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代码下载渠道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747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EE65E-5E29-A172-6FD2-E79F6E46E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E9DB9B2-C9C3-3B51-8842-120517814266}"/>
              </a:ext>
            </a:extLst>
          </p:cNvPr>
          <p:cNvSpPr txBox="1"/>
          <p:nvPr/>
        </p:nvSpPr>
        <p:spPr>
          <a:xfrm>
            <a:off x="829733" y="364868"/>
            <a:ext cx="14257867" cy="588195"/>
          </a:xfrm>
          <a:prstGeom prst="rect">
            <a:avLst/>
          </a:prstGeom>
          <a:noFill/>
        </p:spPr>
        <p:txBody>
          <a:bodyPr vert="horz" wrap="square" lIns="67733" tIns="16933" rIns="67733" bIns="16933" rtlCol="0" anchor="ctr">
            <a:spAutoFit/>
          </a:bodyPr>
          <a:lstStyle/>
          <a:p>
            <a:r>
              <a:rPr lang="en-US" altLang="zh-CN" sz="3600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FOC</a:t>
            </a:r>
            <a:r>
              <a:rPr lang="en-US" altLang="zh-CN" sz="3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3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基本原理</a:t>
            </a:r>
            <a:r>
              <a:rPr lang="en-US" altLang="zh-CN" sz="3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3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坐标变换如何让电机转起来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158D193-1A97-2C25-0CA3-6F0AB68BF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702" y="5267661"/>
            <a:ext cx="4650601" cy="348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7D8964D8-649E-2144-5080-F7E893E9E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531" y="5271927"/>
            <a:ext cx="4644913" cy="3483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D52770B3-6A7C-A62C-CDBA-E2C12BE42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159" y="5267660"/>
            <a:ext cx="4650601" cy="348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5" name="矩形: 圆角 194">
            <a:extLst>
              <a:ext uri="{FF2B5EF4-FFF2-40B4-BE49-F238E27FC236}">
                <a16:creationId xmlns:a16="http://schemas.microsoft.com/office/drawing/2014/main" id="{8331FE7A-BF5E-EACB-E4A2-DECF2A1ACD3D}"/>
              </a:ext>
            </a:extLst>
          </p:cNvPr>
          <p:cNvSpPr/>
          <p:nvPr/>
        </p:nvSpPr>
        <p:spPr>
          <a:xfrm>
            <a:off x="270390" y="1271752"/>
            <a:ext cx="5080001" cy="7668963"/>
          </a:xfrm>
          <a:prstGeom prst="roundRect">
            <a:avLst>
              <a:gd name="adj" fmla="val 3237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21085D3E-2F2F-7D7F-1495-1ED2DA430E5D}"/>
              </a:ext>
            </a:extLst>
          </p:cNvPr>
          <p:cNvSpPr txBox="1"/>
          <p:nvPr/>
        </p:nvSpPr>
        <p:spPr>
          <a:xfrm>
            <a:off x="9913068" y="5719978"/>
            <a:ext cx="20509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Park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变化</a:t>
            </a:r>
          </a:p>
        </p:txBody>
      </p:sp>
      <p:sp>
        <p:nvSpPr>
          <p:cNvPr id="223" name="文本框 222">
            <a:extLst>
              <a:ext uri="{FF2B5EF4-FFF2-40B4-BE49-F238E27FC236}">
                <a16:creationId xmlns:a16="http://schemas.microsoft.com/office/drawing/2014/main" id="{95D371F4-8E7A-2AE5-3F37-DAD687544D97}"/>
              </a:ext>
            </a:extLst>
          </p:cNvPr>
          <p:cNvSpPr txBox="1"/>
          <p:nvPr/>
        </p:nvSpPr>
        <p:spPr>
          <a:xfrm>
            <a:off x="4539618" y="5570852"/>
            <a:ext cx="20509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Clarke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变化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4">
            <a:extLst>
              <a:ext uri="{FF2B5EF4-FFF2-40B4-BE49-F238E27FC236}">
                <a16:creationId xmlns:a16="http://schemas.microsoft.com/office/drawing/2014/main" id="{706EA7B2-CA73-E0B9-B3CC-FD5501058FBA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FOC</a:t>
            </a:r>
            <a:r>
              <a:rPr lang="zh-CN" altLang="en-US" dirty="0">
                <a:solidFill>
                  <a:schemeClr val="bg1"/>
                </a:solidFill>
              </a:rPr>
              <a:t>控制原理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引入坐标变换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EDED8FB-8120-BFDA-55B0-2855276B9D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99" y="1667367"/>
            <a:ext cx="4644145" cy="342908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2141EAE-BD18-EA43-4FAB-A9F0354AFB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0971" y="1667367"/>
            <a:ext cx="4650601" cy="343385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7B9DB7C-C7F0-41BD-A85E-10F6567A3A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743" y="1680044"/>
            <a:ext cx="4375448" cy="3454020"/>
          </a:xfrm>
          <a:prstGeom prst="rect">
            <a:avLst/>
          </a:prstGeom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E8BD465-6742-5967-0E31-A564917F26D6}"/>
              </a:ext>
            </a:extLst>
          </p:cNvPr>
          <p:cNvSpPr/>
          <p:nvPr/>
        </p:nvSpPr>
        <p:spPr>
          <a:xfrm>
            <a:off x="1689977" y="1044418"/>
            <a:ext cx="2303700" cy="473594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三相静止坐标系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3A58793-F8D3-CA79-06B7-76B553420FC3}"/>
              </a:ext>
            </a:extLst>
          </p:cNvPr>
          <p:cNvSpPr/>
          <p:nvPr/>
        </p:nvSpPr>
        <p:spPr>
          <a:xfrm>
            <a:off x="5461460" y="1281215"/>
            <a:ext cx="5080001" cy="7668963"/>
          </a:xfrm>
          <a:prstGeom prst="roundRect">
            <a:avLst>
              <a:gd name="adj" fmla="val 3237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6A0B50B-F7E4-246C-84D0-4C1ED1484868}"/>
              </a:ext>
            </a:extLst>
          </p:cNvPr>
          <p:cNvSpPr/>
          <p:nvPr/>
        </p:nvSpPr>
        <p:spPr>
          <a:xfrm>
            <a:off x="10652529" y="1281215"/>
            <a:ext cx="5080001" cy="7668963"/>
          </a:xfrm>
          <a:prstGeom prst="roundRect">
            <a:avLst>
              <a:gd name="adj" fmla="val 3237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19" name="右箭头 13">
            <a:extLst>
              <a:ext uri="{FF2B5EF4-FFF2-40B4-BE49-F238E27FC236}">
                <a16:creationId xmlns:a16="http://schemas.microsoft.com/office/drawing/2014/main" id="{1623A1EE-1C91-E33A-B0DE-32B90FD22D7A}"/>
              </a:ext>
            </a:extLst>
          </p:cNvPr>
          <p:cNvSpPr/>
          <p:nvPr/>
        </p:nvSpPr>
        <p:spPr>
          <a:xfrm>
            <a:off x="4726289" y="4721262"/>
            <a:ext cx="1367855" cy="913983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29000">
                <a:schemeClr val="accent5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rgbClr val="0070C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右箭头 13">
            <a:extLst>
              <a:ext uri="{FF2B5EF4-FFF2-40B4-BE49-F238E27FC236}">
                <a16:creationId xmlns:a16="http://schemas.microsoft.com/office/drawing/2014/main" id="{E4EAC30A-BDF9-0D9A-286E-2BBFBAF0B48E}"/>
              </a:ext>
            </a:extLst>
          </p:cNvPr>
          <p:cNvSpPr/>
          <p:nvPr/>
        </p:nvSpPr>
        <p:spPr>
          <a:xfrm>
            <a:off x="9913068" y="4810668"/>
            <a:ext cx="1367855" cy="913983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29000">
                <a:schemeClr val="accent5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rgbClr val="0070C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39129A3-EEA1-0698-0A3C-52EAC79F59FF}"/>
              </a:ext>
            </a:extLst>
          </p:cNvPr>
          <p:cNvSpPr/>
          <p:nvPr/>
        </p:nvSpPr>
        <p:spPr>
          <a:xfrm>
            <a:off x="11964011" y="1072853"/>
            <a:ext cx="2303700" cy="473594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同步旋转坐标系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30010F0-A38A-8D57-A0BC-82DE36546AAA}"/>
              </a:ext>
            </a:extLst>
          </p:cNvPr>
          <p:cNvSpPr/>
          <p:nvPr/>
        </p:nvSpPr>
        <p:spPr>
          <a:xfrm>
            <a:off x="6826994" y="1072853"/>
            <a:ext cx="2303700" cy="473594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两相静止坐标系</a:t>
            </a:r>
          </a:p>
        </p:txBody>
      </p:sp>
    </p:spTree>
    <p:extLst>
      <p:ext uri="{BB962C8B-B14F-4D97-AF65-F5344CB8AC3E}">
        <p14:creationId xmlns:p14="http://schemas.microsoft.com/office/powerpoint/2010/main" val="1851790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B4851-78CD-50D9-AC63-5E981E839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4B0DF27-0337-8AB2-0A3C-7461EB5823D2}"/>
              </a:ext>
            </a:extLst>
          </p:cNvPr>
          <p:cNvSpPr txBox="1"/>
          <p:nvPr/>
        </p:nvSpPr>
        <p:spPr>
          <a:xfrm>
            <a:off x="829733" y="364868"/>
            <a:ext cx="14257867" cy="588195"/>
          </a:xfrm>
          <a:prstGeom prst="rect">
            <a:avLst/>
          </a:prstGeom>
          <a:noFill/>
        </p:spPr>
        <p:txBody>
          <a:bodyPr vert="horz" wrap="square" lIns="67733" tIns="16933" rIns="67733" bIns="16933" rtlCol="0" anchor="ctr">
            <a:spAutoFit/>
          </a:bodyPr>
          <a:lstStyle/>
          <a:p>
            <a:r>
              <a:rPr lang="en-US" altLang="zh-CN" sz="3600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FOC</a:t>
            </a:r>
            <a:r>
              <a:rPr lang="en-US" altLang="zh-CN" sz="3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3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基本原理</a:t>
            </a:r>
            <a:r>
              <a:rPr lang="en-US" altLang="zh-CN" sz="3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3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坐标变换如何让电机转起来</a:t>
            </a:r>
          </a:p>
        </p:txBody>
      </p:sp>
      <p:sp>
        <p:nvSpPr>
          <p:cNvPr id="4" name="标题 4">
            <a:extLst>
              <a:ext uri="{FF2B5EF4-FFF2-40B4-BE49-F238E27FC236}">
                <a16:creationId xmlns:a16="http://schemas.microsoft.com/office/drawing/2014/main" id="{1856FC19-3095-E8CC-2141-B12D04453724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FOC</a:t>
            </a:r>
            <a:r>
              <a:rPr lang="zh-CN" altLang="en-US" dirty="0">
                <a:solidFill>
                  <a:schemeClr val="bg1"/>
                </a:solidFill>
              </a:rPr>
              <a:t>控制原理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en-US" altLang="zh-CN" dirty="0" err="1">
                <a:solidFill>
                  <a:schemeClr val="bg1"/>
                </a:solidFill>
              </a:rPr>
              <a:t>Id&amp;Iq</a:t>
            </a:r>
            <a:r>
              <a:rPr lang="zh-CN" altLang="en-US" dirty="0">
                <a:solidFill>
                  <a:schemeClr val="bg1"/>
                </a:solidFill>
              </a:rPr>
              <a:t>轴职责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5D8D0AD-19B2-35AF-129B-33B48000C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15"/>
          <a:stretch/>
        </p:blipFill>
        <p:spPr>
          <a:xfrm>
            <a:off x="10825341" y="953063"/>
            <a:ext cx="4056994" cy="60749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72AC94D-52E4-2DF7-7D4F-728DBAB56168}"/>
                  </a:ext>
                </a:extLst>
              </p:cNvPr>
              <p:cNvSpPr txBox="1"/>
              <p:nvPr/>
            </p:nvSpPr>
            <p:spPr>
              <a:xfrm>
                <a:off x="9421958" y="6480402"/>
                <a:ext cx="6438522" cy="21410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l"/>
                </a:pPr>
                <a:r>
                  <a:rPr lang="zh-CN" altLang="zh-CN" sz="2400" dirty="0">
                    <a:solidFill>
                      <a:srgbClr val="0070C0"/>
                    </a:solidFill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转速升高时，反电动势按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40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∝</m:t>
                    </m:r>
                    <m:sSub>
                      <m:sSubPr>
                        <m:ctrlPr>
                          <a:rPr lang="zh-CN" altLang="zh-CN" sz="2400" i="1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  <m:sSub>
                      <m:sSubPr>
                        <m:ctrlPr>
                          <a:rPr lang="zh-CN" altLang="zh-CN" sz="2400" i="1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0070C0"/>
                    </a:solidFill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400" dirty="0">
                    <a:solidFill>
                      <a:srgbClr val="0070C0"/>
                    </a:solidFill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增大</a:t>
                </a:r>
                <a:r>
                  <a:rPr lang="zh-CN" altLang="en-US" sz="2400" dirty="0">
                    <a:solidFill>
                      <a:srgbClr val="0070C0"/>
                    </a:solidFill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r>
                  <a:rPr lang="zh-CN" altLang="zh-CN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电机绕组满足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inv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𝑅𝑖</m:t>
                    </m:r>
                    <m:r>
                      <a:rPr lang="en-US" altLang="zh-CN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en-US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sz="2400" dirty="0"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l"/>
                </a:pPr>
                <a:r>
                  <a:rPr lang="zh-CN" altLang="zh-CN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当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altLang="zh-CN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接近逆变器电压上限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sz="2400">
                            <a:latin typeface="等线" panose="02010600030101010101" pitchFamily="2" charset="-122"/>
                            <a:cs typeface="Times New Roman" panose="020206030504050203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时，电流环无法维持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70C0"/>
                    </a:solidFill>
                  </a:rPr>
                  <a:t>，</a:t>
                </a:r>
                <a:r>
                  <a:rPr lang="zh-CN" altLang="zh-CN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转矩下降，转速受限</a:t>
                </a:r>
                <a:r>
                  <a:rPr lang="zh-CN" altLang="en-US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sz="2400" dirty="0">
                  <a:latin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l"/>
                </a:pPr>
                <a:r>
                  <a:rPr lang="zh-CN" altLang="en-US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因此引入弱磁控制。</a:t>
                </a:r>
                <a:endParaRPr lang="zh-CN" altLang="en-US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72AC94D-52E4-2DF7-7D4F-728DBAB56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1958" y="6480402"/>
                <a:ext cx="6438522" cy="2141035"/>
              </a:xfrm>
              <a:prstGeom prst="rect">
                <a:avLst/>
              </a:prstGeom>
              <a:blipFill>
                <a:blip r:embed="rId4"/>
                <a:stretch>
                  <a:fillRect l="-1326" t="-1994" r="-663" b="-56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图片 23">
            <a:extLst>
              <a:ext uri="{FF2B5EF4-FFF2-40B4-BE49-F238E27FC236}">
                <a16:creationId xmlns:a16="http://schemas.microsoft.com/office/drawing/2014/main" id="{33604CCD-03A9-56F4-2DBB-998E858791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218"/>
          <a:stretch/>
        </p:blipFill>
        <p:spPr>
          <a:xfrm>
            <a:off x="1860048" y="1849939"/>
            <a:ext cx="6668815" cy="6074924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6BD8F438-A7BD-C540-7242-C7F114CFEA01}"/>
              </a:ext>
            </a:extLst>
          </p:cNvPr>
          <p:cNvSpPr txBox="1"/>
          <p:nvPr/>
        </p:nvSpPr>
        <p:spPr>
          <a:xfrm>
            <a:off x="7881303" y="1163273"/>
            <a:ext cx="20509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转子永磁体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FDD59EA-D81A-0AD3-63FF-997ABF59A6EC}"/>
              </a:ext>
            </a:extLst>
          </p:cNvPr>
          <p:cNvCxnSpPr>
            <a:cxnSpLocks/>
          </p:cNvCxnSpPr>
          <p:nvPr/>
        </p:nvCxnSpPr>
        <p:spPr>
          <a:xfrm flipH="1">
            <a:off x="5964338" y="1450093"/>
            <a:ext cx="1765738" cy="1177159"/>
          </a:xfrm>
          <a:prstGeom prst="straightConnector1">
            <a:avLst/>
          </a:prstGeom>
          <a:ln w="31750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DD5915F-9396-0D20-5F9E-B5B8116FB33C}"/>
                  </a:ext>
                </a:extLst>
              </p:cNvPr>
              <p:cNvSpPr txBox="1"/>
              <p:nvPr/>
            </p:nvSpPr>
            <p:spPr>
              <a:xfrm>
                <a:off x="966953" y="5464711"/>
                <a:ext cx="2398984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400" b="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CN" sz="2400" b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CN" sz="2400" b="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400" b="0" i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zh-CN" altLang="zh-CN" sz="240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400" b="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  <m:sSub>
                        <m:sSubPr>
                          <m:ctrlPr>
                            <a:rPr lang="zh-CN" altLang="zh-CN" sz="240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400" b="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DD5915F-9396-0D20-5F9E-B5B8116FB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953" y="5464711"/>
                <a:ext cx="2398984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1684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5CB6E-0F97-8750-712D-E505B2F98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>
            <a:extLst>
              <a:ext uri="{FF2B5EF4-FFF2-40B4-BE49-F238E27FC236}">
                <a16:creationId xmlns:a16="http://schemas.microsoft.com/office/drawing/2014/main" id="{F97FD460-BD8D-DE61-C200-9D2F5A190950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代码结构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9AAFF41-ED18-02F9-69AD-A304B40A6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06" y="1324412"/>
            <a:ext cx="15805637" cy="685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561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F7640-0ED0-118D-CB08-891C1DD29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5F3D078-BCD1-D38C-C3D1-2D74EF3DE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05" y="4091153"/>
            <a:ext cx="15789389" cy="5311140"/>
          </a:xfrm>
          <a:prstGeom prst="rect">
            <a:avLst/>
          </a:prstGeom>
        </p:spPr>
      </p:pic>
      <p:sp>
        <p:nvSpPr>
          <p:cNvPr id="3" name="标题 4">
            <a:extLst>
              <a:ext uri="{FF2B5EF4-FFF2-40B4-BE49-F238E27FC236}">
                <a16:creationId xmlns:a16="http://schemas.microsoft.com/office/drawing/2014/main" id="{24A26748-8E1C-E09D-BEF5-5B6F6D181FF5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FOC</a:t>
            </a:r>
            <a:r>
              <a:rPr lang="zh-CN" altLang="en-US" dirty="0">
                <a:solidFill>
                  <a:schemeClr val="bg1"/>
                </a:solidFill>
              </a:rPr>
              <a:t>三环控制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状态机与三环结构解读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C09830A-37ED-02EA-CAF1-FA498A8B6370}"/>
              </a:ext>
            </a:extLst>
          </p:cNvPr>
          <p:cNvSpPr txBox="1"/>
          <p:nvPr/>
        </p:nvSpPr>
        <p:spPr>
          <a:xfrm>
            <a:off x="233304" y="3874155"/>
            <a:ext cx="25886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这里通过动画效果，逐级递增，依次讲解三环控制的嵌套结构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4EF3B85-8149-A401-4DCD-32F2F563A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584" y="1097320"/>
            <a:ext cx="15382830" cy="310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51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B4CCC-C904-0EA3-9072-ACE91A13A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4">
            <a:extLst>
              <a:ext uri="{FF2B5EF4-FFF2-40B4-BE49-F238E27FC236}">
                <a16:creationId xmlns:a16="http://schemas.microsoft.com/office/drawing/2014/main" id="{A9A4FA5E-A18F-734A-6469-197EEE98F115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FOC</a:t>
            </a:r>
            <a:r>
              <a:rPr lang="zh-CN" altLang="en-US" dirty="0">
                <a:solidFill>
                  <a:schemeClr val="bg1"/>
                </a:solidFill>
              </a:rPr>
              <a:t>三环控制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代码映射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564319C-E689-CCDD-2316-BA2CA680B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807" y="1303324"/>
            <a:ext cx="12282940" cy="733617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5921364-8010-C153-BFA4-E895BBBA2CB4}"/>
              </a:ext>
            </a:extLst>
          </p:cNvPr>
          <p:cNvSpPr txBox="1"/>
          <p:nvPr/>
        </p:nvSpPr>
        <p:spPr>
          <a:xfrm>
            <a:off x="13102747" y="2723900"/>
            <a:ext cx="26417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这里录视频讲解真实代码与框图对应结构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421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10962-B595-E8D3-C7C5-B1B3782C6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79C58D1-F60A-4160-35CD-4474E559A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05" y="1038817"/>
            <a:ext cx="15789389" cy="5311140"/>
          </a:xfrm>
          <a:prstGeom prst="rect">
            <a:avLst/>
          </a:prstGeom>
        </p:spPr>
      </p:pic>
      <p:sp>
        <p:nvSpPr>
          <p:cNvPr id="3" name="标题 4">
            <a:extLst>
              <a:ext uri="{FF2B5EF4-FFF2-40B4-BE49-F238E27FC236}">
                <a16:creationId xmlns:a16="http://schemas.microsoft.com/office/drawing/2014/main" id="{29B60A21-21FF-E782-00F6-75BBA0954051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FOC</a:t>
            </a:r>
            <a:r>
              <a:rPr lang="zh-CN" altLang="en-US" dirty="0">
                <a:solidFill>
                  <a:schemeClr val="bg1"/>
                </a:solidFill>
              </a:rPr>
              <a:t>三环控制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电流环、速度环参数计算</a:t>
            </a:r>
            <a:endParaRPr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F8A84BC-F456-2C41-09C0-3DA2339BBA4D}"/>
                  </a:ext>
                </a:extLst>
              </p:cNvPr>
              <p:cNvSpPr txBox="1"/>
              <p:nvPr/>
            </p:nvSpPr>
            <p:spPr>
              <a:xfrm>
                <a:off x="10549759" y="6488299"/>
                <a:ext cx="4995041" cy="2199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2000" dirty="0" err="1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电流对象近似为</a:t>
                </a:r>
                <a:r>
                  <a:rPr lang="en-US" altLang="zh-CN" sz="20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𝐿𝑠</m:t>
                          </m:r>
                          <m:r>
                            <a:rPr lang="en-US" altLang="zh-CN" sz="20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zh-CN" altLang="zh-CN" sz="20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20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采用</a:t>
                </a:r>
                <a:r>
                  <a:rPr lang="en-US" altLang="zh-CN" sz="20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PI </a:t>
                </a:r>
                <a:r>
                  <a:rPr lang="zh-CN" altLang="zh-CN" sz="20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零点抵消电机电气极点：</a:t>
                </a:r>
                <a:endParaRPr lang="en-US" altLang="zh-CN" sz="20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ctr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20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𝜋</m:t>
                    </m:r>
                    <m:sSub>
                      <m:sSub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bw</m:t>
                        </m:r>
                        <m:r>
                          <a:rPr lang="en-US" altLang="zh-CN" sz="20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0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𝜋</m:t>
                    </m:r>
                    <m:sSub>
                      <m:sSub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bw</m:t>
                        </m:r>
                        <m:r>
                          <a:rPr lang="en-US" altLang="zh-CN" sz="20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altLang="zh-CN" sz="20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 </a:t>
                </a:r>
                <a:endParaRPr lang="zh-CN" altLang="zh-CN" sz="2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F8A84BC-F456-2C41-09C0-3DA2339BB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9759" y="6488299"/>
                <a:ext cx="4995041" cy="2199769"/>
              </a:xfrm>
              <a:prstGeom prst="rect">
                <a:avLst/>
              </a:prstGeom>
              <a:blipFill>
                <a:blip r:embed="rId4"/>
                <a:stretch>
                  <a:fillRect l="-1343" t="-1385" b="-8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1C12115-C9FF-2C5B-74ED-C898029F829C}"/>
              </a:ext>
            </a:extLst>
          </p:cNvPr>
          <p:cNvCxnSpPr>
            <a:cxnSpLocks/>
          </p:cNvCxnSpPr>
          <p:nvPr/>
        </p:nvCxnSpPr>
        <p:spPr>
          <a:xfrm>
            <a:off x="7304690" y="2932386"/>
            <a:ext cx="4475290" cy="2858686"/>
          </a:xfrm>
          <a:prstGeom prst="straightConnector1">
            <a:avLst/>
          </a:prstGeom>
          <a:ln w="31750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215E4B7-B3EE-F0E1-2693-00E2BF7B9503}"/>
              </a:ext>
            </a:extLst>
          </p:cNvPr>
          <p:cNvSpPr/>
          <p:nvPr/>
        </p:nvSpPr>
        <p:spPr>
          <a:xfrm>
            <a:off x="10464799" y="5962802"/>
            <a:ext cx="5080001" cy="2977914"/>
          </a:xfrm>
          <a:prstGeom prst="roundRect">
            <a:avLst>
              <a:gd name="adj" fmla="val 3237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F268C7D-DA34-CE23-660C-2BBA439CBBE1}"/>
              </a:ext>
            </a:extLst>
          </p:cNvPr>
          <p:cNvSpPr/>
          <p:nvPr/>
        </p:nvSpPr>
        <p:spPr>
          <a:xfrm>
            <a:off x="11852949" y="5738020"/>
            <a:ext cx="2303700" cy="473594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电流环参数计算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832398A-95D6-225E-2D67-8ADE12DFB614}"/>
                  </a:ext>
                </a:extLst>
              </p:cNvPr>
              <p:cNvSpPr txBox="1"/>
              <p:nvPr/>
            </p:nvSpPr>
            <p:spPr>
              <a:xfrm>
                <a:off x="519477" y="6127031"/>
                <a:ext cx="8908302" cy="2842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1800" dirty="0" err="1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以输出轴为建模对象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</m:acc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使用电角速度误差：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𝑝𝑁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将闭环配置成阻尼比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𝜁</m:t>
                    </m:r>
                  </m:oMath>
                </a14:m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、自然频率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𝜋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bw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，速度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PI</a:t>
                </a: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为：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𝜔</m:t>
                          </m:r>
                        </m:sub>
                      </m:sSub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𝑝𝑁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，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𝜔</m:t>
                          </m:r>
                        </m:sub>
                      </m:sSub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sub>
                            <m:sup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𝑝𝑁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≈</m:t>
                    </m:r>
                    <m:f>
                      <m:f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zh-CN" sz="18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，可先设为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en-US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，也可根据公式让电机空载运行测出</a:t>
                </a:r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832398A-95D6-225E-2D67-8ADE12DFB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77" y="6127031"/>
                <a:ext cx="8908302" cy="2842060"/>
              </a:xfrm>
              <a:prstGeom prst="rect">
                <a:avLst/>
              </a:prstGeom>
              <a:blipFill>
                <a:blip r:embed="rId5"/>
                <a:stretch>
                  <a:fillRect l="-547" t="-10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650C85C-FCC8-FBDC-9A4E-E2569F3C2230}"/>
              </a:ext>
            </a:extLst>
          </p:cNvPr>
          <p:cNvSpPr/>
          <p:nvPr/>
        </p:nvSpPr>
        <p:spPr>
          <a:xfrm>
            <a:off x="367243" y="5974817"/>
            <a:ext cx="9060536" cy="2977915"/>
          </a:xfrm>
          <a:prstGeom prst="roundRect">
            <a:avLst>
              <a:gd name="adj" fmla="val 3237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88BE0CF-409B-0D57-CA0E-E068CB9E7076}"/>
              </a:ext>
            </a:extLst>
          </p:cNvPr>
          <p:cNvSpPr/>
          <p:nvPr/>
        </p:nvSpPr>
        <p:spPr>
          <a:xfrm>
            <a:off x="3745661" y="5708737"/>
            <a:ext cx="2303700" cy="473594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速度环参数计算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FFE15D4F-D58D-8AA1-037C-F663E9491132}"/>
              </a:ext>
            </a:extLst>
          </p:cNvPr>
          <p:cNvCxnSpPr>
            <a:cxnSpLocks/>
          </p:cNvCxnSpPr>
          <p:nvPr/>
        </p:nvCxnSpPr>
        <p:spPr>
          <a:xfrm flipH="1">
            <a:off x="3422869" y="2932386"/>
            <a:ext cx="1375193" cy="3042431"/>
          </a:xfrm>
          <a:prstGeom prst="straightConnector1">
            <a:avLst/>
          </a:prstGeom>
          <a:ln w="31750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72F1B91-8504-2F36-D90F-71E69B40F982}"/>
              </a:ext>
            </a:extLst>
          </p:cNvPr>
          <p:cNvSpPr/>
          <p:nvPr/>
        </p:nvSpPr>
        <p:spPr>
          <a:xfrm>
            <a:off x="9085263" y="1655249"/>
            <a:ext cx="1824475" cy="1613467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AA639FB-8478-0DFD-9023-1B6245D460CC}"/>
              </a:ext>
            </a:extLst>
          </p:cNvPr>
          <p:cNvSpPr txBox="1"/>
          <p:nvPr/>
        </p:nvSpPr>
        <p:spPr>
          <a:xfrm>
            <a:off x="9078310" y="1147575"/>
            <a:ext cx="1831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电流环被控对象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E76111F-98DA-EFC6-58F9-76A53E0AA676}"/>
              </a:ext>
            </a:extLst>
          </p:cNvPr>
          <p:cNvSpPr/>
          <p:nvPr/>
        </p:nvSpPr>
        <p:spPr>
          <a:xfrm>
            <a:off x="5530064" y="1075711"/>
            <a:ext cx="8785026" cy="3135282"/>
          </a:xfrm>
          <a:prstGeom prst="roundRect">
            <a:avLst/>
          </a:prstGeom>
          <a:noFill/>
          <a:ln w="28575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5578E18-7D71-275B-595D-93EB17FE8A30}"/>
              </a:ext>
            </a:extLst>
          </p:cNvPr>
          <p:cNvSpPr txBox="1"/>
          <p:nvPr/>
        </p:nvSpPr>
        <p:spPr>
          <a:xfrm>
            <a:off x="14264235" y="1319305"/>
            <a:ext cx="1831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速度环被控对象</a:t>
            </a:r>
          </a:p>
        </p:txBody>
      </p:sp>
    </p:spTree>
    <p:extLst>
      <p:ext uri="{BB962C8B-B14F-4D97-AF65-F5344CB8AC3E}">
        <p14:creationId xmlns:p14="http://schemas.microsoft.com/office/powerpoint/2010/main" val="177214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6FEC0-AEC3-834F-7C3B-CE69F48E6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E0FFF82-F1D8-5A36-23F9-501DE5DD6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05" y="1038817"/>
            <a:ext cx="15789389" cy="5311140"/>
          </a:xfrm>
          <a:prstGeom prst="rect">
            <a:avLst/>
          </a:prstGeom>
        </p:spPr>
      </p:pic>
      <p:sp>
        <p:nvSpPr>
          <p:cNvPr id="3" name="标题 4">
            <a:extLst>
              <a:ext uri="{FF2B5EF4-FFF2-40B4-BE49-F238E27FC236}">
                <a16:creationId xmlns:a16="http://schemas.microsoft.com/office/drawing/2014/main" id="{6B2E820D-81EE-AD4D-6468-E5B31BF506CB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FOC</a:t>
            </a:r>
            <a:r>
              <a:rPr lang="zh-CN" altLang="en-US" dirty="0">
                <a:solidFill>
                  <a:schemeClr val="bg1"/>
                </a:solidFill>
              </a:rPr>
              <a:t>三环控制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位置环参数计算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59E76AB-7746-08A7-4B50-4E14E0341145}"/>
              </a:ext>
            </a:extLst>
          </p:cNvPr>
          <p:cNvSpPr/>
          <p:nvPr/>
        </p:nvSpPr>
        <p:spPr>
          <a:xfrm>
            <a:off x="367243" y="5974817"/>
            <a:ext cx="15450826" cy="2977915"/>
          </a:xfrm>
          <a:prstGeom prst="roundRect">
            <a:avLst>
              <a:gd name="adj" fmla="val 3237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227F056-BD7A-E025-52E4-04B066CDF5FE}"/>
              </a:ext>
            </a:extLst>
          </p:cNvPr>
          <p:cNvSpPr/>
          <p:nvPr/>
        </p:nvSpPr>
        <p:spPr>
          <a:xfrm>
            <a:off x="7225543" y="5738020"/>
            <a:ext cx="2303700" cy="473594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位置环参数计算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C534D85-3167-30D6-D540-C8F28A2E0AA7}"/>
                  </a:ext>
                </a:extLst>
              </p:cNvPr>
              <p:cNvSpPr txBox="1"/>
              <p:nvPr/>
            </p:nvSpPr>
            <p:spPr>
              <a:xfrm>
                <a:off x="696748" y="6448411"/>
                <a:ext cx="7395908" cy="20467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1800" dirty="0" err="1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因为速度环的响应速度明显快于位置环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为了便于计算，位置被控对象近似为：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1800" dirty="0" err="1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位置误差为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ref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1800" dirty="0" err="1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位置环输出速度参考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ref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∫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 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𝑑𝑡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𝜔</m:t>
                    </m:r>
                  </m:oMath>
                </a14:m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C534D85-3167-30D6-D540-C8F28A2E0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48" y="6448411"/>
                <a:ext cx="7395908" cy="2046714"/>
              </a:xfrm>
              <a:prstGeom prst="rect">
                <a:avLst/>
              </a:prstGeom>
              <a:blipFill>
                <a:blip r:embed="rId4"/>
                <a:stretch>
                  <a:fillRect l="-659" t="-1786" b="-26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4FEE6AF-D97E-96B2-5B0D-C8D21806CC1D}"/>
                  </a:ext>
                </a:extLst>
              </p:cNvPr>
              <p:cNvSpPr txBox="1"/>
              <p:nvPr/>
            </p:nvSpPr>
            <p:spPr>
              <a:xfrm>
                <a:off x="8112531" y="6515854"/>
                <a:ext cx="7395908" cy="18958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初始采用纯比例控制，则位置闭环为：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𝜃</m:t>
                          </m:r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ref</m:t>
                              </m:r>
                            </m:sub>
                          </m:sSub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设位置环带宽为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bw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，则：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𝜋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bw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。位置对象本身包含积分环节不再需要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控制器。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4FEE6AF-D97E-96B2-5B0D-C8D21806C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531" y="6515854"/>
                <a:ext cx="7395908" cy="1895840"/>
              </a:xfrm>
              <a:prstGeom prst="rect">
                <a:avLst/>
              </a:prstGeom>
              <a:blipFill>
                <a:blip r:embed="rId5"/>
                <a:stretch>
                  <a:fillRect l="-742" t="-1929" b="-41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371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635F5-8FEC-CFFF-AE7C-46FF92C55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60515F7-B585-4FAF-4335-067AB56CD6A3}"/>
              </a:ext>
            </a:extLst>
          </p:cNvPr>
          <p:cNvSpPr txBox="1"/>
          <p:nvPr/>
        </p:nvSpPr>
        <p:spPr>
          <a:xfrm>
            <a:off x="4268910" y="7588468"/>
            <a:ext cx="70455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录屏，左侧放置</a:t>
            </a:r>
            <a:r>
              <a:rPr lang="en-US" altLang="zh-CN" dirty="0"/>
              <a:t>PCB</a:t>
            </a:r>
            <a:r>
              <a:rPr lang="zh-CN" altLang="en-US" dirty="0"/>
              <a:t>对应区域示意图，右侧录屏，万用表戳对应位置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直接口播说一下例如</a:t>
            </a:r>
            <a:endParaRPr lang="en-US" altLang="zh-CN" dirty="0"/>
          </a:p>
          <a:p>
            <a:r>
              <a:rPr lang="zh-CN" altLang="en-US" dirty="0"/>
              <a:t>什么</a:t>
            </a:r>
            <a:r>
              <a:rPr lang="en-US" altLang="zh-CN" dirty="0"/>
              <a:t>….</a:t>
            </a:r>
            <a:r>
              <a:rPr lang="zh-CN" altLang="en-US" dirty="0"/>
              <a:t>芯片输出多少电压，输出正常</a:t>
            </a:r>
            <a:r>
              <a:rPr lang="en-US" altLang="zh-CN" dirty="0"/>
              <a:t>…….</a:t>
            </a:r>
            <a:endParaRPr lang="zh-CN" altLang="en-US" dirty="0"/>
          </a:p>
        </p:txBody>
      </p:sp>
      <p:sp>
        <p:nvSpPr>
          <p:cNvPr id="2" name="标题 4">
            <a:extLst>
              <a:ext uri="{FF2B5EF4-FFF2-40B4-BE49-F238E27FC236}">
                <a16:creationId xmlns:a16="http://schemas.microsoft.com/office/drawing/2014/main" id="{2FDF9AD8-72FE-A3B4-A816-E5FF8FCC61BB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板级测试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辅助电源    </a:t>
            </a:r>
            <a:r>
              <a:rPr lang="zh-CN" altLang="en-US" dirty="0">
                <a:solidFill>
                  <a:srgbClr val="FF0000"/>
                </a:solidFill>
              </a:rPr>
              <a:t>下半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C110536-4429-B317-DB1A-ADEA3B943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63" y="2469977"/>
            <a:ext cx="4035370" cy="401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605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6242F-C344-640B-4BA5-07AAC22D8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7BAD789-6CAF-CC6D-6B18-32024556FCBD}"/>
              </a:ext>
            </a:extLst>
          </p:cNvPr>
          <p:cNvSpPr txBox="1"/>
          <p:nvPr/>
        </p:nvSpPr>
        <p:spPr>
          <a:xfrm>
            <a:off x="5540662" y="7483364"/>
            <a:ext cx="95686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录屏，左侧放置</a:t>
            </a:r>
            <a:r>
              <a:rPr lang="en-US" altLang="zh-CN" dirty="0"/>
              <a:t>PCB</a:t>
            </a:r>
            <a:r>
              <a:rPr lang="zh-CN" altLang="en-US" dirty="0"/>
              <a:t>对应区域示意图，右侧录屏，万用表戳对应位置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测量</a:t>
            </a:r>
            <a:r>
              <a:rPr lang="en-US" altLang="zh-CN" dirty="0"/>
              <a:t>MCU</a:t>
            </a:r>
            <a:r>
              <a:rPr lang="zh-CN" altLang="en-US" dirty="0"/>
              <a:t>的</a:t>
            </a:r>
            <a:r>
              <a:rPr lang="en-US" altLang="zh-CN" dirty="0"/>
              <a:t>PWM</a:t>
            </a:r>
            <a:r>
              <a:rPr lang="zh-CN" altLang="en-US" dirty="0"/>
              <a:t>波形输出，再测量</a:t>
            </a:r>
            <a:r>
              <a:rPr lang="en-US" altLang="zh-CN" dirty="0"/>
              <a:t>MP6539</a:t>
            </a:r>
            <a:r>
              <a:rPr lang="zh-CN" altLang="en-US" dirty="0"/>
              <a:t>的输出以及，实际</a:t>
            </a:r>
            <a:r>
              <a:rPr lang="en-US" altLang="zh-CN" dirty="0"/>
              <a:t>MOSFET</a:t>
            </a:r>
            <a:r>
              <a:rPr lang="zh-CN" altLang="en-US" dirty="0"/>
              <a:t>上的电压值，检查正常</a:t>
            </a:r>
          </a:p>
        </p:txBody>
      </p:sp>
      <p:sp>
        <p:nvSpPr>
          <p:cNvPr id="2" name="标题 4">
            <a:extLst>
              <a:ext uri="{FF2B5EF4-FFF2-40B4-BE49-F238E27FC236}">
                <a16:creationId xmlns:a16="http://schemas.microsoft.com/office/drawing/2014/main" id="{6085DC2E-D3BB-B350-664F-DBFCF7A785AF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板级测试</a:t>
            </a:r>
            <a:r>
              <a:rPr lang="en-US" altLang="zh-CN" dirty="0">
                <a:solidFill>
                  <a:schemeClr val="bg1"/>
                </a:solidFill>
              </a:rPr>
              <a:t>-MP6539B</a:t>
            </a:r>
            <a:r>
              <a:rPr lang="zh-CN" altLang="en-US" dirty="0">
                <a:solidFill>
                  <a:schemeClr val="bg1"/>
                </a:solidFill>
              </a:rPr>
              <a:t>驱动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2050" name="Picture 2" descr="DSA91304A Infiniium 高性能13GHz示波器-KEYSIGHT DSA91304A租赁-数字示波器-东方中科">
            <a:extLst>
              <a:ext uri="{FF2B5EF4-FFF2-40B4-BE49-F238E27FC236}">
                <a16:creationId xmlns:a16="http://schemas.microsoft.com/office/drawing/2014/main" id="{3E60D78B-077D-4BFF-9F97-252E30880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904" y="2798380"/>
            <a:ext cx="5742152" cy="4306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1981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5743891-A4EB-5097-5400-2B71F7BAF03E}"/>
              </a:ext>
            </a:extLst>
          </p:cNvPr>
          <p:cNvSpPr/>
          <p:nvPr/>
        </p:nvSpPr>
        <p:spPr>
          <a:xfrm>
            <a:off x="914400" y="1388534"/>
            <a:ext cx="7281333" cy="6366933"/>
          </a:xfrm>
          <a:prstGeom prst="rect">
            <a:avLst/>
          </a:prstGeom>
          <a:solidFill>
            <a:srgbClr val="FFFFFF"/>
          </a:solidFill>
          <a:ln w="10160">
            <a:solidFill>
              <a:srgbClr val="B6CD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8C388E-13CC-6B07-F9E8-8BC47BC1EEA6}"/>
              </a:ext>
            </a:extLst>
          </p:cNvPr>
          <p:cNvSpPr/>
          <p:nvPr/>
        </p:nvSpPr>
        <p:spPr>
          <a:xfrm>
            <a:off x="914400" y="1388533"/>
            <a:ext cx="7281333" cy="508000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5D42BF2-8F00-3E1C-408F-FFB6756ABFDE}"/>
              </a:ext>
            </a:extLst>
          </p:cNvPr>
          <p:cNvSpPr txBox="1"/>
          <p:nvPr/>
        </p:nvSpPr>
        <p:spPr>
          <a:xfrm>
            <a:off x="1049867" y="1422400"/>
            <a:ext cx="7010400" cy="45147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zh-CN" altLang="en-US" sz="2267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测试拓扑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E6A6AAD-59F0-566E-DC64-F90990C12231}"/>
              </a:ext>
            </a:extLst>
          </p:cNvPr>
          <p:cNvGrpSpPr/>
          <p:nvPr/>
        </p:nvGrpSpPr>
        <p:grpSpPr>
          <a:xfrm>
            <a:off x="8602133" y="1388533"/>
            <a:ext cx="6739467" cy="6366934"/>
            <a:chOff x="8602133" y="1388533"/>
            <a:chExt cx="6739467" cy="6366934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A8CE35FB-1B17-D9A0-0802-0DE2240FF15D}"/>
                </a:ext>
              </a:extLst>
            </p:cNvPr>
            <p:cNvSpPr/>
            <p:nvPr/>
          </p:nvSpPr>
          <p:spPr>
            <a:xfrm>
              <a:off x="8602133" y="1388534"/>
              <a:ext cx="6739467" cy="6366933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B6CD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A28530C6-89B9-495E-1152-DC2556D6A5A4}"/>
                </a:ext>
              </a:extLst>
            </p:cNvPr>
            <p:cNvSpPr/>
            <p:nvPr/>
          </p:nvSpPr>
          <p:spPr>
            <a:xfrm>
              <a:off x="8602133" y="1388533"/>
              <a:ext cx="6739467" cy="508000"/>
            </a:xfrm>
            <a:prstGeom prst="rect">
              <a:avLst/>
            </a:prstGeom>
            <a:solidFill>
              <a:srgbClr val="0070C0"/>
            </a:solidFill>
            <a:ln w="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BE3BBDD-5AC6-CDE9-7774-F68996035CC7}"/>
                </a:ext>
              </a:extLst>
            </p:cNvPr>
            <p:cNvSpPr txBox="1"/>
            <p:nvPr/>
          </p:nvSpPr>
          <p:spPr>
            <a:xfrm>
              <a:off x="8737600" y="1422400"/>
              <a:ext cx="6468533" cy="451470"/>
            </a:xfrm>
            <a:prstGeom prst="rect">
              <a:avLst/>
            </a:prstGeom>
            <a:noFill/>
          </p:spPr>
          <p:txBody>
            <a:bodyPr vert="horz" wrap="square" lIns="101600" tIns="50800" rIns="101600" bIns="50800" rtlCol="0">
              <a:spAutoFit/>
            </a:bodyPr>
            <a:lstStyle/>
            <a:p>
              <a:pPr algn="ctr"/>
              <a:r>
                <a:rPr lang="zh-CN" altLang="en-US" sz="2267" b="1" dirty="0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测试方法</a:t>
              </a:r>
            </a:p>
          </p:txBody>
        </p:sp>
      </p:grp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D207B58-5AF1-B257-D47D-228EB975420B}"/>
              </a:ext>
            </a:extLst>
          </p:cNvPr>
          <p:cNvSpPr/>
          <p:nvPr/>
        </p:nvSpPr>
        <p:spPr>
          <a:xfrm>
            <a:off x="8957733" y="2099733"/>
            <a:ext cx="541867" cy="541867"/>
          </a:xfrm>
          <a:prstGeom prst="roundRect">
            <a:avLst/>
          </a:prstGeom>
          <a:solidFill>
            <a:srgbClr val="ECF7FC"/>
          </a:solidFill>
          <a:ln w="0">
            <a:solidFill>
              <a:srgbClr val="ECF7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EB473E6-2BE4-E054-914D-BD65A480380E}"/>
              </a:ext>
            </a:extLst>
          </p:cNvPr>
          <p:cNvSpPr txBox="1"/>
          <p:nvPr/>
        </p:nvSpPr>
        <p:spPr>
          <a:xfrm>
            <a:off x="9059333" y="2150533"/>
            <a:ext cx="338667" cy="3692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en-US" altLang="zh-CN" sz="1733" b="1">
                <a:solidFill>
                  <a:srgbClr val="005A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733" b="1">
              <a:solidFill>
                <a:srgbClr val="005A9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117C517-9546-F4F1-21D3-7815C4AC28AF}"/>
              </a:ext>
            </a:extLst>
          </p:cNvPr>
          <p:cNvSpPr txBox="1"/>
          <p:nvPr/>
        </p:nvSpPr>
        <p:spPr>
          <a:xfrm>
            <a:off x="9652000" y="2048934"/>
            <a:ext cx="5249333" cy="38991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将功率级从控制系统拆出来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排除板级其他影响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A25F010-FC26-ADA4-61A5-E6B1841A7444}"/>
              </a:ext>
            </a:extLst>
          </p:cNvPr>
          <p:cNvSpPr/>
          <p:nvPr/>
        </p:nvSpPr>
        <p:spPr>
          <a:xfrm>
            <a:off x="8957733" y="2912533"/>
            <a:ext cx="541867" cy="541867"/>
          </a:xfrm>
          <a:prstGeom prst="roundRect">
            <a:avLst/>
          </a:prstGeom>
          <a:solidFill>
            <a:srgbClr val="ECF7FC"/>
          </a:solidFill>
          <a:ln w="0">
            <a:solidFill>
              <a:srgbClr val="ECF7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7033B0-53E7-0E54-7CF7-FFCB38BF495F}"/>
              </a:ext>
            </a:extLst>
          </p:cNvPr>
          <p:cNvSpPr txBox="1"/>
          <p:nvPr/>
        </p:nvSpPr>
        <p:spPr>
          <a:xfrm>
            <a:off x="9059333" y="2963333"/>
            <a:ext cx="338667" cy="3692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en-US" altLang="zh-CN" sz="1733" b="1">
                <a:solidFill>
                  <a:srgbClr val="005A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733" b="1">
              <a:solidFill>
                <a:srgbClr val="005A9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A8EDBEF-B932-F7A7-76C8-07AD31591A28}"/>
              </a:ext>
            </a:extLst>
          </p:cNvPr>
          <p:cNvSpPr txBox="1"/>
          <p:nvPr/>
        </p:nvSpPr>
        <p:spPr>
          <a:xfrm>
            <a:off x="9652000" y="2861734"/>
            <a:ext cx="5249333" cy="38991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连接测试电路如图所示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A2034C2-E686-96AA-AD00-3CF9FFD6D364}"/>
              </a:ext>
            </a:extLst>
          </p:cNvPr>
          <p:cNvSpPr/>
          <p:nvPr/>
        </p:nvSpPr>
        <p:spPr>
          <a:xfrm>
            <a:off x="8957733" y="3725333"/>
            <a:ext cx="541867" cy="541867"/>
          </a:xfrm>
          <a:prstGeom prst="roundRect">
            <a:avLst/>
          </a:prstGeom>
          <a:solidFill>
            <a:srgbClr val="ECF7FC"/>
          </a:solidFill>
          <a:ln w="0">
            <a:solidFill>
              <a:srgbClr val="ECF7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A098DBF-927B-DEED-1CB0-12C5368A1E66}"/>
              </a:ext>
            </a:extLst>
          </p:cNvPr>
          <p:cNvSpPr txBox="1"/>
          <p:nvPr/>
        </p:nvSpPr>
        <p:spPr>
          <a:xfrm>
            <a:off x="9059333" y="3776133"/>
            <a:ext cx="338667" cy="3692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en-US" altLang="zh-CN" sz="1733" b="1">
                <a:solidFill>
                  <a:srgbClr val="005A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733" b="1">
              <a:solidFill>
                <a:srgbClr val="005A9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B67FEDE-E1E0-1886-10CB-C7BED4C5569A}"/>
              </a:ext>
            </a:extLst>
          </p:cNvPr>
          <p:cNvSpPr txBox="1"/>
          <p:nvPr/>
        </p:nvSpPr>
        <p:spPr>
          <a:xfrm>
            <a:off x="9652000" y="3674534"/>
            <a:ext cx="5249333" cy="67723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发送双脉冲信号，示波器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Trigger</a:t>
            </a:r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MCU</a:t>
            </a:r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PWM</a:t>
            </a:r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波为触发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E7645448-67BC-F943-9493-D76DBAEF53D6}"/>
              </a:ext>
            </a:extLst>
          </p:cNvPr>
          <p:cNvSpPr/>
          <p:nvPr/>
        </p:nvSpPr>
        <p:spPr>
          <a:xfrm>
            <a:off x="8957733" y="4538133"/>
            <a:ext cx="541867" cy="541867"/>
          </a:xfrm>
          <a:prstGeom prst="roundRect">
            <a:avLst/>
          </a:prstGeom>
          <a:solidFill>
            <a:srgbClr val="ECF7FC"/>
          </a:solidFill>
          <a:ln w="0">
            <a:solidFill>
              <a:srgbClr val="ECF7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C26569F-FAEC-F695-F485-911BE7AC482A}"/>
              </a:ext>
            </a:extLst>
          </p:cNvPr>
          <p:cNvSpPr txBox="1"/>
          <p:nvPr/>
        </p:nvSpPr>
        <p:spPr>
          <a:xfrm>
            <a:off x="9059333" y="4588933"/>
            <a:ext cx="338667" cy="3692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en-US" altLang="zh-CN" sz="1733" b="1">
                <a:solidFill>
                  <a:srgbClr val="005A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1733" b="1">
              <a:solidFill>
                <a:srgbClr val="005A9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4385F1A-3A45-9D7D-6DBA-08610E6E5EC3}"/>
              </a:ext>
            </a:extLst>
          </p:cNvPr>
          <p:cNvSpPr txBox="1"/>
          <p:nvPr/>
        </p:nvSpPr>
        <p:spPr>
          <a:xfrm>
            <a:off x="9652000" y="4487334"/>
            <a:ext cx="5249333" cy="38991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同步记录 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VGS</a:t>
            </a:r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VDS</a:t>
            </a:r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ID </a:t>
            </a:r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与母线电压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567651C7-ACB6-58E6-EDA3-3E8A98B79820}"/>
              </a:ext>
            </a:extLst>
          </p:cNvPr>
          <p:cNvSpPr/>
          <p:nvPr/>
        </p:nvSpPr>
        <p:spPr>
          <a:xfrm>
            <a:off x="8957733" y="5350933"/>
            <a:ext cx="541867" cy="541867"/>
          </a:xfrm>
          <a:prstGeom prst="roundRect">
            <a:avLst/>
          </a:prstGeom>
          <a:solidFill>
            <a:srgbClr val="ECF7FC"/>
          </a:solidFill>
          <a:ln w="0">
            <a:solidFill>
              <a:srgbClr val="ECF7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18E7F5B-86D8-B43D-76E2-E526B31B7BC8}"/>
              </a:ext>
            </a:extLst>
          </p:cNvPr>
          <p:cNvSpPr txBox="1"/>
          <p:nvPr/>
        </p:nvSpPr>
        <p:spPr>
          <a:xfrm>
            <a:off x="9059333" y="5401733"/>
            <a:ext cx="338667" cy="3692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en-US" altLang="zh-CN" sz="1733" b="1">
                <a:solidFill>
                  <a:srgbClr val="005A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sz="1733" b="1">
              <a:solidFill>
                <a:srgbClr val="005A9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4105376-E3CC-8897-9973-0467EA2AE6CE}"/>
              </a:ext>
            </a:extLst>
          </p:cNvPr>
          <p:cNvSpPr txBox="1"/>
          <p:nvPr/>
        </p:nvSpPr>
        <p:spPr>
          <a:xfrm>
            <a:off x="9652000" y="5300134"/>
            <a:ext cx="5249333" cy="38991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评估过冲、振铃、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di/dt</a:t>
            </a:r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dv/dt </a:t>
            </a:r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与损耗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597F5161-EF4F-873F-9B40-FE2953141E83}"/>
              </a:ext>
            </a:extLst>
          </p:cNvPr>
          <p:cNvSpPr/>
          <p:nvPr/>
        </p:nvSpPr>
        <p:spPr>
          <a:xfrm>
            <a:off x="8957733" y="6163733"/>
            <a:ext cx="541867" cy="541867"/>
          </a:xfrm>
          <a:prstGeom prst="roundRect">
            <a:avLst/>
          </a:prstGeom>
          <a:solidFill>
            <a:srgbClr val="ECF7FC"/>
          </a:solidFill>
          <a:ln w="0">
            <a:solidFill>
              <a:srgbClr val="ECF7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3AE7878-8823-388E-55AE-04B0E8C39911}"/>
              </a:ext>
            </a:extLst>
          </p:cNvPr>
          <p:cNvSpPr txBox="1"/>
          <p:nvPr/>
        </p:nvSpPr>
        <p:spPr>
          <a:xfrm>
            <a:off x="9059333" y="6214533"/>
            <a:ext cx="338667" cy="3692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en-US" altLang="zh-CN" sz="1733" b="1">
                <a:solidFill>
                  <a:srgbClr val="005A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endParaRPr lang="zh-CN" altLang="en-US" sz="1733" b="1">
              <a:solidFill>
                <a:srgbClr val="005A9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EDF5E50-59A9-D96B-7162-9A4362C2FF19}"/>
              </a:ext>
            </a:extLst>
          </p:cNvPr>
          <p:cNvSpPr txBox="1"/>
          <p:nvPr/>
        </p:nvSpPr>
        <p:spPr>
          <a:xfrm>
            <a:off x="9652000" y="6112934"/>
            <a:ext cx="5249333" cy="38991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调整栅极电阻、吸收网络和布局回路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7F032DE-D90C-795D-8431-C830EC3427C3}"/>
              </a:ext>
            </a:extLst>
          </p:cNvPr>
          <p:cNvSpPr txBox="1"/>
          <p:nvPr/>
        </p:nvSpPr>
        <p:spPr>
          <a:xfrm>
            <a:off x="1241971" y="5892800"/>
            <a:ext cx="3536779" cy="157992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marL="228594" indent="-228594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如图所示</a:t>
            </a:r>
            <a:r>
              <a:rPr lang="en-US" altLang="zh-CN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S1</a:t>
            </a:r>
            <a:r>
              <a:rPr lang="zh-CN" altLang="en-US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为双脉冲信号，</a:t>
            </a:r>
            <a:endParaRPr lang="en-US" altLang="zh-CN" sz="1600" b="1" dirty="0">
              <a:solidFill>
                <a:srgbClr val="F28E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28594" indent="-228594">
              <a:buFont typeface="Wingdings" panose="05000000000000000000" pitchFamily="2" charset="2"/>
              <a:buChar char="l"/>
            </a:pPr>
            <a:r>
              <a:rPr lang="en-US" altLang="zh-CN" sz="1600" b="1" dirty="0" err="1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Lload</a:t>
            </a:r>
            <a:r>
              <a:rPr lang="zh-CN" altLang="en-US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外接电感，</a:t>
            </a:r>
            <a:endParaRPr lang="en-US" altLang="zh-CN" sz="1600" b="1" dirty="0">
              <a:solidFill>
                <a:srgbClr val="F28E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28594" indent="-228594"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D1</a:t>
            </a:r>
            <a:r>
              <a:rPr lang="zh-CN" altLang="en-US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为功率级上管</a:t>
            </a:r>
            <a:r>
              <a:rPr lang="en-US" altLang="zh-CN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MOSFET</a:t>
            </a:r>
            <a:r>
              <a:rPr lang="zh-CN" altLang="en-US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，这里仅作为二极管使用，</a:t>
            </a:r>
            <a:endParaRPr lang="en-US" altLang="zh-CN" sz="1600" b="1" dirty="0">
              <a:solidFill>
                <a:srgbClr val="F28E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28594" indent="-228594"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L1</a:t>
            </a:r>
            <a:r>
              <a:rPr lang="zh-CN" altLang="en-US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L2</a:t>
            </a:r>
            <a:r>
              <a:rPr lang="zh-CN" altLang="en-US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等效导线，</a:t>
            </a:r>
            <a:endParaRPr lang="en-US" altLang="zh-CN" sz="1600" b="1" dirty="0">
              <a:solidFill>
                <a:srgbClr val="F28E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28594" indent="-228594"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Vdc</a:t>
            </a:r>
            <a:r>
              <a:rPr lang="zh-CN" altLang="en-US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为母线电压。</a:t>
            </a: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164423DF-3827-78E2-4FAD-D545AF37C0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68"/>
          <a:stretch/>
        </p:blipFill>
        <p:spPr>
          <a:xfrm rot="5400000">
            <a:off x="5229626" y="1949727"/>
            <a:ext cx="2707333" cy="2953948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08FC789D-D251-D4C8-0AFC-F941FF8052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60"/>
          <a:stretch/>
        </p:blipFill>
        <p:spPr>
          <a:xfrm rot="5400000">
            <a:off x="5236349" y="4766969"/>
            <a:ext cx="2693889" cy="2953947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9AAF4783-449C-54B9-CDCA-21141F453D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9517" y="2535996"/>
            <a:ext cx="3772432" cy="3154753"/>
          </a:xfrm>
          <a:prstGeom prst="rect">
            <a:avLst/>
          </a:prstGeom>
        </p:spPr>
      </p:pic>
      <p:sp>
        <p:nvSpPr>
          <p:cNvPr id="8" name="标题 4">
            <a:extLst>
              <a:ext uri="{FF2B5EF4-FFF2-40B4-BE49-F238E27FC236}">
                <a16:creationId xmlns:a16="http://schemas.microsoft.com/office/drawing/2014/main" id="{0E923718-246B-EB9E-DE50-C6FB4D9E96B6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板级测试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双脉冲测试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61968DA-A580-CE15-A36F-3EBE2983B22F}"/>
              </a:ext>
            </a:extLst>
          </p:cNvPr>
          <p:cNvSpPr txBox="1"/>
          <p:nvPr/>
        </p:nvSpPr>
        <p:spPr>
          <a:xfrm>
            <a:off x="914400" y="7779923"/>
            <a:ext cx="10080249" cy="122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第一个脉冲将电感电流提升到目标值，并在关断瞬间测量关断特性。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间隔期间，电感电流通过上管体二极管续流。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第二个脉冲让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MOSFET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在目标电流下重新开通，用于观察开通过冲和二极管反向恢复。</a:t>
            </a:r>
          </a:p>
        </p:txBody>
      </p:sp>
    </p:spTree>
    <p:extLst>
      <p:ext uri="{BB962C8B-B14F-4D97-AF65-F5344CB8AC3E}">
        <p14:creationId xmlns:p14="http://schemas.microsoft.com/office/powerpoint/2010/main" val="1582438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E51E1-4E72-DC2F-E6B5-560EA101D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>
            <a:extLst>
              <a:ext uri="{FF2B5EF4-FFF2-40B4-BE49-F238E27FC236}">
                <a16:creationId xmlns:a16="http://schemas.microsoft.com/office/drawing/2014/main" id="{A300EF8F-D7BE-6C2F-F63C-517B93F3EEFC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板级测试</a:t>
            </a:r>
            <a:r>
              <a:rPr lang="en-US" altLang="zh-CN" dirty="0">
                <a:solidFill>
                  <a:schemeClr val="bg1"/>
                </a:solidFill>
              </a:rPr>
              <a:t>- ADC</a:t>
            </a:r>
            <a:r>
              <a:rPr lang="zh-CN" altLang="en-US" dirty="0">
                <a:solidFill>
                  <a:schemeClr val="bg1"/>
                </a:solidFill>
              </a:rPr>
              <a:t>三相电流、母线电压采样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2050" name="Picture 2" descr="DSA91304A Infiniium 高性能13GHz示波器-KEYSIGHT DSA91304A租赁-数字示波器-东方中科">
            <a:extLst>
              <a:ext uri="{FF2B5EF4-FFF2-40B4-BE49-F238E27FC236}">
                <a16:creationId xmlns:a16="http://schemas.microsoft.com/office/drawing/2014/main" id="{6C397C38-89E1-61DA-A568-B35F0ED62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904" y="2798380"/>
            <a:ext cx="5742152" cy="4306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448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D8CEA-FA94-66F6-9510-49AAFF21E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618CD42-B594-FD6A-D374-A575422B7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07" y="1174213"/>
            <a:ext cx="11574780" cy="7520940"/>
          </a:xfrm>
          <a:prstGeom prst="rect">
            <a:avLst/>
          </a:prstGeom>
        </p:spPr>
      </p:pic>
      <p:sp>
        <p:nvSpPr>
          <p:cNvPr id="4" name="标题 4">
            <a:extLst>
              <a:ext uri="{FF2B5EF4-FFF2-40B4-BE49-F238E27FC236}">
                <a16:creationId xmlns:a16="http://schemas.microsoft.com/office/drawing/2014/main" id="{B2373F12-1026-D205-E0E9-E34107D04F8A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2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FOC</a:t>
            </a:r>
            <a:r>
              <a:rPr lang="zh-CN" altLang="en-US" dirty="0">
                <a:solidFill>
                  <a:schemeClr val="bg1"/>
                </a:solidFill>
              </a:rPr>
              <a:t>三环控制</a:t>
            </a:r>
            <a:r>
              <a:rPr lang="en-US" altLang="zh-CN" dirty="0">
                <a:solidFill>
                  <a:schemeClr val="bg1"/>
                </a:solidFill>
              </a:rPr>
              <a:t>-PI</a:t>
            </a:r>
            <a:r>
              <a:rPr lang="zh-CN" altLang="en-US" dirty="0">
                <a:solidFill>
                  <a:schemeClr val="bg1"/>
                </a:solidFill>
              </a:rPr>
              <a:t>参数写入</a:t>
            </a:r>
          </a:p>
          <a:p>
            <a:endParaRPr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93659C4-86DC-7EEB-2C0F-2437AE7A2AED}"/>
                  </a:ext>
                </a:extLst>
              </p:cNvPr>
              <p:cNvSpPr txBox="1"/>
              <p:nvPr/>
            </p:nvSpPr>
            <p:spPr>
              <a:xfrm>
                <a:off x="11792587" y="1529813"/>
                <a:ext cx="3942713" cy="4034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en-US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涉及参数：</a:t>
                </a:r>
                <a:endParaRPr lang="en-US" altLang="zh-CN" sz="1800" b="1" dirty="0">
                  <a:solidFill>
                    <a:srgbClr val="0070C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电流环：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速度环：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sub>
                    </m:sSub>
                  </m:oMath>
                </a14:m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位置环：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=0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以及反馈量的低通滤波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endParaRPr lang="en-US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实际系统中，为了防止关节在目标位置附近反复纠偏、抖动和发热，位置环引入死区。</a:t>
                </a:r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93659C4-86DC-7EEB-2C0F-2437AE7A2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2587" y="1529813"/>
                <a:ext cx="3942713" cy="4034566"/>
              </a:xfrm>
              <a:prstGeom prst="rect">
                <a:avLst/>
              </a:prstGeom>
              <a:blipFill>
                <a:blip r:embed="rId4"/>
                <a:stretch>
                  <a:fillRect l="-1236" t="-906" b="-1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EB8F056D-0866-E972-C191-6215F426289C}"/>
              </a:ext>
            </a:extLst>
          </p:cNvPr>
          <p:cNvSpPr txBox="1"/>
          <p:nvPr/>
        </p:nvSpPr>
        <p:spPr>
          <a:xfrm>
            <a:off x="8887460" y="8294384"/>
            <a:ext cx="5171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此页在左侧做成动画，右侧文字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609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3C500-3674-89CD-9A38-885F3D60E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7F2FB22-89FA-B057-BBD7-FC5AAE276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07" y="1562100"/>
            <a:ext cx="11683399" cy="6346734"/>
          </a:xfrm>
          <a:prstGeom prst="rect">
            <a:avLst/>
          </a:prstGeom>
        </p:spPr>
      </p:pic>
      <p:sp>
        <p:nvSpPr>
          <p:cNvPr id="4" name="标题 4">
            <a:extLst>
              <a:ext uri="{FF2B5EF4-FFF2-40B4-BE49-F238E27FC236}">
                <a16:creationId xmlns:a16="http://schemas.microsoft.com/office/drawing/2014/main" id="{3D5B7600-E6BD-85F3-F35A-44B39C4A1C79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FOC</a:t>
            </a:r>
            <a:r>
              <a:rPr lang="zh-CN" altLang="en-US" dirty="0">
                <a:solidFill>
                  <a:schemeClr val="bg1"/>
                </a:solidFill>
              </a:rPr>
              <a:t>三环控制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调参变量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1B8AD1-30A0-F111-0A9D-7AF542AC91B4}"/>
              </a:ext>
            </a:extLst>
          </p:cNvPr>
          <p:cNvSpPr txBox="1"/>
          <p:nvPr/>
        </p:nvSpPr>
        <p:spPr>
          <a:xfrm>
            <a:off x="5687060" y="8287049"/>
            <a:ext cx="6504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此页在左侧做成动画，先录，后期打上框说明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938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39997-24CF-A841-6BB9-5954FC018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399C2F07-103E-646B-CE6A-F43A8EE34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373917" y="-5254473"/>
            <a:ext cx="15789389" cy="531114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766F60E-4F2C-0BBD-673B-66B8D4DA3CC7}"/>
              </a:ext>
            </a:extLst>
          </p:cNvPr>
          <p:cNvSpPr txBox="1"/>
          <p:nvPr/>
        </p:nvSpPr>
        <p:spPr>
          <a:xfrm>
            <a:off x="-2662216" y="1603117"/>
            <a:ext cx="25886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动画效果，逐级显现，电流环，位置环，速度环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标题 4">
            <a:extLst>
              <a:ext uri="{FF2B5EF4-FFF2-40B4-BE49-F238E27FC236}">
                <a16:creationId xmlns:a16="http://schemas.microsoft.com/office/drawing/2014/main" id="{543FCC2A-6F7D-3895-3332-2CB322C6A0DF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FOC</a:t>
            </a:r>
            <a:r>
              <a:rPr lang="zh-CN" altLang="en-US" dirty="0">
                <a:solidFill>
                  <a:schemeClr val="bg1"/>
                </a:solidFill>
              </a:rPr>
              <a:t>三环控制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演示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BA8766A-F421-5B0C-EA89-EC49B7FA8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523" y="-4018941"/>
            <a:ext cx="9156425" cy="28738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4F1FC62-FD50-70CB-5343-A8298949F5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56000" y="-3869904"/>
            <a:ext cx="12302750" cy="361446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45F3347-AA28-9680-D415-5E2880C057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4572" y="1603117"/>
            <a:ext cx="14306067" cy="757049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DAA7A96-BA68-9693-B37E-8B76D2D766B0}"/>
              </a:ext>
            </a:extLst>
          </p:cNvPr>
          <p:cNvSpPr txBox="1"/>
          <p:nvPr/>
        </p:nvSpPr>
        <p:spPr>
          <a:xfrm>
            <a:off x="-2857565" y="3585458"/>
            <a:ext cx="2966422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上面交替显示控制结构；</a:t>
            </a: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下面放对应控制视频</a:t>
            </a: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VOFA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同步放</a:t>
            </a: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VOFA</a:t>
            </a: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三栏交替</a:t>
            </a: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57972C8-6A90-F8AB-44A3-71F10434FA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3572" y="1280239"/>
            <a:ext cx="9552562" cy="230521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A0ED47E-AEB3-4218-3F3B-CFE5D78354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3572" y="3585458"/>
            <a:ext cx="9552562" cy="56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634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8984E-1172-A863-DC3D-C578096A3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84B5479-3B68-BF6C-53B1-BB291AC37508}"/>
              </a:ext>
            </a:extLst>
          </p:cNvPr>
          <p:cNvSpPr txBox="1"/>
          <p:nvPr/>
        </p:nvSpPr>
        <p:spPr>
          <a:xfrm>
            <a:off x="854435" y="1151674"/>
            <a:ext cx="78376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左侧放波形图视频，右侧放电机运行视频，同步进行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录视频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F961998-8BC4-F02D-2D78-F66F7D957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35" y="2778315"/>
            <a:ext cx="5766709" cy="429279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FEB61FD-1FA3-DE82-27F8-268CCA3063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30177"/>
            <a:ext cx="16007255" cy="9604353"/>
          </a:xfrm>
          <a:prstGeom prst="rect">
            <a:avLst/>
          </a:prstGeom>
        </p:spPr>
      </p:pic>
      <p:sp>
        <p:nvSpPr>
          <p:cNvPr id="7" name="标题 4">
            <a:extLst>
              <a:ext uri="{FF2B5EF4-FFF2-40B4-BE49-F238E27FC236}">
                <a16:creationId xmlns:a16="http://schemas.microsoft.com/office/drawing/2014/main" id="{0B73E12B-3652-0482-1BD9-17EC67BBBB3A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功能测试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>
                <a:solidFill>
                  <a:schemeClr val="bg1"/>
                </a:solidFill>
              </a:rPr>
              <a:t>满载长时间测试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3623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F944B-161C-FE79-DF87-E24A43ECD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F89764E-F840-5E2E-0C53-D5C15102A0AD}"/>
              </a:ext>
            </a:extLst>
          </p:cNvPr>
          <p:cNvSpPr/>
          <p:nvPr/>
        </p:nvSpPr>
        <p:spPr>
          <a:xfrm>
            <a:off x="609600" y="355600"/>
            <a:ext cx="15036800" cy="795867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5EFCFE2-BEEE-093F-E8E3-E7E9FB77E678}"/>
              </a:ext>
            </a:extLst>
          </p:cNvPr>
          <p:cNvSpPr txBox="1"/>
          <p:nvPr/>
        </p:nvSpPr>
        <p:spPr>
          <a:xfrm>
            <a:off x="829733" y="457201"/>
            <a:ext cx="14054667" cy="6976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3867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测试验证</a:t>
            </a:r>
            <a:r>
              <a:rPr lang="en-US" altLang="zh-CN" sz="3867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3867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保护功能测试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843A014-BA14-668D-FA08-30B67137E865}"/>
              </a:ext>
            </a:extLst>
          </p:cNvPr>
          <p:cNvSpPr txBox="1"/>
          <p:nvPr/>
        </p:nvSpPr>
        <p:spPr>
          <a:xfrm>
            <a:off x="4417663" y="7345261"/>
            <a:ext cx="68788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左侧放波形图视频，右侧放电机运行视频，同步进行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让系统认为进入过流或者过压，查看系统是否能迅速进入保护状态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13AECF-9B52-2462-1A21-E51DD5FF5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28393"/>
            <a:ext cx="7558404" cy="427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603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890B6-F59D-C7E1-2C7D-D47977C70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35D80D8-D539-101A-BA3A-31712B9442D0}"/>
              </a:ext>
            </a:extLst>
          </p:cNvPr>
          <p:cNvSpPr/>
          <p:nvPr/>
        </p:nvSpPr>
        <p:spPr>
          <a:xfrm>
            <a:off x="609600" y="355600"/>
            <a:ext cx="15036800" cy="795867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1C595F-6DD0-4062-15E9-ECF6F93EA45B}"/>
              </a:ext>
            </a:extLst>
          </p:cNvPr>
          <p:cNvSpPr txBox="1"/>
          <p:nvPr/>
        </p:nvSpPr>
        <p:spPr>
          <a:xfrm>
            <a:off x="829733" y="457201"/>
            <a:ext cx="14054667" cy="6976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3867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遇到的问题，踩坑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5C6245F-0233-9B8C-B40D-611B84A60F81}"/>
              </a:ext>
            </a:extLst>
          </p:cNvPr>
          <p:cNvSpPr/>
          <p:nvPr/>
        </p:nvSpPr>
        <p:spPr>
          <a:xfrm>
            <a:off x="595591" y="1582384"/>
            <a:ext cx="4498427" cy="3511321"/>
          </a:xfrm>
          <a:prstGeom prst="roundRect">
            <a:avLst>
              <a:gd name="adj" fmla="val 3237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42C8A58-69F8-F178-34F7-C32E32F63360}"/>
              </a:ext>
            </a:extLst>
          </p:cNvPr>
          <p:cNvSpPr/>
          <p:nvPr/>
        </p:nvSpPr>
        <p:spPr>
          <a:xfrm>
            <a:off x="1744322" y="1303033"/>
            <a:ext cx="2200964" cy="572405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位置环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周期性波动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D8B08ED-A041-2F38-B0CC-C1E18E7127FF}"/>
              </a:ext>
            </a:extLst>
          </p:cNvPr>
          <p:cNvSpPr txBox="1"/>
          <p:nvPr/>
        </p:nvSpPr>
        <p:spPr>
          <a:xfrm>
            <a:off x="537785" y="4019889"/>
            <a:ext cx="45562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减速器静摩擦、机械回差和速度环积分补偿，可能导致目标位置附近往复抖动，可设置适当的位置环死区。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C266DBB-572B-C3C9-7FAE-3DEB9976E16B}"/>
              </a:ext>
            </a:extLst>
          </p:cNvPr>
          <p:cNvSpPr/>
          <p:nvPr/>
        </p:nvSpPr>
        <p:spPr>
          <a:xfrm>
            <a:off x="5871782" y="1573652"/>
            <a:ext cx="4498427" cy="3511321"/>
          </a:xfrm>
          <a:prstGeom prst="roundRect">
            <a:avLst>
              <a:gd name="adj" fmla="val 3237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7E5D9BE-1611-134D-1BA7-E65A98B4E378}"/>
              </a:ext>
            </a:extLst>
          </p:cNvPr>
          <p:cNvSpPr/>
          <p:nvPr/>
        </p:nvSpPr>
        <p:spPr>
          <a:xfrm>
            <a:off x="6802826" y="1303033"/>
            <a:ext cx="2636338" cy="572405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速度环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位置正相关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波动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4CD95F8-A259-BA74-E3EC-BEC88CFE8995}"/>
              </a:ext>
            </a:extLst>
          </p:cNvPr>
          <p:cNvSpPr/>
          <p:nvPr/>
        </p:nvSpPr>
        <p:spPr>
          <a:xfrm>
            <a:off x="11147973" y="1566800"/>
            <a:ext cx="4498427" cy="3511321"/>
          </a:xfrm>
          <a:prstGeom prst="roundRect">
            <a:avLst>
              <a:gd name="adj" fmla="val 3237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0E343CC-BF2A-39F7-5E5A-C130338653DC}"/>
              </a:ext>
            </a:extLst>
          </p:cNvPr>
          <p:cNvSpPr/>
          <p:nvPr/>
        </p:nvSpPr>
        <p:spPr>
          <a:xfrm>
            <a:off x="12187861" y="1284023"/>
            <a:ext cx="2418650" cy="572405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MA600A 装配问题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A4B03FF-EAC6-3A60-84A0-5E46D090BBE7}"/>
              </a:ext>
            </a:extLst>
          </p:cNvPr>
          <p:cNvSpPr/>
          <p:nvPr/>
        </p:nvSpPr>
        <p:spPr>
          <a:xfrm>
            <a:off x="3217922" y="5510919"/>
            <a:ext cx="4498427" cy="3511321"/>
          </a:xfrm>
          <a:prstGeom prst="roundRect">
            <a:avLst>
              <a:gd name="adj" fmla="val 3237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BF3FF87-327F-1AFE-B144-6301ACBB8935}"/>
              </a:ext>
            </a:extLst>
          </p:cNvPr>
          <p:cNvSpPr/>
          <p:nvPr/>
        </p:nvSpPr>
        <p:spPr>
          <a:xfrm>
            <a:off x="4366653" y="5231568"/>
            <a:ext cx="2200964" cy="572405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相序与方向定义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E16A09F-B10F-F90D-9A24-AC60B8691CD8}"/>
              </a:ext>
            </a:extLst>
          </p:cNvPr>
          <p:cNvSpPr/>
          <p:nvPr/>
        </p:nvSpPr>
        <p:spPr>
          <a:xfrm>
            <a:off x="8508120" y="5504067"/>
            <a:ext cx="4498427" cy="3511321"/>
          </a:xfrm>
          <a:prstGeom prst="roundRect">
            <a:avLst>
              <a:gd name="adj" fmla="val 3237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B9F15CA-A50B-CD3B-8739-7188C2601A26}"/>
              </a:ext>
            </a:extLst>
          </p:cNvPr>
          <p:cNvSpPr/>
          <p:nvPr/>
        </p:nvSpPr>
        <p:spPr>
          <a:xfrm>
            <a:off x="9656851" y="5224716"/>
            <a:ext cx="2200964" cy="572405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排除硬件焊接问题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C0496FA-B36A-B06C-DB66-DA3E7D5C951E}"/>
              </a:ext>
            </a:extLst>
          </p:cNvPr>
          <p:cNvSpPr txBox="1"/>
          <p:nvPr/>
        </p:nvSpPr>
        <p:spPr>
          <a:xfrm>
            <a:off x="5871782" y="4006910"/>
            <a:ext cx="44984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若波动频率随转速变化，应检查 MA600A 安装偏心、磁场干扰和 INL 误差，必要时进行整机 INL 校准。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DD5004D-21A1-C148-CA2F-6B643E42B78D}"/>
              </a:ext>
            </a:extLst>
          </p:cNvPr>
          <p:cNvSpPr txBox="1"/>
          <p:nvPr/>
        </p:nvSpPr>
        <p:spPr>
          <a:xfrm>
            <a:off x="11147972" y="4042247"/>
            <a:ext cx="44984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控制效果差且周期性谐波明显时，优先检查磁体与传感器的间距、同轴度和安装稳定性。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31A7305-8C09-C971-6F9A-7B7F42A9C208}"/>
              </a:ext>
            </a:extLst>
          </p:cNvPr>
          <p:cNvSpPr txBox="1"/>
          <p:nvPr/>
        </p:nvSpPr>
        <p:spPr>
          <a:xfrm>
            <a:off x="3217922" y="7924107"/>
            <a:ext cx="44984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先在开环电角度模式下确认电机相序和旋转方向，再结合 MA600A 角度方向统一系统正方向。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CE60B13-3AF5-AF36-EF79-815D5947D23B}"/>
              </a:ext>
            </a:extLst>
          </p:cNvPr>
          <p:cNvSpPr txBox="1"/>
          <p:nvPr/>
        </p:nvSpPr>
        <p:spPr>
          <a:xfrm>
            <a:off x="8508120" y="7924107"/>
            <a:ext cx="44984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闭环调试前必须完成前述板级测试，确认供电、PWM、采样和驱动正常，并排除虚焊、短路及接触不良。</a:t>
            </a:r>
            <a:endParaRPr lang="zh-CN" altLang="en-US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AE27B2A7-38EA-A3D6-E6C0-AA80EBFC98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049"/>
          <a:stretch/>
        </p:blipFill>
        <p:spPr>
          <a:xfrm>
            <a:off x="6235465" y="1936403"/>
            <a:ext cx="3785070" cy="2105829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B36A56D6-B779-16EA-15F0-DD310EEAFA20}"/>
              </a:ext>
            </a:extLst>
          </p:cNvPr>
          <p:cNvSpPr txBox="1"/>
          <p:nvPr/>
        </p:nvSpPr>
        <p:spPr>
          <a:xfrm>
            <a:off x="9439164" y="6462271"/>
            <a:ext cx="2418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放焊接的图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20AD49E-3FF0-9B87-F77C-FC19AE7E29FB}"/>
              </a:ext>
            </a:extLst>
          </p:cNvPr>
          <p:cNvSpPr txBox="1"/>
          <p:nvPr/>
        </p:nvSpPr>
        <p:spPr>
          <a:xfrm>
            <a:off x="12597523" y="2462895"/>
            <a:ext cx="24186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放</a:t>
            </a:r>
            <a:r>
              <a:rPr lang="en-US" altLang="zh-CN" dirty="0">
                <a:solidFill>
                  <a:srgbClr val="FF0000"/>
                </a:solidFill>
              </a:rPr>
              <a:t>MA600A</a:t>
            </a:r>
            <a:r>
              <a:rPr lang="zh-CN" altLang="en-US" dirty="0">
                <a:solidFill>
                  <a:srgbClr val="FF0000"/>
                </a:solidFill>
              </a:rPr>
              <a:t>距离电机一定距离的图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8ED8ACA-E5CB-C97C-AB74-6D51B927CD90}"/>
              </a:ext>
            </a:extLst>
          </p:cNvPr>
          <p:cNvSpPr txBox="1"/>
          <p:nvPr/>
        </p:nvSpPr>
        <p:spPr>
          <a:xfrm>
            <a:off x="4148966" y="6473972"/>
            <a:ext cx="24186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放三根线引出来 </a:t>
            </a:r>
            <a:r>
              <a:rPr lang="en-US" altLang="zh-CN" dirty="0">
                <a:solidFill>
                  <a:srgbClr val="FF0000"/>
                </a:solidFill>
              </a:rPr>
              <a:t>ABC</a:t>
            </a:r>
            <a:r>
              <a:rPr lang="zh-CN" altLang="en-US" dirty="0">
                <a:solidFill>
                  <a:srgbClr val="FF0000"/>
                </a:solidFill>
              </a:rPr>
              <a:t>标注的图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6997BD7-0CC1-7D6A-A09E-99E7969781F1}"/>
              </a:ext>
            </a:extLst>
          </p:cNvPr>
          <p:cNvSpPr txBox="1"/>
          <p:nvPr/>
        </p:nvSpPr>
        <p:spPr>
          <a:xfrm>
            <a:off x="1606576" y="2691713"/>
            <a:ext cx="2418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放波形图 如果有的话</a:t>
            </a:r>
          </a:p>
        </p:txBody>
      </p:sp>
    </p:spTree>
    <p:extLst>
      <p:ext uri="{BB962C8B-B14F-4D97-AF65-F5344CB8AC3E}">
        <p14:creationId xmlns:p14="http://schemas.microsoft.com/office/powerpoint/2010/main" val="25384243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12F0-7EE3-B20F-AC1D-07F5736EA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EB3D62B0-3F08-3432-EE1C-5BA6F1002CAB}"/>
              </a:ext>
            </a:extLst>
          </p:cNvPr>
          <p:cNvSpPr/>
          <p:nvPr/>
        </p:nvSpPr>
        <p:spPr>
          <a:xfrm>
            <a:off x="7275440" y="1765641"/>
            <a:ext cx="8370960" cy="3798212"/>
          </a:xfrm>
          <a:prstGeom prst="rect">
            <a:avLst/>
          </a:prstGeom>
          <a:solidFill>
            <a:srgbClr val="FFFFFF"/>
          </a:solidFill>
          <a:ln w="10160">
            <a:solidFill>
              <a:srgbClr val="B6CD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2E4CF7E-FB13-A740-EBF2-F40CE1E57EB8}"/>
              </a:ext>
            </a:extLst>
          </p:cNvPr>
          <p:cNvSpPr/>
          <p:nvPr/>
        </p:nvSpPr>
        <p:spPr>
          <a:xfrm>
            <a:off x="7275440" y="1269561"/>
            <a:ext cx="8370960" cy="496080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工程目录，下单发板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AB49BE-1A83-2E46-6BFD-211F15BDC397}"/>
              </a:ext>
            </a:extLst>
          </p:cNvPr>
          <p:cNvSpPr/>
          <p:nvPr/>
        </p:nvSpPr>
        <p:spPr>
          <a:xfrm>
            <a:off x="609600" y="355600"/>
            <a:ext cx="15036800" cy="795867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355A4C-2F58-49B8-D900-BBE0DCC53690}"/>
              </a:ext>
            </a:extLst>
          </p:cNvPr>
          <p:cNvSpPr txBox="1"/>
          <p:nvPr/>
        </p:nvSpPr>
        <p:spPr>
          <a:xfrm>
            <a:off x="829733" y="457201"/>
            <a:ext cx="14054667" cy="6976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3867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复刻步骤总结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ECA2EE4-12AC-9C26-DC0E-DD182FA37867}"/>
              </a:ext>
            </a:extLst>
          </p:cNvPr>
          <p:cNvGrpSpPr/>
          <p:nvPr/>
        </p:nvGrpSpPr>
        <p:grpSpPr>
          <a:xfrm>
            <a:off x="605314" y="1253068"/>
            <a:ext cx="5621315" cy="4294292"/>
            <a:chOff x="605314" y="1253068"/>
            <a:chExt cx="6065452" cy="4397478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31EA714-5A93-D903-735F-3CE2E8DCD2B9}"/>
                </a:ext>
              </a:extLst>
            </p:cNvPr>
            <p:cNvSpPr/>
            <p:nvPr/>
          </p:nvSpPr>
          <p:spPr>
            <a:xfrm>
              <a:off x="605314" y="1761068"/>
              <a:ext cx="6065452" cy="3889478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B6CD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5EA62AD-2907-325D-393D-F4B1EA3ADB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0347" y="4025610"/>
              <a:ext cx="1639790" cy="16249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69637E5-4136-9D39-2E76-A5D88D15A3AF}"/>
                </a:ext>
              </a:extLst>
            </p:cNvPr>
            <p:cNvSpPr/>
            <p:nvPr/>
          </p:nvSpPr>
          <p:spPr>
            <a:xfrm>
              <a:off x="605314" y="1253068"/>
              <a:ext cx="6065452" cy="508000"/>
            </a:xfrm>
            <a:prstGeom prst="rect">
              <a:avLst/>
            </a:prstGeom>
            <a:solidFill>
              <a:srgbClr val="0070C0"/>
            </a:solidFill>
            <a:ln w="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工程目录，下单发板</a:t>
              </a:r>
            </a:p>
          </p:txBody>
        </p:sp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E8E1B282-01A3-CF69-6120-DFD5EF54F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1924" y="1905462"/>
              <a:ext cx="5878213" cy="2211217"/>
            </a:xfrm>
            <a:prstGeom prst="rect">
              <a:avLst/>
            </a:prstGeom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53204D8-17D1-DB82-83B1-BA31C9CC5F81}"/>
                </a:ext>
              </a:extLst>
            </p:cNvPr>
            <p:cNvSpPr txBox="1"/>
            <p:nvPr/>
          </p:nvSpPr>
          <p:spPr>
            <a:xfrm>
              <a:off x="661924" y="4484582"/>
              <a:ext cx="4238422" cy="945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在开源广场了解完整开源项目，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在编辑器中打开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MPS-FOC-V1.3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版本，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JLC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下单中心发板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750EFA3-BE1A-98B6-4978-F0A66EA59A3B}"/>
              </a:ext>
            </a:extLst>
          </p:cNvPr>
          <p:cNvGrpSpPr/>
          <p:nvPr/>
        </p:nvGrpSpPr>
        <p:grpSpPr>
          <a:xfrm>
            <a:off x="7427649" y="1890155"/>
            <a:ext cx="8066541" cy="3018136"/>
            <a:chOff x="7240539" y="3671779"/>
            <a:chExt cx="8066541" cy="3018136"/>
          </a:xfrm>
        </p:grpSpPr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AD6587B3-B717-133B-65A6-D3E94E34C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088"/>
            <a:stretch/>
          </p:blipFill>
          <p:spPr>
            <a:xfrm>
              <a:off x="7240539" y="3671779"/>
              <a:ext cx="8066541" cy="3018136"/>
            </a:xfrm>
            <a:prstGeom prst="rect">
              <a:avLst/>
            </a:prstGeom>
          </p:spPr>
        </p:pic>
        <p:pic>
          <p:nvPicPr>
            <p:cNvPr id="8" name="图片 7" descr="散点图, QR 代码&#10;&#10;AI 生成的内容可能不正确。">
              <a:extLst>
                <a:ext uri="{FF2B5EF4-FFF2-40B4-BE49-F238E27FC236}">
                  <a16:creationId xmlns:a16="http://schemas.microsoft.com/office/drawing/2014/main" id="{034ABB2F-A0D0-90EA-CDFA-3967D702D3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40" b="4593"/>
            <a:stretch/>
          </p:blipFill>
          <p:spPr bwMode="auto">
            <a:xfrm>
              <a:off x="9607607" y="5259194"/>
              <a:ext cx="1575051" cy="1430721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4" name="右箭头 13">
            <a:extLst>
              <a:ext uri="{FF2B5EF4-FFF2-40B4-BE49-F238E27FC236}">
                <a16:creationId xmlns:a16="http://schemas.microsoft.com/office/drawing/2014/main" id="{EAB8729C-D149-C2F0-A765-9EC44B6A42A2}"/>
              </a:ext>
            </a:extLst>
          </p:cNvPr>
          <p:cNvSpPr/>
          <p:nvPr/>
        </p:nvSpPr>
        <p:spPr>
          <a:xfrm>
            <a:off x="6105574" y="2925354"/>
            <a:ext cx="1322075" cy="697692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29000">
                <a:srgbClr val="00B0F0"/>
              </a:gs>
              <a:gs pos="0">
                <a:srgbClr val="FFFFFF">
                  <a:alpha val="0"/>
                </a:srgbClr>
              </a:gs>
              <a:gs pos="100000">
                <a:srgbClr val="0070C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A86C998-8623-4D9B-4113-8671FBD2B5A9}"/>
              </a:ext>
            </a:extLst>
          </p:cNvPr>
          <p:cNvSpPr txBox="1"/>
          <p:nvPr/>
        </p:nvSpPr>
        <p:spPr>
          <a:xfrm>
            <a:off x="7427649" y="4870420"/>
            <a:ext cx="7856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扫码进入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MPSNOW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，根据流程进行芯片申领。备注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工程名称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具体描述并附上工程链接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A854999-3C9C-80EF-DB94-FBCCFBD43398}"/>
              </a:ext>
            </a:extLst>
          </p:cNvPr>
          <p:cNvSpPr/>
          <p:nvPr/>
        </p:nvSpPr>
        <p:spPr>
          <a:xfrm>
            <a:off x="8900160" y="5819964"/>
            <a:ext cx="6746240" cy="496080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硬件焊接测试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C120A4F-1B41-0487-6CDB-8B27AD1ADD67}"/>
              </a:ext>
            </a:extLst>
          </p:cNvPr>
          <p:cNvSpPr/>
          <p:nvPr/>
        </p:nvSpPr>
        <p:spPr>
          <a:xfrm>
            <a:off x="8900157" y="6301141"/>
            <a:ext cx="6746241" cy="2487259"/>
          </a:xfrm>
          <a:prstGeom prst="rect">
            <a:avLst/>
          </a:prstGeom>
          <a:solidFill>
            <a:srgbClr val="FFFFFF"/>
          </a:solidFill>
          <a:ln w="10160">
            <a:solidFill>
              <a:srgbClr val="B6CD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7" name="右箭头 13">
            <a:extLst>
              <a:ext uri="{FF2B5EF4-FFF2-40B4-BE49-F238E27FC236}">
                <a16:creationId xmlns:a16="http://schemas.microsoft.com/office/drawing/2014/main" id="{9F40B3BE-0101-B29F-E09A-06AF3E8B6375}"/>
              </a:ext>
            </a:extLst>
          </p:cNvPr>
          <p:cNvSpPr/>
          <p:nvPr/>
        </p:nvSpPr>
        <p:spPr>
          <a:xfrm rot="5400000">
            <a:off x="13216014" y="5471118"/>
            <a:ext cx="1322075" cy="697692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29000">
                <a:srgbClr val="00B0F0"/>
              </a:gs>
              <a:gs pos="0">
                <a:srgbClr val="FFFFFF">
                  <a:alpha val="0"/>
                </a:srgbClr>
              </a:gs>
              <a:gs pos="100000">
                <a:srgbClr val="0070C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D8FB532-8E87-43F2-8E85-755B94EF6685}"/>
              </a:ext>
            </a:extLst>
          </p:cNvPr>
          <p:cNvSpPr txBox="1"/>
          <p:nvPr/>
        </p:nvSpPr>
        <p:spPr>
          <a:xfrm>
            <a:off x="8900157" y="8173850"/>
            <a:ext cx="67462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根据第二课硬件讲解部分，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逐步焊接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板，进行基础焊接良率测试</a:t>
            </a: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6EB8B772-D158-1779-4C78-F2301EDB37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73915" y="6415088"/>
            <a:ext cx="2551198" cy="2259363"/>
          </a:xfrm>
          <a:prstGeom prst="rect">
            <a:avLst/>
          </a:prstGeom>
        </p:spPr>
      </p:pic>
      <p:sp>
        <p:nvSpPr>
          <p:cNvPr id="42" name="右箭头 13">
            <a:extLst>
              <a:ext uri="{FF2B5EF4-FFF2-40B4-BE49-F238E27FC236}">
                <a16:creationId xmlns:a16="http://schemas.microsoft.com/office/drawing/2014/main" id="{7C919539-FA11-35A8-7EC9-556A56C9183A}"/>
              </a:ext>
            </a:extLst>
          </p:cNvPr>
          <p:cNvSpPr/>
          <p:nvPr/>
        </p:nvSpPr>
        <p:spPr>
          <a:xfrm rot="10800000">
            <a:off x="7220218" y="6890369"/>
            <a:ext cx="1322075" cy="697692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29000">
                <a:srgbClr val="00B0F0"/>
              </a:gs>
              <a:gs pos="0">
                <a:srgbClr val="FFFFFF">
                  <a:alpha val="0"/>
                </a:srgbClr>
              </a:gs>
              <a:gs pos="100000">
                <a:srgbClr val="0070C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7072FD4-DA71-F23A-D132-738E34D8C9DF}"/>
              </a:ext>
            </a:extLst>
          </p:cNvPr>
          <p:cNvSpPr/>
          <p:nvPr/>
        </p:nvSpPr>
        <p:spPr>
          <a:xfrm>
            <a:off x="605314" y="5704859"/>
            <a:ext cx="6257040" cy="496080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代码烧录，逐项调试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D37223C-4A14-CB6B-EE4E-AF3CB044AD9D}"/>
              </a:ext>
            </a:extLst>
          </p:cNvPr>
          <p:cNvSpPr/>
          <p:nvPr/>
        </p:nvSpPr>
        <p:spPr>
          <a:xfrm>
            <a:off x="609601" y="6187192"/>
            <a:ext cx="6252754" cy="2487259"/>
          </a:xfrm>
          <a:prstGeom prst="rect">
            <a:avLst/>
          </a:prstGeom>
          <a:solidFill>
            <a:srgbClr val="FFFFFF"/>
          </a:solidFill>
          <a:ln w="10160">
            <a:solidFill>
              <a:srgbClr val="B6CD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B713078-DA83-AEF6-CEA4-5FAB2B4130E6}"/>
              </a:ext>
            </a:extLst>
          </p:cNvPr>
          <p:cNvSpPr txBox="1"/>
          <p:nvPr/>
        </p:nvSpPr>
        <p:spPr>
          <a:xfrm>
            <a:off x="657779" y="7671462"/>
            <a:ext cx="67462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根据本节课所述内容，烧录代码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逐项调试，检查板子可用性。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随后可基于此进行二次开发和改进。</a:t>
            </a: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5454BC72-BDBF-A7FD-8F41-F1F5DD3253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967" y="6302776"/>
            <a:ext cx="2188270" cy="1341986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A5756B88-DCA9-C835-5E8A-C9B925113B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2291" y="6326135"/>
            <a:ext cx="2551199" cy="1383495"/>
          </a:xfrm>
          <a:prstGeom prst="rect">
            <a:avLst/>
          </a:prstGeom>
        </p:spPr>
      </p:pic>
      <p:pic>
        <p:nvPicPr>
          <p:cNvPr id="2050" name="Picture 2" descr="电路板手工焊接高清图片下载-正版图片501708466-摄图网">
            <a:extLst>
              <a:ext uri="{FF2B5EF4-FFF2-40B4-BE49-F238E27FC236}">
                <a16:creationId xmlns:a16="http://schemas.microsoft.com/office/drawing/2014/main" id="{B986ED42-819F-3170-D563-F1146352AF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02" b="10750"/>
          <a:stretch/>
        </p:blipFill>
        <p:spPr bwMode="auto">
          <a:xfrm>
            <a:off x="9224793" y="6437701"/>
            <a:ext cx="3291258" cy="1661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102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</TotalTime>
  <Words>3174</Words>
  <Application>Microsoft Office PowerPoint</Application>
  <PresentationFormat>自定义</PresentationFormat>
  <Paragraphs>225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等线</vt:lpstr>
      <vt:lpstr>等线 Light</vt:lpstr>
      <vt:lpstr>Microsoft YaHei</vt:lpstr>
      <vt:lpstr>Microsoft YaHei</vt:lpstr>
      <vt:lpstr>Arial</vt:lpstr>
      <vt:lpstr>Cambria Math</vt:lpstr>
      <vt:lpstr>Consolas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Rise Sun</dc:creator>
  <cp:lastModifiedBy>Rise Sun</cp:lastModifiedBy>
  <cp:revision>281</cp:revision>
  <dcterms:created xsi:type="dcterms:W3CDTF">2026-06-28T12:23:33Z</dcterms:created>
  <dcterms:modified xsi:type="dcterms:W3CDTF">2026-08-23T07:34:44Z</dcterms:modified>
</cp:coreProperties>
</file>